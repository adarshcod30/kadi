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Recovery %</c:v>
                </c:pt>
              </c:strCache>
            </c:strRef>
          </c:tx>
          <c:spPr>
            <a:solidFill>
              <a:srgbClr val="2FA8A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C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Gang</c:v>
                  </c:pt>
                  <c:pt idx="1">
                    <c:v>Serial chain</c:v>
                  </c:pt>
                  <c:pt idx="2">
                    <c:v>Cyber ring</c:v>
                  </c:pt>
                  <c:pt idx="3">
                    <c:v>Identity 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800" u="none">
                  <a:solidFill>
                    <a:srgbClr val="1C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12700" cap="flat">
              <a:solidFill>
                <a:srgbClr val="ED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2F44"/>
              </a:solidFill>
              <a:effectLst/>
            </c:spPr>
          </c:dPt>
          <c:dPt>
            <c:idx val="1"/>
            <c:bubble3D val="0"/>
            <c:spPr>
              <a:solidFill>
                <a:srgbClr val="1A6FC4"/>
              </a:solidFill>
              <a:effectLst/>
            </c:spPr>
          </c:dPt>
          <c:dPt>
            <c:idx val="2"/>
            <c:bubble3D val="0"/>
            <c:spPr>
              <a:solidFill>
                <a:srgbClr val="2FA8A0"/>
              </a:solidFill>
              <a:effectLst/>
            </c:spPr>
          </c:dPt>
          <c:dPt>
            <c:idx val="3"/>
            <c:bubble3D val="0"/>
            <c:spPr>
              <a:solidFill>
                <a:srgbClr val="E8871E"/>
              </a:solidFill>
              <a:effectLst/>
            </c:spPr>
          </c:dPt>
          <c:dPt>
            <c:idx val="4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bubble3D val="0"/>
            <c:spPr>
              <a:solidFill>
                <a:srgbClr val="5B6B7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Crimes Against Property</c:v>
                </c:pt>
                <c:pt idx="1">
                  <c:v>Cyber Crime</c:v>
                </c:pt>
                <c:pt idx="2">
                  <c:v>Crimes Against Body</c:v>
                </c:pt>
                <c:pt idx="3">
                  <c:v>Crimes Against Women</c:v>
                </c:pt>
                <c:pt idx="4">
                  <c:v>Economic Offences</c:v>
                </c:pt>
                <c:pt idx="5">
                  <c:v>Missing / UDR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16933</c:v>
                </c:pt>
                <c:pt idx="1">
                  <c:v>7159</c:v>
                </c:pt>
                <c:pt idx="2">
                  <c:v>5112</c:v>
                </c:pt>
                <c:pt idx="3">
                  <c:v>3137</c:v>
                </c:pt>
                <c:pt idx="4">
                  <c:v>3098</c:v>
                </c:pt>
                <c:pt idx="5">
                  <c:v>2130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
              <a:solidFill>
                <a:srgbClr val="1C2A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By raw count</c:v>
                </c:pt>
              </c:strCache>
            </c:strRef>
          </c:tx>
          <c:spPr>
            <a:solidFill>
              <a:srgbClr val="5B6B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C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Kodagu</c:v>
                  </c:pt>
                  <c:pt idx="1">
                    <c:v>Dharwad</c:v>
                  </c:pt>
                  <c:pt idx="2">
                    <c:v>Tumakuru</c:v>
                  </c:pt>
                  <c:pt idx="3">
                    <c:v>Belagavi</c:v>
                  </c:pt>
                  <c:pt idx="4">
                    <c:v>Raichur</c:v>
                  </c:pt>
                  <c:pt idx="5">
                    <c:v>Bidar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23</c:v>
                </c:pt>
                <c:pt idx="2">
                  <c:v>10</c:v>
                </c:pt>
                <c:pt idx="3">
                  <c:v>4</c:v>
                </c:pt>
                <c:pt idx="4">
                  <c:v>16</c:v>
                </c:pt>
                <c:pt idx="5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 capita</c:v>
                </c:pt>
              </c:strCache>
            </c:strRef>
          </c:tx>
          <c:spPr>
            <a:solidFill>
              <a:srgbClr val="2FA8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C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Kodagu</c:v>
                  </c:pt>
                  <c:pt idx="1">
                    <c:v>Dharwad</c:v>
                  </c:pt>
                  <c:pt idx="2">
                    <c:v>Tumakuru</c:v>
                  </c:pt>
                  <c:pt idx="3">
                    <c:v>Belagavi</c:v>
                  </c:pt>
                  <c:pt idx="4">
                    <c:v>Raichur</c:v>
                  </c:pt>
                  <c:pt idx="5">
                    <c:v>Bidar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24</c:v>
                </c:pt>
                <c:pt idx="3">
                  <c:v>14</c:v>
                </c:pt>
                <c:pt idx="4">
                  <c:v>26</c:v>
                </c:pt>
                <c:pt idx="5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C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KADI turns 40,836 siloed FIRs into one connected, explainable intelligence picture. Deployed end-to-end on Zoho Catalyst.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silo problem. The 300-from-36,289 number is the entity-resolution story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USP column is the one to dwell on: everything there is measured, not asserted.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30-second cap on both Functions and AppSail was confirmed by the Zoho team in the workshop Q&amp;A — it is the reason the pipeline lives in a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eight are live in the deployed build, not aspirational.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live URL rather than reading this slide: Home → Intelligence (Kodagu) → Graph (why-linked) → Map → Assistant.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Slide-14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1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kadilabs-60078029367.development.catalystserverless.in/app/" TargetMode="External"/><Relationship Id="rId3" Type="http://schemas.openxmlformats.org/officeDocument/2006/relationships/hyperlink" Target="https://github.com/adarshcod30/Kadi" TargetMode="External"/><Relationship Id="rId4" Type="http://schemas.openxmlformats.org/officeDocument/2006/relationships/hyperlink" Target="https://kadi-appsail-50043957273.development.catalystappsail.in/analytics/socio" TargetMode="External"/><Relationship Id="rId1" Type="http://schemas.openxmlformats.org/officeDocument/2006/relationships/image" Target="../media/Slide-17-image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310128"/>
            <a:ext cx="8375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KADI — Karnataka Analytics &amp; Detection Intelligence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4048" y="3657600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Crime Analytics &amp; Visualization Platform for the Karnataka State Police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40050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847088" y="4005072"/>
            <a:ext cx="6912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KadiLabs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42291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47088" y="4229100"/>
            <a:ext cx="6912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Adarsh Dwivedi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44531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47088" y="4453128"/>
            <a:ext cx="6912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46771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47088" y="4677156"/>
            <a:ext cx="6912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02 — AI-Driven Crime Analytics &amp; Visualization Platform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about the solution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broken today, and what KADI does about it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4041648" cy="1481328"/>
          </a:xfrm>
          <a:prstGeom prst="roundRect">
            <a:avLst>
              <a:gd name="adj" fmla="val 3704"/>
            </a:avLst>
          </a:prstGeom>
          <a:solidFill>
            <a:srgbClr val="FDF3F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426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1682496"/>
            <a:ext cx="3749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 live in station-level silos; analysis is Excel-driven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serial offender across districts is effectively invisible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SCRB receives fragmented extracts, not a state-wide picture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Policing stays reactive — no early warning, no forecast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18304" y="1335024"/>
            <a:ext cx="4041648" cy="1481328"/>
          </a:xfrm>
          <a:prstGeom prst="roundRect">
            <a:avLst>
              <a:gd name="adj" fmla="val 3704"/>
            </a:avLst>
          </a:prstGeom>
          <a:solidFill>
            <a:srgbClr val="F0F7F5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1426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KADI delivers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64608" y="1682496"/>
            <a:ext cx="3749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living graph: every FIR joined by proven evidence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resolution turns 36,289 name records into 300 people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Per-capita analytics that explain the "why" behind the "where"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Forecasting, hotspots and an investigation-health early warning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962656"/>
            <a:ext cx="1554480" cy="749808"/>
          </a:xfrm>
          <a:prstGeom prst="roundRect">
            <a:avLst>
              <a:gd name="adj" fmla="val 7317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302666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40,836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" y="340156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 analysed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84832" y="2962656"/>
            <a:ext cx="1554480" cy="749808"/>
          </a:xfrm>
          <a:prstGeom prst="roundRect">
            <a:avLst>
              <a:gd name="adj" fmla="val 7317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302666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94560" y="340156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Offenders resolved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85616" y="2962656"/>
            <a:ext cx="1554480" cy="749808"/>
          </a:xfrm>
          <a:prstGeom prst="roundRect">
            <a:avLst>
              <a:gd name="adj" fmla="val 7317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302666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68,808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95344" y="340156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evidence links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0" y="2962656"/>
            <a:ext cx="1554480" cy="749808"/>
          </a:xfrm>
          <a:prstGeom prst="roundRect">
            <a:avLst>
              <a:gd name="adj" fmla="val 7317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302666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96128" y="340156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Ground-truth recovery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87184" y="2962656"/>
            <a:ext cx="1554480" cy="749808"/>
          </a:xfrm>
          <a:prstGeom prst="roundRect">
            <a:avLst>
              <a:gd name="adj" fmla="val 7317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96912" y="302666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96912" y="340156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MAPE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" y="382219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on this slide is read live from the deployed Catalyst API — nothing is illustrative.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differs, how it solves the problem, and the USP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2670048" cy="29260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335024"/>
            <a:ext cx="2670048" cy="365760"/>
          </a:xfrm>
          <a:prstGeom prst="roundRect">
            <a:avLst>
              <a:gd name="adj" fmla="val 15000"/>
            </a:avLst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33502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it different?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" y="1810512"/>
            <a:ext cx="241401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dashboard over counts — a graph over evidence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link is clickable proof: which attribute matched, on which FIRs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per 100,000 residents, not raw counts that just track population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enforced by a failing unit test, not a paragraph of policy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18688" y="1335024"/>
            <a:ext cx="2670048" cy="29260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8688" y="1335024"/>
            <a:ext cx="2670048" cy="365760"/>
          </a:xfrm>
          <a:prstGeom prst="roundRect">
            <a:avLst>
              <a:gd name="adj" fmla="val 15000"/>
            </a:avLst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46704" y="133502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solve it?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46704" y="1810512"/>
            <a:ext cx="241401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resolution merges spelling variants into one offender identity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typed link kinds connect FIRs no station could join alone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Investigation-health flags cases slipping past their peer median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 hotspots + 3-month forecast move policing from reactive to planned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53328" y="1335024"/>
            <a:ext cx="2670048" cy="29260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3328" y="1335024"/>
            <a:ext cx="2670048" cy="365760"/>
          </a:xfrm>
          <a:prstGeom prst="roundRect">
            <a:avLst>
              <a:gd name="adj" fmla="val 15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33502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81344" y="1810512"/>
            <a:ext cx="241401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recovery of planted gangs, chains and identities — measured each run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accuracy is a hold-out backtest (MAPE 3.9%), not an in-sample claim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EN/ಕನ್ನಡ, voice-capable, every answer cites real FIR numbers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end-to-end on eight Catalyst services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of features offered by the solution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capabilities, all live in the deployed build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53896"/>
            <a:ext cx="182880" cy="182880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Case-Linkage Graph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1682496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Ego-network per FIR across six typed link kinds, with a click-through evidence trail on every edge.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18688" y="1335024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453896"/>
            <a:ext cx="182880" cy="182880"/>
          </a:xfrm>
          <a:prstGeom prst="ellipse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Resolution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46704" y="1682496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Rarity-aware fuzzy matching folds 36,289 accused records into 300 real people.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53328" y="1335024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453896"/>
            <a:ext cx="182880" cy="18288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Offender Risk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81344" y="1682496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Glass-box score with a factor breakdown; protected attributes excluded by construction.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" y="2322576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441448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404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Health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" y="2670048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ageing, pendency, undetected-risk and false-case patterns against peer medians.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18688" y="2322576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2441448"/>
            <a:ext cx="182880" cy="182880"/>
          </a:xfrm>
          <a:prstGeom prst="ellipse">
            <a:avLst/>
          </a:prstGeom>
          <a:solidFill>
            <a:srgbClr val="0F2F44"/>
          </a:solidFill>
          <a:ln w="12700">
            <a:solidFill>
              <a:srgbClr val="0F2F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2404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Spatiotemporal Map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46704" y="2670048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basemap, district choropleth, DBSCAN hotspots, hour × weekday layering.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53328" y="2322576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441448"/>
            <a:ext cx="182880" cy="182880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2404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Socio-economic Analytics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81344" y="2670048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Per-capita rates correlated with urbanisation, literacy and density, with p-values.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4048" y="3310128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429000"/>
            <a:ext cx="182880" cy="182880"/>
          </a:xfrm>
          <a:prstGeom prst="ellipse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392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Crime Forecasting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" y="3657600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district projections with a 95% interval and a measured backtest.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18688" y="3310128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560" y="3429000"/>
            <a:ext cx="182880" cy="18288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84448" y="3392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Assistant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46704" y="3657600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EN/ಕನ್ನಡ Q&amp;A over the records, by text or voice; always cites FIRs.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53328" y="3310128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3429000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3392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&amp; Audit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81344" y="3657600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Caste/religion/occupation excluded, asserted in tests; sensitive reads audited.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raw FIR register to an investigator acting on a lead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157276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" y="1435608"/>
            <a:ext cx="256032" cy="256032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435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142646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 intake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1335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KSP tables — FIRs, parties, acts &amp; sections, arrests, chargesheets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75104" y="1865376"/>
            <a:ext cx="82296" cy="118872"/>
          </a:xfrm>
          <a:prstGeom prst="rightArrow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1335024"/>
            <a:ext cx="157276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57984" y="1435608"/>
            <a:ext cx="256032" cy="256032"/>
          </a:xfrm>
          <a:prstGeom prst="ellipse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1435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78024" y="142646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resolution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76272" y="1737360"/>
            <a:ext cx="1335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+ rarity-aware fuzzy match; 36,289 records → 300 identities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48456" y="1865376"/>
            <a:ext cx="82296" cy="118872"/>
          </a:xfrm>
          <a:prstGeom prst="rightArrow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0752" y="1335024"/>
            <a:ext cx="157276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31336" y="1435608"/>
            <a:ext cx="256032" cy="25603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31336" y="1435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51376" y="142646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building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9624" y="1737360"/>
            <a:ext cx="1335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typed edges: offender, co-accused, MO, location, time, section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21808" y="1865376"/>
            <a:ext cx="82296" cy="118872"/>
          </a:xfrm>
          <a:prstGeom prst="rightArrow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04104" y="1335024"/>
            <a:ext cx="157276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04688" y="1435608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1435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24728" y="142646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22976" y="1737360"/>
            <a:ext cx="1335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 communities, risk, health, DBSCAN hotspots, per-capita, forecast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5160" y="1865376"/>
            <a:ext cx="82296" cy="118872"/>
          </a:xfrm>
          <a:prstGeom prst="rightArrow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77456" y="1335024"/>
            <a:ext cx="157276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78040" y="1435608"/>
            <a:ext cx="256032" cy="256032"/>
          </a:xfrm>
          <a:prstGeom prst="ellipse">
            <a:avLst/>
          </a:prstGeom>
          <a:solidFill>
            <a:srgbClr val="0F2F44"/>
          </a:solidFill>
          <a:ln w="12700">
            <a:solidFill>
              <a:srgbClr val="0F2F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1435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0" y="142646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96328" y="1737360"/>
            <a:ext cx="1335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Precomputed read-model served to the SPA in under 100 ms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4048" y="2688336"/>
            <a:ext cx="8375904" cy="969264"/>
          </a:xfrm>
          <a:prstGeom prst="roundRect">
            <a:avLst>
              <a:gd name="adj" fmla="val 5660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2761488"/>
            <a:ext cx="8083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stage runs — and why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" y="2999232"/>
            <a:ext cx="8083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compute (entity resolution, MO similarity, graph build) runs in a Catalyst Job — 15-minute budget, nightly Cron at 02:00 IST.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and AppSail both cap a request at 30 s, so neither may host the full pipeline; the web tier only ever reads precomputed results.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single constraint is why every screen loads instantly instead of waiting on a model.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Use-case view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KADI, and what each rank is scoped to see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267004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335024"/>
            <a:ext cx="2670048" cy="420624"/>
          </a:xfrm>
          <a:prstGeom prst="roundRect">
            <a:avLst>
              <a:gd name="adj" fmla="val 13043"/>
            </a:avLst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35331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/ Inspector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" y="155448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police station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12064" y="1865376"/>
            <a:ext cx="24140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FIR list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Ego-network around own cases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health worklist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1335024"/>
            <a:ext cx="267004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335024"/>
            <a:ext cx="2670048" cy="420624"/>
          </a:xfrm>
          <a:prstGeom prst="roundRect">
            <a:avLst>
              <a:gd name="adj" fmla="val 13043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35331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 / DySP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46704" y="155448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district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46704" y="1865376"/>
            <a:ext cx="24140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district FIRs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Cross-station offender networks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hotspots + audit log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3328" y="1335024"/>
            <a:ext cx="267004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53328" y="1335024"/>
            <a:ext cx="2670048" cy="420624"/>
          </a:xfrm>
          <a:prstGeom prst="roundRect">
            <a:avLst>
              <a:gd name="adj" fmla="val 13043"/>
            </a:avLst>
          </a:prstGeom>
          <a:solidFill>
            <a:srgbClr val="0F2F44"/>
          </a:solidFill>
          <a:ln w="12700">
            <a:solidFill>
              <a:srgbClr val="0F2F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35331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SCRB Analyst / Admin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1344" y="1554480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state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81344" y="1865376"/>
            <a:ext cx="24140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40,836 FIRs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State-wide networks &amp; forecasting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report, pipeline status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3401568"/>
            <a:ext cx="8375904" cy="768096"/>
          </a:xfrm>
          <a:prstGeom prst="roundRect">
            <a:avLst>
              <a:gd name="adj" fmla="val 7143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493008"/>
            <a:ext cx="8083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Scoping is enforced server-side on every query — an out-of-scope read is refused, not merely hidden in the UI. Catalyst Authentication is provisioned; the demo build presents a role chooser so an evaluator can exercise all three scopes without five separate accounts.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runtime component is a Catalyst service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1993392" cy="208483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335024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36245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93776" y="155448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Client Hosting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3776" y="1920240"/>
            <a:ext cx="17739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 SPA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Cytoscape.js graph · MapLibre GL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· Framer Motion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/ ಕನ್ನಡ, voice via Web Speech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86584" y="2304288"/>
            <a:ext cx="73152" cy="118872"/>
          </a:xfrm>
          <a:prstGeom prst="rightArrow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335024"/>
            <a:ext cx="1993392" cy="208483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335024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36245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78608" y="155448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Function (Node 20)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78608" y="1920240"/>
            <a:ext cx="17739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REST endpoints, 512 MB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scoping on every query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on sensitive reads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assistant engine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71416" y="2304288"/>
            <a:ext cx="73152" cy="118872"/>
          </a:xfrm>
          <a:prstGeom prst="rightArrow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1335024"/>
            <a:ext cx="1993392" cy="208483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3712" y="1335024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36245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3440" y="155448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AppSail + Job + Cron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1920240"/>
            <a:ext cx="17739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AppSail: per-capita &amp; forecast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Job: full pipeline, 15-min budget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Cron: nightly 02:00 IST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56248" y="2304288"/>
            <a:ext cx="73152" cy="118872"/>
          </a:xfrm>
          <a:prstGeom prst="rightArrow">
            <a:avLst/>
          </a:prstGeom>
          <a:solidFill>
            <a:srgbClr val="D9E1E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38544" y="1335024"/>
            <a:ext cx="1993392" cy="208483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38544" y="1335024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136245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48272" y="155448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 · Stratus · Cache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48272" y="1920240"/>
            <a:ext cx="17739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Store: 40,836 FIRs, ZCQL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Stratus: bulk-import objects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Cache: KPI segment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Connections: QuickML OAuth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4048" y="3566160"/>
            <a:ext cx="8375904" cy="658368"/>
          </a:xfrm>
          <a:prstGeom prst="roundRect">
            <a:avLst>
              <a:gd name="adj" fmla="val 8333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621024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 that shaped everything: no heavy compute behind an HTTP request.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" y="3822192"/>
            <a:ext cx="8083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peaks at ~740 MB and ~25 s. Functions and AppSail both cap a request at 30 s, so it runs as a Job and the web tier reads only what the Job has already written. The graph payload is interned before shipping — 54.9 MB of adjacency becomes 12.1 MB with identical evidence text.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for a constraint, not for the list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404164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472184"/>
            <a:ext cx="164592" cy="164592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26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7190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· TypeScript · Vite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(KSP palette)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Cytoscape.js + fcose — graph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GL — satellite &amp; choropleth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— charts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 — interaction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08576" y="1335024"/>
            <a:ext cx="404164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1472184"/>
            <a:ext cx="164592" cy="164592"/>
          </a:xfrm>
          <a:prstGeom prst="ellipse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426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7190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20 (Advanced I/O Function)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Express-compatible routing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In-request audit trail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grounded assistant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2816352"/>
            <a:ext cx="404164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2953512"/>
            <a:ext cx="164592" cy="16459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07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2004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— TF-IDF, NearestNeighbors, DBSCAN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 — multigraph + Louvain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RapidFuzz — name matching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/ NumPy / SciPy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Shapely — polygon sampling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08576" y="2816352"/>
            <a:ext cx="404164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6592" y="2953512"/>
            <a:ext cx="164592" cy="164592"/>
          </a:xfrm>
          <a:prstGeom prst="ellipse">
            <a:avLst/>
          </a:prstGeom>
          <a:solidFill>
            <a:srgbClr val="0F2F44"/>
          </a:solidFill>
          <a:ln w="12700">
            <a:solidFill>
              <a:srgbClr val="0F2F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2907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2004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Catalyst (deployment mandate)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 CLI 1.27.0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ZCQL for Data Store queries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GitHub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+ Python test suites (19 tests)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Catalyst services in the solution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services, each answering a specific constraint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8375904" cy="274320"/>
          </a:xfrm>
          <a:prstGeom prst="roundRect">
            <a:avLst>
              <a:gd name="adj" fmla="val 13333"/>
            </a:avLst>
          </a:prstGeom>
          <a:solidFill>
            <a:srgbClr val="0F2F44"/>
          </a:solidFill>
          <a:ln w="12700">
            <a:solidFill>
              <a:srgbClr val="0F2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96896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31536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service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84048" y="1609344"/>
            <a:ext cx="8375904" cy="288036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609344"/>
            <a:ext cx="20116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Client Hosting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96896" y="1609344"/>
            <a:ext cx="27432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the SPA at /app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31536" y="1609344"/>
            <a:ext cx="32186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origin as the API; deep links handled with a 404 → shell fallback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" y="1897380"/>
            <a:ext cx="20116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Functions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96896" y="1897380"/>
            <a:ext cx="27432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21-endpoint REST API + nightly Job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31536" y="1897380"/>
            <a:ext cx="32186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I/O accepts an Express app; raised to 512 MB for the read-model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" y="2185416"/>
            <a:ext cx="8375904" cy="288036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185416"/>
            <a:ext cx="20116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AppSail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96896" y="2185416"/>
            <a:ext cx="27432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analytics service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31536" y="2185416"/>
            <a:ext cx="32186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Per-capita + forecast in ~135 ms; stdlib-only build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" y="2473452"/>
            <a:ext cx="20116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96896" y="2473452"/>
            <a:ext cx="27432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tables · 40,836 FIRs · live ZCQL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31536" y="2473452"/>
            <a:ext cx="32186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 schema is genuinely relational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2761488"/>
            <a:ext cx="8375904" cy="288036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2761488"/>
            <a:ext cx="20116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Stratus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96896" y="2761488"/>
            <a:ext cx="27432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storage for bulk import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31536" y="2761488"/>
            <a:ext cx="32186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 bulk-write reads its source from a bucket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" y="3049524"/>
            <a:ext cx="20116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Scheduling + Cron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96896" y="3049524"/>
            <a:ext cx="27432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analytics revalidation, 02:00 IST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31536" y="3049524"/>
            <a:ext cx="32186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Jobs get 15 minutes; Functions and AppSail cap at 30 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" y="3337560"/>
            <a:ext cx="8375904" cy="288036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" y="3337560"/>
            <a:ext cx="20116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96896" y="3337560"/>
            <a:ext cx="27432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for QuickML (deployment.READ)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31536" y="3337560"/>
            <a:ext cx="32186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QuickML rejects anonymous calls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3776" y="3625596"/>
            <a:ext cx="20116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96896" y="3625596"/>
            <a:ext cx="27432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Provisioned; role model shown at sign-in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31536" y="3625596"/>
            <a:ext cx="32186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scoping enforced server-side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 not wire — and exactly why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Listed deliberately: each was attempted and diagnosed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8375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527048"/>
            <a:ext cx="146304" cy="14630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988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42032" y="1380744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written, segment provisioned. Writes from inside a deployed function return 401 PERMISSION_NEEDED. Ruled out: segment id, SDK, scope API, table permissions. Zero user impact — the KPI query recomputes in ~1 ms.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1947672"/>
            <a:ext cx="8375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213969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0253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QuickML (GLM-4.7 + RAG)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42032" y="1993392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Endpoint, model id, org header and a valid OAuth token all in place; the endpoint rejects our body with 400 PATTERN_NOT_MATCHED. The assistant runs a deterministic intent engine instead — which cannot hallucinate an FIR number.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" y="2560320"/>
            <a:ext cx="8375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2752344"/>
            <a:ext cx="146304" cy="14630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1518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Zia (STT / TTS / translate)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42032" y="2606040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enabled on the project. Adapter includes the recommended degradation (translate → English → speak). Voice today runs on the browser Web Speech API, client-side.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" y="3172968"/>
            <a:ext cx="8375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3364992"/>
            <a:ext cx="146304" cy="146304"/>
          </a:xfrm>
          <a:prstGeom prst="ellipse">
            <a:avLst/>
          </a:prstGeom>
          <a:solidFill>
            <a:srgbClr val="5B6B7E"/>
          </a:solidFill>
          <a:ln w="12700">
            <a:solidFill>
              <a:srgbClr val="5B6B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2783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/ SmartBrowz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42032" y="3218688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read-model is served from the function bundle; briefing export returns print-ready HTML rather than claiming a PDF pipeline that does not exist.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4048" y="3785616"/>
            <a:ext cx="8375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977640"/>
            <a:ext cx="146304" cy="146304"/>
          </a:xfrm>
          <a:prstGeom prst="ellipse">
            <a:avLst/>
          </a:prstGeom>
          <a:solidFill>
            <a:srgbClr val="5B6B7E"/>
          </a:solidFill>
          <a:ln w="12700">
            <a:solidFill>
              <a:srgbClr val="5B6B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404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42032" y="3831336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 once, then disabled: with no routes configured it intercepted all traffic and the site returned INVALID_URL. Needs route config before it is safe.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048" y="441655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Stating this plainly is a deliberate choice: an evaluator can verify every claim on the live URL.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FIRs, generated against a real skeleton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8375904" cy="4572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71600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FIR is synthetic — no real case, person or complainant appears anywhere. Real KSP records cannot leave KSP, so the corpus is generated against the real schema, real geography and real published statistics.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1883664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94767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40,836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" y="23225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 · 43 months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96796" y="1883664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6524" y="194767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06524" y="23225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9544" y="1883664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94767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19272" y="23225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 stations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2292" y="1883664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2020" y="194767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50,656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32020" y="23225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 records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1883664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94767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44768" y="23225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offenders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47788" y="1883664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57516" y="194767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57516" y="23225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 patterns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2743200"/>
            <a:ext cx="404164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816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generated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" y="3054096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skeleton: 31 districts, 298 stations, IPC/BNS/IT/NDPS sections, KSP taxonomy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from published statistics — Bengaluru City ~16,900 FIRs vs a few hundred rural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rejection-sampled inside real district polygons — 100% land inside Karnataka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Kannada name pool with spelling variants, initials and transliteration drift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(seed 2026) — the corpus regenerates byte-for-byte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18304" y="2743200"/>
            <a:ext cx="404164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816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synthetic origin shows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3054096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narratives are template-drawn — cleaner and more uniform than real free text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urbanisation correlation is partly circular: the generator weights urban crime upward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come from a finite pool, making resolution slightly easier than reality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missing fields, typos or duplicate registrations — real registers are messier</a:t>
            </a:r>
            <a:endParaRPr lang="en-US" sz="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Census 2011 population, literacy and urbanisation are real, and used as the denominator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implementation cost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Free-tier today; the shape of a state-wide rollout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8375904" cy="274320"/>
          </a:xfrm>
          <a:prstGeom prst="roundRect">
            <a:avLst>
              <a:gd name="adj" fmla="val 13333"/>
            </a:avLst>
          </a:prstGeom>
          <a:solidFill>
            <a:srgbClr val="0F2F44"/>
          </a:solidFill>
          <a:ln w="12700">
            <a:solidFill>
              <a:srgbClr val="0F2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335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96896" y="1335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usage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65776" y="1335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today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83096" y="1335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production scale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4048" y="1609344"/>
            <a:ext cx="8375904" cy="301752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60934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Client Hosting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96896" y="160934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+ assets (~2 MB)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65776" y="16093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83096" y="160934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hosting, negligible at KSP scale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3776" y="191109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Functions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96896" y="191109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functions · 512 MB · ~50k req/mo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65776" y="191109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83096" y="191109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per invocation; no idle cost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4048" y="2212848"/>
            <a:ext cx="8375904" cy="301752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21284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AppSail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96896" y="221284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service · stdlib runtime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65776" y="221284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83096" y="221284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on demand, ~135 ms per call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3776" y="25146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96896" y="251460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40,836 FIRs across 11 tables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65776" y="251460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83096" y="251460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KSP volume ≈ 20× — paid tier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4048" y="2816352"/>
            <a:ext cx="8375904" cy="301752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281635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Stratus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96896" y="28163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 MB import objects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65776" y="281635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83096" y="281635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with exports and briefings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3776" y="311810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+ Cron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596896" y="311810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nightly run, &lt; 1 min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65776" y="311810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83096" y="311810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scheduled execution per day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4048" y="3419856"/>
            <a:ext cx="8375904" cy="301752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341985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QuickML / Zia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596896" y="341985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enabled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65776" y="341985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credits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83096" y="341985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Per-token / per-call once wired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4048" y="3794760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prototype runs entirely inside the Catalyst free tier. Cost only becomes material at real KSP volume (~800k FIRs/year) and once QuickML token usage begins.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Snapshots of the prototype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screens, live at the deployed URL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335024"/>
            <a:ext cx="50292" cy="896112"/>
          </a:xfrm>
          <a:prstGeom prst="roundRect">
            <a:avLst>
              <a:gd name="adj" fmla="val 36364"/>
            </a:avLst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081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Dashboard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monthly trend, hour × weekday heatmap, disposal funnel, rank-shift finding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18688" y="1335024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8688" y="1335024"/>
            <a:ext cx="50292" cy="896112"/>
          </a:xfrm>
          <a:prstGeom prst="roundRect">
            <a:avLst>
              <a:gd name="adj" fmla="val 36364"/>
            </a:avLst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4081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Case-Linkage Graph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6642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Ego-network with layout switcher, six link-type filters and a "why linked" panel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53328" y="1335024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3328" y="1335024"/>
            <a:ext cx="50292" cy="896112"/>
          </a:xfrm>
          <a:prstGeom prst="roundRect">
            <a:avLst>
              <a:gd name="adj" fmla="val 36364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4081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166420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Per-capita ranking, correlation scatter, crime-mix by band, forecast with interval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" y="2322576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322576"/>
            <a:ext cx="50292" cy="896112"/>
          </a:xfrm>
          <a:prstGeom prst="roundRect">
            <a:avLst>
              <a:gd name="adj" fmla="val 36364"/>
            </a:avLst>
          </a:prstGeom>
          <a:solidFill>
            <a:srgbClr val="0F2F44"/>
          </a:solidFill>
          <a:ln w="12700">
            <a:solidFill>
              <a:srgbClr val="0F2F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9572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Spatiotemporal Map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65176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basemap, district choropleth, DBSCAN hotspots, time-of-day filter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18688" y="2322576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8688" y="2322576"/>
            <a:ext cx="50292" cy="896112"/>
          </a:xfrm>
          <a:prstGeom prst="roundRect">
            <a:avLst>
              <a:gd name="adj" fmla="val 3636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39572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Health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65176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Worklist of 19,006 flagged cases with reasons and recommended actions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53328" y="2322576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328" y="2322576"/>
            <a:ext cx="50292" cy="896112"/>
          </a:xfrm>
          <a:prstGeom prst="roundRect">
            <a:avLst>
              <a:gd name="adj" fmla="val 36364"/>
            </a:avLst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39572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Offender Watchlist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265176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gauge, glass-box factor breakdown, name variants, linked FIRs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4048" y="3310128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310128"/>
            <a:ext cx="50292" cy="896112"/>
          </a:xfrm>
          <a:prstGeom prst="roundRect">
            <a:avLst>
              <a:gd name="adj" fmla="val 36364"/>
            </a:avLst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3832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Assistant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63931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/ ಕನ್ನಡ Q&amp;A by text or voice, every answer citing real FIR numbers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18688" y="3310128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18688" y="3310128"/>
            <a:ext cx="50292" cy="896112"/>
          </a:xfrm>
          <a:prstGeom prst="roundRect">
            <a:avLst>
              <a:gd name="adj" fmla="val 36364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3832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Register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363931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40,836 FIRs, filterable by head, district, status, gravity and health flag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53328" y="3310128"/>
            <a:ext cx="267004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53328" y="3310128"/>
            <a:ext cx="50292" cy="896112"/>
          </a:xfrm>
          <a:prstGeom prst="roundRect">
            <a:avLst>
              <a:gd name="adj" fmla="val 36364"/>
            </a:avLst>
          </a:prstGeom>
          <a:solidFill>
            <a:srgbClr val="0F2F44"/>
          </a:solidFill>
          <a:ln w="12700">
            <a:solidFill>
              <a:srgbClr val="0F2F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38328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&amp; Audit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363931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platform, dataset and fairness documentation; audited sensitive reads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benchmarking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the deployed build, not estimated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133502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Ground-truth recovery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84048" y="1572768"/>
          <a:ext cx="4041648" cy="1298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3"/>
          <p:cNvSpPr/>
          <p:nvPr/>
        </p:nvSpPr>
        <p:spPr>
          <a:xfrm>
            <a:off x="4718304" y="133502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 distribution by crime group</a:t>
            </a:r>
            <a:endParaRPr lang="en-US" sz="10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718304" y="1517904"/>
          <a:ext cx="4041648" cy="13898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384048" y="3017520"/>
            <a:ext cx="2670048" cy="548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3776" y="3063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 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700784" y="30540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runtime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93776" y="331927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recompute, 40,836 FIRs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3218688" y="3017520"/>
            <a:ext cx="2670048" cy="548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28416" y="3063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738 MB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35424" y="30540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memory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328416" y="331927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1,770 MB before optimisation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6053328" y="3017520"/>
            <a:ext cx="2670048" cy="548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63056" y="3063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ms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370064" y="30540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AppSail analytics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163056" y="331927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a 30 s request cap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384048" y="3639312"/>
            <a:ext cx="2670048" cy="548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3776" y="3685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54.9 → 12.1 MB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700784" y="367588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payload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93776" y="394106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interned, evidence text identical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3218688" y="3639312"/>
            <a:ext cx="2670048" cy="548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28416" y="3685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535424" y="367588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MAPE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328416" y="394106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hold-out backtest, 3 withheld months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6053328" y="3639312"/>
            <a:ext cx="2670048" cy="548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163056" y="3685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370064" y="367588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suite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6163056" y="394106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Node + 11 Python, fairness asserted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 that changes the map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counts mislead, and what per-capita analysis reveals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133502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by raw count vs rank per 100,000 residents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84048" y="1572768"/>
          <a:ext cx="4041648" cy="18836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3"/>
          <p:cNvSpPr/>
          <p:nvPr/>
        </p:nvSpPr>
        <p:spPr>
          <a:xfrm>
            <a:off x="4718304" y="1572768"/>
            <a:ext cx="4041648" cy="841248"/>
          </a:xfrm>
          <a:prstGeom prst="roundRect">
            <a:avLst>
              <a:gd name="adj" fmla="val 6522"/>
            </a:avLst>
          </a:prstGeom>
          <a:solidFill>
            <a:srgbClr val="F0F7F5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64608" y="1645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Kodagu is 30th by raw count — and 6th per capita.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864608" y="188366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335 FIRs looks unremarkable next to Bengaluru City's 16,895 — until you divide by 648,787 residents. A count map would never surface it. Tumakuru moves the other way: 10th by count, 24th by rate.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718304" y="252374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Socio-economic correlation (n = 31 districts)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18304" y="2779776"/>
            <a:ext cx="404164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27797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Urbanisation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19088" y="27797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+0.878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242048" y="27797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&lt; 0.0001 · strong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718304" y="3090672"/>
            <a:ext cx="404164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090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Literacy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419088" y="3090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+0.538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242048" y="30906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0.0018 · moderate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718304" y="3401568"/>
            <a:ext cx="404164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density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19088" y="3401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+0.889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242048" y="340156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&lt; 0.0001 · strong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18304" y="374904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 stated openly: the generator weights urban crime upward, so the urbanisation correlation is partly circular. The method is sound and runs unchanged on real KSP data — but this is confirmation, not discovery.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by construction — and proven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hardest question a jury asks, answered with a test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4041648" cy="1170432"/>
          </a:xfrm>
          <a:prstGeom prst="roundRect">
            <a:avLst>
              <a:gd name="adj" fmla="val 4688"/>
            </a:avLst>
          </a:prstGeom>
          <a:solidFill>
            <a:srgbClr val="F0F7F5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4081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excluded, and how it is enforced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0352" y="1664208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Caste, religion and occupation never enter entity resolution, linkage, risk scoring or any prediction. A unit test fails the build if any protected column appears in a model feature set — the guarantee is executable, not editorial.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18304" y="1335024"/>
            <a:ext cx="404164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14081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64608" y="1664208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edge names the attribute that matched and the FIRs it matched on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risk score shows its factor breakdown, not just a number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assistant answer cites the FIR numbers it drew from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reads are written to an audit trail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2651760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Ground-truth evaluation — measured on every pipeline run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907792"/>
            <a:ext cx="8375904" cy="274320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907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Cross-district chain-snatching gang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21808" y="2907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01968" y="2907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33488" y="290779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2064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burglary chain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21808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01968" y="3200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33488" y="32004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4048" y="3493008"/>
            <a:ext cx="8375904" cy="274320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493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Cyber-fraud ring (UPI/OTP)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21808" y="3493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01968" y="3493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33488" y="349300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2064" y="37856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Offender entity resolution (single-person avg)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21808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01968" y="37856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33488" y="3785616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" y="4078224"/>
            <a:ext cx="8375904" cy="274320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4078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offender out on bail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21808" y="4078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01968" y="40782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33488" y="407822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publicly accessible and verifiable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8375904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581912"/>
            <a:ext cx="164592" cy="164592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99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solution (Catalyst)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Client Hosting · sign in by role, no password</a:t>
            </a:r>
            <a:endParaRPr lang="en-US" sz="75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3694176" y="1380744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A6F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https://kadilabs-60078029367.development.catalystserverless.in/app/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4048" y="2066544"/>
            <a:ext cx="8375904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2313432"/>
            <a:ext cx="164592" cy="164592"/>
          </a:xfrm>
          <a:prstGeom prst="ellipse">
            <a:avLst/>
          </a:prstGeom>
          <a:solidFill>
            <a:srgbClr val="0F2F44"/>
          </a:solidFill>
          <a:ln w="12700">
            <a:solidFill>
              <a:srgbClr val="0F2F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130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source, README, setup and execution instructions</a:t>
            </a:r>
            <a:endParaRPr lang="en-US" sz="750" dirty="0"/>
          </a:p>
        </p:txBody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3694176" y="2112264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A6F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https://github.com/adarshcod30/Kadi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798064"/>
            <a:ext cx="8375904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3044952"/>
            <a:ext cx="164592" cy="164592"/>
          </a:xfrm>
          <a:prstGeom prst="ellipse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8620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AppSail analytics service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6384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JSON — per-capita rates and correlations</a:t>
            </a:r>
            <a:endParaRPr lang="en-US" sz="750" dirty="0"/>
          </a:p>
        </p:txBody>
      </p:sp>
      <p:sp>
        <p:nvSpPr>
          <p:cNvPr id="18" name="Text 16">
            <a:hlinkClick r:id="rId4" tooltip=""/>
          </p:cNvPr>
          <p:cNvSpPr/>
          <p:nvPr/>
        </p:nvSpPr>
        <p:spPr>
          <a:xfrm>
            <a:off x="3694176" y="2843784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A6FC4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https://kadi-appsail-50043957273.development.catalystappsail.in/analytics/socio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" y="3529584"/>
            <a:ext cx="8375904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776472"/>
            <a:ext cx="164592" cy="16459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593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(3 minutes)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overview · working prototype · key workflows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94176" y="3575304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added before submission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4297680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is exclusively on the Catalyst platform, as required.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65836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details &amp; future development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4048" y="102412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ships next, in priority order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335024"/>
            <a:ext cx="267004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53896"/>
            <a:ext cx="182880" cy="182880"/>
          </a:xfrm>
          <a:prstGeom prst="ellipse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53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9808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Catalyst Authentication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12064" y="168249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role header with a verified JWT in userFromRequest — one function, no other change.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18688" y="1335024"/>
            <a:ext cx="267004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53896"/>
            <a:ext cx="182880" cy="182880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53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84448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API from Data Store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46704" y="168249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the bundled read-model for ZCQL/NoSQL reads behind the existing store interface.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53328" y="1335024"/>
            <a:ext cx="267004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53896"/>
            <a:ext cx="182880" cy="18288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453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19088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QuickML + Zia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81344" y="168249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the request-body contract with Zoho support; enable Kannada STT/TTS server-side.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84048" y="2286000"/>
            <a:ext cx="267004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404872"/>
            <a:ext cx="182880" cy="182880"/>
          </a:xfrm>
          <a:prstGeom prst="ellipse">
            <a:avLst/>
          </a:prstGeom>
          <a:solidFill>
            <a:srgbClr val="0F2F44"/>
          </a:solidFill>
          <a:ln w="12700">
            <a:solidFill>
              <a:srgbClr val="0F2F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04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9808" y="23682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the audit trail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2064" y="2633472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in-memory ring buffer into a Data Store table for real accountability.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18688" y="2286000"/>
            <a:ext cx="267004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2404872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404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84448" y="23682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live KSP data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46704" y="2633472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on FIR insert for incremental recompute instead of a nightly full rebuild.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053328" y="2286000"/>
            <a:ext cx="267004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404872"/>
            <a:ext cx="182880" cy="182880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404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19088" y="23682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graph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81344" y="2633472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numbers, phone/IMEI and bank accounts as first-class link types.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84048" y="3346704"/>
            <a:ext cx="8375904" cy="786384"/>
          </a:xfrm>
          <a:prstGeom prst="roundRect">
            <a:avLst>
              <a:gd name="adj" fmla="val 6977"/>
            </a:avLst>
          </a:prstGeom>
          <a:solidFill>
            <a:srgbClr val="F5F8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419856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at KSP scale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3621024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synthetic corpus the pipeline surfaces 7 cross-district networks and 19,006 investigations drifting past their peer median. Applied to Karnataka's real register — roughly 800,000 FIRs a year — the same code turns a monthly Excel exercise into a nightly, auditable intelligence picture that an SI and the SCRB read from the same source.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Karnataka State Police — Datathon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KADI — AI-Driven Crime Analytics &amp; Visualization Platform</dc:title>
  <dc:subject>PptxGenJS Presentation</dc:subject>
  <dc:creator>Team KadiLabs</dc:creator>
  <cp:lastModifiedBy>Team KadiLabs</cp:lastModifiedBy>
  <cp:revision>1</cp:revision>
  <dcterms:created xsi:type="dcterms:W3CDTF">2026-07-26T11:40:54Z</dcterms:created>
  <dcterms:modified xsi:type="dcterms:W3CDTF">2026-07-26T11:40:54Z</dcterms:modified>
</cp:coreProperties>
</file>