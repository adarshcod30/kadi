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78" r:id="rId29"/>
    <p:sldId id="261" r:id="rId7"/>
    <p:sldId id="262" r:id="rId8"/>
    <p:sldId id="263" r:id="rId9"/>
    <p:sldId id="264" r:id="rId10"/>
    <p:sldId id="265" r:id="rId11"/>
    <p:sldId id="266" r:id="rId12"/>
    <p:sldId id="269" r:id="rId13"/>
    <p:sldId id="270" r:id="rId14"/>
    <p:sldId id="271" r:id="rId15"/>
    <p:sldId id="272" r:id="rId16"/>
    <p:sldId id="273" r:id="rId17"/>
    <p:sldId id="274" r:id="rId18"/>
    <p:sldId id="275" r:id="rId19"/>
    <p:sldId id="276" r:id="rId20"/>
    <p:sldId id="268" r:id="rId21"/>
    <p:sldId id="267" r:id="rId22"/>
    <p:sldId id="27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8"/>
    <p:restoredTop sz="94610"/>
  </p:normalViewPr>
  <p:slideViewPr>
    <p:cSldViewPr snapToGrid="0" snapToObjects="1">
      <p:cViewPr>
        <p:scale>
          <a:sx n="165" d="100"/>
          <a:sy n="165" d="100"/>
        </p:scale>
        <p:origin x="144" y="3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openxmlformats.org/officeDocument/2006/relationships/slide" Target="slides/slide2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Model AUC</c:v>
                </c:pt>
              </c:strCache>
            </c:strRef>
          </c:tx>
          <c:spPr>
            <a:solidFill>
              <a:srgbClr val="1A6FC4"/>
            </a:solidFill>
            <a:effectLst/>
          </c:spPr>
          <c:invertIfNegative val="0"/>
          <c:dLbls>
            <c:numFmt formatCode="0.000" sourceLinked="0"/>
            <c:spPr>
              <a:noFill/>
              <a:ln>
                <a:noFill/>
              </a:ln>
              <a:effectLst/>
            </c:spPr>
            <c:txPr>
              <a:bodyPr/>
              <a:lstStyle/>
              <a:p>
                <a:pPr>
                  <a:defRPr sz="620" b="0" i="0" u="none" strike="noStrike">
                    <a:solidFill>
                      <a:srgbClr val="1F293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h90</c:v>
                </c:pt>
                <c:pt idx="1">
                  <c:v>h180</c:v>
                </c:pt>
                <c:pt idx="2">
                  <c:v>h365</c:v>
                </c:pt>
                <c:pt idx="3">
                  <c:v>new365</c:v>
                </c:pt>
                <c:pt idx="4">
                  <c:v>heinous365</c:v>
                </c:pt>
                <c:pt idx="5">
                  <c:v>women365</c:v>
                </c:pt>
                <c:pt idx="6">
                  <c:v>spike</c:v>
                </c:pt>
                <c:pt idx="7">
                  <c:v>pendency</c:v>
                </c:pt>
              </c:strCache>
            </c:strRef>
          </c:cat>
          <c:val>
            <c:numRef>
              <c:f>Sheet1!$B$2:$B$9</c:f>
              <c:numCache>
                <c:formatCode>General</c:formatCode>
                <c:ptCount val="8"/>
                <c:pt idx="0">
                  <c:v>0.69899999999999995</c:v>
                </c:pt>
                <c:pt idx="1">
                  <c:v>0.746</c:v>
                </c:pt>
                <c:pt idx="2">
                  <c:v>0.73299999999999998</c:v>
                </c:pt>
                <c:pt idx="3">
                  <c:v>0.76200000000000001</c:v>
                </c:pt>
                <c:pt idx="4">
                  <c:v>0.66100000000000003</c:v>
                </c:pt>
                <c:pt idx="5">
                  <c:v>0.63800000000000001</c:v>
                </c:pt>
                <c:pt idx="6">
                  <c:v>0.67700000000000005</c:v>
                </c:pt>
                <c:pt idx="7">
                  <c:v>0.87</c:v>
                </c:pt>
              </c:numCache>
            </c:numRef>
          </c:val>
          <c:extLst>
            <c:ext xmlns:c16="http://schemas.microsoft.com/office/drawing/2014/chart" uri="{C3380CC4-5D6E-409C-BE32-E72D297353CC}">
              <c16:uniqueId val="{00000000-C4C8-5A4F-B666-5CBC06B36505}"/>
            </c:ext>
          </c:extLst>
        </c:ser>
        <c:ser>
          <c:idx val="1"/>
          <c:order val="1"/>
          <c:tx>
            <c:strRef>
              <c:f>Sheet1!$C$1</c:f>
              <c:strCache>
                <c:ptCount val="1"/>
                <c:pt idx="0">
                  <c:v>The rule it replaces</c:v>
                </c:pt>
              </c:strCache>
            </c:strRef>
          </c:tx>
          <c:spPr>
            <a:solidFill>
              <a:srgbClr val="B9C6D4"/>
            </a:solidFill>
            <a:effectLst/>
          </c:spPr>
          <c:invertIfNegative val="0"/>
          <c:dLbls>
            <c:numFmt formatCode="0.000" sourceLinked="0"/>
            <c:spPr>
              <a:noFill/>
              <a:ln>
                <a:noFill/>
              </a:ln>
              <a:effectLst/>
            </c:spPr>
            <c:txPr>
              <a:bodyPr/>
              <a:lstStyle/>
              <a:p>
                <a:pPr>
                  <a:defRPr sz="620" b="0" i="0" u="none" strike="noStrike">
                    <a:solidFill>
                      <a:srgbClr val="1F293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h90</c:v>
                </c:pt>
                <c:pt idx="1">
                  <c:v>h180</c:v>
                </c:pt>
                <c:pt idx="2">
                  <c:v>h365</c:v>
                </c:pt>
                <c:pt idx="3">
                  <c:v>new365</c:v>
                </c:pt>
                <c:pt idx="4">
                  <c:v>heinous365</c:v>
                </c:pt>
                <c:pt idx="5">
                  <c:v>women365</c:v>
                </c:pt>
                <c:pt idx="6">
                  <c:v>spike</c:v>
                </c:pt>
                <c:pt idx="7">
                  <c:v>pendency</c:v>
                </c:pt>
              </c:strCache>
            </c:strRef>
          </c:cat>
          <c:val>
            <c:numRef>
              <c:f>Sheet1!$C$2:$C$9</c:f>
              <c:numCache>
                <c:formatCode>General</c:formatCode>
                <c:ptCount val="8"/>
                <c:pt idx="0">
                  <c:v>0.58399999999999996</c:v>
                </c:pt>
                <c:pt idx="1">
                  <c:v>0.56200000000000006</c:v>
                </c:pt>
                <c:pt idx="2">
                  <c:v>0.51200000000000001</c:v>
                </c:pt>
                <c:pt idx="3">
                  <c:v>0.56100000000000005</c:v>
                </c:pt>
                <c:pt idx="4">
                  <c:v>0.502</c:v>
                </c:pt>
                <c:pt idx="5">
                  <c:v>0.45900000000000002</c:v>
                </c:pt>
                <c:pt idx="6">
                  <c:v>0.62</c:v>
                </c:pt>
                <c:pt idx="7">
                  <c:v>0.70099999999999996</c:v>
                </c:pt>
              </c:numCache>
            </c:numRef>
          </c:val>
          <c:extLst>
            <c:ext xmlns:c16="http://schemas.microsoft.com/office/drawing/2014/chart" uri="{C3380CC4-5D6E-409C-BE32-E72D297353CC}">
              <c16:uniqueId val="{00000001-C4C8-5A4F-B666-5CBC06B36505}"/>
            </c:ext>
          </c:extLst>
        </c:ser>
        <c:dLbls>
          <c:showLegendKey val="0"/>
          <c:showVal val="1"/>
          <c:showCatName val="0"/>
          <c:showSerName val="0"/>
          <c:showPercent val="0"/>
          <c:showBubbleSize val="0"/>
        </c:dLbls>
        <c:gapWidth val="42"/>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00" b="0" i="0" u="none" strike="noStrike">
                <a:solidFill>
                  <a:srgbClr val="5B6B7C"/>
                </a:solidFill>
                <a:latin typeface="Calibri"/>
              </a:defRPr>
            </a:pPr>
            <a:endParaRPr lang="en-US"/>
          </a:p>
        </c:txPr>
        <c:crossAx val="2094734552"/>
        <c:crosses val="autoZero"/>
        <c:auto val="1"/>
        <c:lblAlgn val="ctr"/>
        <c:lblOffset val="100"/>
        <c:noMultiLvlLbl val="1"/>
      </c:catAx>
      <c:valAx>
        <c:axId val="2094734552"/>
        <c:scaling>
          <c:orientation val="minMax"/>
          <c:max val="0.95"/>
          <c:min val="0.4"/>
        </c:scaling>
        <c:delete val="0"/>
        <c:axPos val="l"/>
        <c:majorGridlines>
          <c:spPr>
            <a:ln w="9525" cap="flat">
              <a:solidFill>
                <a:srgbClr val="DCE3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700" b="0" i="0" u="none" strike="noStrike">
                <a:solidFill>
                  <a:srgbClr val="8A98A8"/>
                </a:solidFill>
                <a:latin typeface="Calibri"/>
              </a:defRPr>
            </a:pPr>
            <a:endParaRPr lang="en-US"/>
          </a:p>
        </c:txPr>
        <c:crossAx val="2094734554"/>
        <c:crosses val="autoZero"/>
        <c:crossBetween val="between"/>
      </c:valAx>
      <c:spPr>
        <a:solidFill>
          <a:srgbClr val="FFFFFF"/>
        </a:solidFill>
        <a:ln w="12700" cap="flat">
          <a:solidFill>
            <a:srgbClr val="FFFFFF"/>
          </a:solidFill>
        </a:ln>
        <a:effectLst/>
      </c:spPr>
    </c:plotArea>
    <c:legend>
      <c:legendPos val="b"/>
      <c:overlay val="0"/>
      <c:txPr>
        <a:bodyPr/>
        <a:lstStyle/>
        <a:p>
          <a:pPr>
            <a:defRPr sz="900">
              <a:solidFill>
                <a:srgbClr val="5B6B7C"/>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recovered</c:v>
                </c:pt>
              </c:strCache>
            </c:strRef>
          </c:tx>
          <c:spPr>
            <a:solidFill>
              <a:srgbClr val="2FA8A0"/>
            </a:solidFill>
            <a:effectLst/>
          </c:spPr>
          <c:invertIfNegative val="0"/>
          <c:dLbls>
            <c:numFmt formatCode="0.0&quot;%&quot;" sourceLinked="0"/>
            <c:spPr>
              <a:noFill/>
              <a:ln>
                <a:noFill/>
              </a:ln>
              <a:effectLst/>
            </c:spPr>
            <c:txPr>
              <a:bodyPr/>
              <a:lstStyle/>
              <a:p>
                <a:pPr>
                  <a:defRPr sz="680" b="0" i="0" u="none" strike="noStrike">
                    <a:solidFill>
                      <a:srgbClr val="1F293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Chain-snatching gang</c:v>
                </c:pt>
                <c:pt idx="1">
                  <c:v>Serial burglary</c:v>
                </c:pt>
                <c:pt idx="2">
                  <c:v>Cyber-fraud ring</c:v>
                </c:pt>
                <c:pt idx="3">
                  <c:v>Entity resolution</c:v>
                </c:pt>
                <c:pt idx="4">
                  <c:v>MV-theft hotspot</c:v>
                </c:pt>
              </c:strCache>
            </c:strRef>
          </c:cat>
          <c:val>
            <c:numRef>
              <c:f>Sheet1!$B$2:$B$6</c:f>
              <c:numCache>
                <c:formatCode>General</c:formatCode>
                <c:ptCount val="5"/>
                <c:pt idx="0">
                  <c:v>100</c:v>
                </c:pt>
                <c:pt idx="1">
                  <c:v>100</c:v>
                </c:pt>
                <c:pt idx="2">
                  <c:v>100</c:v>
                </c:pt>
                <c:pt idx="3">
                  <c:v>85.9</c:v>
                </c:pt>
                <c:pt idx="4">
                  <c:v>100</c:v>
                </c:pt>
              </c:numCache>
            </c:numRef>
          </c:val>
          <c:extLst>
            <c:ext xmlns:c16="http://schemas.microsoft.com/office/drawing/2014/chart" uri="{C3380CC4-5D6E-409C-BE32-E72D297353CC}">
              <c16:uniqueId val="{00000000-F2FC-EE40-B812-E4C11CE4A721}"/>
            </c:ext>
          </c:extLst>
        </c:ser>
        <c:dLbls>
          <c:showLegendKey val="0"/>
          <c:showVal val="1"/>
          <c:showCatName val="0"/>
          <c:showSerName val="0"/>
          <c:showPercent val="0"/>
          <c:showBubbleSize val="0"/>
        </c:dLbls>
        <c:gapWidth val="42"/>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680" b="0" i="0" u="none" strike="noStrike">
                <a:solidFill>
                  <a:srgbClr val="5B6B7C"/>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0"/>
        <c:axPos val="b"/>
        <c:majorGridlines>
          <c:spPr>
            <a:ln w="9525" cap="flat">
              <a:solidFill>
                <a:srgbClr val="DCE3EC"/>
              </a:solidFill>
              <a:prstDash val="solid"/>
              <a:round/>
            </a:ln>
          </c:spPr>
        </c:majorGridlines>
        <c:numFmt formatCode="General" sourceLinked="0"/>
        <c:majorTickMark val="out"/>
        <c:minorTickMark val="none"/>
        <c:tickLblPos val="low"/>
        <c:spPr>
          <a:ln w="12700" cap="flat">
            <a:noFill/>
            <a:prstDash val="solid"/>
            <a:round/>
          </a:ln>
        </c:spPr>
        <c:txPr>
          <a:bodyPr/>
          <a:lstStyle/>
          <a:p>
            <a:pPr>
              <a:defRPr sz="700" b="0" i="0" u="none" strike="noStrike">
                <a:solidFill>
                  <a:srgbClr val="8A98A8"/>
                </a:solidFill>
                <a:latin typeface="Calibri"/>
              </a:defRPr>
            </a:pPr>
            <a:endParaRPr lang="en-US"/>
          </a:p>
        </c:txPr>
        <c:crossAx val="2094734554"/>
        <c:crosses val="autoZero"/>
        <c:crossBetween val="between"/>
      </c:valAx>
      <c:spPr>
        <a:solidFill>
          <a:srgbClr val="FFFFFF"/>
        </a:solid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before tuning</c:v>
                </c:pt>
              </c:strCache>
            </c:strRef>
          </c:tx>
          <c:spPr>
            <a:solidFill>
              <a:srgbClr val="E8871E"/>
            </a:solidFill>
            <a:effectLst/>
          </c:spPr>
          <c:invertIfNegative val="0"/>
          <c:dLbls>
            <c:numFmt formatCode="#,##0" sourceLinked="0"/>
            <c:spPr>
              <a:noFill/>
              <a:ln>
                <a:noFill/>
              </a:ln>
              <a:effectLst/>
            </c:spPr>
            <c:txPr>
              <a:bodyPr/>
              <a:lstStyle/>
              <a:p>
                <a:pPr>
                  <a:defRPr sz="900" b="0" i="0" u="none" strike="noStrike">
                    <a:solidFill>
                      <a:srgbClr val="1F293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Pipeline peak memory, MB</c:v>
                </c:pt>
              </c:strCache>
            </c:strRef>
          </c:cat>
          <c:val>
            <c:numRef>
              <c:f>Sheet1!$B$2:$B$2</c:f>
              <c:numCache>
                <c:formatCode>General</c:formatCode>
                <c:ptCount val="1"/>
                <c:pt idx="0">
                  <c:v>1770</c:v>
                </c:pt>
              </c:numCache>
            </c:numRef>
          </c:val>
          <c:extLst>
            <c:ext xmlns:c16="http://schemas.microsoft.com/office/drawing/2014/chart" uri="{C3380CC4-5D6E-409C-BE32-E72D297353CC}">
              <c16:uniqueId val="{00000000-28D3-4647-8115-854E0A091E7D}"/>
            </c:ext>
          </c:extLst>
        </c:ser>
        <c:ser>
          <c:idx val="1"/>
          <c:order val="1"/>
          <c:tx>
            <c:strRef>
              <c:f>Sheet1!$C$1</c:f>
              <c:strCache>
                <c:ptCount val="1"/>
                <c:pt idx="0">
                  <c:v>after tuning</c:v>
                </c:pt>
              </c:strCache>
            </c:strRef>
          </c:tx>
          <c:spPr>
            <a:solidFill>
              <a:srgbClr val="1A6FC4"/>
            </a:solidFill>
            <a:effectLst/>
          </c:spPr>
          <c:invertIfNegative val="0"/>
          <c:dLbls>
            <c:numFmt formatCode="#,##0" sourceLinked="0"/>
            <c:spPr>
              <a:noFill/>
              <a:ln>
                <a:noFill/>
              </a:ln>
              <a:effectLst/>
            </c:spPr>
            <c:txPr>
              <a:bodyPr/>
              <a:lstStyle/>
              <a:p>
                <a:pPr>
                  <a:defRPr sz="900" b="0" i="0" u="none" strike="noStrike">
                    <a:solidFill>
                      <a:srgbClr val="1F293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Pipeline peak memory, MB</c:v>
                </c:pt>
              </c:strCache>
            </c:strRef>
          </c:cat>
          <c:val>
            <c:numRef>
              <c:f>Sheet1!$C$2:$C$2</c:f>
              <c:numCache>
                <c:formatCode>General</c:formatCode>
                <c:ptCount val="1"/>
                <c:pt idx="0">
                  <c:v>738</c:v>
                </c:pt>
              </c:numCache>
            </c:numRef>
          </c:val>
          <c:extLst>
            <c:ext xmlns:c16="http://schemas.microsoft.com/office/drawing/2014/chart" uri="{C3380CC4-5D6E-409C-BE32-E72D297353CC}">
              <c16:uniqueId val="{00000001-28D3-4647-8115-854E0A091E7D}"/>
            </c:ext>
          </c:extLst>
        </c:ser>
        <c:dLbls>
          <c:showLegendKey val="0"/>
          <c:showVal val="1"/>
          <c:showCatName val="0"/>
          <c:showSerName val="0"/>
          <c:showPercent val="0"/>
          <c:showBubbleSize val="0"/>
        </c:dLbls>
        <c:gapWidth val="9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60" b="0" i="0" u="none" strike="noStrike">
                <a:solidFill>
                  <a:srgbClr val="5B6B7C"/>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DCE3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700" b="0" i="0" u="none" strike="noStrike">
                <a:solidFill>
                  <a:srgbClr val="8A98A8"/>
                </a:solidFill>
                <a:latin typeface="Calibri"/>
              </a:defRPr>
            </a:pPr>
            <a:endParaRPr lang="en-US"/>
          </a:p>
        </c:txPr>
        <c:crossAx val="2094734554"/>
        <c:crosses val="autoZero"/>
        <c:crossBetween val="between"/>
      </c:valAx>
      <c:spPr>
        <a:solidFill>
          <a:srgbClr val="FFFFFF"/>
        </a:solidFill>
        <a:ln w="12700" cap="flat">
          <a:solidFill>
            <a:srgbClr val="FFFFFF"/>
          </a:solidFill>
        </a:ln>
        <a:effectLst/>
      </c:spPr>
    </c:plotArea>
    <c:legend>
      <c:legendPos val="b"/>
      <c:overlay val="0"/>
      <c:txPr>
        <a:bodyPr/>
        <a:lstStyle/>
        <a:p>
          <a:pPr>
            <a:defRPr sz="750">
              <a:solidFill>
                <a:srgbClr val="5B6B7C"/>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AUC − rule</c:v>
                </c:pt>
              </c:strCache>
            </c:strRef>
          </c:tx>
          <c:spPr>
            <a:solidFill>
              <a:srgbClr val="2FA8A0"/>
            </a:solidFill>
            <a:effectLst/>
          </c:spPr>
          <c:invertIfNegative val="0"/>
          <c:dLbls>
            <c:numFmt formatCode="\+0.000" sourceLinked="0"/>
            <c:spPr>
              <a:noFill/>
              <a:ln>
                <a:noFill/>
              </a:ln>
              <a:effectLst/>
            </c:spPr>
            <c:txPr>
              <a:bodyPr/>
              <a:lstStyle/>
              <a:p>
                <a:pPr>
                  <a:defRPr sz="640" b="0" i="0" u="none" strike="noStrike">
                    <a:solidFill>
                      <a:srgbClr val="1F293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h90</c:v>
                </c:pt>
                <c:pt idx="1">
                  <c:v>h180</c:v>
                </c:pt>
                <c:pt idx="2">
                  <c:v>h365</c:v>
                </c:pt>
                <c:pt idx="3">
                  <c:v>new365</c:v>
                </c:pt>
                <c:pt idx="4">
                  <c:v>heinous365</c:v>
                </c:pt>
                <c:pt idx="5">
                  <c:v>women365</c:v>
                </c:pt>
                <c:pt idx="6">
                  <c:v>spike</c:v>
                </c:pt>
                <c:pt idx="7">
                  <c:v>pendency</c:v>
                </c:pt>
              </c:strCache>
            </c:strRef>
          </c:cat>
          <c:val>
            <c:numRef>
              <c:f>Sheet1!$B$2:$B$9</c:f>
              <c:numCache>
                <c:formatCode>General</c:formatCode>
                <c:ptCount val="8"/>
                <c:pt idx="0">
                  <c:v>0.115</c:v>
                </c:pt>
                <c:pt idx="1">
                  <c:v>0.184</c:v>
                </c:pt>
                <c:pt idx="2">
                  <c:v>0.221</c:v>
                </c:pt>
                <c:pt idx="3">
                  <c:v>0.20100000000000001</c:v>
                </c:pt>
                <c:pt idx="4">
                  <c:v>0.159</c:v>
                </c:pt>
                <c:pt idx="5">
                  <c:v>0.17899999999999999</c:v>
                </c:pt>
                <c:pt idx="6">
                  <c:v>5.7000000000000002E-2</c:v>
                </c:pt>
                <c:pt idx="7">
                  <c:v>0.16900000000000001</c:v>
                </c:pt>
              </c:numCache>
            </c:numRef>
          </c:val>
          <c:extLst>
            <c:ext xmlns:c16="http://schemas.microsoft.com/office/drawing/2014/chart" uri="{C3380CC4-5D6E-409C-BE32-E72D297353CC}">
              <c16:uniqueId val="{00000000-2494-4D4B-9D8D-C3A7D811A60B}"/>
            </c:ext>
          </c:extLst>
        </c:ser>
        <c:dLbls>
          <c:showLegendKey val="0"/>
          <c:showVal val="1"/>
          <c:showCatName val="0"/>
          <c:showSerName val="0"/>
          <c:showPercent val="0"/>
          <c:showBubbleSize val="0"/>
        </c:dLbls>
        <c:gapWidth val="42"/>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680" b="0" i="0" u="none" strike="noStrike">
                <a:solidFill>
                  <a:srgbClr val="5B6B7C"/>
                </a:solidFill>
                <a:latin typeface="Calibri"/>
              </a:defRPr>
            </a:pPr>
            <a:endParaRPr lang="en-US"/>
          </a:p>
        </c:txPr>
        <c:crossAx val="2094734552"/>
        <c:crosses val="autoZero"/>
        <c:auto val="1"/>
        <c:lblAlgn val="ctr"/>
        <c:lblOffset val="100"/>
        <c:noMultiLvlLbl val="1"/>
      </c:catAx>
      <c:valAx>
        <c:axId val="2094734552"/>
        <c:scaling>
          <c:orientation val="minMax"/>
          <c:max val="0.26"/>
          <c:min val="0"/>
        </c:scaling>
        <c:delete val="0"/>
        <c:axPos val="b"/>
        <c:majorGridlines>
          <c:spPr>
            <a:ln w="9525" cap="flat">
              <a:solidFill>
                <a:srgbClr val="DCE3EC"/>
              </a:solidFill>
              <a:prstDash val="solid"/>
              <a:round/>
            </a:ln>
          </c:spPr>
        </c:majorGridlines>
        <c:numFmt formatCode="General" sourceLinked="0"/>
        <c:majorTickMark val="out"/>
        <c:minorTickMark val="none"/>
        <c:tickLblPos val="low"/>
        <c:spPr>
          <a:ln w="12700" cap="flat">
            <a:noFill/>
            <a:prstDash val="solid"/>
            <a:round/>
          </a:ln>
        </c:spPr>
        <c:txPr>
          <a:bodyPr/>
          <a:lstStyle/>
          <a:p>
            <a:pPr>
              <a:defRPr sz="700" b="0" i="0" u="none" strike="noStrike">
                <a:solidFill>
                  <a:srgbClr val="8A98A8"/>
                </a:solidFill>
                <a:latin typeface="Calibri"/>
              </a:defRPr>
            </a:pPr>
            <a:endParaRPr lang="en-US"/>
          </a:p>
        </c:txPr>
        <c:crossAx val="2094734554"/>
        <c:crosses val="autoZero"/>
        <c:crossBetween val="between"/>
      </c:valAx>
      <c:spPr>
        <a:solidFill>
          <a:srgbClr val="FFFFFF"/>
        </a:solid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AUC</c:v>
                </c:pt>
              </c:strCache>
            </c:strRef>
          </c:tx>
          <c:spPr>
            <a:solidFill>
              <a:srgbClr val="6D4C9F"/>
            </a:solidFill>
            <a:effectLst/>
          </c:spPr>
          <c:invertIfNegative val="0"/>
          <c:dLbls>
            <c:numFmt formatCode="0.000" sourceLinked="0"/>
            <c:spPr>
              <a:noFill/>
              <a:ln>
                <a:noFill/>
              </a:ln>
              <a:effectLst/>
            </c:spPr>
            <c:txPr>
              <a:bodyPr/>
              <a:lstStyle/>
              <a:p>
                <a:pPr>
                  <a:defRPr sz="700" b="0" i="0" u="none" strike="noStrike">
                    <a:solidFill>
                      <a:srgbClr val="1F293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shipped</c:v>
                </c:pt>
                <c:pt idx="1">
                  <c:v>volume stripped</c:v>
                </c:pt>
                <c:pt idx="2">
                  <c:v>earlier split</c:v>
                </c:pt>
                <c:pt idx="3">
                  <c:v>later split</c:v>
                </c:pt>
                <c:pt idx="4">
                  <c:v>backlog ≥ 25</c:v>
                </c:pt>
              </c:strCache>
            </c:strRef>
          </c:cat>
          <c:val>
            <c:numRef>
              <c:f>Sheet1!$B$2:$B$6</c:f>
              <c:numCache>
                <c:formatCode>General</c:formatCode>
                <c:ptCount val="5"/>
                <c:pt idx="0">
                  <c:v>0.87</c:v>
                </c:pt>
                <c:pt idx="1">
                  <c:v>0.86</c:v>
                </c:pt>
                <c:pt idx="2">
                  <c:v>0.871</c:v>
                </c:pt>
                <c:pt idx="3">
                  <c:v>0.80700000000000005</c:v>
                </c:pt>
                <c:pt idx="4">
                  <c:v>0.83499999999999996</c:v>
                </c:pt>
              </c:numCache>
            </c:numRef>
          </c:val>
          <c:extLst>
            <c:ext xmlns:c16="http://schemas.microsoft.com/office/drawing/2014/chart" uri="{C3380CC4-5D6E-409C-BE32-E72D297353CC}">
              <c16:uniqueId val="{00000000-DC16-CD42-A65A-E395E8CEE518}"/>
            </c:ext>
          </c:extLst>
        </c:ser>
        <c:dLbls>
          <c:showLegendKey val="0"/>
          <c:showVal val="1"/>
          <c:showCatName val="0"/>
          <c:showSerName val="0"/>
          <c:showPercent val="0"/>
          <c:showBubbleSize val="0"/>
        </c:dLbls>
        <c:gapWidth val="42"/>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20" b="0" i="0" u="none" strike="noStrike">
                <a:solidFill>
                  <a:srgbClr val="5B6B7C"/>
                </a:solidFill>
                <a:latin typeface="Calibri"/>
              </a:defRPr>
            </a:pPr>
            <a:endParaRPr lang="en-US"/>
          </a:p>
        </c:txPr>
        <c:crossAx val="2094734552"/>
        <c:crosses val="autoZero"/>
        <c:auto val="1"/>
        <c:lblAlgn val="ctr"/>
        <c:lblOffset val="100"/>
        <c:noMultiLvlLbl val="1"/>
      </c:catAx>
      <c:valAx>
        <c:axId val="2094734552"/>
        <c:scaling>
          <c:orientation val="minMax"/>
          <c:max val="0.92"/>
          <c:min val="0.75"/>
        </c:scaling>
        <c:delete val="0"/>
        <c:axPos val="l"/>
        <c:majorGridlines>
          <c:spPr>
            <a:ln w="9525" cap="flat">
              <a:solidFill>
                <a:srgbClr val="DCE3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700" b="0" i="0" u="none" strike="noStrike">
                <a:solidFill>
                  <a:srgbClr val="8A98A8"/>
                </a:solidFill>
                <a:latin typeface="Calibri"/>
              </a:defRPr>
            </a:pPr>
            <a:endParaRPr lang="en-US"/>
          </a:p>
        </c:txPr>
        <c:crossAx val="2094734554"/>
        <c:crosses val="autoZero"/>
        <c:crossBetween val="between"/>
      </c:valAx>
      <c:spPr>
        <a:solidFill>
          <a:srgbClr val="FFFFFF"/>
        </a:solid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3412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KADI turns 59,985 siloed FIRs into one connected, explainable graph. Deployed entirely on Zoho Catalyst.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KadiLabs · Adarsh Dwivedi · Challenge 02 · Deployed on Zoho Catalyst.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3.png"/><Relationship Id="rId11"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chart" Target="../charts/chart2.xml"/><Relationship Id="rId5" Type="http://schemas.openxmlformats.org/officeDocument/2006/relationships/chart" Target="../charts/char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hyperlink" Target="https://kadilabs-60078029367.development.catalystserverless.in/app/" TargetMode="External"/><Relationship Id="rId5" Type="http://schemas.openxmlformats.org/officeDocument/2006/relationships/hyperlink" Target="https://drive.google.com/drive/folders/1WY3KHg1WOEnSNTBXGmTtH2ZoJM1y4cLJ?usp=sharing" TargetMode="External"/><Relationship Id="rId6" Type="http://schemas.openxmlformats.org/officeDocument/2006/relationships/hyperlink" Target="https://github.com/adarshcod30/Kadi" TargetMode="External"/><Relationship Id="rId7" Type="http://schemas.openxmlformats.org/officeDocument/2006/relationships/hyperlink" Target="https://kadi-appsail-50043957273.development.catalystappsail.in/analytics/socio"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chart" Target="../charts/chart4.xml"/><Relationship Id="rId5" Type="http://schemas.openxmlformats.org/officeDocument/2006/relationships/chart" Target="../charts/char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ivate/tmp/claude-501/-Users-adarsh-Desktop-Projects-KadiLabs/1a0b3114-7a5c-4b08-a5d4-f9d8371eeea4/scratchpad/deck/bg-title.png"/>
          <p:cNvPicPr>
            <a:picLocks noChangeAspect="1"/>
          </p:cNvPicPr>
          <p:nvPr/>
        </p:nvPicPr>
        <p:blipFill>
          <a:blip r:embed="rId3"/>
          <a:stretch>
            <a:fillRect/>
          </a:stretch>
        </p:blipFill>
        <p:spPr>
          <a:xfrm>
            <a:off x="0" y="0"/>
            <a:ext cx="9144000" cy="5143500"/>
          </a:xfrm>
          <a:prstGeom prst="rect">
            <a:avLst/>
          </a:prstGeom>
        </p:spPr>
      </p:pic>
      <p:sp>
        <p:nvSpPr>
          <p:cNvPr id="3" name="Text 0"/>
          <p:cNvSpPr txBox="1"/>
          <p:nvPr/>
        </p:nvSpPr>
        <p:spPr>
          <a:xfrm>
            <a:off x="384048" y="3163824"/>
            <a:ext cx="8375904" cy="292608"/>
          </a:xfrm>
          <a:prstGeom prst="rect">
            <a:avLst/>
          </a:prstGeom>
          <a:noFill/>
          <a:ln/>
        </p:spPr>
        <p:txBody>
          <a:bodyPr wrap="square" lIns="0" tIns="0" rIns="0" bIns="0" rtlCol="0" anchor="ctr"/>
          <a:lstStyle/>
          <a:p>
            <a:pPr marL="0" indent="0">
              <a:buNone/>
            </a:pPr>
            <a:r>
              <a:rPr lang="en-US" sz="1900" b="1" dirty="0">
                <a:solidFill>
                  <a:srgbClr val="0F2F44"/>
                </a:solidFill>
                <a:latin typeface="Calibri" pitchFamily="34" charset="0"/>
                <a:ea typeface="Calibri" pitchFamily="34" charset="-122"/>
                <a:cs typeface="Calibri" pitchFamily="34" charset="-120"/>
              </a:rPr>
              <a:t>KADI — Karnataka Analytics &amp; Detection Intelligence</a:t>
            </a:r>
            <a:endParaRPr lang="en-US" sz="1900" dirty="0"/>
          </a:p>
        </p:txBody>
      </p:sp>
      <p:sp>
        <p:nvSpPr>
          <p:cNvPr id="4" name="Text 1"/>
          <p:cNvSpPr txBox="1"/>
          <p:nvPr/>
        </p:nvSpPr>
        <p:spPr>
          <a:xfrm>
            <a:off x="384048" y="3456432"/>
            <a:ext cx="8375904" cy="219456"/>
          </a:xfrm>
          <a:prstGeom prst="rect">
            <a:avLst/>
          </a:prstGeom>
          <a:noFill/>
          <a:ln/>
        </p:spPr>
        <p:txBody>
          <a:bodyPr wrap="square" lIns="0" tIns="0" rIns="0" bIns="0" rtlCol="0" anchor="ctr"/>
          <a:lstStyle/>
          <a:p>
            <a:pPr marL="0" indent="0">
              <a:buNone/>
            </a:pPr>
            <a:r>
              <a:rPr lang="en-US" sz="950" dirty="0">
                <a:solidFill>
                  <a:srgbClr val="5B6B7C"/>
                </a:solidFill>
                <a:latin typeface="Calibri" pitchFamily="34" charset="0"/>
                <a:ea typeface="Calibri" pitchFamily="34" charset="-122"/>
                <a:cs typeface="Calibri" pitchFamily="34" charset="-120"/>
              </a:rPr>
              <a:t>AI-Driven Crime Analytics &amp; Visualization Platform for the Karnataka State Police   ·   ಕಡಿ — “a link in a chain”</a:t>
            </a:r>
            <a:endParaRPr lang="en-US" sz="950" dirty="0"/>
          </a:p>
        </p:txBody>
      </p:sp>
      <p:sp>
        <p:nvSpPr>
          <p:cNvPr id="5" name="Shape 2"/>
          <p:cNvSpPr/>
          <p:nvPr/>
        </p:nvSpPr>
        <p:spPr>
          <a:xfrm>
            <a:off x="384048" y="3730752"/>
            <a:ext cx="1956816" cy="548640"/>
          </a:xfrm>
          <a:prstGeom prst="roundRect">
            <a:avLst>
              <a:gd name="adj" fmla="val 10000"/>
            </a:avLst>
          </a:prstGeom>
          <a:solidFill>
            <a:srgbClr val="FFFFFF"/>
          </a:solidFill>
          <a:ln w="9525">
            <a:solidFill>
              <a:srgbClr val="DCE3EC"/>
            </a:solidFill>
            <a:prstDash val="solid"/>
          </a:ln>
        </p:spPr>
        <p:txBody>
          <a:bodyPr/>
          <a:lstStyle/>
          <a:p>
            <a:endParaRPr lang="en-US"/>
          </a:p>
        </p:txBody>
      </p:sp>
      <p:sp>
        <p:nvSpPr>
          <p:cNvPr id="6" name="Text 3"/>
          <p:cNvSpPr txBox="1"/>
          <p:nvPr/>
        </p:nvSpPr>
        <p:spPr>
          <a:xfrm>
            <a:off x="484632" y="3785616"/>
            <a:ext cx="1755648" cy="146304"/>
          </a:xfrm>
          <a:prstGeom prst="rect">
            <a:avLst/>
          </a:prstGeom>
          <a:noFill/>
          <a:ln/>
        </p:spPr>
        <p:txBody>
          <a:bodyPr wrap="square" lIns="0" tIns="0" rIns="0" bIns="0" rtlCol="0" anchor="ctr"/>
          <a:lstStyle/>
          <a:p>
            <a:pPr marL="0" indent="0">
              <a:buNone/>
            </a:pPr>
            <a:r>
              <a:rPr lang="en-US" sz="680" b="1" kern="0" spc="60" dirty="0">
                <a:solidFill>
                  <a:srgbClr val="8A98A8"/>
                </a:solidFill>
                <a:latin typeface="Calibri" pitchFamily="34" charset="0"/>
                <a:ea typeface="Calibri" pitchFamily="34" charset="-122"/>
                <a:cs typeface="Calibri" pitchFamily="34" charset="-120"/>
              </a:rPr>
              <a:t>TEAM NAME</a:t>
            </a:r>
            <a:endParaRPr lang="en-US" sz="680" dirty="0"/>
          </a:p>
        </p:txBody>
      </p:sp>
      <p:sp>
        <p:nvSpPr>
          <p:cNvPr id="7" name="Text 4"/>
          <p:cNvSpPr txBox="1"/>
          <p:nvPr/>
        </p:nvSpPr>
        <p:spPr>
          <a:xfrm>
            <a:off x="484632" y="3931920"/>
            <a:ext cx="1755648" cy="256032"/>
          </a:xfrm>
          <a:prstGeom prst="rect">
            <a:avLst/>
          </a:prstGeom>
          <a:noFill/>
          <a:ln/>
        </p:spPr>
        <p:txBody>
          <a:bodyPr wrap="square" lIns="0" tIns="0" rIns="0" bIns="0" rtlCol="0" anchor="ctr"/>
          <a:lstStyle/>
          <a:p>
            <a:pPr marL="0" indent="0">
              <a:buNone/>
            </a:pPr>
            <a:r>
              <a:rPr lang="en-US" sz="1150" b="1" dirty="0">
                <a:solidFill>
                  <a:srgbClr val="0F2F44"/>
                </a:solidFill>
                <a:latin typeface="Calibri" pitchFamily="34" charset="0"/>
                <a:ea typeface="Calibri" pitchFamily="34" charset="-122"/>
                <a:cs typeface="Calibri" pitchFamily="34" charset="-120"/>
              </a:rPr>
              <a:t>KadiLabs</a:t>
            </a:r>
            <a:endParaRPr lang="en-US" sz="1150" dirty="0"/>
          </a:p>
        </p:txBody>
      </p:sp>
      <p:sp>
        <p:nvSpPr>
          <p:cNvPr id="8" name="Shape 5"/>
          <p:cNvSpPr/>
          <p:nvPr/>
        </p:nvSpPr>
        <p:spPr>
          <a:xfrm>
            <a:off x="2505456" y="3730752"/>
            <a:ext cx="1956816" cy="548640"/>
          </a:xfrm>
          <a:prstGeom prst="roundRect">
            <a:avLst>
              <a:gd name="adj" fmla="val 10000"/>
            </a:avLst>
          </a:prstGeom>
          <a:solidFill>
            <a:srgbClr val="FFFFFF"/>
          </a:solidFill>
          <a:ln w="9525">
            <a:solidFill>
              <a:srgbClr val="DCE3EC"/>
            </a:solidFill>
            <a:prstDash val="solid"/>
          </a:ln>
        </p:spPr>
        <p:txBody>
          <a:bodyPr/>
          <a:lstStyle/>
          <a:p>
            <a:endParaRPr lang="en-US"/>
          </a:p>
        </p:txBody>
      </p:sp>
      <p:sp>
        <p:nvSpPr>
          <p:cNvPr id="9" name="Text 6"/>
          <p:cNvSpPr txBox="1"/>
          <p:nvPr/>
        </p:nvSpPr>
        <p:spPr>
          <a:xfrm>
            <a:off x="2606040" y="3785616"/>
            <a:ext cx="1755648" cy="146304"/>
          </a:xfrm>
          <a:prstGeom prst="rect">
            <a:avLst/>
          </a:prstGeom>
          <a:noFill/>
          <a:ln/>
        </p:spPr>
        <p:txBody>
          <a:bodyPr wrap="square" lIns="0" tIns="0" rIns="0" bIns="0" rtlCol="0" anchor="ctr"/>
          <a:lstStyle/>
          <a:p>
            <a:pPr marL="0" indent="0">
              <a:buNone/>
            </a:pPr>
            <a:r>
              <a:rPr lang="en-US" sz="680" b="1" kern="0" spc="60" dirty="0">
                <a:solidFill>
                  <a:srgbClr val="8A98A8"/>
                </a:solidFill>
                <a:latin typeface="Calibri" pitchFamily="34" charset="0"/>
                <a:ea typeface="Calibri" pitchFamily="34" charset="-122"/>
                <a:cs typeface="Calibri" pitchFamily="34" charset="-120"/>
              </a:rPr>
              <a:t>TEAM LEADER</a:t>
            </a:r>
            <a:endParaRPr lang="en-US" sz="680" dirty="0"/>
          </a:p>
        </p:txBody>
      </p:sp>
      <p:sp>
        <p:nvSpPr>
          <p:cNvPr id="10" name="Text 7"/>
          <p:cNvSpPr txBox="1"/>
          <p:nvPr/>
        </p:nvSpPr>
        <p:spPr>
          <a:xfrm>
            <a:off x="2606040" y="3931920"/>
            <a:ext cx="1755648" cy="256032"/>
          </a:xfrm>
          <a:prstGeom prst="rect">
            <a:avLst/>
          </a:prstGeom>
          <a:noFill/>
          <a:ln/>
        </p:spPr>
        <p:txBody>
          <a:bodyPr wrap="square" lIns="0" tIns="0" rIns="0" bIns="0" rtlCol="0" anchor="ctr"/>
          <a:lstStyle/>
          <a:p>
            <a:pPr marL="0" indent="0">
              <a:buNone/>
            </a:pPr>
            <a:r>
              <a:rPr lang="en-US" sz="1150" b="1" dirty="0">
                <a:solidFill>
                  <a:srgbClr val="0F2F44"/>
                </a:solidFill>
                <a:latin typeface="Calibri" pitchFamily="34" charset="0"/>
                <a:ea typeface="Calibri" pitchFamily="34" charset="-122"/>
                <a:cs typeface="Calibri" pitchFamily="34" charset="-120"/>
              </a:rPr>
              <a:t>Adarsh Dwivedi</a:t>
            </a:r>
            <a:endParaRPr lang="en-US" sz="1150" dirty="0"/>
          </a:p>
        </p:txBody>
      </p:sp>
      <p:sp>
        <p:nvSpPr>
          <p:cNvPr id="11" name="Shape 8"/>
          <p:cNvSpPr/>
          <p:nvPr/>
        </p:nvSpPr>
        <p:spPr>
          <a:xfrm>
            <a:off x="4626864" y="3730752"/>
            <a:ext cx="1956816" cy="548640"/>
          </a:xfrm>
          <a:prstGeom prst="roundRect">
            <a:avLst>
              <a:gd name="adj" fmla="val 10000"/>
            </a:avLst>
          </a:prstGeom>
          <a:solidFill>
            <a:srgbClr val="FFFFFF"/>
          </a:solidFill>
          <a:ln w="9525">
            <a:solidFill>
              <a:srgbClr val="DCE3EC"/>
            </a:solidFill>
            <a:prstDash val="solid"/>
          </a:ln>
        </p:spPr>
        <p:txBody>
          <a:bodyPr/>
          <a:lstStyle/>
          <a:p>
            <a:endParaRPr lang="en-US"/>
          </a:p>
        </p:txBody>
      </p:sp>
      <p:sp>
        <p:nvSpPr>
          <p:cNvPr id="12" name="Text 9"/>
          <p:cNvSpPr txBox="1"/>
          <p:nvPr/>
        </p:nvSpPr>
        <p:spPr>
          <a:xfrm>
            <a:off x="4727448" y="3785616"/>
            <a:ext cx="1755648" cy="146304"/>
          </a:xfrm>
          <a:prstGeom prst="rect">
            <a:avLst/>
          </a:prstGeom>
          <a:noFill/>
          <a:ln/>
        </p:spPr>
        <p:txBody>
          <a:bodyPr wrap="square" lIns="0" tIns="0" rIns="0" bIns="0" rtlCol="0" anchor="ctr"/>
          <a:lstStyle/>
          <a:p>
            <a:pPr marL="0" indent="0">
              <a:buNone/>
            </a:pPr>
            <a:r>
              <a:rPr lang="en-US" sz="680" b="1" kern="0" spc="60" dirty="0">
                <a:solidFill>
                  <a:srgbClr val="8A98A8"/>
                </a:solidFill>
                <a:latin typeface="Calibri" pitchFamily="34" charset="0"/>
                <a:ea typeface="Calibri" pitchFamily="34" charset="-122"/>
                <a:cs typeface="Calibri" pitchFamily="34" charset="-120"/>
              </a:rPr>
              <a:t>TEAM SIZE</a:t>
            </a:r>
            <a:endParaRPr lang="en-US" sz="680" dirty="0"/>
          </a:p>
        </p:txBody>
      </p:sp>
      <p:sp>
        <p:nvSpPr>
          <p:cNvPr id="13" name="Text 10"/>
          <p:cNvSpPr txBox="1"/>
          <p:nvPr/>
        </p:nvSpPr>
        <p:spPr>
          <a:xfrm>
            <a:off x="4727448" y="3931920"/>
            <a:ext cx="1755648" cy="256032"/>
          </a:xfrm>
          <a:prstGeom prst="rect">
            <a:avLst/>
          </a:prstGeom>
          <a:noFill/>
          <a:ln/>
        </p:spPr>
        <p:txBody>
          <a:bodyPr wrap="square" lIns="0" tIns="0" rIns="0" bIns="0" rtlCol="0" anchor="ctr"/>
          <a:lstStyle/>
          <a:p>
            <a:pPr marL="0" indent="0">
              <a:buNone/>
            </a:pPr>
            <a:r>
              <a:rPr lang="en-US" sz="1150" b="1" dirty="0">
                <a:solidFill>
                  <a:srgbClr val="0F2F44"/>
                </a:solidFill>
                <a:latin typeface="Calibri" pitchFamily="34" charset="0"/>
                <a:ea typeface="Calibri" pitchFamily="34" charset="-122"/>
                <a:cs typeface="Calibri" pitchFamily="34" charset="-120"/>
              </a:rPr>
              <a:t>1</a:t>
            </a:r>
            <a:endParaRPr lang="en-US" sz="1150" dirty="0"/>
          </a:p>
        </p:txBody>
      </p:sp>
      <p:sp>
        <p:nvSpPr>
          <p:cNvPr id="14" name="Shape 11"/>
          <p:cNvSpPr/>
          <p:nvPr/>
        </p:nvSpPr>
        <p:spPr>
          <a:xfrm>
            <a:off x="6748272" y="3730752"/>
            <a:ext cx="1956816" cy="548640"/>
          </a:xfrm>
          <a:prstGeom prst="roundRect">
            <a:avLst>
              <a:gd name="adj" fmla="val 10000"/>
            </a:avLst>
          </a:prstGeom>
          <a:solidFill>
            <a:srgbClr val="FFFFFF"/>
          </a:solidFill>
          <a:ln w="9525">
            <a:solidFill>
              <a:srgbClr val="DCE3EC"/>
            </a:solidFill>
            <a:prstDash val="solid"/>
          </a:ln>
        </p:spPr>
        <p:txBody>
          <a:bodyPr/>
          <a:lstStyle/>
          <a:p>
            <a:endParaRPr lang="en-US"/>
          </a:p>
        </p:txBody>
      </p:sp>
      <p:sp>
        <p:nvSpPr>
          <p:cNvPr id="15" name="Text 12"/>
          <p:cNvSpPr txBox="1"/>
          <p:nvPr/>
        </p:nvSpPr>
        <p:spPr>
          <a:xfrm>
            <a:off x="6848856" y="3785616"/>
            <a:ext cx="1755648" cy="146304"/>
          </a:xfrm>
          <a:prstGeom prst="rect">
            <a:avLst/>
          </a:prstGeom>
          <a:noFill/>
          <a:ln/>
        </p:spPr>
        <p:txBody>
          <a:bodyPr wrap="square" lIns="0" tIns="0" rIns="0" bIns="0" rtlCol="0" anchor="ctr"/>
          <a:lstStyle/>
          <a:p>
            <a:pPr marL="0" indent="0">
              <a:buNone/>
            </a:pPr>
            <a:r>
              <a:rPr lang="en-US" sz="680" b="1" kern="0" spc="60" dirty="0">
                <a:solidFill>
                  <a:srgbClr val="8A98A8"/>
                </a:solidFill>
                <a:latin typeface="Calibri" pitchFamily="34" charset="0"/>
                <a:ea typeface="Calibri" pitchFamily="34" charset="-122"/>
                <a:cs typeface="Calibri" pitchFamily="34" charset="-120"/>
              </a:rPr>
              <a:t>PROBLEM STATEMENT</a:t>
            </a:r>
            <a:endParaRPr lang="en-US" sz="680" dirty="0"/>
          </a:p>
        </p:txBody>
      </p:sp>
      <p:sp>
        <p:nvSpPr>
          <p:cNvPr id="16" name="Text 13"/>
          <p:cNvSpPr txBox="1"/>
          <p:nvPr/>
        </p:nvSpPr>
        <p:spPr>
          <a:xfrm>
            <a:off x="6848856" y="3931920"/>
            <a:ext cx="1755648" cy="256032"/>
          </a:xfrm>
          <a:prstGeom prst="rect">
            <a:avLst/>
          </a:prstGeom>
          <a:noFill/>
          <a:ln/>
        </p:spPr>
        <p:txBody>
          <a:bodyPr wrap="square" lIns="0" tIns="0" rIns="0" bIns="0" rtlCol="0" anchor="ctr"/>
          <a:lstStyle/>
          <a:p>
            <a:pPr marL="0" indent="0">
              <a:buNone/>
            </a:pPr>
            <a:r>
              <a:rPr lang="en-US" sz="1150" b="1" dirty="0">
                <a:solidFill>
                  <a:srgbClr val="0F2F44"/>
                </a:solidFill>
                <a:latin typeface="Calibri" pitchFamily="34" charset="0"/>
                <a:ea typeface="Calibri" pitchFamily="34" charset="-122"/>
                <a:cs typeface="Calibri" pitchFamily="34" charset="-120"/>
              </a:rPr>
              <a:t>Challenge 02</a:t>
            </a:r>
            <a:endParaRPr lang="en-US" sz="1150" dirty="0"/>
          </a:p>
        </p:txBody>
      </p:sp>
      <p:sp>
        <p:nvSpPr>
          <p:cNvPr id="17" name="Shape 14"/>
          <p:cNvSpPr/>
          <p:nvPr/>
        </p:nvSpPr>
        <p:spPr>
          <a:xfrm>
            <a:off x="384048" y="4370832"/>
            <a:ext cx="8375904" cy="420624"/>
          </a:xfrm>
          <a:prstGeom prst="roundRect">
            <a:avLst>
              <a:gd name="adj" fmla="val 13043"/>
            </a:avLst>
          </a:prstGeom>
          <a:solidFill>
            <a:srgbClr val="0F2F44"/>
          </a:solidFill>
          <a:ln w="9525">
            <a:solidFill>
              <a:srgbClr val="0F2F44"/>
            </a:solidFill>
            <a:prstDash val="solid"/>
          </a:ln>
        </p:spPr>
        <p:txBody>
          <a:bodyPr/>
          <a:lstStyle/>
          <a:p>
            <a:endParaRPr lang="en-US"/>
          </a:p>
        </p:txBody>
      </p:sp>
      <p:sp>
        <p:nvSpPr>
          <p:cNvPr id="18" name="Text 15"/>
          <p:cNvSpPr txBox="1"/>
          <p:nvPr/>
        </p:nvSpPr>
        <p:spPr>
          <a:xfrm>
            <a:off x="530352" y="4370832"/>
            <a:ext cx="1335024" cy="42062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59,985</a:t>
            </a:r>
            <a:r>
              <a:rPr lang="en-US" sz="760" dirty="0">
                <a:solidFill>
                  <a:srgbClr val="9FB3C8"/>
                </a:solidFill>
                <a:latin typeface="Calibri" pitchFamily="34" charset="0"/>
                <a:ea typeface="Calibri" pitchFamily="34" charset="-122"/>
                <a:cs typeface="Calibri" pitchFamily="34" charset="-120"/>
              </a:rPr>
              <a:t>  FIRs</a:t>
            </a:r>
            <a:endParaRPr lang="en-US" sz="1200" dirty="0"/>
          </a:p>
        </p:txBody>
      </p:sp>
      <p:sp>
        <p:nvSpPr>
          <p:cNvPr id="19" name="Text 16"/>
          <p:cNvSpPr txBox="1"/>
          <p:nvPr/>
        </p:nvSpPr>
        <p:spPr>
          <a:xfrm>
            <a:off x="1901952" y="4370832"/>
            <a:ext cx="1335024" cy="42062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85,429</a:t>
            </a:r>
            <a:r>
              <a:rPr lang="en-US" sz="760" dirty="0">
                <a:solidFill>
                  <a:srgbClr val="9FB3C8"/>
                </a:solidFill>
                <a:latin typeface="Calibri" pitchFamily="34" charset="0"/>
                <a:ea typeface="Calibri" pitchFamily="34" charset="-122"/>
                <a:cs typeface="Calibri" pitchFamily="34" charset="-120"/>
              </a:rPr>
              <a:t>  evidence links</a:t>
            </a:r>
            <a:endParaRPr lang="en-US" sz="1200" dirty="0"/>
          </a:p>
        </p:txBody>
      </p:sp>
      <p:sp>
        <p:nvSpPr>
          <p:cNvPr id="20" name="Text 17"/>
          <p:cNvSpPr txBox="1"/>
          <p:nvPr/>
        </p:nvSpPr>
        <p:spPr>
          <a:xfrm>
            <a:off x="3273552" y="4370832"/>
            <a:ext cx="1335024" cy="42062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578</a:t>
            </a:r>
            <a:r>
              <a:rPr lang="en-US" sz="760" dirty="0">
                <a:solidFill>
                  <a:srgbClr val="9FB3C8"/>
                </a:solidFill>
                <a:latin typeface="Calibri" pitchFamily="34" charset="0"/>
                <a:ea typeface="Calibri" pitchFamily="34" charset="-122"/>
                <a:cs typeface="Calibri" pitchFamily="34" charset="-120"/>
              </a:rPr>
              <a:t>  repeat offenders</a:t>
            </a:r>
            <a:endParaRPr lang="en-US" sz="1200" dirty="0"/>
          </a:p>
        </p:txBody>
      </p:sp>
      <p:sp>
        <p:nvSpPr>
          <p:cNvPr id="21" name="Text 18"/>
          <p:cNvSpPr txBox="1"/>
          <p:nvPr/>
        </p:nvSpPr>
        <p:spPr>
          <a:xfrm>
            <a:off x="4645152" y="4370832"/>
            <a:ext cx="1335024" cy="42062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100%</a:t>
            </a:r>
            <a:r>
              <a:rPr lang="en-US" sz="760" dirty="0">
                <a:solidFill>
                  <a:srgbClr val="9FB3C8"/>
                </a:solidFill>
                <a:latin typeface="Calibri" pitchFamily="34" charset="0"/>
                <a:ea typeface="Calibri" pitchFamily="34" charset="-122"/>
                <a:cs typeface="Calibri" pitchFamily="34" charset="-120"/>
              </a:rPr>
              <a:t>  ground-truth recovery</a:t>
            </a:r>
            <a:endParaRPr lang="en-US" sz="1200" dirty="0"/>
          </a:p>
        </p:txBody>
      </p:sp>
      <p:sp>
        <p:nvSpPr>
          <p:cNvPr id="22" name="Text 19"/>
          <p:cNvSpPr txBox="1"/>
          <p:nvPr/>
        </p:nvSpPr>
        <p:spPr>
          <a:xfrm>
            <a:off x="6016752" y="4370832"/>
            <a:ext cx="1335024" cy="42062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0.870</a:t>
            </a:r>
            <a:r>
              <a:rPr lang="en-US" sz="760" dirty="0">
                <a:solidFill>
                  <a:srgbClr val="9FB3C8"/>
                </a:solidFill>
                <a:latin typeface="Calibri" pitchFamily="34" charset="0"/>
                <a:ea typeface="Calibri" pitchFamily="34" charset="-122"/>
                <a:cs typeface="Calibri" pitchFamily="34" charset="-120"/>
              </a:rPr>
              <a:t>  best model AUC</a:t>
            </a:r>
            <a:endParaRPr lang="en-US" sz="1200" dirty="0"/>
          </a:p>
        </p:txBody>
      </p:sp>
      <p:sp>
        <p:nvSpPr>
          <p:cNvPr id="23" name="Text 20"/>
          <p:cNvSpPr txBox="1"/>
          <p:nvPr/>
        </p:nvSpPr>
        <p:spPr>
          <a:xfrm>
            <a:off x="7388352" y="4370832"/>
            <a:ext cx="1335024" cy="42062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13</a:t>
            </a:r>
            <a:r>
              <a:rPr lang="en-US" sz="760" dirty="0">
                <a:solidFill>
                  <a:srgbClr val="9FB3C8"/>
                </a:solidFill>
                <a:latin typeface="Calibri" pitchFamily="34" charset="0"/>
                <a:ea typeface="Calibri" pitchFamily="34" charset="-122"/>
                <a:cs typeface="Calibri" pitchFamily="34" charset="-120"/>
              </a:rPr>
              <a:t>  Catalyst services</a:t>
            </a:r>
            <a:endParaRPr lang="en-US" sz="1200" dirty="0"/>
          </a:p>
        </p:txBody>
      </p:sp>
      <p:sp>
        <p:nvSpPr>
          <p:cNvPr id="24" name="Text 21"/>
          <p:cNvSpPr txBox="1"/>
          <p:nvPr/>
        </p:nvSpPr>
        <p:spPr>
          <a:xfrm>
            <a:off x="384048" y="4828032"/>
            <a:ext cx="8375904" cy="164592"/>
          </a:xfrm>
          <a:prstGeom prst="rect">
            <a:avLst/>
          </a:prstGeom>
          <a:noFill/>
          <a:ln/>
        </p:spPr>
        <p:txBody>
          <a:bodyPr wrap="square" lIns="0" tIns="0" rIns="0" bIns="0" rtlCol="0" anchor="ctr"/>
          <a:lstStyle/>
          <a:p>
            <a:pPr marL="0" indent="0">
              <a:buNone/>
            </a:pPr>
            <a:r>
              <a:rPr lang="en-US" sz="700" i="1" dirty="0">
                <a:solidFill>
                  <a:srgbClr val="8A98A8"/>
                </a:solidFill>
                <a:latin typeface="Calibri" pitchFamily="34" charset="0"/>
                <a:ea typeface="Calibri" pitchFamily="34" charset="-122"/>
                <a:cs typeface="Calibri" pitchFamily="34" charset="-120"/>
              </a:rPr>
              <a:t>Deployed exclusively on Zoho Catalyst · every figure in this deck was read from the deployed API or a test run</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7" name="Shape 10">
            <a:extLst>
              <a:ext uri="{FF2B5EF4-FFF2-40B4-BE49-F238E27FC236}">
                <a16:creationId xmlns:a16="http://schemas.microsoft.com/office/drawing/2014/main" id="{52AB6BFE-CC14-58E1-2D2C-289009569463}"/>
              </a:ext>
            </a:extLst>
          </p:cNvPr>
          <p:cNvSpPr/>
          <p:nvPr/>
        </p:nvSpPr>
        <p:spPr>
          <a:xfrm>
            <a:off x="384048" y="4402569"/>
            <a:ext cx="1481328" cy="279159"/>
          </a:xfrm>
          <a:prstGeom prst="roundRect">
            <a:avLst>
              <a:gd name="adj" fmla="val 7317"/>
            </a:avLst>
          </a:prstGeom>
          <a:solidFill>
            <a:srgbClr val="FFFFFF"/>
          </a:solidFill>
          <a:ln w="9525">
            <a:solidFill>
              <a:srgbClr val="DCE3EC"/>
            </a:solidFill>
            <a:prstDash val="solid"/>
          </a:ln>
        </p:spPr>
        <p:txBody>
          <a:bodyPr/>
          <a:lstStyle/>
          <a:p>
            <a:pPr algn="ctr"/>
            <a:endParaRPr lang="en-US"/>
          </a:p>
        </p:txBody>
      </p:sp>
      <p:sp>
        <p:nvSpPr>
          <p:cNvPr id="38" name="Shape 10">
            <a:extLst>
              <a:ext uri="{FF2B5EF4-FFF2-40B4-BE49-F238E27FC236}">
                <a16:creationId xmlns:a16="http://schemas.microsoft.com/office/drawing/2014/main" id="{39603E3B-8B24-A84F-6255-6BF2012487F1}"/>
              </a:ext>
            </a:extLst>
          </p:cNvPr>
          <p:cNvSpPr/>
          <p:nvPr/>
        </p:nvSpPr>
        <p:spPr>
          <a:xfrm>
            <a:off x="3822482" y="4392444"/>
            <a:ext cx="1481328" cy="279159"/>
          </a:xfrm>
          <a:prstGeom prst="roundRect">
            <a:avLst>
              <a:gd name="adj" fmla="val 7317"/>
            </a:avLst>
          </a:prstGeom>
          <a:solidFill>
            <a:srgbClr val="FFFFFF"/>
          </a:solidFill>
          <a:ln w="9525">
            <a:solidFill>
              <a:srgbClr val="DCE3EC"/>
            </a:solidFill>
            <a:prstDash val="solid"/>
          </a:ln>
        </p:spPr>
        <p:txBody>
          <a:bodyPr/>
          <a:lstStyle/>
          <a:p>
            <a:pPr algn="ctr"/>
            <a:endParaRPr lang="en-US"/>
          </a:p>
        </p:txBody>
      </p:sp>
      <p:sp>
        <p:nvSpPr>
          <p:cNvPr id="39" name="Shape 10">
            <a:extLst>
              <a:ext uri="{FF2B5EF4-FFF2-40B4-BE49-F238E27FC236}">
                <a16:creationId xmlns:a16="http://schemas.microsoft.com/office/drawing/2014/main" id="{8DA29584-A9ED-086F-B943-A9821D3FBA24}"/>
              </a:ext>
            </a:extLst>
          </p:cNvPr>
          <p:cNvSpPr/>
          <p:nvPr/>
        </p:nvSpPr>
        <p:spPr>
          <a:xfrm>
            <a:off x="2129013" y="4400416"/>
            <a:ext cx="1481328" cy="279159"/>
          </a:xfrm>
          <a:prstGeom prst="roundRect">
            <a:avLst>
              <a:gd name="adj" fmla="val 7317"/>
            </a:avLst>
          </a:prstGeom>
          <a:solidFill>
            <a:srgbClr val="FFFFFF"/>
          </a:solidFill>
          <a:ln w="9525">
            <a:solidFill>
              <a:srgbClr val="DCE3EC"/>
            </a:solidFill>
            <a:prstDash val="solid"/>
          </a:ln>
        </p:spPr>
        <p:txBody>
          <a:bodyPr/>
          <a:lstStyle/>
          <a:p>
            <a:pPr algn="ctr"/>
            <a:endParaRPr lang="en-US"/>
          </a:p>
        </p:txBody>
      </p:sp>
      <p:sp>
        <p:nvSpPr>
          <p:cNvPr id="40" name="Shape 10">
            <a:extLst>
              <a:ext uri="{FF2B5EF4-FFF2-40B4-BE49-F238E27FC236}">
                <a16:creationId xmlns:a16="http://schemas.microsoft.com/office/drawing/2014/main" id="{43D443EA-4FA5-15D2-93A1-8FECA9079D44}"/>
              </a:ext>
            </a:extLst>
          </p:cNvPr>
          <p:cNvSpPr/>
          <p:nvPr/>
        </p:nvSpPr>
        <p:spPr>
          <a:xfrm>
            <a:off x="5510174" y="4377556"/>
            <a:ext cx="1481328" cy="279159"/>
          </a:xfrm>
          <a:prstGeom prst="roundRect">
            <a:avLst>
              <a:gd name="adj" fmla="val 7317"/>
            </a:avLst>
          </a:prstGeom>
          <a:solidFill>
            <a:srgbClr val="FFFFFF"/>
          </a:solidFill>
          <a:ln w="9525">
            <a:solidFill>
              <a:srgbClr val="DCE3EC"/>
            </a:solidFill>
            <a:prstDash val="solid"/>
          </a:ln>
        </p:spPr>
        <p:txBody>
          <a:bodyPr/>
          <a:lstStyle/>
          <a:p>
            <a:pPr algn="ctr"/>
            <a:endParaRPr lang="en-US"/>
          </a:p>
        </p:txBody>
      </p:sp>
      <p:sp>
        <p:nvSpPr>
          <p:cNvPr id="41" name="Shape 10">
            <a:extLst>
              <a:ext uri="{FF2B5EF4-FFF2-40B4-BE49-F238E27FC236}">
                <a16:creationId xmlns:a16="http://schemas.microsoft.com/office/drawing/2014/main" id="{20865D99-BBD6-6706-2557-20096EB86D7D}"/>
              </a:ext>
            </a:extLst>
          </p:cNvPr>
          <p:cNvSpPr/>
          <p:nvPr/>
        </p:nvSpPr>
        <p:spPr>
          <a:xfrm>
            <a:off x="7249363" y="4377556"/>
            <a:ext cx="1481328" cy="279159"/>
          </a:xfrm>
          <a:prstGeom prst="roundRect">
            <a:avLst>
              <a:gd name="adj" fmla="val 7317"/>
            </a:avLst>
          </a:prstGeom>
          <a:solidFill>
            <a:srgbClr val="FFFFFF"/>
          </a:solidFill>
          <a:ln w="9525">
            <a:solidFill>
              <a:srgbClr val="DCE3EC"/>
            </a:solidFill>
            <a:prstDash val="solid"/>
          </a:ln>
        </p:spPr>
        <p:txBody>
          <a:bodyPr/>
          <a:lstStyle/>
          <a:p>
            <a:pPr algn="ctr"/>
            <a:endParaRPr lang="en-US"/>
          </a:p>
        </p:txBody>
      </p:sp>
      <p:pic>
        <p:nvPicPr>
          <p:cNvPr id="2" name="Image 0" descr="/private/tmp/claude-501/-Users-adarsh-Desktop-Projects-KadiLabs/1a0b3114-7a5c-4b08-a5d4-f9d8371eeea4/scratchpad/deck/bg-content.png"/>
          <p:cNvPicPr>
            <a:picLocks noChangeAspect="1"/>
          </p:cNvPicPr>
          <p:nvPr/>
        </p:nvPicPr>
        <p:blipFill>
          <a:blip r:embed="rId3"/>
          <a:stretch>
            <a:fillRect/>
          </a:stretch>
        </p:blipFill>
        <p:spPr>
          <a:xfrm>
            <a:off x="1000" y="-2286"/>
            <a:ext cx="9144000" cy="5143500"/>
          </a:xfrm>
          <a:prstGeom prst="rect">
            <a:avLst/>
          </a:prstGeom>
        </p:spPr>
      </p:pic>
      <p:sp>
        <p:nvSpPr>
          <p:cNvPr id="3" name="Text 0"/>
          <p:cNvSpPr txBox="1"/>
          <p:nvPr/>
        </p:nvSpPr>
        <p:spPr>
          <a:xfrm>
            <a:off x="384048" y="603504"/>
            <a:ext cx="8375904" cy="365760"/>
          </a:xfrm>
          <a:prstGeom prst="rect">
            <a:avLst/>
          </a:prstGeom>
          <a:noFill/>
          <a:ln/>
        </p:spPr>
        <p:txBody>
          <a:bodyPr wrap="square" lIns="0" tIns="0" rIns="0" bIns="0" rtlCol="0" anchor="t"/>
          <a:lstStyle/>
          <a:p>
            <a:pPr marL="0" indent="0">
              <a:buNone/>
            </a:pPr>
            <a:r>
              <a:rPr lang="en-US" sz="2100" b="1" dirty="0">
                <a:solidFill>
                  <a:srgbClr val="0F2F44"/>
                </a:solidFill>
                <a:latin typeface="Calibri" pitchFamily="34" charset="0"/>
                <a:ea typeface="Calibri" pitchFamily="34" charset="-122"/>
                <a:cs typeface="Calibri" pitchFamily="34" charset="-120"/>
              </a:rPr>
              <a:t>Brief about the solution</a:t>
            </a:r>
            <a:endParaRPr lang="en-US" sz="2100" dirty="0"/>
          </a:p>
        </p:txBody>
      </p:sp>
      <p:sp>
        <p:nvSpPr>
          <p:cNvPr id="4" name="Text 1"/>
          <p:cNvSpPr txBox="1"/>
          <p:nvPr/>
        </p:nvSpPr>
        <p:spPr>
          <a:xfrm>
            <a:off x="384048" y="969264"/>
            <a:ext cx="8375904" cy="237744"/>
          </a:xfrm>
          <a:prstGeom prst="rect">
            <a:avLst/>
          </a:prstGeom>
          <a:noFill/>
          <a:ln/>
        </p:spPr>
        <p:txBody>
          <a:bodyPr wrap="square" lIns="0" tIns="0" rIns="0" bIns="0" rtlCol="0" anchor="t"/>
          <a:lstStyle/>
          <a:p>
            <a:pPr marL="0" indent="0">
              <a:buNone/>
            </a:pPr>
            <a:r>
              <a:rPr lang="en-US" sz="1050" dirty="0">
                <a:solidFill>
                  <a:srgbClr val="5B6B7C"/>
                </a:solidFill>
                <a:latin typeface="Calibri" pitchFamily="34" charset="0"/>
                <a:ea typeface="Calibri" pitchFamily="34" charset="-122"/>
                <a:cs typeface="Calibri" pitchFamily="34" charset="-120"/>
              </a:rPr>
              <a:t>The records are not the problem — the walls between them are.</a:t>
            </a:r>
            <a:endParaRPr lang="en-US" sz="1050" dirty="0"/>
          </a:p>
        </p:txBody>
      </p:sp>
      <p:sp>
        <p:nvSpPr>
          <p:cNvPr id="5" name="Shape 2"/>
          <p:cNvSpPr/>
          <p:nvPr/>
        </p:nvSpPr>
        <p:spPr>
          <a:xfrm>
            <a:off x="384048" y="1207008"/>
            <a:ext cx="4187952" cy="1486166"/>
          </a:xfrm>
          <a:prstGeom prst="roundRect">
            <a:avLst>
              <a:gd name="adj" fmla="val 4615"/>
            </a:avLst>
          </a:prstGeom>
          <a:solidFill>
            <a:srgbClr val="FDF1E4"/>
          </a:solidFill>
          <a:ln w="9525">
            <a:solidFill>
              <a:srgbClr val="DCE3EC"/>
            </a:solidFill>
            <a:prstDash val="solid"/>
          </a:ln>
        </p:spPr>
        <p:txBody>
          <a:bodyPr/>
          <a:lstStyle/>
          <a:p>
            <a:endParaRPr lang="en-US"/>
          </a:p>
        </p:txBody>
      </p:sp>
      <p:sp>
        <p:nvSpPr>
          <p:cNvPr id="6" name="Text 3"/>
          <p:cNvSpPr txBox="1"/>
          <p:nvPr/>
        </p:nvSpPr>
        <p:spPr>
          <a:xfrm>
            <a:off x="484632" y="1273833"/>
            <a:ext cx="3877056" cy="182880"/>
          </a:xfrm>
          <a:prstGeom prst="rect">
            <a:avLst/>
          </a:prstGeom>
          <a:noFill/>
          <a:ln/>
        </p:spPr>
        <p:txBody>
          <a:bodyPr wrap="square" lIns="0" tIns="0" rIns="0" bIns="0" rtlCol="0" anchor="t"/>
          <a:lstStyle/>
          <a:p>
            <a:pPr marL="0" indent="0">
              <a:buNone/>
            </a:pPr>
            <a:r>
              <a:rPr lang="en-US" sz="1400" b="1" dirty="0">
                <a:solidFill>
                  <a:srgbClr val="E8871E"/>
                </a:solidFill>
                <a:latin typeface="Calibri" pitchFamily="34" charset="0"/>
                <a:ea typeface="Calibri" pitchFamily="34" charset="-122"/>
                <a:cs typeface="Calibri" pitchFamily="34" charset="-120"/>
              </a:rPr>
              <a:t>The Problem today</a:t>
            </a:r>
            <a:endParaRPr lang="en-US" sz="1400" dirty="0"/>
          </a:p>
        </p:txBody>
      </p:sp>
      <p:sp>
        <p:nvSpPr>
          <p:cNvPr id="7" name="Text 4"/>
          <p:cNvSpPr txBox="1"/>
          <p:nvPr/>
        </p:nvSpPr>
        <p:spPr>
          <a:xfrm>
            <a:off x="484632" y="1527048"/>
            <a:ext cx="3877056" cy="877824"/>
          </a:xfrm>
          <a:prstGeom prst="rect">
            <a:avLst/>
          </a:prstGeom>
          <a:noFill/>
          <a:ln/>
        </p:spPr>
        <p:txBody>
          <a:bodyPr wrap="square" lIns="0" tIns="0" rIns="0" bIns="0" rtlCol="0" anchor="t"/>
          <a:lstStyle/>
          <a:p>
            <a:pPr marL="0" indent="0">
              <a:lnSpc>
                <a:spcPct val="102000"/>
              </a:lnSpc>
              <a:buNone/>
            </a:pPr>
            <a:endParaRPr lang="en-US" sz="810" dirty="0"/>
          </a:p>
        </p:txBody>
      </p:sp>
      <p:sp>
        <p:nvSpPr>
          <p:cNvPr id="8" name="Text 5"/>
          <p:cNvSpPr txBox="1"/>
          <p:nvPr/>
        </p:nvSpPr>
        <p:spPr>
          <a:xfrm>
            <a:off x="484632" y="1335024"/>
            <a:ext cx="4087368" cy="1394725"/>
          </a:xfrm>
          <a:prstGeom prst="rect">
            <a:avLst/>
          </a:prstGeom>
          <a:noFill/>
          <a:ln/>
        </p:spPr>
        <p:txBody>
          <a:bodyPr wrap="square" lIns="0" tIns="0" rIns="0" bIns="0" rtlCol="0" anchor="ctr"/>
          <a:lstStyle/>
          <a:p>
            <a:pPr marL="228600" indent="-228600">
              <a:lnSpc>
                <a:spcPct val="104000"/>
              </a:lnSpc>
              <a:buFont typeface="+mj-lt"/>
              <a:buAutoNum type="arabicPeriod"/>
            </a:pPr>
            <a:r>
              <a:rPr lang="en-US" sz="1000" b="1" dirty="0">
                <a:solidFill>
                  <a:srgbClr val="1F2937"/>
                </a:solidFill>
                <a:latin typeface="Calibri" pitchFamily="34" charset="0"/>
                <a:ea typeface="Calibri" pitchFamily="34" charset="-122"/>
                <a:cs typeface="Calibri" pitchFamily="34" charset="-120"/>
              </a:rPr>
              <a:t>FIRs sit in station-level silos</a:t>
            </a:r>
            <a:r>
              <a:rPr lang="en-US" sz="1000" dirty="0">
                <a:solidFill>
                  <a:srgbClr val="5B6B7C"/>
                </a:solidFill>
                <a:latin typeface="Calibri" pitchFamily="34" charset="0"/>
                <a:ea typeface="Calibri" pitchFamily="34" charset="-122"/>
                <a:cs typeface="Calibri" pitchFamily="34" charset="-120"/>
              </a:rPr>
              <a:t> — a station sees its own register, nothing else
</a:t>
            </a:r>
            <a:r>
              <a:rPr lang="en-US" sz="1000" b="1" dirty="0">
                <a:solidFill>
                  <a:srgbClr val="1F2937"/>
                </a:solidFill>
                <a:latin typeface="Calibri" pitchFamily="34" charset="0"/>
                <a:ea typeface="Calibri" pitchFamily="34" charset="-122"/>
                <a:cs typeface="Calibri" pitchFamily="34" charset="-120"/>
              </a:rPr>
              <a:t>No entity resolution</a:t>
            </a:r>
            <a:r>
              <a:rPr lang="en-US" sz="1000" dirty="0">
                <a:solidFill>
                  <a:srgbClr val="5B6B7C"/>
                </a:solidFill>
                <a:latin typeface="Calibri" pitchFamily="34" charset="0"/>
                <a:ea typeface="Calibri" pitchFamily="34" charset="-122"/>
                <a:cs typeface="Calibri" pitchFamily="34" charset="-120"/>
              </a:rPr>
              <a:t> — “Ravi Kumar”, “R. Kumar”, “Ravikumar D” are three people
</a:t>
            </a:r>
            <a:r>
              <a:rPr lang="en-US" sz="1000" b="1" dirty="0">
                <a:solidFill>
                  <a:srgbClr val="1F2937"/>
                </a:solidFill>
                <a:latin typeface="Calibri" pitchFamily="34" charset="0"/>
                <a:ea typeface="Calibri" pitchFamily="34" charset="-122"/>
                <a:cs typeface="Calibri" pitchFamily="34" charset="-120"/>
              </a:rPr>
              <a:t>SCRB gets fragmented extracts</a:t>
            </a:r>
            <a:r>
              <a:rPr lang="en-US" sz="1000" dirty="0">
                <a:solidFill>
                  <a:srgbClr val="5B6B7C"/>
                </a:solidFill>
                <a:latin typeface="Calibri" pitchFamily="34" charset="0"/>
                <a:ea typeface="Calibri" pitchFamily="34" charset="-122"/>
                <a:cs typeface="Calibri" pitchFamily="34" charset="-120"/>
              </a:rPr>
              <a:t> — no state-wide picture to act on
</a:t>
            </a:r>
            <a:r>
              <a:rPr lang="en-US" sz="1000" b="1" dirty="0">
                <a:solidFill>
                  <a:srgbClr val="1F2937"/>
                </a:solidFill>
                <a:latin typeface="Calibri" pitchFamily="34" charset="0"/>
                <a:ea typeface="Calibri" pitchFamily="34" charset="-122"/>
                <a:cs typeface="Calibri" pitchFamily="34" charset="-120"/>
              </a:rPr>
              <a:t>Reporting is retrospective</a:t>
            </a:r>
            <a:r>
              <a:rPr lang="en-US" sz="1000" dirty="0">
                <a:solidFill>
                  <a:srgbClr val="5B6B7C"/>
                </a:solidFill>
                <a:latin typeface="Calibri" pitchFamily="34" charset="0"/>
                <a:ea typeface="Calibri" pitchFamily="34" charset="-122"/>
                <a:cs typeface="Calibri" pitchFamily="34" charset="-120"/>
              </a:rPr>
              <a:t> — no early warning, no forecast
</a:t>
            </a:r>
            <a:r>
              <a:rPr lang="en-US" sz="1000" b="1" dirty="0">
                <a:solidFill>
                  <a:srgbClr val="1F2937"/>
                </a:solidFill>
                <a:latin typeface="Calibri" pitchFamily="34" charset="0"/>
                <a:ea typeface="Calibri" pitchFamily="34" charset="-122"/>
                <a:cs typeface="Calibri" pitchFamily="34" charset="-120"/>
              </a:rPr>
              <a:t>Paper outruns typing</a:t>
            </a:r>
            <a:r>
              <a:rPr lang="en-US" sz="1000" dirty="0">
                <a:solidFill>
                  <a:srgbClr val="5B6B7C"/>
                </a:solidFill>
                <a:latin typeface="Calibri" pitchFamily="34" charset="0"/>
                <a:ea typeface="Calibri" pitchFamily="34" charset="-122"/>
                <a:cs typeface="Calibri" pitchFamily="34" charset="-120"/>
              </a:rPr>
              <a:t> — a seizure memo is re-keyed by hand, or not at all</a:t>
            </a:r>
            <a:endParaRPr lang="en-US" sz="1000" dirty="0"/>
          </a:p>
        </p:txBody>
      </p:sp>
      <p:sp>
        <p:nvSpPr>
          <p:cNvPr id="9" name="Shape 6"/>
          <p:cNvSpPr/>
          <p:nvPr/>
        </p:nvSpPr>
        <p:spPr>
          <a:xfrm>
            <a:off x="4681728" y="1207008"/>
            <a:ext cx="4078224" cy="1486166"/>
          </a:xfrm>
          <a:prstGeom prst="roundRect">
            <a:avLst>
              <a:gd name="adj" fmla="val 4615"/>
            </a:avLst>
          </a:prstGeom>
          <a:solidFill>
            <a:srgbClr val="E4F5F3"/>
          </a:solidFill>
          <a:ln w="9525">
            <a:solidFill>
              <a:srgbClr val="DCE3EC"/>
            </a:solidFill>
            <a:prstDash val="solid"/>
          </a:ln>
        </p:spPr>
        <p:txBody>
          <a:bodyPr/>
          <a:lstStyle/>
          <a:p>
            <a:endParaRPr lang="en-US"/>
          </a:p>
        </p:txBody>
      </p:sp>
      <p:sp>
        <p:nvSpPr>
          <p:cNvPr id="10" name="Text 7"/>
          <p:cNvSpPr txBox="1"/>
          <p:nvPr/>
        </p:nvSpPr>
        <p:spPr>
          <a:xfrm>
            <a:off x="4782312" y="1281648"/>
            <a:ext cx="3877056" cy="182880"/>
          </a:xfrm>
          <a:prstGeom prst="rect">
            <a:avLst/>
          </a:prstGeom>
          <a:noFill/>
          <a:ln/>
        </p:spPr>
        <p:txBody>
          <a:bodyPr wrap="square" lIns="0" tIns="0" rIns="0" bIns="0" rtlCol="0" anchor="t"/>
          <a:lstStyle/>
          <a:p>
            <a:pPr marL="0" indent="0">
              <a:buNone/>
            </a:pPr>
            <a:r>
              <a:rPr lang="en-US" sz="1400" b="1" dirty="0">
                <a:solidFill>
                  <a:srgbClr val="2FA8A0"/>
                </a:solidFill>
                <a:latin typeface="Calibri" pitchFamily="34" charset="0"/>
                <a:ea typeface="Calibri" pitchFamily="34" charset="-122"/>
                <a:cs typeface="Calibri" pitchFamily="34" charset="-120"/>
              </a:rPr>
              <a:t>What KADI delivers</a:t>
            </a:r>
            <a:endParaRPr lang="en-US" sz="1400" dirty="0"/>
          </a:p>
        </p:txBody>
      </p:sp>
      <p:sp>
        <p:nvSpPr>
          <p:cNvPr id="11" name="Text 8"/>
          <p:cNvSpPr txBox="1"/>
          <p:nvPr/>
        </p:nvSpPr>
        <p:spPr>
          <a:xfrm>
            <a:off x="4782312" y="1527048"/>
            <a:ext cx="3877056" cy="877824"/>
          </a:xfrm>
          <a:prstGeom prst="rect">
            <a:avLst/>
          </a:prstGeom>
          <a:noFill/>
          <a:ln/>
        </p:spPr>
        <p:txBody>
          <a:bodyPr wrap="square" lIns="0" tIns="0" rIns="0" bIns="0" rtlCol="0" anchor="t"/>
          <a:lstStyle/>
          <a:p>
            <a:pPr marL="0" indent="0">
              <a:lnSpc>
                <a:spcPct val="102000"/>
              </a:lnSpc>
              <a:buNone/>
            </a:pPr>
            <a:endParaRPr lang="en-US" sz="810" dirty="0"/>
          </a:p>
        </p:txBody>
      </p:sp>
      <p:sp>
        <p:nvSpPr>
          <p:cNvPr id="12" name="Text 9"/>
          <p:cNvSpPr txBox="1"/>
          <p:nvPr/>
        </p:nvSpPr>
        <p:spPr>
          <a:xfrm>
            <a:off x="4782311" y="1536191"/>
            <a:ext cx="3948379" cy="1033273"/>
          </a:xfrm>
          <a:prstGeom prst="rect">
            <a:avLst/>
          </a:prstGeom>
          <a:noFill/>
          <a:ln/>
        </p:spPr>
        <p:txBody>
          <a:bodyPr wrap="square" lIns="0" tIns="0" rIns="0" bIns="0" rtlCol="0" anchor="ctr"/>
          <a:lstStyle/>
          <a:p>
            <a:pPr marL="228600" indent="-228600">
              <a:lnSpc>
                <a:spcPct val="104000"/>
              </a:lnSpc>
              <a:buFont typeface="+mj-lt"/>
              <a:buAutoNum type="arabicPeriod"/>
            </a:pPr>
            <a:r>
              <a:rPr lang="en-US" sz="1000" b="1" dirty="0">
                <a:solidFill>
                  <a:srgbClr val="1F2937"/>
                </a:solidFill>
                <a:latin typeface="Calibri" pitchFamily="34" charset="0"/>
                <a:ea typeface="Calibri" pitchFamily="34" charset="-122"/>
                <a:cs typeface="Calibri" pitchFamily="34" charset="-120"/>
              </a:rPr>
              <a:t>One living graph</a:t>
            </a:r>
            <a:r>
              <a:rPr lang="en-US" sz="1000" dirty="0">
                <a:solidFill>
                  <a:srgbClr val="5B6B7C"/>
                </a:solidFill>
                <a:latin typeface="Calibri" pitchFamily="34" charset="0"/>
                <a:ea typeface="Calibri" pitchFamily="34" charset="-122"/>
                <a:cs typeface="Calibri" pitchFamily="34" charset="-120"/>
              </a:rPr>
              <a:t> — every FIR joined to every other it shares evidence with
</a:t>
            </a:r>
            <a:r>
              <a:rPr lang="en-US" sz="1000" b="1" dirty="0">
                <a:solidFill>
                  <a:srgbClr val="1F2937"/>
                </a:solidFill>
                <a:latin typeface="Calibri" pitchFamily="34" charset="0"/>
                <a:ea typeface="Calibri" pitchFamily="34" charset="-122"/>
                <a:cs typeface="Calibri" pitchFamily="34" charset="-120"/>
              </a:rPr>
              <a:t>578 repeat offenders</a:t>
            </a:r>
            <a:r>
              <a:rPr lang="en-US" sz="1000" dirty="0">
                <a:solidFill>
                  <a:srgbClr val="5B6B7C"/>
                </a:solidFill>
                <a:latin typeface="Calibri" pitchFamily="34" charset="0"/>
                <a:ea typeface="Calibri" pitchFamily="34" charset="-122"/>
                <a:cs typeface="Calibri" pitchFamily="34" charset="-120"/>
              </a:rPr>
              <a:t> surfaced from 54,337 accused records
</a:t>
            </a:r>
            <a:r>
              <a:rPr lang="en-US" sz="1000" b="1" dirty="0">
                <a:solidFill>
                  <a:srgbClr val="1F2937"/>
                </a:solidFill>
                <a:latin typeface="Calibri" pitchFamily="34" charset="0"/>
                <a:ea typeface="Calibri" pitchFamily="34" charset="-122"/>
                <a:cs typeface="Calibri" pitchFamily="34" charset="-120"/>
              </a:rPr>
              <a:t>Eight ML models</a:t>
            </a:r>
            <a:r>
              <a:rPr lang="en-US" sz="1000" dirty="0">
                <a:solidFill>
                  <a:srgbClr val="5B6B7C"/>
                </a:solidFill>
                <a:latin typeface="Calibri" pitchFamily="34" charset="0"/>
                <a:ea typeface="Calibri" pitchFamily="34" charset="-122"/>
                <a:cs typeface="Calibri" pitchFamily="34" charset="-120"/>
              </a:rPr>
              <a:t> that each had to beat the rule a supervisor would use
</a:t>
            </a:r>
            <a:r>
              <a:rPr lang="en-US" sz="1000" b="1" dirty="0">
                <a:solidFill>
                  <a:srgbClr val="1F2937"/>
                </a:solidFill>
                <a:latin typeface="Calibri" pitchFamily="34" charset="0"/>
                <a:ea typeface="Calibri" pitchFamily="34" charset="-122"/>
                <a:cs typeface="Calibri" pitchFamily="34" charset="-120"/>
              </a:rPr>
              <a:t>Forecast · hotspots · investigation health</a:t>
            </a:r>
            <a:r>
              <a:rPr lang="en-US" sz="1000" dirty="0">
                <a:solidFill>
                  <a:srgbClr val="5B6B7C"/>
                </a:solidFill>
                <a:latin typeface="Calibri" pitchFamily="34" charset="0"/>
                <a:ea typeface="Calibri" pitchFamily="34" charset="-122"/>
                <a:cs typeface="Calibri" pitchFamily="34" charset="-120"/>
              </a:rPr>
              <a:t> each with a recommended action
</a:t>
            </a:r>
            <a:r>
              <a:rPr lang="en-US" sz="1000" b="1" dirty="0">
                <a:solidFill>
                  <a:srgbClr val="1F2937"/>
                </a:solidFill>
                <a:latin typeface="Calibri" pitchFamily="34" charset="0"/>
                <a:ea typeface="Calibri" pitchFamily="34" charset="-122"/>
                <a:cs typeface="Calibri" pitchFamily="34" charset="-120"/>
              </a:rPr>
              <a:t>Bilingual grounded assistant</a:t>
            </a:r>
            <a:r>
              <a:rPr lang="en-US" sz="1000" dirty="0">
                <a:solidFill>
                  <a:srgbClr val="5B6B7C"/>
                </a:solidFill>
                <a:latin typeface="Calibri" pitchFamily="34" charset="0"/>
                <a:ea typeface="Calibri" pitchFamily="34" charset="-122"/>
                <a:cs typeface="Calibri" pitchFamily="34" charset="-120"/>
              </a:rPr>
              <a:t> — EN / ಕನ್ನಡ, text or voice, always cited</a:t>
            </a:r>
            <a:endParaRPr lang="en-US" sz="1000" dirty="0"/>
          </a:p>
        </p:txBody>
      </p:sp>
      <p:sp>
        <p:nvSpPr>
          <p:cNvPr id="13" name="Shape 10"/>
          <p:cNvSpPr/>
          <p:nvPr/>
        </p:nvSpPr>
        <p:spPr>
          <a:xfrm>
            <a:off x="384048" y="2821190"/>
            <a:ext cx="1572768" cy="543801"/>
          </a:xfrm>
          <a:prstGeom prst="roundRect">
            <a:avLst>
              <a:gd name="adj" fmla="val 7317"/>
            </a:avLst>
          </a:prstGeom>
          <a:solidFill>
            <a:srgbClr val="FFFFFF"/>
          </a:solidFill>
          <a:ln w="9525">
            <a:solidFill>
              <a:srgbClr val="DCE3EC"/>
            </a:solidFill>
            <a:prstDash val="solid"/>
          </a:ln>
        </p:spPr>
        <p:txBody>
          <a:bodyPr/>
          <a:lstStyle/>
          <a:p>
            <a:endParaRPr lang="en-US"/>
          </a:p>
        </p:txBody>
      </p:sp>
      <p:sp>
        <p:nvSpPr>
          <p:cNvPr id="14" name="Text 11"/>
          <p:cNvSpPr txBox="1"/>
          <p:nvPr/>
        </p:nvSpPr>
        <p:spPr>
          <a:xfrm>
            <a:off x="475488" y="2821191"/>
            <a:ext cx="1389888" cy="347472"/>
          </a:xfrm>
          <a:prstGeom prst="rect">
            <a:avLst/>
          </a:prstGeom>
          <a:noFill/>
          <a:ln/>
        </p:spPr>
        <p:txBody>
          <a:bodyPr wrap="square" lIns="0" tIns="0" rIns="0" bIns="0" rtlCol="0" anchor="ctr"/>
          <a:lstStyle/>
          <a:p>
            <a:pPr marL="0" indent="0" algn="l">
              <a:buNone/>
            </a:pPr>
            <a:r>
              <a:rPr lang="en-US" sz="1900" b="1" dirty="0">
                <a:solidFill>
                  <a:srgbClr val="0F2F44"/>
                </a:solidFill>
                <a:latin typeface="Calibri" pitchFamily="34" charset="0"/>
                <a:ea typeface="Calibri" pitchFamily="34" charset="-122"/>
                <a:cs typeface="Calibri" pitchFamily="34" charset="-120"/>
              </a:rPr>
              <a:t>59,985</a:t>
            </a:r>
            <a:endParaRPr lang="en-US" sz="1900" dirty="0"/>
          </a:p>
        </p:txBody>
      </p:sp>
      <p:sp>
        <p:nvSpPr>
          <p:cNvPr id="15" name="Text 12"/>
          <p:cNvSpPr txBox="1"/>
          <p:nvPr/>
        </p:nvSpPr>
        <p:spPr>
          <a:xfrm>
            <a:off x="475488" y="3168663"/>
            <a:ext cx="1389888" cy="274320"/>
          </a:xfrm>
          <a:prstGeom prst="rect">
            <a:avLst/>
          </a:prstGeom>
          <a:noFill/>
          <a:ln/>
        </p:spPr>
        <p:txBody>
          <a:bodyPr wrap="square" lIns="0" tIns="0" rIns="0" bIns="0" rtlCol="0" anchor="t"/>
          <a:lstStyle/>
          <a:p>
            <a:pPr marL="0" indent="0" algn="l">
              <a:buNone/>
            </a:pPr>
            <a:r>
              <a:rPr lang="en-US" sz="780" dirty="0">
                <a:solidFill>
                  <a:srgbClr val="5B6B7C"/>
                </a:solidFill>
                <a:latin typeface="Calibri" pitchFamily="34" charset="0"/>
                <a:ea typeface="Calibri" pitchFamily="34" charset="-122"/>
                <a:cs typeface="Calibri" pitchFamily="34" charset="-120"/>
              </a:rPr>
              <a:t>FIRs analysed</a:t>
            </a:r>
            <a:endParaRPr lang="en-US" sz="780" dirty="0"/>
          </a:p>
        </p:txBody>
      </p:sp>
      <p:sp>
        <p:nvSpPr>
          <p:cNvPr id="16" name="Shape 13"/>
          <p:cNvSpPr/>
          <p:nvPr/>
        </p:nvSpPr>
        <p:spPr>
          <a:xfrm>
            <a:off x="2077517" y="2821190"/>
            <a:ext cx="1572768" cy="543801"/>
          </a:xfrm>
          <a:prstGeom prst="roundRect">
            <a:avLst>
              <a:gd name="adj" fmla="val 7317"/>
            </a:avLst>
          </a:prstGeom>
          <a:solidFill>
            <a:srgbClr val="FFFFFF"/>
          </a:solidFill>
          <a:ln w="9525">
            <a:solidFill>
              <a:srgbClr val="DCE3EC"/>
            </a:solidFill>
            <a:prstDash val="solid"/>
          </a:ln>
        </p:spPr>
        <p:txBody>
          <a:bodyPr/>
          <a:lstStyle/>
          <a:p>
            <a:endParaRPr lang="en-US"/>
          </a:p>
        </p:txBody>
      </p:sp>
      <p:sp>
        <p:nvSpPr>
          <p:cNvPr id="17" name="Text 14"/>
          <p:cNvSpPr txBox="1"/>
          <p:nvPr/>
        </p:nvSpPr>
        <p:spPr>
          <a:xfrm>
            <a:off x="2168957" y="2821191"/>
            <a:ext cx="1389888" cy="347472"/>
          </a:xfrm>
          <a:prstGeom prst="rect">
            <a:avLst/>
          </a:prstGeom>
          <a:noFill/>
          <a:ln/>
        </p:spPr>
        <p:txBody>
          <a:bodyPr wrap="square" lIns="0" tIns="0" rIns="0" bIns="0" rtlCol="0" anchor="ctr"/>
          <a:lstStyle/>
          <a:p>
            <a:pPr marL="0" indent="0" algn="l">
              <a:buNone/>
            </a:pPr>
            <a:r>
              <a:rPr lang="en-US" sz="1900" b="1" dirty="0">
                <a:solidFill>
                  <a:srgbClr val="2FA8A0"/>
                </a:solidFill>
                <a:latin typeface="Calibri" pitchFamily="34" charset="0"/>
                <a:ea typeface="Calibri" pitchFamily="34" charset="-122"/>
                <a:cs typeface="Calibri" pitchFamily="34" charset="-120"/>
              </a:rPr>
              <a:t>578</a:t>
            </a:r>
            <a:endParaRPr lang="en-US" sz="1900" dirty="0"/>
          </a:p>
        </p:txBody>
      </p:sp>
      <p:sp>
        <p:nvSpPr>
          <p:cNvPr id="18" name="Text 15"/>
          <p:cNvSpPr txBox="1"/>
          <p:nvPr/>
        </p:nvSpPr>
        <p:spPr>
          <a:xfrm>
            <a:off x="2168957" y="3168663"/>
            <a:ext cx="1389888" cy="274320"/>
          </a:xfrm>
          <a:prstGeom prst="rect">
            <a:avLst/>
          </a:prstGeom>
          <a:noFill/>
          <a:ln/>
        </p:spPr>
        <p:txBody>
          <a:bodyPr wrap="square" lIns="0" tIns="0" rIns="0" bIns="0" rtlCol="0" anchor="t"/>
          <a:lstStyle/>
          <a:p>
            <a:pPr marL="0" indent="0" algn="l">
              <a:buNone/>
            </a:pPr>
            <a:r>
              <a:rPr lang="en-US" sz="780" dirty="0">
                <a:solidFill>
                  <a:srgbClr val="5B6B7C"/>
                </a:solidFill>
                <a:latin typeface="Calibri" pitchFamily="34" charset="0"/>
                <a:ea typeface="Calibri" pitchFamily="34" charset="-122"/>
                <a:cs typeface="Calibri" pitchFamily="34" charset="-120"/>
              </a:rPr>
              <a:t>offenders resolved</a:t>
            </a:r>
            <a:endParaRPr lang="en-US" sz="780" dirty="0"/>
          </a:p>
        </p:txBody>
      </p:sp>
      <p:sp>
        <p:nvSpPr>
          <p:cNvPr id="19" name="Shape 16"/>
          <p:cNvSpPr/>
          <p:nvPr/>
        </p:nvSpPr>
        <p:spPr>
          <a:xfrm>
            <a:off x="3770986" y="2821190"/>
            <a:ext cx="1572768" cy="543801"/>
          </a:xfrm>
          <a:prstGeom prst="roundRect">
            <a:avLst>
              <a:gd name="adj" fmla="val 7317"/>
            </a:avLst>
          </a:prstGeom>
          <a:solidFill>
            <a:srgbClr val="FFFFFF"/>
          </a:solidFill>
          <a:ln w="9525">
            <a:solidFill>
              <a:srgbClr val="DCE3EC"/>
            </a:solidFill>
            <a:prstDash val="solid"/>
          </a:ln>
        </p:spPr>
        <p:txBody>
          <a:bodyPr/>
          <a:lstStyle/>
          <a:p>
            <a:endParaRPr lang="en-US"/>
          </a:p>
        </p:txBody>
      </p:sp>
      <p:sp>
        <p:nvSpPr>
          <p:cNvPr id="20" name="Text 17"/>
          <p:cNvSpPr txBox="1"/>
          <p:nvPr/>
        </p:nvSpPr>
        <p:spPr>
          <a:xfrm>
            <a:off x="3862426" y="2821191"/>
            <a:ext cx="1389888" cy="347472"/>
          </a:xfrm>
          <a:prstGeom prst="rect">
            <a:avLst/>
          </a:prstGeom>
          <a:noFill/>
          <a:ln/>
        </p:spPr>
        <p:txBody>
          <a:bodyPr wrap="square" lIns="0" tIns="0" rIns="0" bIns="0" rtlCol="0" anchor="ctr"/>
          <a:lstStyle/>
          <a:p>
            <a:pPr marL="0" indent="0" algn="l">
              <a:buNone/>
            </a:pPr>
            <a:r>
              <a:rPr lang="en-US" sz="1900" b="1" dirty="0">
                <a:solidFill>
                  <a:srgbClr val="1A6FC4"/>
                </a:solidFill>
                <a:latin typeface="Calibri" pitchFamily="34" charset="0"/>
                <a:ea typeface="Calibri" pitchFamily="34" charset="-122"/>
                <a:cs typeface="Calibri" pitchFamily="34" charset="-120"/>
              </a:rPr>
              <a:t>85,429</a:t>
            </a:r>
            <a:endParaRPr lang="en-US" sz="1900" dirty="0"/>
          </a:p>
        </p:txBody>
      </p:sp>
      <p:sp>
        <p:nvSpPr>
          <p:cNvPr id="21" name="Text 18"/>
          <p:cNvSpPr txBox="1"/>
          <p:nvPr/>
        </p:nvSpPr>
        <p:spPr>
          <a:xfrm>
            <a:off x="3862426" y="3168663"/>
            <a:ext cx="1389888" cy="274320"/>
          </a:xfrm>
          <a:prstGeom prst="rect">
            <a:avLst/>
          </a:prstGeom>
          <a:noFill/>
          <a:ln/>
        </p:spPr>
        <p:txBody>
          <a:bodyPr wrap="square" lIns="0" tIns="0" rIns="0" bIns="0" rtlCol="0" anchor="t"/>
          <a:lstStyle/>
          <a:p>
            <a:pPr marL="0" indent="0" algn="l">
              <a:buNone/>
            </a:pPr>
            <a:r>
              <a:rPr lang="en-US" sz="780" dirty="0">
                <a:solidFill>
                  <a:srgbClr val="5B6B7C"/>
                </a:solidFill>
                <a:latin typeface="Calibri" pitchFamily="34" charset="0"/>
                <a:ea typeface="Calibri" pitchFamily="34" charset="-122"/>
                <a:cs typeface="Calibri" pitchFamily="34" charset="-120"/>
              </a:rPr>
              <a:t>typed evidence links</a:t>
            </a:r>
            <a:endParaRPr lang="en-US" sz="780" dirty="0"/>
          </a:p>
        </p:txBody>
      </p:sp>
      <p:sp>
        <p:nvSpPr>
          <p:cNvPr id="22" name="Shape 19"/>
          <p:cNvSpPr/>
          <p:nvPr/>
        </p:nvSpPr>
        <p:spPr>
          <a:xfrm>
            <a:off x="5464454" y="2821190"/>
            <a:ext cx="1572768" cy="543801"/>
          </a:xfrm>
          <a:prstGeom prst="roundRect">
            <a:avLst>
              <a:gd name="adj" fmla="val 7317"/>
            </a:avLst>
          </a:prstGeom>
          <a:solidFill>
            <a:srgbClr val="FFFFFF"/>
          </a:solidFill>
          <a:ln w="9525">
            <a:solidFill>
              <a:srgbClr val="DCE3EC"/>
            </a:solidFill>
            <a:prstDash val="solid"/>
          </a:ln>
        </p:spPr>
        <p:txBody>
          <a:bodyPr/>
          <a:lstStyle/>
          <a:p>
            <a:endParaRPr lang="en-US"/>
          </a:p>
        </p:txBody>
      </p:sp>
      <p:sp>
        <p:nvSpPr>
          <p:cNvPr id="23" name="Text 20"/>
          <p:cNvSpPr txBox="1"/>
          <p:nvPr/>
        </p:nvSpPr>
        <p:spPr>
          <a:xfrm>
            <a:off x="5555894" y="2821191"/>
            <a:ext cx="1389888" cy="347472"/>
          </a:xfrm>
          <a:prstGeom prst="rect">
            <a:avLst/>
          </a:prstGeom>
          <a:noFill/>
          <a:ln/>
        </p:spPr>
        <p:txBody>
          <a:bodyPr wrap="square" lIns="0" tIns="0" rIns="0" bIns="0" rtlCol="0" anchor="ctr"/>
          <a:lstStyle/>
          <a:p>
            <a:pPr marL="0" indent="0" algn="l">
              <a:buNone/>
            </a:pPr>
            <a:r>
              <a:rPr lang="en-US" sz="1900" b="1" dirty="0">
                <a:solidFill>
                  <a:srgbClr val="E8871E"/>
                </a:solidFill>
                <a:latin typeface="Calibri" pitchFamily="34" charset="0"/>
                <a:ea typeface="Calibri" pitchFamily="34" charset="-122"/>
                <a:cs typeface="Calibri" pitchFamily="34" charset="-120"/>
              </a:rPr>
              <a:t>26,168</a:t>
            </a:r>
            <a:endParaRPr lang="en-US" sz="1900" dirty="0"/>
          </a:p>
        </p:txBody>
      </p:sp>
      <p:sp>
        <p:nvSpPr>
          <p:cNvPr id="24" name="Text 21"/>
          <p:cNvSpPr txBox="1"/>
          <p:nvPr/>
        </p:nvSpPr>
        <p:spPr>
          <a:xfrm>
            <a:off x="5555894" y="3168663"/>
            <a:ext cx="1389888" cy="274320"/>
          </a:xfrm>
          <a:prstGeom prst="rect">
            <a:avLst/>
          </a:prstGeom>
          <a:noFill/>
          <a:ln/>
        </p:spPr>
        <p:txBody>
          <a:bodyPr wrap="square" lIns="0" tIns="0" rIns="0" bIns="0" rtlCol="0" anchor="t"/>
          <a:lstStyle/>
          <a:p>
            <a:pPr marL="0" indent="0" algn="l">
              <a:buNone/>
            </a:pPr>
            <a:r>
              <a:rPr lang="en-US" sz="780" dirty="0">
                <a:solidFill>
                  <a:srgbClr val="5B6B7C"/>
                </a:solidFill>
                <a:latin typeface="Calibri" pitchFamily="34" charset="0"/>
                <a:ea typeface="Calibri" pitchFamily="34" charset="-122"/>
                <a:cs typeface="Calibri" pitchFamily="34" charset="-120"/>
              </a:rPr>
              <a:t>cases flagged for action</a:t>
            </a:r>
            <a:endParaRPr lang="en-US" sz="780" dirty="0"/>
          </a:p>
        </p:txBody>
      </p:sp>
      <p:sp>
        <p:nvSpPr>
          <p:cNvPr id="25" name="Shape 22"/>
          <p:cNvSpPr/>
          <p:nvPr/>
        </p:nvSpPr>
        <p:spPr>
          <a:xfrm>
            <a:off x="7157923" y="2821190"/>
            <a:ext cx="1572768" cy="543801"/>
          </a:xfrm>
          <a:prstGeom prst="roundRect">
            <a:avLst>
              <a:gd name="adj" fmla="val 7317"/>
            </a:avLst>
          </a:prstGeom>
          <a:solidFill>
            <a:srgbClr val="FFFFFF"/>
          </a:solidFill>
          <a:ln w="9525">
            <a:solidFill>
              <a:srgbClr val="DCE3EC"/>
            </a:solidFill>
            <a:prstDash val="solid"/>
          </a:ln>
        </p:spPr>
        <p:txBody>
          <a:bodyPr/>
          <a:lstStyle/>
          <a:p>
            <a:endParaRPr lang="en-US"/>
          </a:p>
        </p:txBody>
      </p:sp>
      <p:sp>
        <p:nvSpPr>
          <p:cNvPr id="26" name="Text 23"/>
          <p:cNvSpPr txBox="1"/>
          <p:nvPr/>
        </p:nvSpPr>
        <p:spPr>
          <a:xfrm>
            <a:off x="7249363" y="2821191"/>
            <a:ext cx="1389888" cy="347472"/>
          </a:xfrm>
          <a:prstGeom prst="rect">
            <a:avLst/>
          </a:prstGeom>
          <a:noFill/>
          <a:ln/>
        </p:spPr>
        <p:txBody>
          <a:bodyPr wrap="square" lIns="0" tIns="0" rIns="0" bIns="0" rtlCol="0" anchor="ctr"/>
          <a:lstStyle/>
          <a:p>
            <a:pPr marL="0" indent="0" algn="l">
              <a:buNone/>
            </a:pPr>
            <a:r>
              <a:rPr lang="en-US" sz="1900" b="1" dirty="0">
                <a:solidFill>
                  <a:srgbClr val="2FA8A0"/>
                </a:solidFill>
                <a:latin typeface="Calibri" pitchFamily="34" charset="0"/>
                <a:ea typeface="Calibri" pitchFamily="34" charset="-122"/>
                <a:cs typeface="Calibri" pitchFamily="34" charset="-120"/>
              </a:rPr>
              <a:t>100%</a:t>
            </a:r>
            <a:endParaRPr lang="en-US" sz="1900" dirty="0"/>
          </a:p>
        </p:txBody>
      </p:sp>
      <p:sp>
        <p:nvSpPr>
          <p:cNvPr id="27" name="Text 24"/>
          <p:cNvSpPr txBox="1"/>
          <p:nvPr/>
        </p:nvSpPr>
        <p:spPr>
          <a:xfrm>
            <a:off x="7249363" y="3168663"/>
            <a:ext cx="1389888" cy="274320"/>
          </a:xfrm>
          <a:prstGeom prst="rect">
            <a:avLst/>
          </a:prstGeom>
          <a:noFill/>
          <a:ln/>
        </p:spPr>
        <p:txBody>
          <a:bodyPr wrap="square" lIns="0" tIns="0" rIns="0" bIns="0" rtlCol="0" anchor="t"/>
          <a:lstStyle/>
          <a:p>
            <a:pPr marL="0" indent="0" algn="l">
              <a:buNone/>
            </a:pPr>
            <a:r>
              <a:rPr lang="en-US" sz="780" dirty="0">
                <a:solidFill>
                  <a:srgbClr val="5B6B7C"/>
                </a:solidFill>
                <a:latin typeface="Calibri" pitchFamily="34" charset="0"/>
                <a:ea typeface="Calibri" pitchFamily="34" charset="-122"/>
                <a:cs typeface="Calibri" pitchFamily="34" charset="-120"/>
              </a:rPr>
              <a:t>ground-truth recovery</a:t>
            </a:r>
            <a:endParaRPr lang="en-US" sz="780" dirty="0"/>
          </a:p>
        </p:txBody>
      </p:sp>
      <p:sp>
        <p:nvSpPr>
          <p:cNvPr id="28" name="Shape 25"/>
          <p:cNvSpPr/>
          <p:nvPr/>
        </p:nvSpPr>
        <p:spPr>
          <a:xfrm>
            <a:off x="384048" y="3529584"/>
            <a:ext cx="8375904" cy="786384"/>
          </a:xfrm>
          <a:prstGeom prst="roundRect">
            <a:avLst>
              <a:gd name="adj" fmla="val 6977"/>
            </a:avLst>
          </a:prstGeom>
          <a:solidFill>
            <a:srgbClr val="0F2F44"/>
          </a:solidFill>
          <a:ln w="9525">
            <a:solidFill>
              <a:srgbClr val="0F2F44"/>
            </a:solidFill>
            <a:prstDash val="solid"/>
          </a:ln>
        </p:spPr>
        <p:txBody>
          <a:bodyPr/>
          <a:lstStyle/>
          <a:p>
            <a:endParaRPr lang="en-US"/>
          </a:p>
        </p:txBody>
      </p:sp>
      <p:sp>
        <p:nvSpPr>
          <p:cNvPr id="29" name="Text 26"/>
          <p:cNvSpPr txBox="1"/>
          <p:nvPr/>
        </p:nvSpPr>
        <p:spPr>
          <a:xfrm>
            <a:off x="548640" y="3602736"/>
            <a:ext cx="80467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One graph. 59,985 FIRs. Every link is evidence an officer can click.</a:t>
            </a:r>
            <a:endParaRPr lang="en-US" sz="1300" dirty="0"/>
          </a:p>
        </p:txBody>
      </p:sp>
      <p:sp>
        <p:nvSpPr>
          <p:cNvPr id="30" name="Text 27"/>
          <p:cNvSpPr txBox="1"/>
          <p:nvPr/>
        </p:nvSpPr>
        <p:spPr>
          <a:xfrm>
            <a:off x="548640" y="3987860"/>
            <a:ext cx="8046720" cy="347472"/>
          </a:xfrm>
          <a:prstGeom prst="rect">
            <a:avLst/>
          </a:prstGeom>
          <a:noFill/>
          <a:ln/>
        </p:spPr>
        <p:txBody>
          <a:bodyPr wrap="square" lIns="0" tIns="0" rIns="0" bIns="0" rtlCol="0" anchor="t"/>
          <a:lstStyle/>
          <a:p>
            <a:pPr marL="0" indent="0">
              <a:buNone/>
            </a:pPr>
            <a:r>
              <a:rPr lang="en-US" sz="860" dirty="0">
                <a:solidFill>
                  <a:srgbClr val="C9D6E2"/>
                </a:solidFill>
                <a:latin typeface="Calibri" pitchFamily="34" charset="0"/>
                <a:ea typeface="Calibri" pitchFamily="34" charset="-122"/>
                <a:cs typeface="Calibri" pitchFamily="34" charset="-120"/>
              </a:rPr>
              <a:t>A serial offender working across three districts stops looking like three unrelated cases — because the evidence that joins them is stored, typed, and shown on screen.</a:t>
            </a:r>
            <a:endParaRPr lang="en-US" sz="860" dirty="0"/>
          </a:p>
        </p:txBody>
      </p:sp>
      <p:sp>
        <p:nvSpPr>
          <p:cNvPr id="31" name="Text 28"/>
          <p:cNvSpPr txBox="1"/>
          <p:nvPr/>
        </p:nvSpPr>
        <p:spPr>
          <a:xfrm>
            <a:off x="384048" y="4423038"/>
            <a:ext cx="1645920" cy="219456"/>
          </a:xfrm>
          <a:prstGeom prst="rect">
            <a:avLst/>
          </a:prstGeom>
          <a:noFill/>
          <a:ln/>
        </p:spPr>
        <p:txBody>
          <a:bodyPr wrap="square" lIns="0" tIns="0" rIns="0" bIns="0" rtlCol="0" anchor="ctr"/>
          <a:lstStyle/>
          <a:p>
            <a:pPr marL="0" indent="0" algn="ctr">
              <a:buNone/>
            </a:pPr>
            <a:r>
              <a:rPr lang="en-US" sz="1100" b="1" dirty="0">
                <a:solidFill>
                  <a:srgbClr val="0F2F44"/>
                </a:solidFill>
                <a:latin typeface="Calibri" pitchFamily="34" charset="0"/>
                <a:ea typeface="Calibri" pitchFamily="34" charset="-122"/>
                <a:cs typeface="Calibri" pitchFamily="34" charset="-120"/>
              </a:rPr>
              <a:t>19</a:t>
            </a:r>
            <a:r>
              <a:rPr lang="en-US" sz="1100" dirty="0">
                <a:solidFill>
                  <a:srgbClr val="5B6B7C"/>
                </a:solidFill>
                <a:latin typeface="Calibri" pitchFamily="34" charset="0"/>
                <a:ea typeface="Calibri" pitchFamily="34" charset="-122"/>
                <a:cs typeface="Calibri" pitchFamily="34" charset="-120"/>
              </a:rPr>
              <a:t>  screens</a:t>
            </a:r>
            <a:endParaRPr lang="en-US" sz="1100" dirty="0"/>
          </a:p>
        </p:txBody>
      </p:sp>
      <p:sp>
        <p:nvSpPr>
          <p:cNvPr id="32" name="Text 29"/>
          <p:cNvSpPr txBox="1"/>
          <p:nvPr/>
        </p:nvSpPr>
        <p:spPr>
          <a:xfrm>
            <a:off x="2077517" y="4423038"/>
            <a:ext cx="1645920" cy="219456"/>
          </a:xfrm>
          <a:prstGeom prst="rect">
            <a:avLst/>
          </a:prstGeom>
          <a:noFill/>
          <a:ln/>
        </p:spPr>
        <p:txBody>
          <a:bodyPr wrap="square" lIns="0" tIns="0" rIns="0" bIns="0" rtlCol="0" anchor="ctr"/>
          <a:lstStyle/>
          <a:p>
            <a:pPr marL="0" indent="0" algn="ctr">
              <a:buNone/>
            </a:pPr>
            <a:r>
              <a:rPr lang="en-US" sz="1100" b="1" dirty="0">
                <a:solidFill>
                  <a:srgbClr val="0F2F44"/>
                </a:solidFill>
                <a:latin typeface="Calibri" pitchFamily="34" charset="0"/>
                <a:ea typeface="Calibri" pitchFamily="34" charset="-122"/>
                <a:cs typeface="Calibri" pitchFamily="34" charset="-120"/>
              </a:rPr>
              <a:t>105</a:t>
            </a:r>
            <a:r>
              <a:rPr lang="en-US" sz="1100" dirty="0">
                <a:solidFill>
                  <a:srgbClr val="5B6B7C"/>
                </a:solidFill>
                <a:latin typeface="Calibri" pitchFamily="34" charset="0"/>
                <a:ea typeface="Calibri" pitchFamily="34" charset="-122"/>
                <a:cs typeface="Calibri" pitchFamily="34" charset="-120"/>
              </a:rPr>
              <a:t>  REST endpoints</a:t>
            </a:r>
            <a:endParaRPr lang="en-US" sz="1100" dirty="0"/>
          </a:p>
        </p:txBody>
      </p:sp>
      <p:sp>
        <p:nvSpPr>
          <p:cNvPr id="33" name="Text 30"/>
          <p:cNvSpPr txBox="1"/>
          <p:nvPr/>
        </p:nvSpPr>
        <p:spPr>
          <a:xfrm>
            <a:off x="3770986" y="4407408"/>
            <a:ext cx="1645920" cy="219456"/>
          </a:xfrm>
          <a:prstGeom prst="rect">
            <a:avLst/>
          </a:prstGeom>
          <a:noFill/>
          <a:ln/>
        </p:spPr>
        <p:txBody>
          <a:bodyPr wrap="square" lIns="0" tIns="0" rIns="0" bIns="0" rtlCol="0" anchor="ctr"/>
          <a:lstStyle/>
          <a:p>
            <a:pPr marL="0" indent="0" algn="ctr">
              <a:buNone/>
            </a:pPr>
            <a:r>
              <a:rPr lang="en-US" sz="1100" b="1" dirty="0">
                <a:solidFill>
                  <a:srgbClr val="0F2F44"/>
                </a:solidFill>
                <a:latin typeface="Calibri" pitchFamily="34" charset="0"/>
                <a:ea typeface="Calibri" pitchFamily="34" charset="-122"/>
                <a:cs typeface="Calibri" pitchFamily="34" charset="-120"/>
              </a:rPr>
              <a:t>19</a:t>
            </a:r>
            <a:r>
              <a:rPr lang="en-US" sz="1100" dirty="0">
                <a:solidFill>
                  <a:srgbClr val="5B6B7C"/>
                </a:solidFill>
                <a:latin typeface="Calibri" pitchFamily="34" charset="0"/>
                <a:ea typeface="Calibri" pitchFamily="34" charset="-122"/>
                <a:cs typeface="Calibri" pitchFamily="34" charset="-120"/>
              </a:rPr>
              <a:t>  Data Store tables</a:t>
            </a:r>
            <a:endParaRPr lang="en-US" sz="1100" dirty="0"/>
          </a:p>
        </p:txBody>
      </p:sp>
      <p:sp>
        <p:nvSpPr>
          <p:cNvPr id="34" name="Text 31"/>
          <p:cNvSpPr txBox="1"/>
          <p:nvPr/>
        </p:nvSpPr>
        <p:spPr>
          <a:xfrm>
            <a:off x="5464454" y="4407408"/>
            <a:ext cx="1645920" cy="219456"/>
          </a:xfrm>
          <a:prstGeom prst="rect">
            <a:avLst/>
          </a:prstGeom>
          <a:noFill/>
          <a:ln/>
        </p:spPr>
        <p:txBody>
          <a:bodyPr wrap="square" lIns="0" tIns="0" rIns="0" bIns="0" rtlCol="0" anchor="ctr"/>
          <a:lstStyle/>
          <a:p>
            <a:pPr marL="0" indent="0" algn="ctr">
              <a:buNone/>
            </a:pPr>
            <a:r>
              <a:rPr lang="en-US" sz="1100" b="1" dirty="0">
                <a:solidFill>
                  <a:srgbClr val="0F2F44"/>
                </a:solidFill>
                <a:latin typeface="Calibri" pitchFamily="34" charset="0"/>
                <a:ea typeface="Calibri" pitchFamily="34" charset="-122"/>
                <a:cs typeface="Calibri" pitchFamily="34" charset="-120"/>
              </a:rPr>
              <a:t>1,134</a:t>
            </a:r>
            <a:r>
              <a:rPr lang="en-US" sz="1100" dirty="0">
                <a:solidFill>
                  <a:srgbClr val="5B6B7C"/>
                </a:solidFill>
                <a:latin typeface="Calibri" pitchFamily="34" charset="0"/>
                <a:ea typeface="Calibri" pitchFamily="34" charset="-122"/>
                <a:cs typeface="Calibri" pitchFamily="34" charset="-120"/>
              </a:rPr>
              <a:t>  Kannada strings</a:t>
            </a:r>
            <a:endParaRPr lang="en-US" sz="1100" dirty="0"/>
          </a:p>
        </p:txBody>
      </p:sp>
      <p:sp>
        <p:nvSpPr>
          <p:cNvPr id="35" name="Text 32"/>
          <p:cNvSpPr txBox="1"/>
          <p:nvPr/>
        </p:nvSpPr>
        <p:spPr>
          <a:xfrm>
            <a:off x="7156094" y="4414133"/>
            <a:ext cx="1645920" cy="219456"/>
          </a:xfrm>
          <a:prstGeom prst="rect">
            <a:avLst/>
          </a:prstGeom>
          <a:noFill/>
          <a:ln/>
        </p:spPr>
        <p:txBody>
          <a:bodyPr wrap="square" lIns="0" tIns="0" rIns="0" bIns="0" rtlCol="0" anchor="ctr"/>
          <a:lstStyle/>
          <a:p>
            <a:pPr marL="0" indent="0" algn="ctr">
              <a:buNone/>
            </a:pPr>
            <a:r>
              <a:rPr lang="en-US" sz="1100" b="1" dirty="0">
                <a:solidFill>
                  <a:srgbClr val="0F2F44"/>
                </a:solidFill>
                <a:latin typeface="Calibri" pitchFamily="34" charset="0"/>
                <a:ea typeface="Calibri" pitchFamily="34" charset="-122"/>
                <a:cs typeface="Calibri" pitchFamily="34" charset="-120"/>
              </a:rPr>
              <a:t>103</a:t>
            </a:r>
            <a:r>
              <a:rPr lang="en-US" sz="1100" dirty="0">
                <a:solidFill>
                  <a:srgbClr val="5B6B7C"/>
                </a:solidFill>
                <a:latin typeface="Calibri" pitchFamily="34" charset="0"/>
                <a:ea typeface="Calibri" pitchFamily="34" charset="-122"/>
                <a:cs typeface="Calibri" pitchFamily="34" charset="-120"/>
              </a:rPr>
              <a:t>  automated tests</a:t>
            </a:r>
            <a:endParaRPr lang="en-US" sz="1100" dirty="0"/>
          </a:p>
        </p:txBody>
      </p:sp>
      <p:sp>
        <p:nvSpPr>
          <p:cNvPr id="36" name="Text 33"/>
          <p:cNvSpPr txBox="1"/>
          <p:nvPr/>
        </p:nvSpPr>
        <p:spPr>
          <a:xfrm>
            <a:off x="384048" y="4754880"/>
            <a:ext cx="8375904" cy="201168"/>
          </a:xfrm>
          <a:prstGeom prst="rect">
            <a:avLst/>
          </a:prstGeom>
          <a:noFill/>
          <a:ln/>
        </p:spPr>
        <p:txBody>
          <a:bodyPr wrap="square" lIns="0" tIns="0" rIns="0" bIns="0" rtlCol="0" anchor="t"/>
          <a:lstStyle/>
          <a:p>
            <a:pPr marL="0" indent="0">
              <a:buNone/>
            </a:pPr>
            <a:r>
              <a:rPr lang="en-US" sz="1000" i="1" dirty="0">
                <a:solidFill>
                  <a:srgbClr val="8A98A8"/>
                </a:solidFill>
                <a:latin typeface="Calibri" pitchFamily="34" charset="0"/>
                <a:ea typeface="Calibri" pitchFamily="34" charset="-122"/>
                <a:cs typeface="Calibri" pitchFamily="34" charset="-120"/>
              </a:rPr>
              <a:t>Every number on this slide was read from the deployed Catalyst API or from a test run on this build — nothing here is illustrative.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ivate/tmp/claude-501/-Users-adarsh-Desktop-Projects-KadiLabs/1a0b3114-7a5c-4b08-a5d4-f9d8371eeea4/scratchpad/deck/bg-content.png"/>
          <p:cNvPicPr>
            <a:picLocks noChangeAspect="1"/>
          </p:cNvPicPr>
          <p:nvPr/>
        </p:nvPicPr>
        <p:blipFill>
          <a:blip r:embed="rId3"/>
          <a:stretch>
            <a:fillRect/>
          </a:stretch>
        </p:blipFill>
        <p:spPr>
          <a:xfrm>
            <a:off x="0" y="0"/>
            <a:ext cx="9144000" cy="5143500"/>
          </a:xfrm>
          <a:prstGeom prst="rect">
            <a:avLst/>
          </a:prstGeom>
        </p:spPr>
      </p:pic>
      <p:sp>
        <p:nvSpPr>
          <p:cNvPr id="3" name="Text 0"/>
          <p:cNvSpPr txBox="1"/>
          <p:nvPr/>
        </p:nvSpPr>
        <p:spPr>
          <a:xfrm>
            <a:off x="384048" y="603504"/>
            <a:ext cx="8375904" cy="365760"/>
          </a:xfrm>
          <a:prstGeom prst="rect">
            <a:avLst/>
          </a:prstGeom>
          <a:noFill/>
          <a:ln/>
        </p:spPr>
        <p:txBody>
          <a:bodyPr wrap="square" lIns="0" tIns="0" rIns="0" bIns="0" rtlCol="0" anchor="t"/>
          <a:lstStyle/>
          <a:p>
            <a:pPr marL="0" indent="0">
              <a:buNone/>
            </a:pPr>
            <a:r>
              <a:rPr lang="en-US" sz="2100" b="1" dirty="0">
                <a:solidFill>
                  <a:srgbClr val="0F2F44"/>
                </a:solidFill>
                <a:latin typeface="Calibri" pitchFamily="34" charset="0"/>
                <a:ea typeface="Calibri" pitchFamily="34" charset="-122"/>
                <a:cs typeface="Calibri" pitchFamily="34" charset="-120"/>
              </a:rPr>
              <a:t>The four challenges in the statement — answered</a:t>
            </a:r>
            <a:endParaRPr lang="en-US" sz="2100" dirty="0"/>
          </a:p>
        </p:txBody>
      </p:sp>
      <p:sp>
        <p:nvSpPr>
          <p:cNvPr id="4" name="Text 1"/>
          <p:cNvSpPr txBox="1"/>
          <p:nvPr/>
        </p:nvSpPr>
        <p:spPr>
          <a:xfrm>
            <a:off x="384048" y="969264"/>
            <a:ext cx="8375904" cy="237744"/>
          </a:xfrm>
          <a:prstGeom prst="rect">
            <a:avLst/>
          </a:prstGeom>
          <a:noFill/>
          <a:ln/>
        </p:spPr>
        <p:txBody>
          <a:bodyPr wrap="square" lIns="0" tIns="0" rIns="0" bIns="0" rtlCol="0" anchor="t"/>
          <a:lstStyle/>
          <a:p>
            <a:pPr marL="0" indent="0">
              <a:buNone/>
            </a:pPr>
            <a:r>
              <a:rPr lang="en-US" sz="1050" dirty="0">
                <a:solidFill>
                  <a:srgbClr val="5B6B7C"/>
                </a:solidFill>
                <a:latin typeface="Calibri" pitchFamily="34" charset="0"/>
                <a:ea typeface="Calibri" pitchFamily="34" charset="-122"/>
                <a:cs typeface="Calibri" pitchFamily="34" charset="-120"/>
              </a:rPr>
              <a:t>Each hurdle as the problem statement words it, what KADI does about it, and the evidence</a:t>
            </a:r>
            <a:endParaRPr lang="en-US" sz="1050" dirty="0"/>
          </a:p>
        </p:txBody>
      </p:sp>
      <p:sp>
        <p:nvSpPr>
          <p:cNvPr id="5" name="Shape 2"/>
          <p:cNvSpPr/>
          <p:nvPr/>
        </p:nvSpPr>
        <p:spPr>
          <a:xfrm>
            <a:off x="384048" y="1225296"/>
            <a:ext cx="4078224" cy="1371600"/>
          </a:xfrm>
          <a:prstGeom prst="roundRect">
            <a:avLst>
              <a:gd name="adj" fmla="val 4000"/>
            </a:avLst>
          </a:prstGeom>
          <a:solidFill>
            <a:srgbClr val="FFFFFF"/>
          </a:solidFill>
          <a:ln w="9525">
            <a:solidFill>
              <a:srgbClr val="DCE3EC"/>
            </a:solidFill>
            <a:prstDash val="solid"/>
          </a:ln>
        </p:spPr>
        <p:txBody>
          <a:bodyPr/>
          <a:lstStyle/>
          <a:p>
            <a:endParaRPr lang="en-US"/>
          </a:p>
        </p:txBody>
      </p:sp>
      <p:sp>
        <p:nvSpPr>
          <p:cNvPr id="6" name="Shape 3"/>
          <p:cNvSpPr/>
          <p:nvPr/>
        </p:nvSpPr>
        <p:spPr>
          <a:xfrm>
            <a:off x="512064" y="1335024"/>
            <a:ext cx="237744" cy="237744"/>
          </a:xfrm>
          <a:prstGeom prst="ellipse">
            <a:avLst/>
          </a:prstGeom>
          <a:solidFill>
            <a:srgbClr val="E8871E"/>
          </a:solidFill>
          <a:ln w="12700">
            <a:solidFill>
              <a:srgbClr val="E8871E"/>
            </a:solidFill>
            <a:prstDash val="solid"/>
          </a:ln>
        </p:spPr>
        <p:txBody>
          <a:bodyPr/>
          <a:lstStyle/>
          <a:p>
            <a:endParaRPr lang="en-US"/>
          </a:p>
        </p:txBody>
      </p:sp>
      <p:sp>
        <p:nvSpPr>
          <p:cNvPr id="7" name="Text 4"/>
          <p:cNvSpPr txBox="1"/>
          <p:nvPr/>
        </p:nvSpPr>
        <p:spPr>
          <a:xfrm>
            <a:off x="512064" y="1335024"/>
            <a:ext cx="237744"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1</a:t>
            </a:r>
            <a:endParaRPr lang="en-US" sz="950" dirty="0"/>
          </a:p>
        </p:txBody>
      </p:sp>
      <p:sp>
        <p:nvSpPr>
          <p:cNvPr id="8" name="Text 5"/>
          <p:cNvSpPr txBox="1"/>
          <p:nvPr/>
        </p:nvSpPr>
        <p:spPr>
          <a:xfrm>
            <a:off x="841248" y="1335024"/>
            <a:ext cx="3511296" cy="237744"/>
          </a:xfrm>
          <a:prstGeom prst="rect">
            <a:avLst/>
          </a:prstGeom>
          <a:noFill/>
          <a:ln/>
        </p:spPr>
        <p:txBody>
          <a:bodyPr wrap="square" lIns="0" tIns="0" rIns="0" bIns="0" rtlCol="0" anchor="ctr"/>
          <a:lstStyle/>
          <a:p>
            <a:pPr marL="0" indent="0">
              <a:buNone/>
            </a:pPr>
            <a:r>
              <a:rPr lang="en-US" sz="980" b="1" dirty="0">
                <a:solidFill>
                  <a:srgbClr val="0F2F44"/>
                </a:solidFill>
                <a:latin typeface="Calibri" pitchFamily="34" charset="0"/>
                <a:ea typeface="Calibri" pitchFamily="34" charset="-122"/>
                <a:cs typeface="Calibri" pitchFamily="34" charset="-120"/>
              </a:rPr>
              <a:t>Data silos &amp; manual processes</a:t>
            </a:r>
            <a:endParaRPr lang="en-US" sz="980" dirty="0"/>
          </a:p>
        </p:txBody>
      </p:sp>
      <p:sp>
        <p:nvSpPr>
          <p:cNvPr id="9" name="Text 6"/>
          <p:cNvSpPr txBox="1"/>
          <p:nvPr/>
        </p:nvSpPr>
        <p:spPr>
          <a:xfrm>
            <a:off x="512064" y="1609344"/>
            <a:ext cx="3822192" cy="274320"/>
          </a:xfrm>
          <a:prstGeom prst="rect">
            <a:avLst/>
          </a:prstGeom>
          <a:noFill/>
          <a:ln/>
        </p:spPr>
        <p:txBody>
          <a:bodyPr wrap="square" lIns="0" tIns="0" rIns="0" bIns="0" rtlCol="0" anchor="t"/>
          <a:lstStyle/>
          <a:p>
            <a:pPr marL="0" indent="0">
              <a:lnSpc>
                <a:spcPct val="98000"/>
              </a:lnSpc>
              <a:buNone/>
            </a:pPr>
            <a:r>
              <a:rPr lang="en-US" sz="690" i="1" dirty="0">
                <a:solidFill>
                  <a:srgbClr val="8A98A8"/>
                </a:solidFill>
                <a:latin typeface="Calibri" pitchFamily="34" charset="0"/>
                <a:ea typeface="Calibri" pitchFamily="34" charset="-122"/>
                <a:cs typeface="Calibri" pitchFamily="34" charset="-120"/>
              </a:rPr>
              <a:t>“Records managed in independent silos, heavily reliant on Excel-based reporting rather than integrated, automated systems.”</a:t>
            </a:r>
            <a:endParaRPr lang="en-US" sz="690" dirty="0"/>
          </a:p>
        </p:txBody>
      </p:sp>
      <p:sp>
        <p:nvSpPr>
          <p:cNvPr id="10" name="Text 7"/>
          <p:cNvSpPr txBox="1"/>
          <p:nvPr/>
        </p:nvSpPr>
        <p:spPr>
          <a:xfrm>
            <a:off x="512064" y="1901952"/>
            <a:ext cx="3822192" cy="402336"/>
          </a:xfrm>
          <a:prstGeom prst="rect">
            <a:avLst/>
          </a:prstGeom>
          <a:noFill/>
          <a:ln/>
        </p:spPr>
        <p:txBody>
          <a:bodyPr wrap="square" lIns="0" tIns="0" rIns="0" bIns="0" rtlCol="0" anchor="t"/>
          <a:lstStyle/>
          <a:p>
            <a:pPr marL="0" indent="0">
              <a:lnSpc>
                <a:spcPct val="100000"/>
              </a:lnSpc>
              <a:buNone/>
            </a:pPr>
            <a:r>
              <a:rPr lang="en-US" sz="770" dirty="0">
                <a:solidFill>
                  <a:srgbClr val="5B6B7C"/>
                </a:solidFill>
                <a:latin typeface="Calibri" pitchFamily="34" charset="0"/>
                <a:ea typeface="Calibri" pitchFamily="34" charset="-122"/>
                <a:cs typeface="Calibri" pitchFamily="34" charset="-120"/>
              </a:rPr>
              <a:t>One graph over 19 relational Data Store tables, rebuilt nightly. 85,429 typed links join FIRs that no single station could ever see together, and every link names the attribute it matched on. Nothing is exported to a spreadsheet to be analysed.</a:t>
            </a:r>
            <a:endParaRPr lang="en-US" sz="770" dirty="0"/>
          </a:p>
        </p:txBody>
      </p:sp>
      <p:sp>
        <p:nvSpPr>
          <p:cNvPr id="11" name="Text 8"/>
          <p:cNvSpPr txBox="1"/>
          <p:nvPr/>
        </p:nvSpPr>
        <p:spPr>
          <a:xfrm>
            <a:off x="512064" y="2322576"/>
            <a:ext cx="1243584" cy="201168"/>
          </a:xfrm>
          <a:prstGeom prst="rect">
            <a:avLst/>
          </a:prstGeom>
          <a:noFill/>
          <a:ln/>
        </p:spPr>
        <p:txBody>
          <a:bodyPr wrap="square" lIns="0" tIns="0" rIns="0" bIns="0" rtlCol="0" anchor="ctr"/>
          <a:lstStyle/>
          <a:p>
            <a:pPr marL="0" indent="0">
              <a:buNone/>
            </a:pPr>
            <a:r>
              <a:rPr lang="en-US" sz="900" b="1" dirty="0">
                <a:solidFill>
                  <a:srgbClr val="E8871E"/>
                </a:solidFill>
                <a:latin typeface="Calibri" pitchFamily="34" charset="0"/>
                <a:ea typeface="Calibri" pitchFamily="34" charset="-122"/>
                <a:cs typeface="Calibri" pitchFamily="34" charset="-120"/>
              </a:rPr>
              <a:t>85,429</a:t>
            </a:r>
            <a:r>
              <a:rPr lang="en-US" sz="690" dirty="0">
                <a:solidFill>
                  <a:srgbClr val="5B6B7C"/>
                </a:solidFill>
                <a:latin typeface="Calibri" pitchFamily="34" charset="0"/>
                <a:ea typeface="Calibri" pitchFamily="34" charset="-122"/>
                <a:cs typeface="Calibri" pitchFamily="34" charset="-120"/>
              </a:rPr>
              <a:t>  typed links</a:t>
            </a:r>
            <a:endParaRPr lang="en-US" sz="900" dirty="0"/>
          </a:p>
        </p:txBody>
      </p:sp>
      <p:sp>
        <p:nvSpPr>
          <p:cNvPr id="12" name="Text 9"/>
          <p:cNvSpPr txBox="1"/>
          <p:nvPr/>
        </p:nvSpPr>
        <p:spPr>
          <a:xfrm>
            <a:off x="1792224" y="2322576"/>
            <a:ext cx="1243584" cy="201168"/>
          </a:xfrm>
          <a:prstGeom prst="rect">
            <a:avLst/>
          </a:prstGeom>
          <a:noFill/>
          <a:ln/>
        </p:spPr>
        <p:txBody>
          <a:bodyPr wrap="square" lIns="0" tIns="0" rIns="0" bIns="0" rtlCol="0" anchor="ctr"/>
          <a:lstStyle/>
          <a:p>
            <a:pPr marL="0" indent="0">
              <a:buNone/>
            </a:pPr>
            <a:r>
              <a:rPr lang="en-US" sz="900" b="1" dirty="0">
                <a:solidFill>
                  <a:srgbClr val="E8871E"/>
                </a:solidFill>
                <a:latin typeface="Calibri" pitchFamily="34" charset="0"/>
                <a:ea typeface="Calibri" pitchFamily="34" charset="-122"/>
                <a:cs typeface="Calibri" pitchFamily="34" charset="-120"/>
              </a:rPr>
              <a:t>6</a:t>
            </a:r>
            <a:r>
              <a:rPr lang="en-US" sz="690" dirty="0">
                <a:solidFill>
                  <a:srgbClr val="5B6B7C"/>
                </a:solidFill>
                <a:latin typeface="Calibri" pitchFamily="34" charset="0"/>
                <a:ea typeface="Calibri" pitchFamily="34" charset="-122"/>
                <a:cs typeface="Calibri" pitchFamily="34" charset="-120"/>
              </a:rPr>
              <a:t>  edge kinds</a:t>
            </a:r>
            <a:endParaRPr lang="en-US" sz="900" dirty="0"/>
          </a:p>
        </p:txBody>
      </p:sp>
      <p:sp>
        <p:nvSpPr>
          <p:cNvPr id="13" name="Text 10"/>
          <p:cNvSpPr txBox="1"/>
          <p:nvPr/>
        </p:nvSpPr>
        <p:spPr>
          <a:xfrm>
            <a:off x="3072384" y="2322576"/>
            <a:ext cx="1243584" cy="201168"/>
          </a:xfrm>
          <a:prstGeom prst="rect">
            <a:avLst/>
          </a:prstGeom>
          <a:noFill/>
          <a:ln/>
        </p:spPr>
        <p:txBody>
          <a:bodyPr wrap="square" lIns="0" tIns="0" rIns="0" bIns="0" rtlCol="0" anchor="ctr"/>
          <a:lstStyle/>
          <a:p>
            <a:pPr marL="0" indent="0">
              <a:buNone/>
            </a:pPr>
            <a:r>
              <a:rPr lang="en-US" sz="900" b="1" dirty="0">
                <a:solidFill>
                  <a:srgbClr val="E8871E"/>
                </a:solidFill>
                <a:latin typeface="Calibri" pitchFamily="34" charset="0"/>
                <a:ea typeface="Calibri" pitchFamily="34" charset="-122"/>
                <a:cs typeface="Calibri" pitchFamily="34" charset="-120"/>
              </a:rPr>
              <a:t>0</a:t>
            </a:r>
            <a:r>
              <a:rPr lang="en-US" sz="690" dirty="0">
                <a:solidFill>
                  <a:srgbClr val="5B6B7C"/>
                </a:solidFill>
                <a:latin typeface="Calibri" pitchFamily="34" charset="0"/>
                <a:ea typeface="Calibri" pitchFamily="34" charset="-122"/>
                <a:cs typeface="Calibri" pitchFamily="34" charset="-120"/>
              </a:rPr>
              <a:t>  spreadsheets</a:t>
            </a:r>
            <a:endParaRPr lang="en-US" sz="900" dirty="0"/>
          </a:p>
        </p:txBody>
      </p:sp>
      <p:sp>
        <p:nvSpPr>
          <p:cNvPr id="14" name="Shape 11"/>
          <p:cNvSpPr/>
          <p:nvPr/>
        </p:nvSpPr>
        <p:spPr>
          <a:xfrm>
            <a:off x="4681728" y="1225296"/>
            <a:ext cx="4078224" cy="1371600"/>
          </a:xfrm>
          <a:prstGeom prst="roundRect">
            <a:avLst>
              <a:gd name="adj" fmla="val 4000"/>
            </a:avLst>
          </a:prstGeom>
          <a:solidFill>
            <a:srgbClr val="FFFFFF"/>
          </a:solidFill>
          <a:ln w="9525">
            <a:solidFill>
              <a:srgbClr val="DCE3EC"/>
            </a:solidFill>
            <a:prstDash val="solid"/>
          </a:ln>
        </p:spPr>
        <p:txBody>
          <a:bodyPr/>
          <a:lstStyle/>
          <a:p>
            <a:endParaRPr lang="en-US"/>
          </a:p>
        </p:txBody>
      </p:sp>
      <p:sp>
        <p:nvSpPr>
          <p:cNvPr id="15" name="Shape 12"/>
          <p:cNvSpPr/>
          <p:nvPr/>
        </p:nvSpPr>
        <p:spPr>
          <a:xfrm>
            <a:off x="4809744" y="1335024"/>
            <a:ext cx="237744" cy="237744"/>
          </a:xfrm>
          <a:prstGeom prst="ellipse">
            <a:avLst/>
          </a:prstGeom>
          <a:solidFill>
            <a:srgbClr val="6D4C9F"/>
          </a:solidFill>
          <a:ln w="12700">
            <a:solidFill>
              <a:srgbClr val="6D4C9F"/>
            </a:solidFill>
            <a:prstDash val="solid"/>
          </a:ln>
        </p:spPr>
        <p:txBody>
          <a:bodyPr/>
          <a:lstStyle/>
          <a:p>
            <a:endParaRPr lang="en-US"/>
          </a:p>
        </p:txBody>
      </p:sp>
      <p:sp>
        <p:nvSpPr>
          <p:cNvPr id="16" name="Text 13"/>
          <p:cNvSpPr txBox="1"/>
          <p:nvPr/>
        </p:nvSpPr>
        <p:spPr>
          <a:xfrm>
            <a:off x="4809744" y="1335024"/>
            <a:ext cx="237744"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2</a:t>
            </a:r>
            <a:endParaRPr lang="en-US" sz="950" dirty="0"/>
          </a:p>
        </p:txBody>
      </p:sp>
      <p:sp>
        <p:nvSpPr>
          <p:cNvPr id="17" name="Text 14"/>
          <p:cNvSpPr txBox="1"/>
          <p:nvPr/>
        </p:nvSpPr>
        <p:spPr>
          <a:xfrm>
            <a:off x="5138928" y="1335024"/>
            <a:ext cx="3511296" cy="237744"/>
          </a:xfrm>
          <a:prstGeom prst="rect">
            <a:avLst/>
          </a:prstGeom>
          <a:noFill/>
          <a:ln/>
        </p:spPr>
        <p:txBody>
          <a:bodyPr wrap="square" lIns="0" tIns="0" rIns="0" bIns="0" rtlCol="0" anchor="ctr"/>
          <a:lstStyle/>
          <a:p>
            <a:pPr marL="0" indent="0">
              <a:buNone/>
            </a:pPr>
            <a:r>
              <a:rPr lang="en-US" sz="980" b="1" dirty="0">
                <a:solidFill>
                  <a:srgbClr val="0F2F44"/>
                </a:solidFill>
                <a:latin typeface="Calibri" pitchFamily="34" charset="0"/>
                <a:ea typeface="Calibri" pitchFamily="34" charset="-122"/>
                <a:cs typeface="Calibri" pitchFamily="34" charset="-120"/>
              </a:rPr>
              <a:t>Lack of advanced analytics</a:t>
            </a:r>
            <a:endParaRPr lang="en-US" sz="980" dirty="0"/>
          </a:p>
        </p:txBody>
      </p:sp>
      <p:sp>
        <p:nvSpPr>
          <p:cNvPr id="18" name="Text 15"/>
          <p:cNvSpPr txBox="1"/>
          <p:nvPr/>
        </p:nvSpPr>
        <p:spPr>
          <a:xfrm>
            <a:off x="4809744" y="1609344"/>
            <a:ext cx="3822192" cy="274320"/>
          </a:xfrm>
          <a:prstGeom prst="rect">
            <a:avLst/>
          </a:prstGeom>
          <a:noFill/>
          <a:ln/>
        </p:spPr>
        <p:txBody>
          <a:bodyPr wrap="square" lIns="0" tIns="0" rIns="0" bIns="0" rtlCol="0" anchor="t"/>
          <a:lstStyle/>
          <a:p>
            <a:pPr marL="0" indent="0">
              <a:lnSpc>
                <a:spcPct val="98000"/>
              </a:lnSpc>
              <a:buNone/>
            </a:pPr>
            <a:r>
              <a:rPr lang="en-US" sz="690" i="1" dirty="0">
                <a:solidFill>
                  <a:srgbClr val="8A98A8"/>
                </a:solidFill>
                <a:latin typeface="Calibri" pitchFamily="34" charset="0"/>
                <a:ea typeface="Calibri" pitchFamily="34" charset="-122"/>
                <a:cs typeface="Calibri" pitchFamily="34" charset="-120"/>
              </a:rPr>
              <a:t>“Absence of AI-driven approaches, leaving deeper behavioral patterns, social interactions and interconnected criminal networks undiscovered.”</a:t>
            </a:r>
            <a:endParaRPr lang="en-US" sz="690" dirty="0"/>
          </a:p>
        </p:txBody>
      </p:sp>
      <p:sp>
        <p:nvSpPr>
          <p:cNvPr id="19" name="Text 16"/>
          <p:cNvSpPr txBox="1"/>
          <p:nvPr/>
        </p:nvSpPr>
        <p:spPr>
          <a:xfrm>
            <a:off x="4809744" y="1901952"/>
            <a:ext cx="3822192" cy="402336"/>
          </a:xfrm>
          <a:prstGeom prst="rect">
            <a:avLst/>
          </a:prstGeom>
          <a:noFill/>
          <a:ln/>
        </p:spPr>
        <p:txBody>
          <a:bodyPr wrap="square" lIns="0" tIns="0" rIns="0" bIns="0" rtlCol="0" anchor="t"/>
          <a:lstStyle/>
          <a:p>
            <a:pPr marL="0" indent="0">
              <a:lnSpc>
                <a:spcPct val="100000"/>
              </a:lnSpc>
              <a:buNone/>
            </a:pPr>
            <a:r>
              <a:rPr lang="en-US" sz="770" dirty="0">
                <a:solidFill>
                  <a:srgbClr val="5B6B7C"/>
                </a:solidFill>
                <a:latin typeface="Calibri" pitchFamily="34" charset="0"/>
                <a:ea typeface="Calibri" pitchFamily="34" charset="-122"/>
                <a:cs typeface="Calibri" pitchFamily="34" charset="-120"/>
              </a:rPr>
              <a:t>Eight ML models ship, and each had to beat the rule a supervisor would already use — twelve candidates did not and were cut. Behaviour, modus operandi and association are modelled and scored, not merely counted.</a:t>
            </a:r>
            <a:endParaRPr lang="en-US" sz="770" dirty="0"/>
          </a:p>
        </p:txBody>
      </p:sp>
      <p:sp>
        <p:nvSpPr>
          <p:cNvPr id="20" name="Text 17"/>
          <p:cNvSpPr txBox="1"/>
          <p:nvPr/>
        </p:nvSpPr>
        <p:spPr>
          <a:xfrm>
            <a:off x="4809744" y="2322576"/>
            <a:ext cx="1243584" cy="201168"/>
          </a:xfrm>
          <a:prstGeom prst="rect">
            <a:avLst/>
          </a:prstGeom>
          <a:noFill/>
          <a:ln/>
        </p:spPr>
        <p:txBody>
          <a:bodyPr wrap="square" lIns="0" tIns="0" rIns="0" bIns="0" rtlCol="0" anchor="ctr"/>
          <a:lstStyle/>
          <a:p>
            <a:pPr marL="0" indent="0">
              <a:buNone/>
            </a:pPr>
            <a:r>
              <a:rPr lang="en-US" sz="900" b="1" dirty="0">
                <a:solidFill>
                  <a:srgbClr val="6D4C9F"/>
                </a:solidFill>
                <a:latin typeface="Calibri" pitchFamily="34" charset="0"/>
                <a:ea typeface="Calibri" pitchFamily="34" charset="-122"/>
                <a:cs typeface="Calibri" pitchFamily="34" charset="-120"/>
              </a:rPr>
              <a:t>8</a:t>
            </a:r>
            <a:r>
              <a:rPr lang="en-US" sz="690" dirty="0">
                <a:solidFill>
                  <a:srgbClr val="5B6B7C"/>
                </a:solidFill>
                <a:latin typeface="Calibri" pitchFamily="34" charset="0"/>
                <a:ea typeface="Calibri" pitchFamily="34" charset="-122"/>
                <a:cs typeface="Calibri" pitchFamily="34" charset="-120"/>
              </a:rPr>
              <a:t>  models shipped</a:t>
            </a:r>
            <a:endParaRPr lang="en-US" sz="900" dirty="0"/>
          </a:p>
        </p:txBody>
      </p:sp>
      <p:sp>
        <p:nvSpPr>
          <p:cNvPr id="21" name="Text 18"/>
          <p:cNvSpPr txBox="1"/>
          <p:nvPr/>
        </p:nvSpPr>
        <p:spPr>
          <a:xfrm>
            <a:off x="6089904" y="2322576"/>
            <a:ext cx="1243584" cy="201168"/>
          </a:xfrm>
          <a:prstGeom prst="rect">
            <a:avLst/>
          </a:prstGeom>
          <a:noFill/>
          <a:ln/>
        </p:spPr>
        <p:txBody>
          <a:bodyPr wrap="square" lIns="0" tIns="0" rIns="0" bIns="0" rtlCol="0" anchor="ctr"/>
          <a:lstStyle/>
          <a:p>
            <a:pPr marL="0" indent="0">
              <a:buNone/>
            </a:pPr>
            <a:r>
              <a:rPr lang="en-US" sz="900" b="1" dirty="0">
                <a:solidFill>
                  <a:srgbClr val="6D4C9F"/>
                </a:solidFill>
                <a:latin typeface="Calibri" pitchFamily="34" charset="0"/>
                <a:ea typeface="Calibri" pitchFamily="34" charset="-122"/>
                <a:cs typeface="Calibri" pitchFamily="34" charset="-120"/>
              </a:rPr>
              <a:t>0.870</a:t>
            </a:r>
            <a:r>
              <a:rPr lang="en-US" sz="690" dirty="0">
                <a:solidFill>
                  <a:srgbClr val="5B6B7C"/>
                </a:solidFill>
                <a:latin typeface="Calibri" pitchFamily="34" charset="0"/>
                <a:ea typeface="Calibri" pitchFamily="34" charset="-122"/>
                <a:cs typeface="Calibri" pitchFamily="34" charset="-120"/>
              </a:rPr>
              <a:t>  best AUC</a:t>
            </a:r>
            <a:endParaRPr lang="en-US" sz="900" dirty="0"/>
          </a:p>
        </p:txBody>
      </p:sp>
      <p:sp>
        <p:nvSpPr>
          <p:cNvPr id="22" name="Text 19"/>
          <p:cNvSpPr txBox="1"/>
          <p:nvPr/>
        </p:nvSpPr>
        <p:spPr>
          <a:xfrm>
            <a:off x="7370064" y="2322576"/>
            <a:ext cx="1243584" cy="201168"/>
          </a:xfrm>
          <a:prstGeom prst="rect">
            <a:avLst/>
          </a:prstGeom>
          <a:noFill/>
          <a:ln/>
        </p:spPr>
        <p:txBody>
          <a:bodyPr wrap="square" lIns="0" tIns="0" rIns="0" bIns="0" rtlCol="0" anchor="ctr"/>
          <a:lstStyle/>
          <a:p>
            <a:pPr marL="0" indent="0">
              <a:buNone/>
            </a:pPr>
            <a:r>
              <a:rPr lang="en-US" sz="900" b="1" dirty="0">
                <a:solidFill>
                  <a:srgbClr val="6D4C9F"/>
                </a:solidFill>
                <a:latin typeface="Calibri" pitchFamily="34" charset="0"/>
                <a:ea typeface="Calibri" pitchFamily="34" charset="-122"/>
                <a:cs typeface="Calibri" pitchFamily="34" charset="-120"/>
              </a:rPr>
              <a:t>12</a:t>
            </a:r>
            <a:r>
              <a:rPr lang="en-US" sz="690" dirty="0">
                <a:solidFill>
                  <a:srgbClr val="5B6B7C"/>
                </a:solidFill>
                <a:latin typeface="Calibri" pitchFamily="34" charset="0"/>
                <a:ea typeface="Calibri" pitchFamily="34" charset="-122"/>
                <a:cs typeface="Calibri" pitchFamily="34" charset="-120"/>
              </a:rPr>
              <a:t>  candidates cut</a:t>
            </a:r>
            <a:endParaRPr lang="en-US" sz="900" dirty="0"/>
          </a:p>
        </p:txBody>
      </p:sp>
      <p:sp>
        <p:nvSpPr>
          <p:cNvPr id="23" name="Shape 20"/>
          <p:cNvSpPr/>
          <p:nvPr/>
        </p:nvSpPr>
        <p:spPr>
          <a:xfrm>
            <a:off x="384048" y="2724912"/>
            <a:ext cx="4078224" cy="1371600"/>
          </a:xfrm>
          <a:prstGeom prst="roundRect">
            <a:avLst>
              <a:gd name="adj" fmla="val 4000"/>
            </a:avLst>
          </a:prstGeom>
          <a:solidFill>
            <a:srgbClr val="FFFFFF"/>
          </a:solidFill>
          <a:ln w="9525">
            <a:solidFill>
              <a:srgbClr val="DCE3EC"/>
            </a:solidFill>
            <a:prstDash val="solid"/>
          </a:ln>
        </p:spPr>
        <p:txBody>
          <a:bodyPr/>
          <a:lstStyle/>
          <a:p>
            <a:endParaRPr lang="en-US"/>
          </a:p>
        </p:txBody>
      </p:sp>
      <p:sp>
        <p:nvSpPr>
          <p:cNvPr id="24" name="Shape 21"/>
          <p:cNvSpPr/>
          <p:nvPr/>
        </p:nvSpPr>
        <p:spPr>
          <a:xfrm>
            <a:off x="512064" y="2834640"/>
            <a:ext cx="237744" cy="237744"/>
          </a:xfrm>
          <a:prstGeom prst="ellipse">
            <a:avLst/>
          </a:prstGeom>
          <a:solidFill>
            <a:srgbClr val="1A6FC4"/>
          </a:solidFill>
          <a:ln w="12700">
            <a:solidFill>
              <a:srgbClr val="1A6FC4"/>
            </a:solidFill>
            <a:prstDash val="solid"/>
          </a:ln>
        </p:spPr>
        <p:txBody>
          <a:bodyPr/>
          <a:lstStyle/>
          <a:p>
            <a:endParaRPr lang="en-US"/>
          </a:p>
        </p:txBody>
      </p:sp>
      <p:sp>
        <p:nvSpPr>
          <p:cNvPr id="25" name="Text 22"/>
          <p:cNvSpPr txBox="1"/>
          <p:nvPr/>
        </p:nvSpPr>
        <p:spPr>
          <a:xfrm>
            <a:off x="512064" y="2834640"/>
            <a:ext cx="237744"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3</a:t>
            </a:r>
            <a:endParaRPr lang="en-US" sz="950" dirty="0"/>
          </a:p>
        </p:txBody>
      </p:sp>
      <p:sp>
        <p:nvSpPr>
          <p:cNvPr id="26" name="Text 23"/>
          <p:cNvSpPr txBox="1"/>
          <p:nvPr/>
        </p:nvSpPr>
        <p:spPr>
          <a:xfrm>
            <a:off x="841248" y="2834640"/>
            <a:ext cx="3511296" cy="237744"/>
          </a:xfrm>
          <a:prstGeom prst="rect">
            <a:avLst/>
          </a:prstGeom>
          <a:noFill/>
          <a:ln/>
        </p:spPr>
        <p:txBody>
          <a:bodyPr wrap="square" lIns="0" tIns="0" rIns="0" bIns="0" rtlCol="0" anchor="ctr"/>
          <a:lstStyle/>
          <a:p>
            <a:pPr marL="0" indent="0">
              <a:buNone/>
            </a:pPr>
            <a:r>
              <a:rPr lang="en-US" sz="980" b="1" dirty="0">
                <a:solidFill>
                  <a:srgbClr val="0F2F44"/>
                </a:solidFill>
                <a:latin typeface="Calibri" pitchFamily="34" charset="0"/>
                <a:ea typeface="Calibri" pitchFamily="34" charset="-122"/>
                <a:cs typeface="Calibri" pitchFamily="34" charset="-120"/>
              </a:rPr>
              <a:t>Information gaps at SCRB</a:t>
            </a:r>
            <a:endParaRPr lang="en-US" sz="980" dirty="0"/>
          </a:p>
        </p:txBody>
      </p:sp>
      <p:sp>
        <p:nvSpPr>
          <p:cNvPr id="27" name="Text 24"/>
          <p:cNvSpPr txBox="1"/>
          <p:nvPr/>
        </p:nvSpPr>
        <p:spPr>
          <a:xfrm>
            <a:off x="512064" y="3108960"/>
            <a:ext cx="3822192" cy="274320"/>
          </a:xfrm>
          <a:prstGeom prst="rect">
            <a:avLst/>
          </a:prstGeom>
          <a:noFill/>
          <a:ln/>
        </p:spPr>
        <p:txBody>
          <a:bodyPr wrap="square" lIns="0" tIns="0" rIns="0" bIns="0" rtlCol="0" anchor="t"/>
          <a:lstStyle/>
          <a:p>
            <a:pPr marL="0" indent="0">
              <a:lnSpc>
                <a:spcPct val="98000"/>
              </a:lnSpc>
              <a:buNone/>
            </a:pPr>
            <a:r>
              <a:rPr lang="en-US" sz="690" i="1" dirty="0">
                <a:solidFill>
                  <a:srgbClr val="8A98A8"/>
                </a:solidFill>
                <a:latin typeface="Calibri" pitchFamily="34" charset="0"/>
                <a:ea typeface="Calibri" pitchFamily="34" charset="-122"/>
                <a:cs typeface="Calibri" pitchFamily="34" charset="-120"/>
              </a:rPr>
              <a:t>“SCRB currently receives limited, fragmented information, hindering comprehensive state-wide analysis.”</a:t>
            </a:r>
            <a:endParaRPr lang="en-US" sz="690" dirty="0"/>
          </a:p>
        </p:txBody>
      </p:sp>
      <p:sp>
        <p:nvSpPr>
          <p:cNvPr id="28" name="Text 25"/>
          <p:cNvSpPr txBox="1"/>
          <p:nvPr/>
        </p:nvSpPr>
        <p:spPr>
          <a:xfrm>
            <a:off x="512064" y="3401568"/>
            <a:ext cx="3822192" cy="402336"/>
          </a:xfrm>
          <a:prstGeom prst="rect">
            <a:avLst/>
          </a:prstGeom>
          <a:noFill/>
          <a:ln/>
        </p:spPr>
        <p:txBody>
          <a:bodyPr wrap="square" lIns="0" tIns="0" rIns="0" bIns="0" rtlCol="0" anchor="t"/>
          <a:lstStyle/>
          <a:p>
            <a:pPr marL="0" indent="0">
              <a:lnSpc>
                <a:spcPct val="100000"/>
              </a:lnSpc>
              <a:buNone/>
            </a:pPr>
            <a:r>
              <a:rPr lang="en-US" sz="770" dirty="0">
                <a:solidFill>
                  <a:srgbClr val="5B6B7C"/>
                </a:solidFill>
                <a:latin typeface="Calibri" pitchFamily="34" charset="0"/>
                <a:ea typeface="Calibri" pitchFamily="34" charset="-122"/>
                <a:cs typeface="Calibri" pitchFamily="34" charset="-120"/>
              </a:rPr>
              <a:t>SCRB reads state-wide across all 31 districts and 298 stations — the same graph a station sees its own slice of, not a separate extract. Scope is enforced on every read, so one register serves every rank without a second pipeline.</a:t>
            </a:r>
            <a:endParaRPr lang="en-US" sz="770" dirty="0"/>
          </a:p>
        </p:txBody>
      </p:sp>
      <p:sp>
        <p:nvSpPr>
          <p:cNvPr id="29" name="Text 26"/>
          <p:cNvSpPr txBox="1"/>
          <p:nvPr/>
        </p:nvSpPr>
        <p:spPr>
          <a:xfrm>
            <a:off x="512064" y="3822192"/>
            <a:ext cx="1243584" cy="201168"/>
          </a:xfrm>
          <a:prstGeom prst="rect">
            <a:avLst/>
          </a:prstGeom>
          <a:noFill/>
          <a:ln/>
        </p:spPr>
        <p:txBody>
          <a:bodyPr wrap="square" lIns="0" tIns="0" rIns="0" bIns="0" rtlCol="0" anchor="ctr"/>
          <a:lstStyle/>
          <a:p>
            <a:pPr marL="0" indent="0">
              <a:buNone/>
            </a:pPr>
            <a:r>
              <a:rPr lang="en-US" sz="900" b="1" dirty="0">
                <a:solidFill>
                  <a:srgbClr val="1A6FC4"/>
                </a:solidFill>
                <a:latin typeface="Calibri" pitchFamily="34" charset="0"/>
                <a:ea typeface="Calibri" pitchFamily="34" charset="-122"/>
                <a:cs typeface="Calibri" pitchFamily="34" charset="-120"/>
              </a:rPr>
              <a:t>31</a:t>
            </a:r>
            <a:r>
              <a:rPr lang="en-US" sz="690" dirty="0">
                <a:solidFill>
                  <a:srgbClr val="5B6B7C"/>
                </a:solidFill>
                <a:latin typeface="Calibri" pitchFamily="34" charset="0"/>
                <a:ea typeface="Calibri" pitchFamily="34" charset="-122"/>
                <a:cs typeface="Calibri" pitchFamily="34" charset="-120"/>
              </a:rPr>
              <a:t>  districts</a:t>
            </a:r>
            <a:endParaRPr lang="en-US" sz="900" dirty="0"/>
          </a:p>
        </p:txBody>
      </p:sp>
      <p:sp>
        <p:nvSpPr>
          <p:cNvPr id="30" name="Text 27"/>
          <p:cNvSpPr txBox="1"/>
          <p:nvPr/>
        </p:nvSpPr>
        <p:spPr>
          <a:xfrm>
            <a:off x="1792224" y="3822192"/>
            <a:ext cx="1243584" cy="201168"/>
          </a:xfrm>
          <a:prstGeom prst="rect">
            <a:avLst/>
          </a:prstGeom>
          <a:noFill/>
          <a:ln/>
        </p:spPr>
        <p:txBody>
          <a:bodyPr wrap="square" lIns="0" tIns="0" rIns="0" bIns="0" rtlCol="0" anchor="ctr"/>
          <a:lstStyle/>
          <a:p>
            <a:pPr marL="0" indent="0">
              <a:buNone/>
            </a:pPr>
            <a:r>
              <a:rPr lang="en-US" sz="900" b="1" dirty="0">
                <a:solidFill>
                  <a:srgbClr val="1A6FC4"/>
                </a:solidFill>
                <a:latin typeface="Calibri" pitchFamily="34" charset="0"/>
                <a:ea typeface="Calibri" pitchFamily="34" charset="-122"/>
                <a:cs typeface="Calibri" pitchFamily="34" charset="-120"/>
              </a:rPr>
              <a:t>298</a:t>
            </a:r>
            <a:r>
              <a:rPr lang="en-US" sz="690" dirty="0">
                <a:solidFill>
                  <a:srgbClr val="5B6B7C"/>
                </a:solidFill>
                <a:latin typeface="Calibri" pitchFamily="34" charset="0"/>
                <a:ea typeface="Calibri" pitchFamily="34" charset="-122"/>
                <a:cs typeface="Calibri" pitchFamily="34" charset="-120"/>
              </a:rPr>
              <a:t>  stations</a:t>
            </a:r>
            <a:endParaRPr lang="en-US" sz="900" dirty="0"/>
          </a:p>
        </p:txBody>
      </p:sp>
      <p:sp>
        <p:nvSpPr>
          <p:cNvPr id="31" name="Text 28"/>
          <p:cNvSpPr txBox="1"/>
          <p:nvPr/>
        </p:nvSpPr>
        <p:spPr>
          <a:xfrm>
            <a:off x="3072384" y="3822192"/>
            <a:ext cx="1243584" cy="201168"/>
          </a:xfrm>
          <a:prstGeom prst="rect">
            <a:avLst/>
          </a:prstGeom>
          <a:noFill/>
          <a:ln/>
        </p:spPr>
        <p:txBody>
          <a:bodyPr wrap="square" lIns="0" tIns="0" rIns="0" bIns="0" rtlCol="0" anchor="ctr"/>
          <a:lstStyle/>
          <a:p>
            <a:pPr marL="0" indent="0">
              <a:buNone/>
            </a:pPr>
            <a:r>
              <a:rPr lang="en-US" sz="900" b="1" dirty="0">
                <a:solidFill>
                  <a:srgbClr val="1A6FC4"/>
                </a:solidFill>
                <a:latin typeface="Calibri" pitchFamily="34" charset="0"/>
                <a:ea typeface="Calibri" pitchFamily="34" charset="-122"/>
                <a:cs typeface="Calibri" pitchFamily="34" charset="-120"/>
              </a:rPr>
              <a:t>1</a:t>
            </a:r>
            <a:r>
              <a:rPr lang="en-US" sz="690" dirty="0">
                <a:solidFill>
                  <a:srgbClr val="5B6B7C"/>
                </a:solidFill>
                <a:latin typeface="Calibri" pitchFamily="34" charset="0"/>
                <a:ea typeface="Calibri" pitchFamily="34" charset="-122"/>
                <a:cs typeface="Calibri" pitchFamily="34" charset="-120"/>
              </a:rPr>
              <a:t>  register, six ranks</a:t>
            </a:r>
            <a:endParaRPr lang="en-US" sz="900" dirty="0"/>
          </a:p>
        </p:txBody>
      </p:sp>
      <p:sp>
        <p:nvSpPr>
          <p:cNvPr id="32" name="Shape 29"/>
          <p:cNvSpPr/>
          <p:nvPr/>
        </p:nvSpPr>
        <p:spPr>
          <a:xfrm>
            <a:off x="4681728" y="2724912"/>
            <a:ext cx="4078224" cy="1371600"/>
          </a:xfrm>
          <a:prstGeom prst="roundRect">
            <a:avLst>
              <a:gd name="adj" fmla="val 4000"/>
            </a:avLst>
          </a:prstGeom>
          <a:solidFill>
            <a:srgbClr val="FFFFFF"/>
          </a:solidFill>
          <a:ln w="9525">
            <a:solidFill>
              <a:srgbClr val="DCE3EC"/>
            </a:solidFill>
            <a:prstDash val="solid"/>
          </a:ln>
        </p:spPr>
        <p:txBody>
          <a:bodyPr/>
          <a:lstStyle/>
          <a:p>
            <a:endParaRPr lang="en-US"/>
          </a:p>
        </p:txBody>
      </p:sp>
      <p:sp>
        <p:nvSpPr>
          <p:cNvPr id="33" name="Shape 30"/>
          <p:cNvSpPr/>
          <p:nvPr/>
        </p:nvSpPr>
        <p:spPr>
          <a:xfrm>
            <a:off x="4809744" y="2834640"/>
            <a:ext cx="237744" cy="237744"/>
          </a:xfrm>
          <a:prstGeom prst="ellipse">
            <a:avLst/>
          </a:prstGeom>
          <a:solidFill>
            <a:srgbClr val="2FA8A0"/>
          </a:solidFill>
          <a:ln w="12700">
            <a:solidFill>
              <a:srgbClr val="2FA8A0"/>
            </a:solidFill>
            <a:prstDash val="solid"/>
          </a:ln>
        </p:spPr>
        <p:txBody>
          <a:bodyPr/>
          <a:lstStyle/>
          <a:p>
            <a:endParaRPr lang="en-US"/>
          </a:p>
        </p:txBody>
      </p:sp>
      <p:sp>
        <p:nvSpPr>
          <p:cNvPr id="34" name="Text 31"/>
          <p:cNvSpPr txBox="1"/>
          <p:nvPr/>
        </p:nvSpPr>
        <p:spPr>
          <a:xfrm>
            <a:off x="4809744" y="2834640"/>
            <a:ext cx="237744"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4</a:t>
            </a:r>
            <a:endParaRPr lang="en-US" sz="950" dirty="0"/>
          </a:p>
        </p:txBody>
      </p:sp>
      <p:sp>
        <p:nvSpPr>
          <p:cNvPr id="35" name="Text 32"/>
          <p:cNvSpPr txBox="1"/>
          <p:nvPr/>
        </p:nvSpPr>
        <p:spPr>
          <a:xfrm>
            <a:off x="5138928" y="2834640"/>
            <a:ext cx="3511296" cy="237744"/>
          </a:xfrm>
          <a:prstGeom prst="rect">
            <a:avLst/>
          </a:prstGeom>
          <a:noFill/>
          <a:ln/>
        </p:spPr>
        <p:txBody>
          <a:bodyPr wrap="square" lIns="0" tIns="0" rIns="0" bIns="0" rtlCol="0" anchor="ctr"/>
          <a:lstStyle/>
          <a:p>
            <a:pPr marL="0" indent="0">
              <a:buNone/>
            </a:pPr>
            <a:r>
              <a:rPr lang="en-US" sz="980" b="1" dirty="0">
                <a:solidFill>
                  <a:srgbClr val="0F2F44"/>
                </a:solidFill>
                <a:latin typeface="Calibri" pitchFamily="34" charset="0"/>
                <a:ea typeface="Calibri" pitchFamily="34" charset="-122"/>
                <a:cs typeface="Calibri" pitchFamily="34" charset="-120"/>
              </a:rPr>
              <a:t>Reactive rather than proactive</a:t>
            </a:r>
            <a:endParaRPr lang="en-US" sz="980" dirty="0"/>
          </a:p>
        </p:txBody>
      </p:sp>
      <p:sp>
        <p:nvSpPr>
          <p:cNvPr id="36" name="Text 33"/>
          <p:cNvSpPr txBox="1"/>
          <p:nvPr/>
        </p:nvSpPr>
        <p:spPr>
          <a:xfrm>
            <a:off x="4809744" y="3108960"/>
            <a:ext cx="3822192" cy="274320"/>
          </a:xfrm>
          <a:prstGeom prst="rect">
            <a:avLst/>
          </a:prstGeom>
          <a:noFill/>
          <a:ln/>
        </p:spPr>
        <p:txBody>
          <a:bodyPr wrap="square" lIns="0" tIns="0" rIns="0" bIns="0" rtlCol="0" anchor="t"/>
          <a:lstStyle/>
          <a:p>
            <a:pPr marL="0" indent="0">
              <a:lnSpc>
                <a:spcPct val="98000"/>
              </a:lnSpc>
              <a:buNone/>
            </a:pPr>
            <a:r>
              <a:rPr lang="en-US" sz="690" i="1" dirty="0">
                <a:solidFill>
                  <a:srgbClr val="8A98A8"/>
                </a:solidFill>
                <a:latin typeface="Calibri" pitchFamily="34" charset="0"/>
                <a:ea typeface="Calibri" pitchFamily="34" charset="-122"/>
                <a:cs typeface="Calibri" pitchFamily="34" charset="-120"/>
              </a:rPr>
              <a:t>“Policing remains largely reactive; without systematic exploration of emerging trends, investigators lack tools for proactive strategies.”</a:t>
            </a:r>
            <a:endParaRPr lang="en-US" sz="690" dirty="0"/>
          </a:p>
        </p:txBody>
      </p:sp>
      <p:sp>
        <p:nvSpPr>
          <p:cNvPr id="37" name="Text 34"/>
          <p:cNvSpPr txBox="1"/>
          <p:nvPr/>
        </p:nvSpPr>
        <p:spPr>
          <a:xfrm>
            <a:off x="4809744" y="3401568"/>
            <a:ext cx="3822192" cy="402336"/>
          </a:xfrm>
          <a:prstGeom prst="rect">
            <a:avLst/>
          </a:prstGeom>
          <a:noFill/>
          <a:ln/>
        </p:spPr>
        <p:txBody>
          <a:bodyPr wrap="square" lIns="0" tIns="0" rIns="0" bIns="0" rtlCol="0" anchor="t"/>
          <a:lstStyle/>
          <a:p>
            <a:pPr marL="0" indent="0">
              <a:lnSpc>
                <a:spcPct val="100000"/>
              </a:lnSpc>
              <a:buNone/>
            </a:pPr>
            <a:r>
              <a:rPr lang="en-US" sz="770" dirty="0">
                <a:solidFill>
                  <a:srgbClr val="5B6B7C"/>
                </a:solidFill>
                <a:latin typeface="Calibri" pitchFamily="34" charset="0"/>
                <a:ea typeface="Calibri" pitchFamily="34" charset="-122"/>
                <a:cs typeface="Calibri" pitchFamily="34" charset="-120"/>
              </a:rPr>
              <a:t>Forecast, hotspots and pendency risk run ahead of the event. Five districts are pulsing red against their own history, 346 hotspots are clustered from location and time, and station pendency is predicted three months out.</a:t>
            </a:r>
            <a:endParaRPr lang="en-US" sz="770" dirty="0"/>
          </a:p>
        </p:txBody>
      </p:sp>
      <p:sp>
        <p:nvSpPr>
          <p:cNvPr id="38" name="Text 35"/>
          <p:cNvSpPr txBox="1"/>
          <p:nvPr/>
        </p:nvSpPr>
        <p:spPr>
          <a:xfrm>
            <a:off x="4809744" y="3822192"/>
            <a:ext cx="1243584" cy="201168"/>
          </a:xfrm>
          <a:prstGeom prst="rect">
            <a:avLst/>
          </a:prstGeom>
          <a:noFill/>
          <a:ln/>
        </p:spPr>
        <p:txBody>
          <a:bodyPr wrap="square" lIns="0" tIns="0" rIns="0" bIns="0" rtlCol="0" anchor="ctr"/>
          <a:lstStyle/>
          <a:p>
            <a:pPr marL="0" indent="0">
              <a:buNone/>
            </a:pPr>
            <a:r>
              <a:rPr lang="en-US" sz="900" b="1" dirty="0">
                <a:solidFill>
                  <a:srgbClr val="2FA8A0"/>
                </a:solidFill>
                <a:latin typeface="Calibri" pitchFamily="34" charset="0"/>
                <a:ea typeface="Calibri" pitchFamily="34" charset="-122"/>
                <a:cs typeface="Calibri" pitchFamily="34" charset="-120"/>
              </a:rPr>
              <a:t>5</a:t>
            </a:r>
            <a:r>
              <a:rPr lang="en-US" sz="690" dirty="0">
                <a:solidFill>
                  <a:srgbClr val="5B6B7C"/>
                </a:solidFill>
                <a:latin typeface="Calibri" pitchFamily="34" charset="0"/>
                <a:ea typeface="Calibri" pitchFamily="34" charset="-122"/>
                <a:cs typeface="Calibri" pitchFamily="34" charset="-120"/>
              </a:rPr>
              <a:t>  districts pulsing red</a:t>
            </a:r>
            <a:endParaRPr lang="en-US" sz="900" dirty="0"/>
          </a:p>
        </p:txBody>
      </p:sp>
      <p:sp>
        <p:nvSpPr>
          <p:cNvPr id="39" name="Text 36"/>
          <p:cNvSpPr txBox="1"/>
          <p:nvPr/>
        </p:nvSpPr>
        <p:spPr>
          <a:xfrm>
            <a:off x="6089904" y="3822192"/>
            <a:ext cx="1243584" cy="201168"/>
          </a:xfrm>
          <a:prstGeom prst="rect">
            <a:avLst/>
          </a:prstGeom>
          <a:noFill/>
          <a:ln/>
        </p:spPr>
        <p:txBody>
          <a:bodyPr wrap="square" lIns="0" tIns="0" rIns="0" bIns="0" rtlCol="0" anchor="ctr"/>
          <a:lstStyle/>
          <a:p>
            <a:pPr marL="0" indent="0">
              <a:buNone/>
            </a:pPr>
            <a:r>
              <a:rPr lang="en-US" sz="900" b="1" dirty="0">
                <a:solidFill>
                  <a:srgbClr val="2FA8A0"/>
                </a:solidFill>
                <a:latin typeface="Calibri" pitchFamily="34" charset="0"/>
                <a:ea typeface="Calibri" pitchFamily="34" charset="-122"/>
                <a:cs typeface="Calibri" pitchFamily="34" charset="-120"/>
              </a:rPr>
              <a:t>346</a:t>
            </a:r>
            <a:r>
              <a:rPr lang="en-US" sz="690" dirty="0">
                <a:solidFill>
                  <a:srgbClr val="5B6B7C"/>
                </a:solidFill>
                <a:latin typeface="Calibri" pitchFamily="34" charset="0"/>
                <a:ea typeface="Calibri" pitchFamily="34" charset="-122"/>
                <a:cs typeface="Calibri" pitchFamily="34" charset="-120"/>
              </a:rPr>
              <a:t>  hotspots</a:t>
            </a:r>
            <a:endParaRPr lang="en-US" sz="900" dirty="0"/>
          </a:p>
        </p:txBody>
      </p:sp>
      <p:sp>
        <p:nvSpPr>
          <p:cNvPr id="40" name="Text 37"/>
          <p:cNvSpPr txBox="1"/>
          <p:nvPr/>
        </p:nvSpPr>
        <p:spPr>
          <a:xfrm>
            <a:off x="7370064" y="3822192"/>
            <a:ext cx="1243584" cy="201168"/>
          </a:xfrm>
          <a:prstGeom prst="rect">
            <a:avLst/>
          </a:prstGeom>
          <a:noFill/>
          <a:ln/>
        </p:spPr>
        <p:txBody>
          <a:bodyPr wrap="square" lIns="0" tIns="0" rIns="0" bIns="0" rtlCol="0" anchor="ctr"/>
          <a:lstStyle/>
          <a:p>
            <a:pPr marL="0" indent="0">
              <a:buNone/>
            </a:pPr>
            <a:r>
              <a:rPr lang="en-US" sz="900" b="1" dirty="0">
                <a:solidFill>
                  <a:srgbClr val="2FA8A0"/>
                </a:solidFill>
                <a:latin typeface="Calibri" pitchFamily="34" charset="0"/>
                <a:ea typeface="Calibri" pitchFamily="34" charset="-122"/>
                <a:cs typeface="Calibri" pitchFamily="34" charset="-120"/>
              </a:rPr>
              <a:t>3 mo</a:t>
            </a:r>
            <a:r>
              <a:rPr lang="en-US" sz="690" dirty="0">
                <a:solidFill>
                  <a:srgbClr val="5B6B7C"/>
                </a:solidFill>
                <a:latin typeface="Calibri" pitchFamily="34" charset="0"/>
                <a:ea typeface="Calibri" pitchFamily="34" charset="-122"/>
                <a:cs typeface="Calibri" pitchFamily="34" charset="-120"/>
              </a:rPr>
              <a:t>  forecast horizon</a:t>
            </a:r>
            <a:endParaRPr lang="en-US" sz="900" dirty="0"/>
          </a:p>
        </p:txBody>
      </p:sp>
      <p:sp>
        <p:nvSpPr>
          <p:cNvPr id="41" name="Shape 38"/>
          <p:cNvSpPr/>
          <p:nvPr/>
        </p:nvSpPr>
        <p:spPr>
          <a:xfrm>
            <a:off x="384048" y="4279392"/>
            <a:ext cx="8375904" cy="530352"/>
          </a:xfrm>
          <a:prstGeom prst="roundRect">
            <a:avLst>
              <a:gd name="adj" fmla="val 10345"/>
            </a:avLst>
          </a:prstGeom>
          <a:solidFill>
            <a:srgbClr val="0F2F44"/>
          </a:solidFill>
          <a:ln w="9525">
            <a:solidFill>
              <a:srgbClr val="0F2F44"/>
            </a:solidFill>
            <a:prstDash val="solid"/>
          </a:ln>
        </p:spPr>
        <p:txBody>
          <a:bodyPr/>
          <a:lstStyle/>
          <a:p>
            <a:endParaRPr lang="en-US"/>
          </a:p>
        </p:txBody>
      </p:sp>
      <p:sp>
        <p:nvSpPr>
          <p:cNvPr id="42" name="Text 39"/>
          <p:cNvSpPr txBox="1"/>
          <p:nvPr/>
        </p:nvSpPr>
        <p:spPr>
          <a:xfrm>
            <a:off x="548640" y="4279392"/>
            <a:ext cx="8046720" cy="530352"/>
          </a:xfrm>
          <a:prstGeom prst="rect">
            <a:avLst/>
          </a:prstGeom>
          <a:noFill/>
          <a:ln/>
        </p:spPr>
        <p:txBody>
          <a:bodyPr wrap="square" lIns="0" tIns="0" rIns="0" bIns="0" rtlCol="0" anchor="ctr"/>
          <a:lstStyle/>
          <a:p>
            <a:pPr marL="0" indent="0">
              <a:buNone/>
            </a:pPr>
            <a:r>
              <a:rPr lang="en-US" sz="820" b="1" dirty="0">
                <a:solidFill>
                  <a:srgbClr val="FFFFFF"/>
                </a:solidFill>
                <a:latin typeface="Calibri" pitchFamily="34" charset="0"/>
                <a:ea typeface="Calibri" pitchFamily="34" charset="-122"/>
                <a:cs typeface="Calibri" pitchFamily="34" charset="-120"/>
              </a:rPr>
              <a:t>All four are answered in the deployed build, not on a roadmap.  </a:t>
            </a:r>
            <a:r>
              <a:rPr lang="en-US" sz="820" dirty="0">
                <a:solidFill>
                  <a:srgbClr val="C9D6E2"/>
                </a:solidFill>
                <a:latin typeface="Calibri" pitchFamily="34" charset="0"/>
                <a:ea typeface="Calibri" pitchFamily="34" charset="-122"/>
                <a:cs typeface="Calibri" pitchFamily="34" charset="-120"/>
              </a:rPr>
              <a:t>Every figure on this slide was read from the live Catalyst API while this deck was being written. The next slide maps the statement’s six named capabilities onto the exact screen and model that delivers each one.</a:t>
            </a:r>
            <a:endParaRPr lang="en-US" sz="8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ivate/tmp/claude-501/-Users-adarsh-Desktop-Projects-KadiLabs/1a0b3114-7a5c-4b08-a5d4-f9d8371eeea4/scratchpad/deck/bg-content.png"/>
          <p:cNvPicPr>
            <a:picLocks noChangeAspect="1"/>
          </p:cNvPicPr>
          <p:nvPr/>
        </p:nvPicPr>
        <p:blipFill>
          <a:blip r:embed="rId3"/>
          <a:stretch>
            <a:fillRect/>
          </a:stretch>
        </p:blipFill>
        <p:spPr>
          <a:xfrm>
            <a:off x="0" y="0"/>
            <a:ext cx="9144000" cy="5143500"/>
          </a:xfrm>
          <a:prstGeom prst="rect">
            <a:avLst/>
          </a:prstGeom>
        </p:spPr>
      </p:pic>
      <p:sp>
        <p:nvSpPr>
          <p:cNvPr id="3" name="Text 0"/>
          <p:cNvSpPr txBox="1"/>
          <p:nvPr/>
        </p:nvSpPr>
        <p:spPr>
          <a:xfrm>
            <a:off x="384048" y="603504"/>
            <a:ext cx="8375904" cy="365760"/>
          </a:xfrm>
          <a:prstGeom prst="rect">
            <a:avLst/>
          </a:prstGeom>
          <a:noFill/>
          <a:ln/>
        </p:spPr>
        <p:txBody>
          <a:bodyPr wrap="square" lIns="0" tIns="0" rIns="0" bIns="0" rtlCol="0" anchor="t"/>
          <a:lstStyle/>
          <a:p>
            <a:pPr marL="0" indent="0">
              <a:buNone/>
            </a:pPr>
            <a:r>
              <a:rPr lang="en-US" sz="2100" b="1" dirty="0">
                <a:solidFill>
                  <a:srgbClr val="0F2F44"/>
                </a:solidFill>
                <a:latin typeface="Calibri" pitchFamily="34" charset="0"/>
                <a:ea typeface="Calibri" pitchFamily="34" charset="-122"/>
                <a:cs typeface="Calibri" pitchFamily="34" charset="-120"/>
              </a:rPr>
              <a:t>The six capabilities, requirement by requirement</a:t>
            </a:r>
            <a:endParaRPr lang="en-US" sz="2100" dirty="0"/>
          </a:p>
        </p:txBody>
      </p:sp>
      <p:sp>
        <p:nvSpPr>
          <p:cNvPr id="4" name="Text 1"/>
          <p:cNvSpPr txBox="1"/>
          <p:nvPr/>
        </p:nvSpPr>
        <p:spPr>
          <a:xfrm>
            <a:off x="384048" y="969264"/>
            <a:ext cx="8375904" cy="237744"/>
          </a:xfrm>
          <a:prstGeom prst="rect">
            <a:avLst/>
          </a:prstGeom>
          <a:noFill/>
          <a:ln/>
        </p:spPr>
        <p:txBody>
          <a:bodyPr wrap="square" lIns="0" tIns="0" rIns="0" bIns="0" rtlCol="0" anchor="t"/>
          <a:lstStyle/>
          <a:p>
            <a:pPr marL="0" indent="0">
              <a:buNone/>
            </a:pPr>
            <a:r>
              <a:rPr lang="en-US" sz="1050" dirty="0">
                <a:solidFill>
                  <a:srgbClr val="5B6B7C"/>
                </a:solidFill>
                <a:latin typeface="Calibri" pitchFamily="34" charset="0"/>
                <a:ea typeface="Calibri" pitchFamily="34" charset="-122"/>
                <a:cs typeface="Calibri" pitchFamily="34" charset="-120"/>
              </a:rPr>
              <a:t>Every clause of the statement, the screen that serves it, and a number read from the deployed build</a:t>
            </a:r>
            <a:endParaRPr lang="en-US" sz="1050" dirty="0"/>
          </a:p>
        </p:txBody>
      </p:sp>
      <p:sp>
        <p:nvSpPr>
          <p:cNvPr id="5" name="Shape 2"/>
          <p:cNvSpPr/>
          <p:nvPr/>
        </p:nvSpPr>
        <p:spPr>
          <a:xfrm>
            <a:off x="384048" y="1225296"/>
            <a:ext cx="4078224" cy="2638044"/>
          </a:xfrm>
          <a:prstGeom prst="roundRect">
            <a:avLst>
              <a:gd name="adj" fmla="val 2222"/>
            </a:avLst>
          </a:prstGeom>
          <a:solidFill>
            <a:srgbClr val="FFFFFF"/>
          </a:solidFill>
          <a:ln w="9525">
            <a:solidFill>
              <a:srgbClr val="DCE3EC"/>
            </a:solidFill>
            <a:prstDash val="solid"/>
          </a:ln>
        </p:spPr>
        <p:txBody>
          <a:bodyPr/>
          <a:lstStyle/>
          <a:p>
            <a:endParaRPr lang="en-US"/>
          </a:p>
        </p:txBody>
      </p:sp>
      <p:sp>
        <p:nvSpPr>
          <p:cNvPr id="6" name="Text 3"/>
          <p:cNvSpPr txBox="1"/>
          <p:nvPr/>
        </p:nvSpPr>
        <p:spPr>
          <a:xfrm>
            <a:off x="475488" y="1311156"/>
            <a:ext cx="1298448" cy="164592"/>
          </a:xfrm>
          <a:prstGeom prst="rect">
            <a:avLst/>
          </a:prstGeom>
          <a:noFill/>
          <a:ln/>
        </p:spPr>
        <p:txBody>
          <a:bodyPr wrap="square" lIns="0" tIns="0" rIns="0" bIns="0" rtlCol="0" anchor="ctr"/>
          <a:lstStyle/>
          <a:p>
            <a:pPr marL="0" indent="0">
              <a:buNone/>
            </a:pPr>
            <a:r>
              <a:rPr lang="en-US" sz="1100" b="1" kern="0" spc="40" dirty="0">
                <a:solidFill>
                  <a:schemeClr val="tx1">
                    <a:lumMod val="85000"/>
                    <a:lumOff val="15000"/>
                  </a:schemeClr>
                </a:solidFill>
                <a:latin typeface="Calibri" pitchFamily="34" charset="0"/>
                <a:ea typeface="Calibri" pitchFamily="34" charset="-122"/>
                <a:cs typeface="Calibri" pitchFamily="34" charset="-120"/>
              </a:rPr>
              <a:t>REQUIREMENT </a:t>
            </a:r>
            <a:endParaRPr lang="en-US" sz="1100" dirty="0">
              <a:solidFill>
                <a:schemeClr val="tx1">
                  <a:lumMod val="85000"/>
                  <a:lumOff val="15000"/>
                </a:schemeClr>
              </a:solidFill>
            </a:endParaRPr>
          </a:p>
        </p:txBody>
      </p:sp>
      <p:sp>
        <p:nvSpPr>
          <p:cNvPr id="7" name="Text 4"/>
          <p:cNvSpPr txBox="1"/>
          <p:nvPr/>
        </p:nvSpPr>
        <p:spPr>
          <a:xfrm>
            <a:off x="1810512" y="1311156"/>
            <a:ext cx="1371600" cy="164592"/>
          </a:xfrm>
          <a:prstGeom prst="rect">
            <a:avLst/>
          </a:prstGeom>
          <a:noFill/>
          <a:ln/>
        </p:spPr>
        <p:txBody>
          <a:bodyPr wrap="square" lIns="0" tIns="0" rIns="0" bIns="0" rtlCol="0" anchor="ctr"/>
          <a:lstStyle/>
          <a:p>
            <a:pPr marL="0" indent="0">
              <a:buNone/>
            </a:pPr>
            <a:r>
              <a:rPr lang="en-US" sz="1100" b="1" kern="0" spc="40" dirty="0">
                <a:solidFill>
                  <a:schemeClr val="tx1">
                    <a:lumMod val="85000"/>
                    <a:lumOff val="15000"/>
                  </a:schemeClr>
                </a:solidFill>
                <a:latin typeface="Calibri" pitchFamily="34" charset="0"/>
                <a:ea typeface="Calibri" pitchFamily="34" charset="-122"/>
                <a:cs typeface="Calibri" pitchFamily="34" charset="-120"/>
              </a:rPr>
              <a:t>WHERE IT SHIPS</a:t>
            </a:r>
            <a:endParaRPr lang="en-US" sz="1100" dirty="0">
              <a:solidFill>
                <a:schemeClr val="tx1">
                  <a:lumMod val="85000"/>
                  <a:lumOff val="15000"/>
                </a:schemeClr>
              </a:solidFill>
            </a:endParaRPr>
          </a:p>
        </p:txBody>
      </p:sp>
      <p:sp>
        <p:nvSpPr>
          <p:cNvPr id="8" name="Text 5"/>
          <p:cNvSpPr txBox="1"/>
          <p:nvPr/>
        </p:nvSpPr>
        <p:spPr>
          <a:xfrm>
            <a:off x="3218688" y="1311156"/>
            <a:ext cx="1152144" cy="164592"/>
          </a:xfrm>
          <a:prstGeom prst="rect">
            <a:avLst/>
          </a:prstGeom>
          <a:noFill/>
          <a:ln/>
        </p:spPr>
        <p:txBody>
          <a:bodyPr wrap="square" lIns="0" tIns="0" rIns="0" bIns="0" rtlCol="0" anchor="ctr"/>
          <a:lstStyle/>
          <a:p>
            <a:pPr marL="0" indent="0">
              <a:buNone/>
            </a:pPr>
            <a:r>
              <a:rPr lang="en-US" sz="1100" b="1" kern="0" spc="40" dirty="0">
                <a:solidFill>
                  <a:schemeClr val="tx1">
                    <a:lumMod val="85000"/>
                    <a:lumOff val="15000"/>
                  </a:schemeClr>
                </a:solidFill>
                <a:latin typeface="Calibri" pitchFamily="34" charset="0"/>
                <a:ea typeface="Calibri" pitchFamily="34" charset="-122"/>
                <a:cs typeface="Calibri" pitchFamily="34" charset="-120"/>
              </a:rPr>
              <a:t>THE NUMBER</a:t>
            </a:r>
            <a:endParaRPr lang="en-US" sz="1100" dirty="0">
              <a:solidFill>
                <a:schemeClr val="tx1">
                  <a:lumMod val="85000"/>
                  <a:lumOff val="15000"/>
                </a:schemeClr>
              </a:solidFill>
            </a:endParaRPr>
          </a:p>
        </p:txBody>
      </p:sp>
      <p:sp>
        <p:nvSpPr>
          <p:cNvPr id="9" name="Shape 6"/>
          <p:cNvSpPr/>
          <p:nvPr/>
        </p:nvSpPr>
        <p:spPr>
          <a:xfrm>
            <a:off x="438912" y="1613439"/>
            <a:ext cx="3968496" cy="361188"/>
          </a:xfrm>
          <a:prstGeom prst="rect">
            <a:avLst/>
          </a:prstGeom>
          <a:solidFill>
            <a:srgbClr val="F4F6F9"/>
          </a:solidFill>
          <a:ln w="12700">
            <a:solidFill>
              <a:srgbClr val="F4F6F9"/>
            </a:solidFill>
            <a:prstDash val="solid"/>
          </a:ln>
        </p:spPr>
        <p:txBody>
          <a:bodyPr/>
          <a:lstStyle/>
          <a:p>
            <a:endParaRPr lang="en-US"/>
          </a:p>
        </p:txBody>
      </p:sp>
      <p:sp>
        <p:nvSpPr>
          <p:cNvPr id="10" name="Text 7"/>
          <p:cNvSpPr txBox="1"/>
          <p:nvPr/>
        </p:nvSpPr>
        <p:spPr>
          <a:xfrm>
            <a:off x="475488" y="1536493"/>
            <a:ext cx="1298448" cy="438134"/>
          </a:xfrm>
          <a:prstGeom prst="rect">
            <a:avLst/>
          </a:prstGeom>
          <a:noFill/>
          <a:ln/>
        </p:spPr>
        <p:txBody>
          <a:bodyPr wrap="square" lIns="0" tIns="0" rIns="0" bIns="0" rtlCol="0" anchor="ctr"/>
          <a:lstStyle/>
          <a:p>
            <a:pPr marL="0" indent="0">
              <a:lnSpc>
                <a:spcPct val="93000"/>
              </a:lnSpc>
              <a:buNone/>
            </a:pPr>
            <a:r>
              <a:rPr lang="en-US" sz="690" b="1" dirty="0">
                <a:solidFill>
                  <a:srgbClr val="1A6FC4"/>
                </a:solidFill>
                <a:latin typeface="Calibri" pitchFamily="34" charset="0"/>
                <a:ea typeface="Calibri" pitchFamily="34" charset="-122"/>
                <a:cs typeface="Calibri" pitchFamily="34" charset="-120"/>
              </a:rPr>
              <a:t>1a · District-level drill-down</a:t>
            </a:r>
            <a:endParaRPr lang="en-US" sz="690" dirty="0"/>
          </a:p>
        </p:txBody>
      </p:sp>
      <p:sp>
        <p:nvSpPr>
          <p:cNvPr id="11" name="Text 8"/>
          <p:cNvSpPr txBox="1"/>
          <p:nvPr/>
        </p:nvSpPr>
        <p:spPr>
          <a:xfrm>
            <a:off x="1810512" y="1536493"/>
            <a:ext cx="1371600" cy="438134"/>
          </a:xfrm>
          <a:prstGeom prst="rect">
            <a:avLst/>
          </a:prstGeom>
          <a:noFill/>
          <a:ln/>
        </p:spPr>
        <p:txBody>
          <a:bodyPr wrap="square" lIns="0" tIns="0" rIns="0" bIns="0" rtlCol="0" anchor="ctr"/>
          <a:lstStyle/>
          <a:p>
            <a:pPr marL="0" indent="0">
              <a:lnSpc>
                <a:spcPct val="93000"/>
              </a:lnSpc>
              <a:buNone/>
            </a:pPr>
            <a:r>
              <a:rPr lang="en-US" sz="670" dirty="0">
                <a:solidFill>
                  <a:srgbClr val="5B6B7C"/>
                </a:solidFill>
                <a:latin typeface="Calibri" pitchFamily="34" charset="0"/>
                <a:ea typeface="Calibri" pitchFamily="34" charset="-122"/>
                <a:cs typeface="Calibri" pitchFamily="34" charset="-120"/>
              </a:rPr>
              <a:t>Spatiotemporal Map — choropleth over satellite</a:t>
            </a:r>
            <a:endParaRPr lang="en-US" sz="670" dirty="0"/>
          </a:p>
        </p:txBody>
      </p:sp>
      <p:sp>
        <p:nvSpPr>
          <p:cNvPr id="12" name="Text 9"/>
          <p:cNvSpPr txBox="1"/>
          <p:nvPr/>
        </p:nvSpPr>
        <p:spPr>
          <a:xfrm>
            <a:off x="3218688" y="1536493"/>
            <a:ext cx="1152144" cy="438134"/>
          </a:xfrm>
          <a:prstGeom prst="rect">
            <a:avLst/>
          </a:prstGeom>
          <a:noFill/>
          <a:ln/>
        </p:spPr>
        <p:txBody>
          <a:bodyPr wrap="square" lIns="0" tIns="0" rIns="0" bIns="0" rtlCol="0" anchor="ctr"/>
          <a:lstStyle/>
          <a:p>
            <a:pPr marL="0" indent="0">
              <a:lnSpc>
                <a:spcPct val="93000"/>
              </a:lnSpc>
              <a:buNone/>
            </a:pPr>
            <a:r>
              <a:rPr lang="en-US" sz="670" b="1" dirty="0">
                <a:solidFill>
                  <a:srgbClr val="0F2F44"/>
                </a:solidFill>
                <a:latin typeface="Calibri" pitchFamily="34" charset="0"/>
                <a:ea typeface="Calibri" pitchFamily="34" charset="-122"/>
                <a:cs typeface="Calibri" pitchFamily="34" charset="-120"/>
              </a:rPr>
              <a:t>31 districts · 298 stations</a:t>
            </a:r>
            <a:endParaRPr lang="en-US" sz="670" dirty="0"/>
          </a:p>
        </p:txBody>
      </p:sp>
      <p:sp>
        <p:nvSpPr>
          <p:cNvPr id="13" name="Text 10"/>
          <p:cNvSpPr txBox="1"/>
          <p:nvPr/>
        </p:nvSpPr>
        <p:spPr>
          <a:xfrm>
            <a:off x="475488" y="1897681"/>
            <a:ext cx="1298448" cy="438134"/>
          </a:xfrm>
          <a:prstGeom prst="rect">
            <a:avLst/>
          </a:prstGeom>
          <a:noFill/>
          <a:ln/>
        </p:spPr>
        <p:txBody>
          <a:bodyPr wrap="square" lIns="0" tIns="0" rIns="0" bIns="0" rtlCol="0" anchor="ctr"/>
          <a:lstStyle/>
          <a:p>
            <a:pPr marL="0" indent="0">
              <a:lnSpc>
                <a:spcPct val="93000"/>
              </a:lnSpc>
              <a:buNone/>
            </a:pPr>
            <a:r>
              <a:rPr lang="en-US" sz="690" b="1" dirty="0">
                <a:solidFill>
                  <a:srgbClr val="1A6FC4"/>
                </a:solidFill>
                <a:latin typeface="Calibri" pitchFamily="34" charset="0"/>
                <a:ea typeface="Calibri" pitchFamily="34" charset="-122"/>
                <a:cs typeface="Calibri" pitchFamily="34" charset="-120"/>
              </a:rPr>
              <a:t>1b · Spatiotemporal clusters</a:t>
            </a:r>
            <a:endParaRPr lang="en-US" sz="690" dirty="0"/>
          </a:p>
        </p:txBody>
      </p:sp>
      <p:sp>
        <p:nvSpPr>
          <p:cNvPr id="14" name="Text 11"/>
          <p:cNvSpPr txBox="1"/>
          <p:nvPr/>
        </p:nvSpPr>
        <p:spPr>
          <a:xfrm>
            <a:off x="1810512" y="1897681"/>
            <a:ext cx="1371600" cy="438134"/>
          </a:xfrm>
          <a:prstGeom prst="rect">
            <a:avLst/>
          </a:prstGeom>
          <a:noFill/>
          <a:ln/>
        </p:spPr>
        <p:txBody>
          <a:bodyPr wrap="square" lIns="0" tIns="0" rIns="0" bIns="0" rtlCol="0" anchor="ctr"/>
          <a:lstStyle/>
          <a:p>
            <a:pPr marL="0" indent="0">
              <a:lnSpc>
                <a:spcPct val="93000"/>
              </a:lnSpc>
              <a:buNone/>
            </a:pPr>
            <a:r>
              <a:rPr lang="en-US" sz="670" dirty="0">
                <a:solidFill>
                  <a:srgbClr val="5B6B7C"/>
                </a:solidFill>
                <a:latin typeface="Calibri" pitchFamily="34" charset="0"/>
                <a:ea typeface="Calibri" pitchFamily="34" charset="-122"/>
                <a:cs typeface="Calibri" pitchFamily="34" charset="-120"/>
              </a:rPr>
              <a:t>Map — DBSCAN over location, layered hour × weekday</a:t>
            </a:r>
            <a:endParaRPr lang="en-US" sz="670" dirty="0"/>
          </a:p>
        </p:txBody>
      </p:sp>
      <p:sp>
        <p:nvSpPr>
          <p:cNvPr id="15" name="Text 12"/>
          <p:cNvSpPr txBox="1"/>
          <p:nvPr/>
        </p:nvSpPr>
        <p:spPr>
          <a:xfrm>
            <a:off x="3218688" y="1897681"/>
            <a:ext cx="1152144" cy="438134"/>
          </a:xfrm>
          <a:prstGeom prst="rect">
            <a:avLst/>
          </a:prstGeom>
          <a:noFill/>
          <a:ln/>
        </p:spPr>
        <p:txBody>
          <a:bodyPr wrap="square" lIns="0" tIns="0" rIns="0" bIns="0" rtlCol="0" anchor="ctr"/>
          <a:lstStyle/>
          <a:p>
            <a:pPr marL="0" indent="0">
              <a:lnSpc>
                <a:spcPct val="93000"/>
              </a:lnSpc>
              <a:buNone/>
            </a:pPr>
            <a:r>
              <a:rPr lang="en-US" sz="670" b="1" dirty="0">
                <a:solidFill>
                  <a:srgbClr val="0F2F44"/>
                </a:solidFill>
                <a:latin typeface="Calibri" pitchFamily="34" charset="0"/>
                <a:ea typeface="Calibri" pitchFamily="34" charset="-122"/>
                <a:cs typeface="Calibri" pitchFamily="34" charset="-120"/>
              </a:rPr>
              <a:t>346 hotspots · 8 time-layered</a:t>
            </a:r>
            <a:endParaRPr lang="en-US" sz="670" dirty="0"/>
          </a:p>
        </p:txBody>
      </p:sp>
      <p:sp>
        <p:nvSpPr>
          <p:cNvPr id="16" name="Shape 13"/>
          <p:cNvSpPr/>
          <p:nvPr/>
        </p:nvSpPr>
        <p:spPr>
          <a:xfrm>
            <a:off x="438912" y="2335815"/>
            <a:ext cx="3968496" cy="361188"/>
          </a:xfrm>
          <a:prstGeom prst="rect">
            <a:avLst/>
          </a:prstGeom>
          <a:solidFill>
            <a:srgbClr val="F4F6F9"/>
          </a:solidFill>
          <a:ln w="12700">
            <a:solidFill>
              <a:srgbClr val="F4F6F9"/>
            </a:solidFill>
            <a:prstDash val="solid"/>
          </a:ln>
        </p:spPr>
        <p:txBody>
          <a:bodyPr/>
          <a:lstStyle/>
          <a:p>
            <a:endParaRPr lang="en-US"/>
          </a:p>
        </p:txBody>
      </p:sp>
      <p:sp>
        <p:nvSpPr>
          <p:cNvPr id="17" name="Text 14"/>
          <p:cNvSpPr txBox="1"/>
          <p:nvPr/>
        </p:nvSpPr>
        <p:spPr>
          <a:xfrm>
            <a:off x="475488" y="2258869"/>
            <a:ext cx="1298448" cy="438134"/>
          </a:xfrm>
          <a:prstGeom prst="rect">
            <a:avLst/>
          </a:prstGeom>
          <a:noFill/>
          <a:ln/>
        </p:spPr>
        <p:txBody>
          <a:bodyPr wrap="square" lIns="0" tIns="0" rIns="0" bIns="0" rtlCol="0" anchor="ctr"/>
          <a:lstStyle/>
          <a:p>
            <a:pPr marL="0" indent="0">
              <a:lnSpc>
                <a:spcPct val="93000"/>
              </a:lnSpc>
              <a:buNone/>
            </a:pPr>
            <a:r>
              <a:rPr lang="en-US" sz="690" b="1" dirty="0">
                <a:solidFill>
                  <a:srgbClr val="1A6FC4"/>
                </a:solidFill>
                <a:latin typeface="Calibri" pitchFamily="34" charset="0"/>
                <a:ea typeface="Calibri" pitchFamily="34" charset="-122"/>
                <a:cs typeface="Calibri" pitchFamily="34" charset="-120"/>
              </a:rPr>
              <a:t>1c · Emerging trend alerts</a:t>
            </a:r>
            <a:endParaRPr lang="en-US" sz="690" dirty="0"/>
          </a:p>
        </p:txBody>
      </p:sp>
      <p:sp>
        <p:nvSpPr>
          <p:cNvPr id="18" name="Text 15"/>
          <p:cNvSpPr txBox="1"/>
          <p:nvPr/>
        </p:nvSpPr>
        <p:spPr>
          <a:xfrm>
            <a:off x="1810512" y="2258869"/>
            <a:ext cx="1371600" cy="438134"/>
          </a:xfrm>
          <a:prstGeom prst="rect">
            <a:avLst/>
          </a:prstGeom>
          <a:noFill/>
          <a:ln/>
        </p:spPr>
        <p:txBody>
          <a:bodyPr wrap="square" lIns="0" tIns="0" rIns="0" bIns="0" rtlCol="0" anchor="ctr"/>
          <a:lstStyle/>
          <a:p>
            <a:pPr marL="0" indent="0">
              <a:lnSpc>
                <a:spcPct val="93000"/>
              </a:lnSpc>
              <a:buNone/>
            </a:pPr>
            <a:r>
              <a:rPr lang="en-US" sz="670" dirty="0">
                <a:solidFill>
                  <a:srgbClr val="5B6B7C"/>
                </a:solidFill>
                <a:latin typeface="Calibri" pitchFamily="34" charset="0"/>
                <a:ea typeface="Calibri" pitchFamily="34" charset="-122"/>
                <a:cs typeface="Calibri" pitchFamily="34" charset="-120"/>
              </a:rPr>
              <a:t>Command Dashboard — red-zone pulsing vs own history</a:t>
            </a:r>
            <a:endParaRPr lang="en-US" sz="670" dirty="0"/>
          </a:p>
        </p:txBody>
      </p:sp>
      <p:sp>
        <p:nvSpPr>
          <p:cNvPr id="19" name="Text 16"/>
          <p:cNvSpPr txBox="1"/>
          <p:nvPr/>
        </p:nvSpPr>
        <p:spPr>
          <a:xfrm>
            <a:off x="3218688" y="2258869"/>
            <a:ext cx="1152144" cy="438134"/>
          </a:xfrm>
          <a:prstGeom prst="rect">
            <a:avLst/>
          </a:prstGeom>
          <a:noFill/>
          <a:ln/>
        </p:spPr>
        <p:txBody>
          <a:bodyPr wrap="square" lIns="0" tIns="0" rIns="0" bIns="0" rtlCol="0" anchor="ctr"/>
          <a:lstStyle/>
          <a:p>
            <a:pPr marL="0" indent="0">
              <a:lnSpc>
                <a:spcPct val="93000"/>
              </a:lnSpc>
              <a:buNone/>
            </a:pPr>
            <a:r>
              <a:rPr lang="en-US" sz="670" b="1" dirty="0">
                <a:solidFill>
                  <a:srgbClr val="0F2F44"/>
                </a:solidFill>
                <a:latin typeface="Calibri" pitchFamily="34" charset="0"/>
                <a:ea typeface="Calibri" pitchFamily="34" charset="-122"/>
                <a:cs typeface="Calibri" pitchFamily="34" charset="-120"/>
              </a:rPr>
              <a:t>5 pulsing · top district +145%</a:t>
            </a:r>
            <a:endParaRPr lang="en-US" sz="670" dirty="0"/>
          </a:p>
        </p:txBody>
      </p:sp>
      <p:sp>
        <p:nvSpPr>
          <p:cNvPr id="20" name="Text 17"/>
          <p:cNvSpPr txBox="1"/>
          <p:nvPr/>
        </p:nvSpPr>
        <p:spPr>
          <a:xfrm>
            <a:off x="475488" y="2620057"/>
            <a:ext cx="1298448" cy="438134"/>
          </a:xfrm>
          <a:prstGeom prst="rect">
            <a:avLst/>
          </a:prstGeom>
          <a:noFill/>
          <a:ln/>
        </p:spPr>
        <p:txBody>
          <a:bodyPr wrap="square" lIns="0" tIns="0" rIns="0" bIns="0" rtlCol="0" anchor="ctr"/>
          <a:lstStyle/>
          <a:p>
            <a:pPr marL="0" indent="0">
              <a:lnSpc>
                <a:spcPct val="93000"/>
              </a:lnSpc>
              <a:buNone/>
            </a:pPr>
            <a:r>
              <a:rPr lang="en-US" sz="690" b="1" dirty="0">
                <a:solidFill>
                  <a:srgbClr val="2FA8A0"/>
                </a:solidFill>
                <a:latin typeface="Calibri" pitchFamily="34" charset="0"/>
                <a:ea typeface="Calibri" pitchFamily="34" charset="-122"/>
                <a:cs typeface="Calibri" pitchFamily="34" charset="-120"/>
              </a:rPr>
              <a:t>2a · Relationship mapping</a:t>
            </a:r>
            <a:endParaRPr lang="en-US" sz="690" dirty="0"/>
          </a:p>
        </p:txBody>
      </p:sp>
      <p:sp>
        <p:nvSpPr>
          <p:cNvPr id="21" name="Text 18"/>
          <p:cNvSpPr txBox="1"/>
          <p:nvPr/>
        </p:nvSpPr>
        <p:spPr>
          <a:xfrm>
            <a:off x="1810512" y="2620057"/>
            <a:ext cx="1371600" cy="438134"/>
          </a:xfrm>
          <a:prstGeom prst="rect">
            <a:avLst/>
          </a:prstGeom>
          <a:noFill/>
          <a:ln/>
        </p:spPr>
        <p:txBody>
          <a:bodyPr wrap="square" lIns="0" tIns="0" rIns="0" bIns="0" rtlCol="0" anchor="ctr"/>
          <a:lstStyle/>
          <a:p>
            <a:pPr marL="0" indent="0">
              <a:lnSpc>
                <a:spcPct val="93000"/>
              </a:lnSpc>
              <a:buNone/>
            </a:pPr>
            <a:r>
              <a:rPr lang="en-US" sz="670" dirty="0">
                <a:solidFill>
                  <a:srgbClr val="5B6B7C"/>
                </a:solidFill>
                <a:latin typeface="Calibri" pitchFamily="34" charset="0"/>
                <a:ea typeface="Calibri" pitchFamily="34" charset="-122"/>
                <a:cs typeface="Calibri" pitchFamily="34" charset="-120"/>
              </a:rPr>
              <a:t>Case-Linkage Graph — node canvas, 5 layouts</a:t>
            </a:r>
            <a:endParaRPr lang="en-US" sz="670" dirty="0"/>
          </a:p>
        </p:txBody>
      </p:sp>
      <p:sp>
        <p:nvSpPr>
          <p:cNvPr id="22" name="Text 19"/>
          <p:cNvSpPr txBox="1"/>
          <p:nvPr/>
        </p:nvSpPr>
        <p:spPr>
          <a:xfrm>
            <a:off x="3218688" y="2620057"/>
            <a:ext cx="1152144" cy="438134"/>
          </a:xfrm>
          <a:prstGeom prst="rect">
            <a:avLst/>
          </a:prstGeom>
          <a:noFill/>
          <a:ln/>
        </p:spPr>
        <p:txBody>
          <a:bodyPr wrap="square" lIns="0" tIns="0" rIns="0" bIns="0" rtlCol="0" anchor="ctr"/>
          <a:lstStyle/>
          <a:p>
            <a:pPr marL="0" indent="0">
              <a:lnSpc>
                <a:spcPct val="93000"/>
              </a:lnSpc>
              <a:buNone/>
            </a:pPr>
            <a:r>
              <a:rPr lang="en-US" sz="670" b="1" dirty="0">
                <a:solidFill>
                  <a:srgbClr val="0F2F44"/>
                </a:solidFill>
                <a:latin typeface="Calibri" pitchFamily="34" charset="0"/>
                <a:ea typeface="Calibri" pitchFamily="34" charset="-122"/>
                <a:cs typeface="Calibri" pitchFamily="34" charset="-120"/>
              </a:rPr>
              <a:t>85,429 links · 6 typed kinds</a:t>
            </a:r>
            <a:endParaRPr lang="en-US" sz="670" dirty="0"/>
          </a:p>
        </p:txBody>
      </p:sp>
      <p:sp>
        <p:nvSpPr>
          <p:cNvPr id="23" name="Shape 20"/>
          <p:cNvSpPr/>
          <p:nvPr/>
        </p:nvSpPr>
        <p:spPr>
          <a:xfrm>
            <a:off x="438912" y="3058191"/>
            <a:ext cx="3968496" cy="361188"/>
          </a:xfrm>
          <a:prstGeom prst="rect">
            <a:avLst/>
          </a:prstGeom>
          <a:solidFill>
            <a:srgbClr val="F4F6F9"/>
          </a:solidFill>
          <a:ln w="12700">
            <a:solidFill>
              <a:srgbClr val="F4F6F9"/>
            </a:solidFill>
            <a:prstDash val="solid"/>
          </a:ln>
        </p:spPr>
        <p:txBody>
          <a:bodyPr/>
          <a:lstStyle/>
          <a:p>
            <a:endParaRPr lang="en-US"/>
          </a:p>
        </p:txBody>
      </p:sp>
      <p:sp>
        <p:nvSpPr>
          <p:cNvPr id="24" name="Text 21"/>
          <p:cNvSpPr txBox="1"/>
          <p:nvPr/>
        </p:nvSpPr>
        <p:spPr>
          <a:xfrm>
            <a:off x="475488" y="2981245"/>
            <a:ext cx="1298448" cy="438134"/>
          </a:xfrm>
          <a:prstGeom prst="rect">
            <a:avLst/>
          </a:prstGeom>
          <a:noFill/>
          <a:ln/>
        </p:spPr>
        <p:txBody>
          <a:bodyPr wrap="square" lIns="0" tIns="0" rIns="0" bIns="0" rtlCol="0" anchor="ctr"/>
          <a:lstStyle/>
          <a:p>
            <a:pPr marL="0" indent="0">
              <a:lnSpc>
                <a:spcPct val="93000"/>
              </a:lnSpc>
              <a:buNone/>
            </a:pPr>
            <a:r>
              <a:rPr lang="en-US" sz="690" b="1" dirty="0">
                <a:solidFill>
                  <a:srgbClr val="2FA8A0"/>
                </a:solidFill>
                <a:latin typeface="Calibri" pitchFamily="34" charset="0"/>
                <a:ea typeface="Calibri" pitchFamily="34" charset="-122"/>
                <a:cs typeface="Calibri" pitchFamily="34" charset="-120"/>
              </a:rPr>
              <a:t>2b · Repeat offender + MO</a:t>
            </a:r>
            <a:endParaRPr lang="en-US" sz="690" dirty="0"/>
          </a:p>
        </p:txBody>
      </p:sp>
      <p:sp>
        <p:nvSpPr>
          <p:cNvPr id="25" name="Text 22"/>
          <p:cNvSpPr txBox="1"/>
          <p:nvPr/>
        </p:nvSpPr>
        <p:spPr>
          <a:xfrm>
            <a:off x="1810512" y="2981245"/>
            <a:ext cx="1371600" cy="438134"/>
          </a:xfrm>
          <a:prstGeom prst="rect">
            <a:avLst/>
          </a:prstGeom>
          <a:noFill/>
          <a:ln/>
        </p:spPr>
        <p:txBody>
          <a:bodyPr wrap="square" lIns="0" tIns="0" rIns="0" bIns="0" rtlCol="0" anchor="ctr"/>
          <a:lstStyle/>
          <a:p>
            <a:pPr marL="0" indent="0">
              <a:lnSpc>
                <a:spcPct val="93000"/>
              </a:lnSpc>
              <a:buNone/>
            </a:pPr>
            <a:r>
              <a:rPr lang="en-US" sz="670" dirty="0">
                <a:solidFill>
                  <a:srgbClr val="5B6B7C"/>
                </a:solidFill>
                <a:latin typeface="Calibri" pitchFamily="34" charset="0"/>
                <a:ea typeface="Calibri" pitchFamily="34" charset="-122"/>
                <a:cs typeface="Calibri" pitchFamily="34" charset="-120"/>
              </a:rPr>
              <a:t>Offender Watchlist — MO across jurisdictions</a:t>
            </a:r>
            <a:endParaRPr lang="en-US" sz="670" dirty="0"/>
          </a:p>
        </p:txBody>
      </p:sp>
      <p:sp>
        <p:nvSpPr>
          <p:cNvPr id="26" name="Text 23"/>
          <p:cNvSpPr txBox="1"/>
          <p:nvPr/>
        </p:nvSpPr>
        <p:spPr>
          <a:xfrm>
            <a:off x="3218688" y="2981245"/>
            <a:ext cx="1152144" cy="438134"/>
          </a:xfrm>
          <a:prstGeom prst="rect">
            <a:avLst/>
          </a:prstGeom>
          <a:noFill/>
          <a:ln/>
        </p:spPr>
        <p:txBody>
          <a:bodyPr wrap="square" lIns="0" tIns="0" rIns="0" bIns="0" rtlCol="0" anchor="ctr"/>
          <a:lstStyle/>
          <a:p>
            <a:pPr marL="0" indent="0">
              <a:lnSpc>
                <a:spcPct val="93000"/>
              </a:lnSpc>
              <a:buNone/>
            </a:pPr>
            <a:r>
              <a:rPr lang="en-US" sz="670" b="1" dirty="0">
                <a:solidFill>
                  <a:srgbClr val="0F2F44"/>
                </a:solidFill>
                <a:latin typeface="Calibri" pitchFamily="34" charset="0"/>
                <a:ea typeface="Calibri" pitchFamily="34" charset="-122"/>
                <a:cs typeface="Calibri" pitchFamily="34" charset="-120"/>
              </a:rPr>
              <a:t>578 repeat · 52,928 identities</a:t>
            </a:r>
            <a:endParaRPr lang="en-US" sz="670" dirty="0"/>
          </a:p>
        </p:txBody>
      </p:sp>
      <p:sp>
        <p:nvSpPr>
          <p:cNvPr id="27" name="Text 24"/>
          <p:cNvSpPr txBox="1"/>
          <p:nvPr/>
        </p:nvSpPr>
        <p:spPr>
          <a:xfrm>
            <a:off x="475488" y="3365680"/>
            <a:ext cx="1298448" cy="438134"/>
          </a:xfrm>
          <a:prstGeom prst="rect">
            <a:avLst/>
          </a:prstGeom>
          <a:noFill/>
          <a:ln/>
        </p:spPr>
        <p:txBody>
          <a:bodyPr wrap="square" lIns="0" tIns="0" rIns="0" bIns="0" rtlCol="0" anchor="ctr"/>
          <a:lstStyle/>
          <a:p>
            <a:pPr marL="0" indent="0">
              <a:lnSpc>
                <a:spcPct val="93000"/>
              </a:lnSpc>
              <a:buNone/>
            </a:pPr>
            <a:r>
              <a:rPr lang="en-US" sz="690" b="1" dirty="0">
                <a:solidFill>
                  <a:srgbClr val="2FA8A0"/>
                </a:solidFill>
                <a:latin typeface="Calibri" pitchFamily="34" charset="0"/>
                <a:ea typeface="Calibri" pitchFamily="34" charset="-122"/>
                <a:cs typeface="Calibri" pitchFamily="34" charset="-120"/>
              </a:rPr>
              <a:t>2c · Association detection</a:t>
            </a:r>
            <a:endParaRPr lang="en-US" sz="690" dirty="0"/>
          </a:p>
        </p:txBody>
      </p:sp>
      <p:sp>
        <p:nvSpPr>
          <p:cNvPr id="28" name="Text 25"/>
          <p:cNvSpPr txBox="1"/>
          <p:nvPr/>
        </p:nvSpPr>
        <p:spPr>
          <a:xfrm>
            <a:off x="1810512" y="3365680"/>
            <a:ext cx="1371600" cy="438134"/>
          </a:xfrm>
          <a:prstGeom prst="rect">
            <a:avLst/>
          </a:prstGeom>
          <a:noFill/>
          <a:ln/>
        </p:spPr>
        <p:txBody>
          <a:bodyPr wrap="square" lIns="0" tIns="0" rIns="0" bIns="0" rtlCol="0" anchor="ctr"/>
          <a:lstStyle/>
          <a:p>
            <a:pPr marL="0" indent="0">
              <a:lnSpc>
                <a:spcPct val="93000"/>
              </a:lnSpc>
              <a:buNone/>
            </a:pPr>
            <a:r>
              <a:rPr lang="en-US" sz="670" dirty="0">
                <a:solidFill>
                  <a:srgbClr val="5B6B7C"/>
                </a:solidFill>
                <a:latin typeface="Calibri" pitchFamily="34" charset="0"/>
                <a:ea typeface="Calibri" pitchFamily="34" charset="-122"/>
                <a:cs typeface="Calibri" pitchFamily="34" charset="-120"/>
              </a:rPr>
              <a:t>Clusters — Louvain communities over the graph</a:t>
            </a:r>
            <a:endParaRPr lang="en-US" sz="670" dirty="0"/>
          </a:p>
        </p:txBody>
      </p:sp>
      <p:sp>
        <p:nvSpPr>
          <p:cNvPr id="29" name="Text 26"/>
          <p:cNvSpPr txBox="1"/>
          <p:nvPr/>
        </p:nvSpPr>
        <p:spPr>
          <a:xfrm>
            <a:off x="3218688" y="3365680"/>
            <a:ext cx="1152144" cy="438134"/>
          </a:xfrm>
          <a:prstGeom prst="rect">
            <a:avLst/>
          </a:prstGeom>
          <a:noFill/>
          <a:ln/>
        </p:spPr>
        <p:txBody>
          <a:bodyPr wrap="square" lIns="0" tIns="0" rIns="0" bIns="0" rtlCol="0" anchor="ctr"/>
          <a:lstStyle/>
          <a:p>
            <a:pPr marL="0" indent="0">
              <a:lnSpc>
                <a:spcPct val="93000"/>
              </a:lnSpc>
              <a:buNone/>
            </a:pPr>
            <a:r>
              <a:rPr lang="en-US" sz="670" b="1" dirty="0">
                <a:solidFill>
                  <a:srgbClr val="0F2F44"/>
                </a:solidFill>
                <a:latin typeface="Calibri" pitchFamily="34" charset="0"/>
                <a:ea typeface="Calibri" pitchFamily="34" charset="-122"/>
                <a:cs typeface="Calibri" pitchFamily="34" charset="-120"/>
              </a:rPr>
              <a:t>100 clusters · largest 172 cases</a:t>
            </a:r>
            <a:endParaRPr lang="en-US" sz="670" dirty="0"/>
          </a:p>
        </p:txBody>
      </p:sp>
      <p:sp>
        <p:nvSpPr>
          <p:cNvPr id="30" name="Shape 27"/>
          <p:cNvSpPr/>
          <p:nvPr/>
        </p:nvSpPr>
        <p:spPr>
          <a:xfrm>
            <a:off x="4681728" y="1225295"/>
            <a:ext cx="4078224" cy="2638043"/>
          </a:xfrm>
          <a:prstGeom prst="roundRect">
            <a:avLst>
              <a:gd name="adj" fmla="val 2222"/>
            </a:avLst>
          </a:prstGeom>
          <a:solidFill>
            <a:srgbClr val="FFFFFF"/>
          </a:solidFill>
          <a:ln w="9525">
            <a:solidFill>
              <a:srgbClr val="DCE3EC"/>
            </a:solidFill>
            <a:prstDash val="solid"/>
          </a:ln>
        </p:spPr>
        <p:txBody>
          <a:bodyPr/>
          <a:lstStyle/>
          <a:p>
            <a:endParaRPr lang="en-US"/>
          </a:p>
        </p:txBody>
      </p:sp>
      <p:sp>
        <p:nvSpPr>
          <p:cNvPr id="31" name="Text 28"/>
          <p:cNvSpPr txBox="1"/>
          <p:nvPr/>
        </p:nvSpPr>
        <p:spPr>
          <a:xfrm>
            <a:off x="4773168" y="1311156"/>
            <a:ext cx="1298448" cy="164592"/>
          </a:xfrm>
          <a:prstGeom prst="rect">
            <a:avLst/>
          </a:prstGeom>
          <a:noFill/>
          <a:ln/>
        </p:spPr>
        <p:txBody>
          <a:bodyPr wrap="square" lIns="0" tIns="0" rIns="0" bIns="0" rtlCol="0" anchor="ctr"/>
          <a:lstStyle/>
          <a:p>
            <a:pPr marL="0" indent="0">
              <a:buNone/>
            </a:pPr>
            <a:r>
              <a:rPr lang="en-US" sz="1100" b="1" kern="0" spc="40" dirty="0">
                <a:solidFill>
                  <a:schemeClr val="tx1">
                    <a:lumMod val="85000"/>
                    <a:lumOff val="15000"/>
                  </a:schemeClr>
                </a:solidFill>
                <a:latin typeface="Calibri" pitchFamily="34" charset="0"/>
                <a:ea typeface="Calibri" pitchFamily="34" charset="-122"/>
                <a:cs typeface="Calibri" pitchFamily="34" charset="-120"/>
              </a:rPr>
              <a:t>REQUIREMENT </a:t>
            </a:r>
            <a:endParaRPr lang="en-US" sz="1100" dirty="0">
              <a:solidFill>
                <a:schemeClr val="tx1">
                  <a:lumMod val="85000"/>
                  <a:lumOff val="15000"/>
                </a:schemeClr>
              </a:solidFill>
            </a:endParaRPr>
          </a:p>
        </p:txBody>
      </p:sp>
      <p:sp>
        <p:nvSpPr>
          <p:cNvPr id="32" name="Text 29"/>
          <p:cNvSpPr txBox="1"/>
          <p:nvPr/>
        </p:nvSpPr>
        <p:spPr>
          <a:xfrm>
            <a:off x="6108192" y="1311156"/>
            <a:ext cx="1371600" cy="164592"/>
          </a:xfrm>
          <a:prstGeom prst="rect">
            <a:avLst/>
          </a:prstGeom>
          <a:noFill/>
          <a:ln/>
        </p:spPr>
        <p:txBody>
          <a:bodyPr wrap="square" lIns="0" tIns="0" rIns="0" bIns="0" rtlCol="0" anchor="ctr"/>
          <a:lstStyle/>
          <a:p>
            <a:pPr marL="0" indent="0">
              <a:buNone/>
            </a:pPr>
            <a:r>
              <a:rPr lang="en-US" sz="1100" b="1" kern="0" spc="40" dirty="0">
                <a:solidFill>
                  <a:schemeClr val="tx1">
                    <a:lumMod val="85000"/>
                    <a:lumOff val="15000"/>
                  </a:schemeClr>
                </a:solidFill>
                <a:latin typeface="Calibri" pitchFamily="34" charset="0"/>
                <a:ea typeface="Calibri" pitchFamily="34" charset="-122"/>
                <a:cs typeface="Calibri" pitchFamily="34" charset="-120"/>
              </a:rPr>
              <a:t>WHERE IT SHIPS</a:t>
            </a:r>
            <a:endParaRPr lang="en-US" sz="1100" dirty="0">
              <a:solidFill>
                <a:schemeClr val="tx1">
                  <a:lumMod val="85000"/>
                  <a:lumOff val="15000"/>
                </a:schemeClr>
              </a:solidFill>
            </a:endParaRPr>
          </a:p>
        </p:txBody>
      </p:sp>
      <p:sp>
        <p:nvSpPr>
          <p:cNvPr id="33" name="Text 30"/>
          <p:cNvSpPr txBox="1"/>
          <p:nvPr/>
        </p:nvSpPr>
        <p:spPr>
          <a:xfrm>
            <a:off x="7516368" y="1311156"/>
            <a:ext cx="1152144" cy="164592"/>
          </a:xfrm>
          <a:prstGeom prst="rect">
            <a:avLst/>
          </a:prstGeom>
          <a:noFill/>
          <a:ln/>
        </p:spPr>
        <p:txBody>
          <a:bodyPr wrap="square" lIns="0" tIns="0" rIns="0" bIns="0" rtlCol="0" anchor="ctr"/>
          <a:lstStyle/>
          <a:p>
            <a:pPr marL="0" indent="0">
              <a:buNone/>
            </a:pPr>
            <a:r>
              <a:rPr lang="en-US" sz="1100" b="1" kern="0" spc="40" dirty="0">
                <a:solidFill>
                  <a:schemeClr val="tx1">
                    <a:lumMod val="85000"/>
                    <a:lumOff val="15000"/>
                  </a:schemeClr>
                </a:solidFill>
                <a:latin typeface="Calibri" pitchFamily="34" charset="0"/>
                <a:ea typeface="Calibri" pitchFamily="34" charset="-122"/>
                <a:cs typeface="Calibri" pitchFamily="34" charset="-120"/>
              </a:rPr>
              <a:t>THE NUMBER</a:t>
            </a:r>
            <a:endParaRPr lang="en-US" sz="1100" dirty="0">
              <a:solidFill>
                <a:schemeClr val="tx1">
                  <a:lumMod val="85000"/>
                  <a:lumOff val="15000"/>
                </a:schemeClr>
              </a:solidFill>
            </a:endParaRPr>
          </a:p>
        </p:txBody>
      </p:sp>
      <p:sp>
        <p:nvSpPr>
          <p:cNvPr id="34" name="Shape 31"/>
          <p:cNvSpPr/>
          <p:nvPr/>
        </p:nvSpPr>
        <p:spPr>
          <a:xfrm>
            <a:off x="4736592" y="1627155"/>
            <a:ext cx="3968496" cy="347472"/>
          </a:xfrm>
          <a:prstGeom prst="rect">
            <a:avLst/>
          </a:prstGeom>
          <a:solidFill>
            <a:srgbClr val="F4F6F9"/>
          </a:solidFill>
          <a:ln w="12700">
            <a:solidFill>
              <a:srgbClr val="F4F6F9"/>
            </a:solidFill>
            <a:prstDash val="solid"/>
          </a:ln>
        </p:spPr>
        <p:txBody>
          <a:bodyPr/>
          <a:lstStyle/>
          <a:p>
            <a:endParaRPr lang="en-US"/>
          </a:p>
        </p:txBody>
      </p:sp>
      <p:sp>
        <p:nvSpPr>
          <p:cNvPr id="35" name="Text 32"/>
          <p:cNvSpPr txBox="1"/>
          <p:nvPr/>
        </p:nvSpPr>
        <p:spPr>
          <a:xfrm>
            <a:off x="4773168" y="1663731"/>
            <a:ext cx="1298448" cy="310896"/>
          </a:xfrm>
          <a:prstGeom prst="rect">
            <a:avLst/>
          </a:prstGeom>
          <a:noFill/>
          <a:ln/>
        </p:spPr>
        <p:txBody>
          <a:bodyPr wrap="square" lIns="0" tIns="0" rIns="0" bIns="0" rtlCol="0" anchor="ctr"/>
          <a:lstStyle/>
          <a:p>
            <a:pPr marL="0" indent="0">
              <a:lnSpc>
                <a:spcPct val="93000"/>
              </a:lnSpc>
              <a:buNone/>
            </a:pPr>
            <a:r>
              <a:rPr lang="en-US" sz="690" b="1" dirty="0">
                <a:solidFill>
                  <a:srgbClr val="E8871E"/>
                </a:solidFill>
                <a:latin typeface="Calibri" pitchFamily="34" charset="0"/>
                <a:ea typeface="Calibri" pitchFamily="34" charset="-122"/>
                <a:cs typeface="Calibri" pitchFamily="34" charset="-120"/>
              </a:rPr>
              <a:t>3a · Socio-economic correlation</a:t>
            </a:r>
            <a:endParaRPr lang="en-US" sz="690" dirty="0"/>
          </a:p>
        </p:txBody>
      </p:sp>
      <p:sp>
        <p:nvSpPr>
          <p:cNvPr id="36" name="Text 33"/>
          <p:cNvSpPr txBox="1"/>
          <p:nvPr/>
        </p:nvSpPr>
        <p:spPr>
          <a:xfrm>
            <a:off x="6108192" y="1663731"/>
            <a:ext cx="1371600" cy="310896"/>
          </a:xfrm>
          <a:prstGeom prst="rect">
            <a:avLst/>
          </a:prstGeom>
          <a:noFill/>
          <a:ln/>
        </p:spPr>
        <p:txBody>
          <a:bodyPr wrap="square" lIns="0" tIns="0" rIns="0" bIns="0" rtlCol="0" anchor="ctr"/>
          <a:lstStyle/>
          <a:p>
            <a:pPr marL="0" indent="0">
              <a:lnSpc>
                <a:spcPct val="93000"/>
              </a:lnSpc>
              <a:buNone/>
            </a:pPr>
            <a:r>
              <a:rPr lang="en-US" sz="670" dirty="0">
                <a:solidFill>
                  <a:srgbClr val="5B6B7C"/>
                </a:solidFill>
                <a:latin typeface="Calibri" pitchFamily="34" charset="0"/>
                <a:ea typeface="Calibri" pitchFamily="34" charset="-122"/>
                <a:cs typeface="Calibri" pitchFamily="34" charset="-120"/>
              </a:rPr>
              <a:t>Socio-economic Insights — per-capita, with p-values</a:t>
            </a:r>
            <a:endParaRPr lang="en-US" sz="670" dirty="0"/>
          </a:p>
        </p:txBody>
      </p:sp>
      <p:sp>
        <p:nvSpPr>
          <p:cNvPr id="37" name="Text 34"/>
          <p:cNvSpPr txBox="1"/>
          <p:nvPr/>
        </p:nvSpPr>
        <p:spPr>
          <a:xfrm>
            <a:off x="7516368" y="1663731"/>
            <a:ext cx="1152144" cy="310896"/>
          </a:xfrm>
          <a:prstGeom prst="rect">
            <a:avLst/>
          </a:prstGeom>
          <a:noFill/>
          <a:ln/>
        </p:spPr>
        <p:txBody>
          <a:bodyPr wrap="square" lIns="0" tIns="0" rIns="0" bIns="0" rtlCol="0" anchor="ctr"/>
          <a:lstStyle/>
          <a:p>
            <a:pPr marL="0" indent="0">
              <a:lnSpc>
                <a:spcPct val="93000"/>
              </a:lnSpc>
              <a:buNone/>
            </a:pPr>
            <a:r>
              <a:rPr lang="en-US" sz="670" b="1" dirty="0">
                <a:solidFill>
                  <a:srgbClr val="0F2F44"/>
                </a:solidFill>
                <a:latin typeface="Calibri" pitchFamily="34" charset="0"/>
                <a:ea typeface="Calibri" pitchFamily="34" charset="-122"/>
                <a:cs typeface="Calibri" pitchFamily="34" charset="-120"/>
              </a:rPr>
              <a:t>+0.880 urbanisation, p &lt; 0.0001</a:t>
            </a:r>
            <a:endParaRPr lang="en-US" sz="670" dirty="0"/>
          </a:p>
        </p:txBody>
      </p:sp>
      <p:sp>
        <p:nvSpPr>
          <p:cNvPr id="38" name="Text 35"/>
          <p:cNvSpPr txBox="1"/>
          <p:nvPr/>
        </p:nvSpPr>
        <p:spPr>
          <a:xfrm>
            <a:off x="4773168" y="2024919"/>
            <a:ext cx="1298448" cy="310896"/>
          </a:xfrm>
          <a:prstGeom prst="rect">
            <a:avLst/>
          </a:prstGeom>
          <a:noFill/>
          <a:ln/>
        </p:spPr>
        <p:txBody>
          <a:bodyPr wrap="square" lIns="0" tIns="0" rIns="0" bIns="0" rtlCol="0" anchor="ctr"/>
          <a:lstStyle/>
          <a:p>
            <a:pPr marL="0" indent="0">
              <a:lnSpc>
                <a:spcPct val="93000"/>
              </a:lnSpc>
              <a:buNone/>
            </a:pPr>
            <a:r>
              <a:rPr lang="en-US" sz="690" b="1" dirty="0">
                <a:solidFill>
                  <a:srgbClr val="E8871E"/>
                </a:solidFill>
                <a:latin typeface="Calibri" pitchFamily="34" charset="0"/>
                <a:ea typeface="Calibri" pitchFamily="34" charset="-122"/>
                <a:cs typeface="Calibri" pitchFamily="34" charset="-120"/>
              </a:rPr>
              <a:t>3b · Predictive risk scoring</a:t>
            </a:r>
            <a:endParaRPr lang="en-US" sz="690" dirty="0"/>
          </a:p>
        </p:txBody>
      </p:sp>
      <p:sp>
        <p:nvSpPr>
          <p:cNvPr id="39" name="Text 36"/>
          <p:cNvSpPr txBox="1"/>
          <p:nvPr/>
        </p:nvSpPr>
        <p:spPr>
          <a:xfrm>
            <a:off x="6108192" y="2024919"/>
            <a:ext cx="1371600" cy="310896"/>
          </a:xfrm>
          <a:prstGeom prst="rect">
            <a:avLst/>
          </a:prstGeom>
          <a:noFill/>
          <a:ln/>
        </p:spPr>
        <p:txBody>
          <a:bodyPr wrap="square" lIns="0" tIns="0" rIns="0" bIns="0" rtlCol="0" anchor="ctr"/>
          <a:lstStyle/>
          <a:p>
            <a:pPr marL="0" indent="0">
              <a:lnSpc>
                <a:spcPct val="93000"/>
              </a:lnSpc>
              <a:buNone/>
            </a:pPr>
            <a:r>
              <a:rPr lang="en-US" sz="670" dirty="0">
                <a:solidFill>
                  <a:srgbClr val="5B6B7C"/>
                </a:solidFill>
                <a:latin typeface="Calibri" pitchFamily="34" charset="0"/>
                <a:ea typeface="Calibri" pitchFamily="34" charset="-122"/>
                <a:cs typeface="Calibri" pitchFamily="34" charset="-120"/>
              </a:rPr>
              <a:t>React + Forecast — risk bands and horizons</a:t>
            </a:r>
            <a:endParaRPr lang="en-US" sz="670" dirty="0"/>
          </a:p>
        </p:txBody>
      </p:sp>
      <p:sp>
        <p:nvSpPr>
          <p:cNvPr id="40" name="Text 37"/>
          <p:cNvSpPr txBox="1"/>
          <p:nvPr/>
        </p:nvSpPr>
        <p:spPr>
          <a:xfrm>
            <a:off x="7516368" y="2024919"/>
            <a:ext cx="1152144" cy="310896"/>
          </a:xfrm>
          <a:prstGeom prst="rect">
            <a:avLst/>
          </a:prstGeom>
          <a:noFill/>
          <a:ln/>
        </p:spPr>
        <p:txBody>
          <a:bodyPr wrap="square" lIns="0" tIns="0" rIns="0" bIns="0" rtlCol="0" anchor="ctr"/>
          <a:lstStyle/>
          <a:p>
            <a:pPr marL="0" indent="0">
              <a:lnSpc>
                <a:spcPct val="93000"/>
              </a:lnSpc>
              <a:buNone/>
            </a:pPr>
            <a:r>
              <a:rPr lang="en-US" sz="670" b="1" dirty="0">
                <a:solidFill>
                  <a:srgbClr val="0F2F44"/>
                </a:solidFill>
                <a:latin typeface="Calibri" pitchFamily="34" charset="0"/>
                <a:ea typeface="Calibri" pitchFamily="34" charset="-122"/>
                <a:cs typeface="Calibri" pitchFamily="34" charset="-120"/>
              </a:rPr>
              <a:t>0.870 AUC · 3 months ahead</a:t>
            </a:r>
            <a:endParaRPr lang="en-US" sz="670" dirty="0"/>
          </a:p>
        </p:txBody>
      </p:sp>
      <p:sp>
        <p:nvSpPr>
          <p:cNvPr id="41" name="Shape 38"/>
          <p:cNvSpPr/>
          <p:nvPr/>
        </p:nvSpPr>
        <p:spPr>
          <a:xfrm>
            <a:off x="4736592" y="2349531"/>
            <a:ext cx="3968496" cy="347472"/>
          </a:xfrm>
          <a:prstGeom prst="rect">
            <a:avLst/>
          </a:prstGeom>
          <a:solidFill>
            <a:srgbClr val="F4F6F9"/>
          </a:solidFill>
          <a:ln w="12700">
            <a:solidFill>
              <a:srgbClr val="F4F6F9"/>
            </a:solidFill>
            <a:prstDash val="solid"/>
          </a:ln>
        </p:spPr>
        <p:txBody>
          <a:bodyPr/>
          <a:lstStyle/>
          <a:p>
            <a:endParaRPr lang="en-US"/>
          </a:p>
        </p:txBody>
      </p:sp>
      <p:sp>
        <p:nvSpPr>
          <p:cNvPr id="42" name="Text 39"/>
          <p:cNvSpPr txBox="1"/>
          <p:nvPr/>
        </p:nvSpPr>
        <p:spPr>
          <a:xfrm>
            <a:off x="4773168" y="2386107"/>
            <a:ext cx="1298448" cy="310896"/>
          </a:xfrm>
          <a:prstGeom prst="rect">
            <a:avLst/>
          </a:prstGeom>
          <a:noFill/>
          <a:ln/>
        </p:spPr>
        <p:txBody>
          <a:bodyPr wrap="square" lIns="0" tIns="0" rIns="0" bIns="0" rtlCol="0" anchor="ctr"/>
          <a:lstStyle/>
          <a:p>
            <a:pPr marL="0" indent="0">
              <a:lnSpc>
                <a:spcPct val="93000"/>
              </a:lnSpc>
              <a:buNone/>
            </a:pPr>
            <a:r>
              <a:rPr lang="en-US" sz="690" b="1" dirty="0">
                <a:solidFill>
                  <a:srgbClr val="E8871E"/>
                </a:solidFill>
                <a:latin typeface="Calibri" pitchFamily="34" charset="0"/>
                <a:ea typeface="Calibri" pitchFamily="34" charset="-122"/>
                <a:cs typeface="Calibri" pitchFamily="34" charset="-120"/>
              </a:rPr>
              <a:t>3c · Anomaly detection</a:t>
            </a:r>
            <a:endParaRPr lang="en-US" sz="690" dirty="0"/>
          </a:p>
        </p:txBody>
      </p:sp>
      <p:sp>
        <p:nvSpPr>
          <p:cNvPr id="43" name="Text 40"/>
          <p:cNvSpPr txBox="1"/>
          <p:nvPr/>
        </p:nvSpPr>
        <p:spPr>
          <a:xfrm>
            <a:off x="6108192" y="2386107"/>
            <a:ext cx="1371600" cy="310896"/>
          </a:xfrm>
          <a:prstGeom prst="rect">
            <a:avLst/>
          </a:prstGeom>
          <a:noFill/>
          <a:ln/>
        </p:spPr>
        <p:txBody>
          <a:bodyPr wrap="square" lIns="0" tIns="0" rIns="0" bIns="0" rtlCol="0" anchor="ctr"/>
          <a:lstStyle/>
          <a:p>
            <a:pPr marL="0" indent="0">
              <a:lnSpc>
                <a:spcPct val="93000"/>
              </a:lnSpc>
              <a:buNone/>
            </a:pPr>
            <a:r>
              <a:rPr lang="en-US" sz="670" dirty="0">
                <a:solidFill>
                  <a:srgbClr val="5B6B7C"/>
                </a:solidFill>
                <a:latin typeface="Calibri" pitchFamily="34" charset="0"/>
                <a:ea typeface="Calibri" pitchFamily="34" charset="-122"/>
                <a:cs typeface="Calibri" pitchFamily="34" charset="-120"/>
              </a:rPr>
              <a:t>Investigation Health — deviation call-outs</a:t>
            </a:r>
            <a:endParaRPr lang="en-US" sz="670" dirty="0"/>
          </a:p>
        </p:txBody>
      </p:sp>
      <p:sp>
        <p:nvSpPr>
          <p:cNvPr id="44" name="Text 41"/>
          <p:cNvSpPr txBox="1"/>
          <p:nvPr/>
        </p:nvSpPr>
        <p:spPr>
          <a:xfrm>
            <a:off x="7516368" y="2386107"/>
            <a:ext cx="1152144" cy="310896"/>
          </a:xfrm>
          <a:prstGeom prst="rect">
            <a:avLst/>
          </a:prstGeom>
          <a:noFill/>
          <a:ln/>
        </p:spPr>
        <p:txBody>
          <a:bodyPr wrap="square" lIns="0" tIns="0" rIns="0" bIns="0" rtlCol="0" anchor="ctr"/>
          <a:lstStyle/>
          <a:p>
            <a:pPr marL="0" indent="0">
              <a:lnSpc>
                <a:spcPct val="93000"/>
              </a:lnSpc>
              <a:buNone/>
            </a:pPr>
            <a:r>
              <a:rPr lang="en-US" sz="670" b="1" dirty="0">
                <a:solidFill>
                  <a:srgbClr val="0F2F44"/>
                </a:solidFill>
                <a:latin typeface="Calibri" pitchFamily="34" charset="0"/>
                <a:ea typeface="Calibri" pitchFamily="34" charset="-122"/>
                <a:cs typeface="Calibri" pitchFamily="34" charset="-120"/>
              </a:rPr>
              <a:t>1,803 cases · 6 stations flagged</a:t>
            </a:r>
            <a:endParaRPr lang="en-US" sz="670" dirty="0"/>
          </a:p>
        </p:txBody>
      </p:sp>
      <p:sp>
        <p:nvSpPr>
          <p:cNvPr id="45" name="Text 42"/>
          <p:cNvSpPr txBox="1"/>
          <p:nvPr/>
        </p:nvSpPr>
        <p:spPr>
          <a:xfrm>
            <a:off x="4773168" y="2747295"/>
            <a:ext cx="1298448" cy="310896"/>
          </a:xfrm>
          <a:prstGeom prst="rect">
            <a:avLst/>
          </a:prstGeom>
          <a:noFill/>
          <a:ln/>
        </p:spPr>
        <p:txBody>
          <a:bodyPr wrap="square" lIns="0" tIns="0" rIns="0" bIns="0" rtlCol="0" anchor="ctr"/>
          <a:lstStyle/>
          <a:p>
            <a:pPr marL="0" indent="0">
              <a:lnSpc>
                <a:spcPct val="93000"/>
              </a:lnSpc>
              <a:buNone/>
            </a:pPr>
            <a:r>
              <a:rPr lang="en-US" sz="690" b="1" dirty="0">
                <a:solidFill>
                  <a:srgbClr val="6D4C9F"/>
                </a:solidFill>
                <a:latin typeface="Calibri" pitchFamily="34" charset="0"/>
                <a:ea typeface="Calibri" pitchFamily="34" charset="-122"/>
                <a:cs typeface="Calibri" pitchFamily="34" charset="-120"/>
              </a:rPr>
              <a:t>4 · Pattern &amp; trend discovery</a:t>
            </a:r>
            <a:endParaRPr lang="en-US" sz="690" dirty="0"/>
          </a:p>
        </p:txBody>
      </p:sp>
      <p:sp>
        <p:nvSpPr>
          <p:cNvPr id="46" name="Text 43"/>
          <p:cNvSpPr txBox="1"/>
          <p:nvPr/>
        </p:nvSpPr>
        <p:spPr>
          <a:xfrm>
            <a:off x="6108192" y="2747295"/>
            <a:ext cx="1371600" cy="310896"/>
          </a:xfrm>
          <a:prstGeom prst="rect">
            <a:avLst/>
          </a:prstGeom>
          <a:noFill/>
          <a:ln/>
        </p:spPr>
        <p:txBody>
          <a:bodyPr wrap="square" lIns="0" tIns="0" rIns="0" bIns="0" rtlCol="0" anchor="ctr"/>
          <a:lstStyle/>
          <a:p>
            <a:pPr marL="0" indent="0">
              <a:lnSpc>
                <a:spcPct val="93000"/>
              </a:lnSpc>
              <a:buNone/>
            </a:pPr>
            <a:r>
              <a:rPr lang="en-US" sz="670" dirty="0">
                <a:solidFill>
                  <a:srgbClr val="5B6B7C"/>
                </a:solidFill>
                <a:latin typeface="Calibri" pitchFamily="34" charset="0"/>
                <a:ea typeface="Calibri" pitchFamily="34" charset="-122"/>
                <a:cs typeface="Calibri" pitchFamily="34" charset="-120"/>
              </a:rPr>
              <a:t>Near-repeat, occasions and concentration curves</a:t>
            </a:r>
            <a:endParaRPr lang="en-US" sz="670" dirty="0"/>
          </a:p>
        </p:txBody>
      </p:sp>
      <p:sp>
        <p:nvSpPr>
          <p:cNvPr id="47" name="Text 44"/>
          <p:cNvSpPr txBox="1"/>
          <p:nvPr/>
        </p:nvSpPr>
        <p:spPr>
          <a:xfrm>
            <a:off x="7516368" y="2747295"/>
            <a:ext cx="1152144" cy="310896"/>
          </a:xfrm>
          <a:prstGeom prst="rect">
            <a:avLst/>
          </a:prstGeom>
          <a:noFill/>
          <a:ln/>
        </p:spPr>
        <p:txBody>
          <a:bodyPr wrap="square" lIns="0" tIns="0" rIns="0" bIns="0" rtlCol="0" anchor="ctr"/>
          <a:lstStyle/>
          <a:p>
            <a:pPr marL="0" indent="0">
              <a:lnSpc>
                <a:spcPct val="93000"/>
              </a:lnSpc>
              <a:buNone/>
            </a:pPr>
            <a:r>
              <a:rPr lang="en-US" sz="670" b="1" dirty="0">
                <a:solidFill>
                  <a:srgbClr val="0F2F44"/>
                </a:solidFill>
                <a:latin typeface="Calibri" pitchFamily="34" charset="0"/>
                <a:ea typeface="Calibri" pitchFamily="34" charset="-122"/>
                <a:cs typeface="Calibri" pitchFamily="34" charset="-120"/>
              </a:rPr>
              <a:t>93% repeat rate · 400 m / 14 d</a:t>
            </a:r>
            <a:endParaRPr lang="en-US" sz="670" dirty="0"/>
          </a:p>
        </p:txBody>
      </p:sp>
      <p:sp>
        <p:nvSpPr>
          <p:cNvPr id="48" name="Shape 45"/>
          <p:cNvSpPr/>
          <p:nvPr/>
        </p:nvSpPr>
        <p:spPr>
          <a:xfrm>
            <a:off x="4736592" y="3071907"/>
            <a:ext cx="3968496" cy="347472"/>
          </a:xfrm>
          <a:prstGeom prst="rect">
            <a:avLst/>
          </a:prstGeom>
          <a:solidFill>
            <a:srgbClr val="F4F6F9"/>
          </a:solidFill>
          <a:ln w="12700">
            <a:solidFill>
              <a:srgbClr val="F4F6F9"/>
            </a:solidFill>
            <a:prstDash val="solid"/>
          </a:ln>
        </p:spPr>
        <p:txBody>
          <a:bodyPr/>
          <a:lstStyle/>
          <a:p>
            <a:endParaRPr lang="en-US"/>
          </a:p>
        </p:txBody>
      </p:sp>
      <p:sp>
        <p:nvSpPr>
          <p:cNvPr id="49" name="Text 46"/>
          <p:cNvSpPr txBox="1"/>
          <p:nvPr/>
        </p:nvSpPr>
        <p:spPr>
          <a:xfrm>
            <a:off x="4773168" y="3108483"/>
            <a:ext cx="1298448" cy="310896"/>
          </a:xfrm>
          <a:prstGeom prst="rect">
            <a:avLst/>
          </a:prstGeom>
          <a:noFill/>
          <a:ln/>
        </p:spPr>
        <p:txBody>
          <a:bodyPr wrap="square" lIns="0" tIns="0" rIns="0" bIns="0" rtlCol="0" anchor="ctr"/>
          <a:lstStyle/>
          <a:p>
            <a:pPr marL="0" indent="0">
              <a:lnSpc>
                <a:spcPct val="93000"/>
              </a:lnSpc>
              <a:buNone/>
            </a:pPr>
            <a:r>
              <a:rPr lang="en-US" sz="690" b="1" dirty="0">
                <a:solidFill>
                  <a:srgbClr val="6D4C9F"/>
                </a:solidFill>
                <a:latin typeface="Calibri" pitchFamily="34" charset="0"/>
                <a:ea typeface="Calibri" pitchFamily="34" charset="-122"/>
                <a:cs typeface="Calibri" pitchFamily="34" charset="-120"/>
              </a:rPr>
              <a:t>5 · Network &amp; behavioural</a:t>
            </a:r>
            <a:endParaRPr lang="en-US" sz="690" dirty="0"/>
          </a:p>
        </p:txBody>
      </p:sp>
      <p:sp>
        <p:nvSpPr>
          <p:cNvPr id="50" name="Text 47"/>
          <p:cNvSpPr txBox="1"/>
          <p:nvPr/>
        </p:nvSpPr>
        <p:spPr>
          <a:xfrm>
            <a:off x="6108192" y="3108483"/>
            <a:ext cx="1371600" cy="310896"/>
          </a:xfrm>
          <a:prstGeom prst="rect">
            <a:avLst/>
          </a:prstGeom>
          <a:noFill/>
          <a:ln/>
        </p:spPr>
        <p:txBody>
          <a:bodyPr wrap="square" lIns="0" tIns="0" rIns="0" bIns="0" rtlCol="0" anchor="ctr"/>
          <a:lstStyle/>
          <a:p>
            <a:pPr marL="0" indent="0">
              <a:lnSpc>
                <a:spcPct val="93000"/>
              </a:lnSpc>
              <a:buNone/>
            </a:pPr>
            <a:r>
              <a:rPr lang="en-US" sz="670" dirty="0">
                <a:solidFill>
                  <a:srgbClr val="5B6B7C"/>
                </a:solidFill>
                <a:latin typeface="Calibri" pitchFamily="34" charset="0"/>
                <a:ea typeface="Calibri" pitchFamily="34" charset="-122"/>
                <a:cs typeface="Calibri" pitchFamily="34" charset="-120"/>
              </a:rPr>
              <a:t>Graph + agenda — mo_similarity is a first-class edge</a:t>
            </a:r>
            <a:endParaRPr lang="en-US" sz="670" dirty="0"/>
          </a:p>
        </p:txBody>
      </p:sp>
      <p:sp>
        <p:nvSpPr>
          <p:cNvPr id="51" name="Text 48"/>
          <p:cNvSpPr txBox="1"/>
          <p:nvPr/>
        </p:nvSpPr>
        <p:spPr>
          <a:xfrm>
            <a:off x="7516368" y="3108483"/>
            <a:ext cx="1152144" cy="310896"/>
          </a:xfrm>
          <a:prstGeom prst="rect">
            <a:avLst/>
          </a:prstGeom>
          <a:noFill/>
          <a:ln/>
        </p:spPr>
        <p:txBody>
          <a:bodyPr wrap="square" lIns="0" tIns="0" rIns="0" bIns="0" rtlCol="0" anchor="ctr"/>
          <a:lstStyle/>
          <a:p>
            <a:pPr marL="0" indent="0">
              <a:lnSpc>
                <a:spcPct val="93000"/>
              </a:lnSpc>
              <a:buNone/>
            </a:pPr>
            <a:r>
              <a:rPr lang="en-US" sz="670" b="1" dirty="0">
                <a:solidFill>
                  <a:srgbClr val="0F2F44"/>
                </a:solidFill>
                <a:latin typeface="Calibri" pitchFamily="34" charset="0"/>
                <a:ea typeface="Calibri" pitchFamily="34" charset="-122"/>
                <a:cs typeface="Calibri" pitchFamily="34" charset="-120"/>
              </a:rPr>
              <a:t>shared MO ranked below offender</a:t>
            </a:r>
            <a:endParaRPr lang="en-US" sz="670" dirty="0"/>
          </a:p>
        </p:txBody>
      </p:sp>
      <p:sp>
        <p:nvSpPr>
          <p:cNvPr id="52" name="Text 49"/>
          <p:cNvSpPr txBox="1"/>
          <p:nvPr/>
        </p:nvSpPr>
        <p:spPr>
          <a:xfrm>
            <a:off x="4773168" y="3469671"/>
            <a:ext cx="1298448" cy="310896"/>
          </a:xfrm>
          <a:prstGeom prst="rect">
            <a:avLst/>
          </a:prstGeom>
          <a:noFill/>
          <a:ln/>
        </p:spPr>
        <p:txBody>
          <a:bodyPr wrap="square" lIns="0" tIns="0" rIns="0" bIns="0" rtlCol="0" anchor="ctr"/>
          <a:lstStyle/>
          <a:p>
            <a:pPr marL="0" indent="0">
              <a:lnSpc>
                <a:spcPct val="93000"/>
              </a:lnSpc>
              <a:buNone/>
            </a:pPr>
            <a:r>
              <a:rPr lang="en-US" sz="690" b="1" dirty="0">
                <a:solidFill>
                  <a:srgbClr val="6D4C9F"/>
                </a:solidFill>
                <a:latin typeface="Calibri" pitchFamily="34" charset="0"/>
                <a:ea typeface="Calibri" pitchFamily="34" charset="-122"/>
                <a:cs typeface="Calibri" pitchFamily="34" charset="-120"/>
              </a:rPr>
              <a:t>6 · AI/ML-driven intelligence</a:t>
            </a:r>
            <a:endParaRPr lang="en-US" sz="690" dirty="0"/>
          </a:p>
        </p:txBody>
      </p:sp>
      <p:sp>
        <p:nvSpPr>
          <p:cNvPr id="53" name="Text 50"/>
          <p:cNvSpPr txBox="1"/>
          <p:nvPr/>
        </p:nvSpPr>
        <p:spPr>
          <a:xfrm>
            <a:off x="6108192" y="3469671"/>
            <a:ext cx="1371600" cy="310896"/>
          </a:xfrm>
          <a:prstGeom prst="rect">
            <a:avLst/>
          </a:prstGeom>
          <a:noFill/>
          <a:ln/>
        </p:spPr>
        <p:txBody>
          <a:bodyPr wrap="square" lIns="0" tIns="0" rIns="0" bIns="0" rtlCol="0" anchor="ctr"/>
          <a:lstStyle/>
          <a:p>
            <a:pPr marL="0" indent="0">
              <a:lnSpc>
                <a:spcPct val="93000"/>
              </a:lnSpc>
              <a:buNone/>
            </a:pPr>
            <a:r>
              <a:rPr lang="en-US" sz="670" dirty="0">
                <a:solidFill>
                  <a:srgbClr val="5B6B7C"/>
                </a:solidFill>
                <a:latin typeface="Calibri" pitchFamily="34" charset="0"/>
                <a:ea typeface="Calibri" pitchFamily="34" charset="-122"/>
                <a:cs typeface="Calibri" pitchFamily="34" charset="-120"/>
              </a:rPr>
              <a:t>Eight models on QuickML and scikit-learn</a:t>
            </a:r>
            <a:endParaRPr lang="en-US" sz="670" dirty="0"/>
          </a:p>
        </p:txBody>
      </p:sp>
      <p:sp>
        <p:nvSpPr>
          <p:cNvPr id="54" name="Text 51"/>
          <p:cNvSpPr txBox="1"/>
          <p:nvPr/>
        </p:nvSpPr>
        <p:spPr>
          <a:xfrm>
            <a:off x="7516368" y="3469671"/>
            <a:ext cx="1152144" cy="310896"/>
          </a:xfrm>
          <a:prstGeom prst="rect">
            <a:avLst/>
          </a:prstGeom>
          <a:noFill/>
          <a:ln/>
        </p:spPr>
        <p:txBody>
          <a:bodyPr wrap="square" lIns="0" tIns="0" rIns="0" bIns="0" rtlCol="0" anchor="ctr"/>
          <a:lstStyle/>
          <a:p>
            <a:pPr marL="0" indent="0">
              <a:lnSpc>
                <a:spcPct val="93000"/>
              </a:lnSpc>
              <a:buNone/>
            </a:pPr>
            <a:r>
              <a:rPr lang="en-US" sz="670" b="1" dirty="0">
                <a:solidFill>
                  <a:srgbClr val="0F2F44"/>
                </a:solidFill>
                <a:latin typeface="Calibri" pitchFamily="34" charset="0"/>
                <a:ea typeface="Calibri" pitchFamily="34" charset="-122"/>
                <a:cs typeface="Calibri" pitchFamily="34" charset="-120"/>
              </a:rPr>
              <a:t>12 candidates cut · fairness test</a:t>
            </a:r>
            <a:endParaRPr lang="en-US" sz="670" dirty="0"/>
          </a:p>
        </p:txBody>
      </p:sp>
      <p:sp>
        <p:nvSpPr>
          <p:cNvPr id="55" name="Shape 52"/>
          <p:cNvSpPr/>
          <p:nvPr/>
        </p:nvSpPr>
        <p:spPr>
          <a:xfrm>
            <a:off x="384048" y="4009292"/>
            <a:ext cx="4078224" cy="763876"/>
          </a:xfrm>
          <a:prstGeom prst="roundRect">
            <a:avLst>
              <a:gd name="adj" fmla="val 5660"/>
            </a:avLst>
          </a:prstGeom>
          <a:solidFill>
            <a:srgbClr val="E4F5F3"/>
          </a:solidFill>
          <a:ln w="9525">
            <a:solidFill>
              <a:srgbClr val="BFE4E0"/>
            </a:solidFill>
            <a:prstDash val="solid"/>
          </a:ln>
        </p:spPr>
        <p:txBody>
          <a:bodyPr/>
          <a:lstStyle/>
          <a:p>
            <a:endParaRPr lang="en-US"/>
          </a:p>
        </p:txBody>
      </p:sp>
      <p:sp>
        <p:nvSpPr>
          <p:cNvPr id="56" name="Text 53"/>
          <p:cNvSpPr txBox="1"/>
          <p:nvPr/>
        </p:nvSpPr>
        <p:spPr>
          <a:xfrm>
            <a:off x="512064" y="4070037"/>
            <a:ext cx="3822192" cy="201168"/>
          </a:xfrm>
          <a:prstGeom prst="rect">
            <a:avLst/>
          </a:prstGeom>
          <a:noFill/>
          <a:ln/>
        </p:spPr>
        <p:txBody>
          <a:bodyPr wrap="square" lIns="0" tIns="0" rIns="0" bIns="0" rtlCol="0" anchor="ctr"/>
          <a:lstStyle/>
          <a:p>
            <a:pPr marL="0" indent="0">
              <a:buNone/>
            </a:pPr>
            <a:r>
              <a:rPr lang="en-US" sz="1000" b="1" dirty="0">
                <a:solidFill>
                  <a:srgbClr val="2FA8A0"/>
                </a:solidFill>
                <a:latin typeface="Calibri" pitchFamily="34" charset="0"/>
                <a:ea typeface="Calibri" pitchFamily="34" charset="-122"/>
                <a:cs typeface="Calibri" pitchFamily="34" charset="-120"/>
              </a:rPr>
              <a:t>Nothing in the statement is unserved</a:t>
            </a:r>
            <a:endParaRPr lang="en-US" sz="1000" dirty="0"/>
          </a:p>
        </p:txBody>
      </p:sp>
      <p:sp>
        <p:nvSpPr>
          <p:cNvPr id="57" name="Text 54"/>
          <p:cNvSpPr txBox="1"/>
          <p:nvPr/>
        </p:nvSpPr>
        <p:spPr>
          <a:xfrm>
            <a:off x="512064" y="4271205"/>
            <a:ext cx="3822192" cy="658368"/>
          </a:xfrm>
          <a:prstGeom prst="rect">
            <a:avLst/>
          </a:prstGeom>
          <a:noFill/>
          <a:ln/>
        </p:spPr>
        <p:txBody>
          <a:bodyPr wrap="square" lIns="0" tIns="0" rIns="0" bIns="0" rtlCol="0" anchor="t"/>
          <a:lstStyle/>
          <a:p>
            <a:pPr marL="0" indent="0">
              <a:lnSpc>
                <a:spcPct val="102000"/>
              </a:lnSpc>
              <a:buNone/>
            </a:pPr>
            <a:r>
              <a:rPr lang="en-US" sz="900" dirty="0">
                <a:solidFill>
                  <a:srgbClr val="5B6B7C"/>
                </a:solidFill>
                <a:latin typeface="Calibri" pitchFamily="34" charset="0"/>
                <a:ea typeface="Calibri" pitchFamily="34" charset="-122"/>
                <a:cs typeface="Calibri" pitchFamily="34" charset="-120"/>
              </a:rPr>
              <a:t>Twelve requirements, twelve live screens. Capabilities 4 and 5 restate 1b and 2 at a different altitude, so they share the same analyses rather than duplicate them — the next slide shows that layer in full.</a:t>
            </a:r>
            <a:endParaRPr lang="en-US" sz="900" dirty="0"/>
          </a:p>
        </p:txBody>
      </p:sp>
      <p:sp>
        <p:nvSpPr>
          <p:cNvPr id="58" name="Shape 55"/>
          <p:cNvSpPr/>
          <p:nvPr/>
        </p:nvSpPr>
        <p:spPr>
          <a:xfrm>
            <a:off x="4681728" y="4009292"/>
            <a:ext cx="4078224" cy="763876"/>
          </a:xfrm>
          <a:prstGeom prst="roundRect">
            <a:avLst>
              <a:gd name="adj" fmla="val 5660"/>
            </a:avLst>
          </a:prstGeom>
          <a:solidFill>
            <a:srgbClr val="0F2F44"/>
          </a:solidFill>
          <a:ln w="9525">
            <a:solidFill>
              <a:srgbClr val="0F2F44"/>
            </a:solidFill>
            <a:prstDash val="solid"/>
          </a:ln>
        </p:spPr>
        <p:txBody>
          <a:bodyPr/>
          <a:lstStyle/>
          <a:p>
            <a:endParaRPr lang="en-US"/>
          </a:p>
        </p:txBody>
      </p:sp>
      <p:sp>
        <p:nvSpPr>
          <p:cNvPr id="59" name="Text 56"/>
          <p:cNvSpPr txBox="1"/>
          <p:nvPr/>
        </p:nvSpPr>
        <p:spPr>
          <a:xfrm>
            <a:off x="4809744" y="4070037"/>
            <a:ext cx="3822192" cy="20116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And one thing the statement does not ask for</a:t>
            </a:r>
            <a:endParaRPr lang="en-US" sz="1000" dirty="0"/>
          </a:p>
        </p:txBody>
      </p:sp>
      <p:sp>
        <p:nvSpPr>
          <p:cNvPr id="60" name="Text 57"/>
          <p:cNvSpPr txBox="1"/>
          <p:nvPr/>
        </p:nvSpPr>
        <p:spPr>
          <a:xfrm>
            <a:off x="4809744" y="4271205"/>
            <a:ext cx="3822192" cy="658368"/>
          </a:xfrm>
          <a:prstGeom prst="rect">
            <a:avLst/>
          </a:prstGeom>
          <a:noFill/>
          <a:ln/>
        </p:spPr>
        <p:txBody>
          <a:bodyPr wrap="square" lIns="0" tIns="0" rIns="0" bIns="0" rtlCol="0" anchor="t"/>
          <a:lstStyle/>
          <a:p>
            <a:pPr marL="0" indent="0">
              <a:lnSpc>
                <a:spcPct val="102000"/>
              </a:lnSpc>
              <a:buNone/>
            </a:pPr>
            <a:r>
              <a:rPr lang="en-US" sz="900" dirty="0">
                <a:solidFill>
                  <a:srgbClr val="C9D6E2"/>
                </a:solidFill>
                <a:latin typeface="Calibri" pitchFamily="34" charset="0"/>
                <a:ea typeface="Calibri" pitchFamily="34" charset="-122"/>
                <a:cs typeface="Calibri" pitchFamily="34" charset="-120"/>
              </a:rPr>
              <a:t>Caste, religion and occupation are in the corpus and are excluded from every model by a test that fails the build. A platform that reads “social interactions” has to be told, in code, which social facts it may never learn from.</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ivate/tmp/claude-501/-Users-adarsh-Desktop-Projects-KadiLabs/1a0b3114-7a5c-4b08-a5d4-f9d8371eeea4/scratchpad/deck/bg-content.png"/>
          <p:cNvPicPr>
            <a:picLocks noChangeAspect="1"/>
          </p:cNvPicPr>
          <p:nvPr/>
        </p:nvPicPr>
        <p:blipFill>
          <a:blip r:embed="rId3"/>
          <a:stretch>
            <a:fillRect/>
          </a:stretch>
        </p:blipFill>
        <p:spPr>
          <a:xfrm>
            <a:off x="0" y="0"/>
            <a:ext cx="9144000" cy="5143500"/>
          </a:xfrm>
          <a:prstGeom prst="rect">
            <a:avLst/>
          </a:prstGeom>
        </p:spPr>
      </p:pic>
      <p:sp>
        <p:nvSpPr>
          <p:cNvPr id="3" name="Text 0"/>
          <p:cNvSpPr txBox="1"/>
          <p:nvPr/>
        </p:nvSpPr>
        <p:spPr>
          <a:xfrm>
            <a:off x="384048" y="603504"/>
            <a:ext cx="8375904" cy="365760"/>
          </a:xfrm>
          <a:prstGeom prst="rect">
            <a:avLst/>
          </a:prstGeom>
          <a:noFill/>
          <a:ln/>
        </p:spPr>
        <p:txBody>
          <a:bodyPr wrap="square" lIns="0" tIns="0" rIns="0" bIns="0" rtlCol="0" anchor="t"/>
          <a:lstStyle/>
          <a:p>
            <a:pPr marL="0" indent="0">
              <a:buNone/>
            </a:pPr>
            <a:r>
              <a:rPr lang="en-US" sz="2100" b="1" dirty="0">
                <a:solidFill>
                  <a:srgbClr val="0F2F44"/>
                </a:solidFill>
                <a:latin typeface="Calibri" pitchFamily="34" charset="0"/>
                <a:ea typeface="Calibri" pitchFamily="34" charset="-122"/>
                <a:cs typeface="Calibri" pitchFamily="34" charset="-120"/>
              </a:rPr>
              <a:t>Pattern, trend and hotspot discovery</a:t>
            </a:r>
            <a:endParaRPr lang="en-US" sz="2100" dirty="0"/>
          </a:p>
        </p:txBody>
      </p:sp>
      <p:sp>
        <p:nvSpPr>
          <p:cNvPr id="4" name="Text 1"/>
          <p:cNvSpPr txBox="1"/>
          <p:nvPr/>
        </p:nvSpPr>
        <p:spPr>
          <a:xfrm>
            <a:off x="384048" y="969264"/>
            <a:ext cx="8375904" cy="237744"/>
          </a:xfrm>
          <a:prstGeom prst="rect">
            <a:avLst/>
          </a:prstGeom>
          <a:noFill/>
          <a:ln/>
        </p:spPr>
        <p:txBody>
          <a:bodyPr wrap="square" lIns="0" tIns="0" rIns="0" bIns="0" rtlCol="0" anchor="t"/>
          <a:lstStyle/>
          <a:p>
            <a:pPr marL="0" indent="0">
              <a:buNone/>
            </a:pPr>
            <a:r>
              <a:rPr lang="en-US" sz="1050" dirty="0">
                <a:solidFill>
                  <a:srgbClr val="5B6B7C"/>
                </a:solidFill>
                <a:latin typeface="Calibri" pitchFamily="34" charset="0"/>
                <a:ea typeface="Calibri" pitchFamily="34" charset="-122"/>
                <a:cs typeface="Calibri" pitchFamily="34" charset="-120"/>
              </a:rPr>
              <a:t>Capabilities 1b, 1c and 4 in full — how a hotspot is found, and what the concentration curve actually said</a:t>
            </a:r>
            <a:endParaRPr lang="en-US" sz="1050" dirty="0"/>
          </a:p>
        </p:txBody>
      </p:sp>
      <p:sp>
        <p:nvSpPr>
          <p:cNvPr id="5" name="Shape 2"/>
          <p:cNvSpPr/>
          <p:nvPr/>
        </p:nvSpPr>
        <p:spPr>
          <a:xfrm>
            <a:off x="384048" y="1225296"/>
            <a:ext cx="4078224" cy="804672"/>
          </a:xfrm>
          <a:prstGeom prst="roundRect">
            <a:avLst>
              <a:gd name="adj" fmla="val 6818"/>
            </a:avLst>
          </a:prstGeom>
          <a:solidFill>
            <a:srgbClr val="EAF2FB"/>
          </a:solidFill>
          <a:ln w="9525">
            <a:solidFill>
              <a:srgbClr val="C3DAF2"/>
            </a:solidFill>
            <a:prstDash val="solid"/>
          </a:ln>
        </p:spPr>
        <p:txBody>
          <a:bodyPr/>
          <a:lstStyle/>
          <a:p>
            <a:endParaRPr lang="en-US"/>
          </a:p>
        </p:txBody>
      </p:sp>
      <p:sp>
        <p:nvSpPr>
          <p:cNvPr id="6" name="Text 3"/>
          <p:cNvSpPr txBox="1"/>
          <p:nvPr/>
        </p:nvSpPr>
        <p:spPr>
          <a:xfrm>
            <a:off x="512064" y="1289304"/>
            <a:ext cx="3822192" cy="182880"/>
          </a:xfrm>
          <a:prstGeom prst="rect">
            <a:avLst/>
          </a:prstGeom>
          <a:noFill/>
          <a:ln/>
        </p:spPr>
        <p:txBody>
          <a:bodyPr wrap="square" lIns="0" tIns="0" rIns="0" bIns="0" rtlCol="0" anchor="ctr"/>
          <a:lstStyle/>
          <a:p>
            <a:pPr marL="0" indent="0">
              <a:buNone/>
            </a:pPr>
            <a:r>
              <a:rPr lang="en-US" sz="900" b="1" dirty="0">
                <a:solidFill>
                  <a:srgbClr val="1A6FC4"/>
                </a:solidFill>
                <a:latin typeface="Calibri" pitchFamily="34" charset="0"/>
                <a:ea typeface="Calibri" pitchFamily="34" charset="-122"/>
                <a:cs typeface="Calibri" pitchFamily="34" charset="-120"/>
              </a:rPr>
              <a:t>Spatiotemporal clusters — DBSCAN</a:t>
            </a:r>
            <a:endParaRPr lang="en-US" sz="900" dirty="0"/>
          </a:p>
        </p:txBody>
      </p:sp>
      <p:sp>
        <p:nvSpPr>
          <p:cNvPr id="7" name="Text 4"/>
          <p:cNvSpPr txBox="1"/>
          <p:nvPr/>
        </p:nvSpPr>
        <p:spPr>
          <a:xfrm>
            <a:off x="512064" y="1481328"/>
            <a:ext cx="3822192" cy="493776"/>
          </a:xfrm>
          <a:prstGeom prst="rect">
            <a:avLst/>
          </a:prstGeom>
          <a:noFill/>
          <a:ln/>
        </p:spPr>
        <p:txBody>
          <a:bodyPr wrap="square" lIns="0" tIns="0" rIns="0" bIns="0" rtlCol="0" anchor="t"/>
          <a:lstStyle/>
          <a:p>
            <a:pPr marL="0" indent="0">
              <a:lnSpc>
                <a:spcPct val="100000"/>
              </a:lnSpc>
              <a:buNone/>
            </a:pPr>
            <a:r>
              <a:rPr lang="en-US" sz="900" dirty="0">
                <a:solidFill>
                  <a:srgbClr val="5B6B7C"/>
                </a:solidFill>
                <a:latin typeface="Calibri" pitchFamily="34" charset="0"/>
                <a:ea typeface="Calibri" pitchFamily="34" charset="-122"/>
                <a:cs typeface="Calibri" pitchFamily="34" charset="-120"/>
              </a:rPr>
              <a:t>Density clustering over location at eps 0.004° (~450 m), minimum 8 incidents. 346 hotspots statewide; 8 survive when the same clustering is layered with hour and weekday, which is the set worth deploying against.</a:t>
            </a:r>
            <a:endParaRPr lang="en-US" sz="900" dirty="0"/>
          </a:p>
        </p:txBody>
      </p:sp>
      <p:sp>
        <p:nvSpPr>
          <p:cNvPr id="8" name="Shape 5"/>
          <p:cNvSpPr/>
          <p:nvPr/>
        </p:nvSpPr>
        <p:spPr>
          <a:xfrm>
            <a:off x="384048" y="2103120"/>
            <a:ext cx="4078224" cy="804672"/>
          </a:xfrm>
          <a:prstGeom prst="roundRect">
            <a:avLst>
              <a:gd name="adj" fmla="val 6818"/>
            </a:avLst>
          </a:prstGeom>
          <a:solidFill>
            <a:srgbClr val="E4F5F3"/>
          </a:solidFill>
          <a:ln w="9525">
            <a:solidFill>
              <a:srgbClr val="BFE4E0"/>
            </a:solidFill>
            <a:prstDash val="solid"/>
          </a:ln>
        </p:spPr>
        <p:txBody>
          <a:bodyPr/>
          <a:lstStyle/>
          <a:p>
            <a:endParaRPr lang="en-US"/>
          </a:p>
        </p:txBody>
      </p:sp>
      <p:sp>
        <p:nvSpPr>
          <p:cNvPr id="9" name="Text 6"/>
          <p:cNvSpPr txBox="1"/>
          <p:nvPr/>
        </p:nvSpPr>
        <p:spPr>
          <a:xfrm>
            <a:off x="512064" y="2167128"/>
            <a:ext cx="3822192" cy="182880"/>
          </a:xfrm>
          <a:prstGeom prst="rect">
            <a:avLst/>
          </a:prstGeom>
          <a:noFill/>
          <a:ln/>
        </p:spPr>
        <p:txBody>
          <a:bodyPr wrap="square" lIns="0" tIns="0" rIns="0" bIns="0" rtlCol="0" anchor="ctr"/>
          <a:lstStyle/>
          <a:p>
            <a:pPr marL="0" indent="0">
              <a:buNone/>
            </a:pPr>
            <a:r>
              <a:rPr lang="en-US" sz="900" b="1" dirty="0">
                <a:solidFill>
                  <a:srgbClr val="2FA8A0"/>
                </a:solidFill>
                <a:latin typeface="Calibri" pitchFamily="34" charset="0"/>
                <a:ea typeface="Calibri" pitchFamily="34" charset="-122"/>
                <a:cs typeface="Calibri" pitchFamily="34" charset="-120"/>
              </a:rPr>
              <a:t>Near-repeat victimisation</a:t>
            </a:r>
            <a:endParaRPr lang="en-US" sz="900" dirty="0"/>
          </a:p>
        </p:txBody>
      </p:sp>
      <p:sp>
        <p:nvSpPr>
          <p:cNvPr id="10" name="Text 7"/>
          <p:cNvSpPr txBox="1"/>
          <p:nvPr/>
        </p:nvSpPr>
        <p:spPr>
          <a:xfrm>
            <a:off x="512064" y="2359152"/>
            <a:ext cx="3822192" cy="493776"/>
          </a:xfrm>
          <a:prstGeom prst="rect">
            <a:avLst/>
          </a:prstGeom>
          <a:noFill/>
          <a:ln/>
        </p:spPr>
        <p:txBody>
          <a:bodyPr wrap="square" lIns="0" tIns="0" rIns="0" bIns="0" rtlCol="0" anchor="t"/>
          <a:lstStyle/>
          <a:p>
            <a:pPr marL="0" indent="0">
              <a:lnSpc>
                <a:spcPct val="100000"/>
              </a:lnSpc>
              <a:buNone/>
            </a:pPr>
            <a:r>
              <a:rPr lang="en-US" sz="900" dirty="0">
                <a:solidFill>
                  <a:srgbClr val="5B6B7C"/>
                </a:solidFill>
                <a:latin typeface="Calibri" pitchFamily="34" charset="0"/>
                <a:ea typeface="Calibri" pitchFamily="34" charset="-122"/>
                <a:cs typeface="Calibri" pitchFamily="34" charset="-120"/>
              </a:rPr>
              <a:t>An incident with a prior inside 400 m and 14 days. The top cluster runs 70 incidents, 65 of them repeats — a 93% repeat rate at a median gap of 11 days. That is a place being re-targeted, not merely a busy one.</a:t>
            </a:r>
            <a:endParaRPr lang="en-US" sz="900" dirty="0"/>
          </a:p>
        </p:txBody>
      </p:sp>
      <p:sp>
        <p:nvSpPr>
          <p:cNvPr id="11" name="Shape 8"/>
          <p:cNvSpPr/>
          <p:nvPr/>
        </p:nvSpPr>
        <p:spPr>
          <a:xfrm>
            <a:off x="384048" y="2980944"/>
            <a:ext cx="4078224" cy="804672"/>
          </a:xfrm>
          <a:prstGeom prst="roundRect">
            <a:avLst>
              <a:gd name="adj" fmla="val 6818"/>
            </a:avLst>
          </a:prstGeom>
          <a:solidFill>
            <a:srgbClr val="FDF1E4"/>
          </a:solidFill>
          <a:ln w="9525">
            <a:solidFill>
              <a:srgbClr val="F0D9BE"/>
            </a:solidFill>
            <a:prstDash val="solid"/>
          </a:ln>
        </p:spPr>
        <p:txBody>
          <a:bodyPr/>
          <a:lstStyle/>
          <a:p>
            <a:endParaRPr lang="en-US"/>
          </a:p>
        </p:txBody>
      </p:sp>
      <p:sp>
        <p:nvSpPr>
          <p:cNvPr id="12" name="Text 9"/>
          <p:cNvSpPr txBox="1"/>
          <p:nvPr/>
        </p:nvSpPr>
        <p:spPr>
          <a:xfrm>
            <a:off x="512064" y="3044952"/>
            <a:ext cx="3822192" cy="182880"/>
          </a:xfrm>
          <a:prstGeom prst="rect">
            <a:avLst/>
          </a:prstGeom>
          <a:noFill/>
          <a:ln/>
        </p:spPr>
        <p:txBody>
          <a:bodyPr wrap="square" lIns="0" tIns="0" rIns="0" bIns="0" rtlCol="0" anchor="ctr"/>
          <a:lstStyle/>
          <a:p>
            <a:pPr marL="0" indent="0">
              <a:buNone/>
            </a:pPr>
            <a:r>
              <a:rPr lang="en-US" sz="900" b="1" dirty="0">
                <a:solidFill>
                  <a:srgbClr val="E8871E"/>
                </a:solidFill>
                <a:latin typeface="Calibri" pitchFamily="34" charset="0"/>
                <a:ea typeface="Calibri" pitchFamily="34" charset="-122"/>
                <a:cs typeface="Calibri" pitchFamily="34" charset="-120"/>
              </a:rPr>
              <a:t>Occasion and day-class effects</a:t>
            </a:r>
            <a:endParaRPr lang="en-US" sz="900" dirty="0"/>
          </a:p>
        </p:txBody>
      </p:sp>
      <p:sp>
        <p:nvSpPr>
          <p:cNvPr id="13" name="Text 10"/>
          <p:cNvSpPr txBox="1"/>
          <p:nvPr/>
        </p:nvSpPr>
        <p:spPr>
          <a:xfrm>
            <a:off x="512064" y="3236976"/>
            <a:ext cx="3822192" cy="493776"/>
          </a:xfrm>
          <a:prstGeom prst="rect">
            <a:avLst/>
          </a:prstGeom>
          <a:noFill/>
          <a:ln/>
        </p:spPr>
        <p:txBody>
          <a:bodyPr wrap="square" lIns="0" tIns="0" rIns="0" bIns="0" rtlCol="0" anchor="t"/>
          <a:lstStyle/>
          <a:p>
            <a:pPr marL="0" indent="0">
              <a:lnSpc>
                <a:spcPct val="100000"/>
              </a:lnSpc>
              <a:buNone/>
            </a:pPr>
            <a:r>
              <a:rPr lang="en-US" sz="900" dirty="0">
                <a:solidFill>
                  <a:srgbClr val="5B6B7C"/>
                </a:solidFill>
                <a:latin typeface="Calibri" pitchFamily="34" charset="0"/>
                <a:ea typeface="Calibri" pitchFamily="34" charset="-122"/>
                <a:cs typeface="Calibri" pitchFamily="34" charset="-120"/>
              </a:rPr>
              <a:t>Ten occasions scored against a 46.7 cases/day baseline across four day classes. New Year’s Eve runs +34% and shifts the mix toward crimes against body. Festival effects are measured; civic and political ones are marked indicative.</a:t>
            </a:r>
            <a:endParaRPr lang="en-US" sz="900" dirty="0"/>
          </a:p>
        </p:txBody>
      </p:sp>
      <p:sp>
        <p:nvSpPr>
          <p:cNvPr id="14" name="Shape 11"/>
          <p:cNvSpPr/>
          <p:nvPr/>
        </p:nvSpPr>
        <p:spPr>
          <a:xfrm>
            <a:off x="4663440" y="1207008"/>
            <a:ext cx="2029968" cy="1285803"/>
          </a:xfrm>
          <a:prstGeom prst="roundRect">
            <a:avLst>
              <a:gd name="adj" fmla="val 2845"/>
            </a:avLst>
          </a:prstGeom>
          <a:solidFill>
            <a:srgbClr val="FFFFFF"/>
          </a:solidFill>
          <a:ln w="9525">
            <a:solidFill>
              <a:srgbClr val="DCE3EC"/>
            </a:solidFill>
            <a:prstDash val="solid"/>
          </a:ln>
        </p:spPr>
        <p:txBody>
          <a:bodyPr/>
          <a:lstStyle/>
          <a:p>
            <a:endParaRPr lang="en-US"/>
          </a:p>
        </p:txBody>
      </p:sp>
      <p:pic>
        <p:nvPicPr>
          <p:cNvPr id="15" name="Image 1" descr="/private/tmp/claude-501/-Users-adarsh-Desktop-Projects-KadiLabs/1a0b3114-7a5c-4b08-a5d4-f9d8371eeea4/scratchpad/deck/../shots/out/map-density.png"/>
          <p:cNvPicPr>
            <a:picLocks noChangeAspect="1"/>
          </p:cNvPicPr>
          <p:nvPr/>
        </p:nvPicPr>
        <p:blipFill>
          <a:blip r:embed="rId4"/>
          <a:stretch>
            <a:fillRect/>
          </a:stretch>
        </p:blipFill>
        <p:spPr>
          <a:xfrm>
            <a:off x="4681728" y="1225296"/>
            <a:ext cx="1993392" cy="1249227"/>
          </a:xfrm>
          <a:prstGeom prst="rect">
            <a:avLst/>
          </a:prstGeom>
        </p:spPr>
      </p:pic>
      <p:sp>
        <p:nvSpPr>
          <p:cNvPr id="16" name="Shape 12"/>
          <p:cNvSpPr/>
          <p:nvPr/>
        </p:nvSpPr>
        <p:spPr>
          <a:xfrm>
            <a:off x="6126709" y="2209347"/>
            <a:ext cx="547862" cy="201168"/>
          </a:xfrm>
          <a:prstGeom prst="roundRect">
            <a:avLst>
              <a:gd name="adj" fmla="val 45455"/>
            </a:avLst>
          </a:prstGeom>
          <a:solidFill>
            <a:srgbClr val="0F2F44"/>
          </a:solidFill>
          <a:ln w="12700">
            <a:solidFill>
              <a:srgbClr val="0F2F44"/>
            </a:solidFill>
            <a:prstDash val="solid"/>
          </a:ln>
        </p:spPr>
        <p:txBody>
          <a:bodyPr/>
          <a:lstStyle/>
          <a:p>
            <a:endParaRPr lang="en-US"/>
          </a:p>
        </p:txBody>
      </p:sp>
      <p:sp>
        <p:nvSpPr>
          <p:cNvPr id="17" name="Text 13"/>
          <p:cNvSpPr txBox="1"/>
          <p:nvPr/>
        </p:nvSpPr>
        <p:spPr>
          <a:xfrm>
            <a:off x="6145078" y="2209347"/>
            <a:ext cx="552740" cy="201168"/>
          </a:xfrm>
          <a:prstGeom prst="rect">
            <a:avLst/>
          </a:prstGeom>
          <a:noFill/>
          <a:ln/>
        </p:spPr>
        <p:txBody>
          <a:bodyPr wrap="square" lIns="0" tIns="0" rIns="0" bIns="0" rtlCol="0" anchor="ctr"/>
          <a:lstStyle/>
          <a:p>
            <a:pPr marL="0" indent="0" algn="ctr">
              <a:buNone/>
            </a:pPr>
            <a:r>
              <a:rPr lang="en-US" sz="760" b="1" dirty="0">
                <a:solidFill>
                  <a:srgbClr val="FFFFFF"/>
                </a:solidFill>
                <a:latin typeface="Calibri" pitchFamily="34" charset="0"/>
                <a:ea typeface="Calibri" pitchFamily="34" charset="-122"/>
                <a:cs typeface="Calibri" pitchFamily="34" charset="-120"/>
              </a:rPr>
              <a:t>Density</a:t>
            </a:r>
            <a:endParaRPr lang="en-US" sz="760" dirty="0"/>
          </a:p>
        </p:txBody>
      </p:sp>
      <p:sp>
        <p:nvSpPr>
          <p:cNvPr id="18" name="Text 14"/>
          <p:cNvSpPr txBox="1"/>
          <p:nvPr/>
        </p:nvSpPr>
        <p:spPr>
          <a:xfrm>
            <a:off x="4681728" y="2511099"/>
            <a:ext cx="1993392" cy="182880"/>
          </a:xfrm>
          <a:prstGeom prst="rect">
            <a:avLst/>
          </a:prstGeom>
          <a:noFill/>
          <a:ln/>
        </p:spPr>
        <p:txBody>
          <a:bodyPr wrap="square" lIns="0" tIns="0" rIns="0" bIns="0" rtlCol="0" anchor="t"/>
          <a:lstStyle/>
          <a:p>
            <a:pPr marL="0" indent="0" algn="l">
              <a:buNone/>
            </a:pPr>
            <a:r>
              <a:rPr lang="en-US" sz="900" dirty="0">
                <a:solidFill>
                  <a:srgbClr val="5B6B7C"/>
                </a:solidFill>
                <a:latin typeface="Calibri" pitchFamily="34" charset="0"/>
                <a:ea typeface="Calibri" pitchFamily="34" charset="-122"/>
                <a:cs typeface="Calibri" pitchFamily="34" charset="-120"/>
              </a:rPr>
              <a:t>Choropleth per district</a:t>
            </a:r>
            <a:endParaRPr lang="en-US" sz="900" dirty="0"/>
          </a:p>
        </p:txBody>
      </p:sp>
      <p:sp>
        <p:nvSpPr>
          <p:cNvPr id="19" name="Shape 15"/>
          <p:cNvSpPr/>
          <p:nvPr/>
        </p:nvSpPr>
        <p:spPr>
          <a:xfrm>
            <a:off x="6748272" y="1207008"/>
            <a:ext cx="2029968" cy="1285803"/>
          </a:xfrm>
          <a:prstGeom prst="roundRect">
            <a:avLst>
              <a:gd name="adj" fmla="val 2845"/>
            </a:avLst>
          </a:prstGeom>
          <a:solidFill>
            <a:srgbClr val="FFFFFF"/>
          </a:solidFill>
          <a:ln w="9525">
            <a:solidFill>
              <a:srgbClr val="DCE3EC"/>
            </a:solidFill>
            <a:prstDash val="solid"/>
          </a:ln>
        </p:spPr>
        <p:txBody>
          <a:bodyPr/>
          <a:lstStyle/>
          <a:p>
            <a:endParaRPr lang="en-US"/>
          </a:p>
        </p:txBody>
      </p:sp>
      <p:pic>
        <p:nvPicPr>
          <p:cNvPr id="20" name="Image 2" descr="/private/tmp/claude-501/-Users-adarsh-Desktop-Projects-KadiLabs/1a0b3114-7a5c-4b08-a5d4-f9d8371eeea4/scratchpad/deck/../shots/out/map-incidents.png"/>
          <p:cNvPicPr>
            <a:picLocks noChangeAspect="1"/>
          </p:cNvPicPr>
          <p:nvPr/>
        </p:nvPicPr>
        <p:blipFill>
          <a:blip r:embed="rId5"/>
          <a:stretch>
            <a:fillRect/>
          </a:stretch>
        </p:blipFill>
        <p:spPr>
          <a:xfrm>
            <a:off x="6766560" y="1225296"/>
            <a:ext cx="1993392" cy="1249227"/>
          </a:xfrm>
          <a:prstGeom prst="rect">
            <a:avLst/>
          </a:prstGeom>
        </p:spPr>
      </p:pic>
      <p:sp>
        <p:nvSpPr>
          <p:cNvPr id="21" name="Shape 16"/>
          <p:cNvSpPr/>
          <p:nvPr/>
        </p:nvSpPr>
        <p:spPr>
          <a:xfrm>
            <a:off x="8066867" y="2209347"/>
            <a:ext cx="674716" cy="201168"/>
          </a:xfrm>
          <a:prstGeom prst="roundRect">
            <a:avLst>
              <a:gd name="adj" fmla="val 45455"/>
            </a:avLst>
          </a:prstGeom>
          <a:solidFill>
            <a:srgbClr val="0F2F44"/>
          </a:solidFill>
          <a:ln w="12700">
            <a:solidFill>
              <a:srgbClr val="0F2F44"/>
            </a:solidFill>
            <a:prstDash val="solid"/>
          </a:ln>
        </p:spPr>
        <p:txBody>
          <a:bodyPr/>
          <a:lstStyle/>
          <a:p>
            <a:endParaRPr lang="en-US"/>
          </a:p>
        </p:txBody>
      </p:sp>
      <p:sp>
        <p:nvSpPr>
          <p:cNvPr id="22" name="Text 17"/>
          <p:cNvSpPr txBox="1"/>
          <p:nvPr/>
        </p:nvSpPr>
        <p:spPr>
          <a:xfrm>
            <a:off x="8066867" y="2209347"/>
            <a:ext cx="674715" cy="201168"/>
          </a:xfrm>
          <a:prstGeom prst="rect">
            <a:avLst/>
          </a:prstGeom>
          <a:noFill/>
          <a:ln/>
        </p:spPr>
        <p:txBody>
          <a:bodyPr wrap="square" lIns="0" tIns="0" rIns="0" bIns="0" rtlCol="0" anchor="ctr"/>
          <a:lstStyle/>
          <a:p>
            <a:pPr marL="0" indent="0" algn="ctr">
              <a:buNone/>
            </a:pPr>
            <a:r>
              <a:rPr lang="en-US" sz="760" b="1" dirty="0">
                <a:solidFill>
                  <a:srgbClr val="FFFFFF"/>
                </a:solidFill>
                <a:latin typeface="Calibri" pitchFamily="34" charset="0"/>
                <a:ea typeface="Calibri" pitchFamily="34" charset="-122"/>
                <a:cs typeface="Calibri" pitchFamily="34" charset="-120"/>
              </a:rPr>
              <a:t>Incidents</a:t>
            </a:r>
            <a:endParaRPr lang="en-US" sz="760" dirty="0"/>
          </a:p>
        </p:txBody>
      </p:sp>
      <p:sp>
        <p:nvSpPr>
          <p:cNvPr id="23" name="Text 18"/>
          <p:cNvSpPr txBox="1"/>
          <p:nvPr/>
        </p:nvSpPr>
        <p:spPr>
          <a:xfrm>
            <a:off x="6766560" y="2511099"/>
            <a:ext cx="1993392" cy="182880"/>
          </a:xfrm>
          <a:prstGeom prst="rect">
            <a:avLst/>
          </a:prstGeom>
          <a:noFill/>
          <a:ln/>
        </p:spPr>
        <p:txBody>
          <a:bodyPr wrap="square" lIns="0" tIns="0" rIns="0" bIns="0" rtlCol="0" anchor="t"/>
          <a:lstStyle/>
          <a:p>
            <a:pPr marL="0" indent="0" algn="l">
              <a:buNone/>
            </a:pPr>
            <a:r>
              <a:rPr lang="en-US" sz="900" dirty="0">
                <a:solidFill>
                  <a:srgbClr val="5B6B7C"/>
                </a:solidFill>
                <a:latin typeface="Calibri" pitchFamily="34" charset="0"/>
                <a:ea typeface="Calibri" pitchFamily="34" charset="-122"/>
                <a:cs typeface="Calibri" pitchFamily="34" charset="-120"/>
              </a:rPr>
              <a:t>9,000 dots by crime head</a:t>
            </a:r>
            <a:endParaRPr lang="en-US" sz="900" dirty="0"/>
          </a:p>
        </p:txBody>
      </p:sp>
      <p:sp>
        <p:nvSpPr>
          <p:cNvPr id="24" name="Shape 19"/>
          <p:cNvSpPr/>
          <p:nvPr/>
        </p:nvSpPr>
        <p:spPr>
          <a:xfrm>
            <a:off x="4681728" y="2724912"/>
            <a:ext cx="1993392" cy="457200"/>
          </a:xfrm>
          <a:prstGeom prst="roundRect">
            <a:avLst>
              <a:gd name="adj" fmla="val 12000"/>
            </a:avLst>
          </a:prstGeom>
          <a:solidFill>
            <a:srgbClr val="FFFFFF"/>
          </a:solidFill>
          <a:ln w="9525">
            <a:solidFill>
              <a:srgbClr val="DCE3EC"/>
            </a:solidFill>
            <a:prstDash val="solid"/>
          </a:ln>
        </p:spPr>
        <p:txBody>
          <a:bodyPr/>
          <a:lstStyle/>
          <a:p>
            <a:endParaRPr lang="en-US"/>
          </a:p>
        </p:txBody>
      </p:sp>
      <p:sp>
        <p:nvSpPr>
          <p:cNvPr id="25" name="Text 20"/>
          <p:cNvSpPr txBox="1"/>
          <p:nvPr/>
        </p:nvSpPr>
        <p:spPr>
          <a:xfrm>
            <a:off x="4782312" y="2724912"/>
            <a:ext cx="1792224" cy="457200"/>
          </a:xfrm>
          <a:prstGeom prst="rect">
            <a:avLst/>
          </a:prstGeom>
          <a:noFill/>
          <a:ln/>
        </p:spPr>
        <p:txBody>
          <a:bodyPr wrap="square" lIns="0" tIns="0" rIns="0" bIns="0" rtlCol="0" anchor="ctr"/>
          <a:lstStyle/>
          <a:p>
            <a:pPr marL="0" indent="0">
              <a:buNone/>
            </a:pPr>
            <a:r>
              <a:rPr lang="en-US" sz="1400" b="1" dirty="0">
                <a:solidFill>
                  <a:srgbClr val="1A6FC4"/>
                </a:solidFill>
                <a:latin typeface="Calibri" pitchFamily="34" charset="0"/>
                <a:ea typeface="Calibri" pitchFamily="34" charset="-122"/>
                <a:cs typeface="Calibri" pitchFamily="34" charset="-120"/>
              </a:rPr>
              <a:t>346</a:t>
            </a:r>
            <a:r>
              <a:rPr lang="en-US" sz="1000" dirty="0">
                <a:solidFill>
                  <a:srgbClr val="5B6B7C"/>
                </a:solidFill>
                <a:latin typeface="Calibri" pitchFamily="34" charset="0"/>
                <a:ea typeface="Calibri" pitchFamily="34" charset="-122"/>
                <a:cs typeface="Calibri" pitchFamily="34" charset="-120"/>
              </a:rPr>
              <a:t>   DBSCAN hotspots</a:t>
            </a:r>
            <a:endParaRPr lang="en-US" sz="1000" dirty="0"/>
          </a:p>
        </p:txBody>
      </p:sp>
      <p:sp>
        <p:nvSpPr>
          <p:cNvPr id="26" name="Shape 21"/>
          <p:cNvSpPr/>
          <p:nvPr/>
        </p:nvSpPr>
        <p:spPr>
          <a:xfrm>
            <a:off x="6766560" y="2724912"/>
            <a:ext cx="1993392" cy="457200"/>
          </a:xfrm>
          <a:prstGeom prst="roundRect">
            <a:avLst>
              <a:gd name="adj" fmla="val 12000"/>
            </a:avLst>
          </a:prstGeom>
          <a:solidFill>
            <a:srgbClr val="FFFFFF"/>
          </a:solidFill>
          <a:ln w="9525">
            <a:solidFill>
              <a:srgbClr val="DCE3EC"/>
            </a:solidFill>
            <a:prstDash val="solid"/>
          </a:ln>
        </p:spPr>
        <p:txBody>
          <a:bodyPr/>
          <a:lstStyle/>
          <a:p>
            <a:endParaRPr lang="en-US"/>
          </a:p>
        </p:txBody>
      </p:sp>
      <p:sp>
        <p:nvSpPr>
          <p:cNvPr id="27" name="Text 22"/>
          <p:cNvSpPr txBox="1"/>
          <p:nvPr/>
        </p:nvSpPr>
        <p:spPr>
          <a:xfrm>
            <a:off x="6867144" y="2724912"/>
            <a:ext cx="1792224" cy="457200"/>
          </a:xfrm>
          <a:prstGeom prst="rect">
            <a:avLst/>
          </a:prstGeom>
          <a:noFill/>
          <a:ln/>
        </p:spPr>
        <p:txBody>
          <a:bodyPr wrap="square" lIns="0" tIns="0" rIns="0" bIns="0" rtlCol="0" anchor="ctr"/>
          <a:lstStyle/>
          <a:p>
            <a:pPr marL="0" indent="0">
              <a:buNone/>
            </a:pPr>
            <a:r>
              <a:rPr lang="en-US" sz="1400" b="1" dirty="0">
                <a:solidFill>
                  <a:srgbClr val="1A6FC4"/>
                </a:solidFill>
                <a:latin typeface="Calibri" pitchFamily="34" charset="0"/>
                <a:ea typeface="Calibri" pitchFamily="34" charset="-122"/>
                <a:cs typeface="Calibri" pitchFamily="34" charset="-120"/>
              </a:rPr>
              <a:t>8</a:t>
            </a:r>
            <a:r>
              <a:rPr lang="en-US" sz="1000" dirty="0">
                <a:solidFill>
                  <a:srgbClr val="5B6B7C"/>
                </a:solidFill>
                <a:latin typeface="Calibri" pitchFamily="34" charset="0"/>
                <a:ea typeface="Calibri" pitchFamily="34" charset="-122"/>
                <a:cs typeface="Calibri" pitchFamily="34" charset="-120"/>
              </a:rPr>
              <a:t>   time-layered clusters</a:t>
            </a:r>
            <a:endParaRPr lang="en-US" sz="1000" dirty="0"/>
          </a:p>
        </p:txBody>
      </p:sp>
      <p:sp>
        <p:nvSpPr>
          <p:cNvPr id="28" name="Shape 23"/>
          <p:cNvSpPr/>
          <p:nvPr/>
        </p:nvSpPr>
        <p:spPr>
          <a:xfrm>
            <a:off x="4681728" y="3255264"/>
            <a:ext cx="1993392" cy="457200"/>
          </a:xfrm>
          <a:prstGeom prst="roundRect">
            <a:avLst>
              <a:gd name="adj" fmla="val 12000"/>
            </a:avLst>
          </a:prstGeom>
          <a:solidFill>
            <a:srgbClr val="FFFFFF"/>
          </a:solidFill>
          <a:ln w="9525">
            <a:solidFill>
              <a:srgbClr val="DCE3EC"/>
            </a:solidFill>
            <a:prstDash val="solid"/>
          </a:ln>
        </p:spPr>
        <p:txBody>
          <a:bodyPr/>
          <a:lstStyle/>
          <a:p>
            <a:endParaRPr lang="en-US"/>
          </a:p>
        </p:txBody>
      </p:sp>
      <p:sp>
        <p:nvSpPr>
          <p:cNvPr id="29" name="Text 24"/>
          <p:cNvSpPr txBox="1"/>
          <p:nvPr/>
        </p:nvSpPr>
        <p:spPr>
          <a:xfrm>
            <a:off x="4782312" y="3255264"/>
            <a:ext cx="1792224" cy="457200"/>
          </a:xfrm>
          <a:prstGeom prst="rect">
            <a:avLst/>
          </a:prstGeom>
          <a:noFill/>
          <a:ln/>
        </p:spPr>
        <p:txBody>
          <a:bodyPr wrap="square" lIns="0" tIns="0" rIns="0" bIns="0" rtlCol="0" anchor="ctr"/>
          <a:lstStyle/>
          <a:p>
            <a:pPr marL="0" indent="0">
              <a:buNone/>
            </a:pPr>
            <a:r>
              <a:rPr lang="en-US" sz="1400" b="1" dirty="0">
                <a:solidFill>
                  <a:srgbClr val="E8871E"/>
                </a:solidFill>
                <a:latin typeface="Calibri" pitchFamily="34" charset="0"/>
                <a:ea typeface="Calibri" pitchFamily="34" charset="-122"/>
                <a:cs typeface="Calibri" pitchFamily="34" charset="-120"/>
              </a:rPr>
              <a:t>5</a:t>
            </a:r>
            <a:r>
              <a:rPr lang="en-US" sz="1000" dirty="0">
                <a:solidFill>
                  <a:srgbClr val="5B6B7C"/>
                </a:solidFill>
                <a:latin typeface="Calibri" pitchFamily="34" charset="0"/>
                <a:ea typeface="Calibri" pitchFamily="34" charset="-122"/>
                <a:cs typeface="Calibri" pitchFamily="34" charset="-120"/>
              </a:rPr>
              <a:t>   districts pulsing red</a:t>
            </a:r>
            <a:endParaRPr lang="en-US" sz="1000" dirty="0"/>
          </a:p>
        </p:txBody>
      </p:sp>
      <p:sp>
        <p:nvSpPr>
          <p:cNvPr id="30" name="Shape 25"/>
          <p:cNvSpPr/>
          <p:nvPr/>
        </p:nvSpPr>
        <p:spPr>
          <a:xfrm>
            <a:off x="6766560" y="3255264"/>
            <a:ext cx="1993392" cy="457200"/>
          </a:xfrm>
          <a:prstGeom prst="roundRect">
            <a:avLst>
              <a:gd name="adj" fmla="val 12000"/>
            </a:avLst>
          </a:prstGeom>
          <a:solidFill>
            <a:srgbClr val="FFFFFF"/>
          </a:solidFill>
          <a:ln w="9525">
            <a:solidFill>
              <a:srgbClr val="DCE3EC"/>
            </a:solidFill>
            <a:prstDash val="solid"/>
          </a:ln>
        </p:spPr>
        <p:txBody>
          <a:bodyPr/>
          <a:lstStyle/>
          <a:p>
            <a:endParaRPr lang="en-US"/>
          </a:p>
        </p:txBody>
      </p:sp>
      <p:sp>
        <p:nvSpPr>
          <p:cNvPr id="31" name="Text 26"/>
          <p:cNvSpPr txBox="1"/>
          <p:nvPr/>
        </p:nvSpPr>
        <p:spPr>
          <a:xfrm>
            <a:off x="6867144" y="3255264"/>
            <a:ext cx="1792224" cy="457200"/>
          </a:xfrm>
          <a:prstGeom prst="rect">
            <a:avLst/>
          </a:prstGeom>
          <a:noFill/>
          <a:ln/>
        </p:spPr>
        <p:txBody>
          <a:bodyPr wrap="square" lIns="0" tIns="0" rIns="0" bIns="0" rtlCol="0" anchor="ctr"/>
          <a:lstStyle/>
          <a:p>
            <a:pPr marL="0" indent="0">
              <a:buNone/>
            </a:pPr>
            <a:r>
              <a:rPr lang="en-US" sz="1400" b="1" dirty="0">
                <a:solidFill>
                  <a:srgbClr val="E8871E"/>
                </a:solidFill>
                <a:latin typeface="Calibri" pitchFamily="34" charset="0"/>
                <a:ea typeface="Calibri" pitchFamily="34" charset="-122"/>
                <a:cs typeface="Calibri" pitchFamily="34" charset="-120"/>
              </a:rPr>
              <a:t>26</a:t>
            </a:r>
            <a:r>
              <a:rPr lang="en-US" sz="1000" dirty="0">
                <a:solidFill>
                  <a:srgbClr val="5B6B7C"/>
                </a:solidFill>
                <a:latin typeface="Calibri" pitchFamily="34" charset="0"/>
                <a:ea typeface="Calibri" pitchFamily="34" charset="-122"/>
                <a:cs typeface="Calibri" pitchFamily="34" charset="-120"/>
              </a:rPr>
              <a:t>   open trend alerts</a:t>
            </a:r>
            <a:endParaRPr lang="en-US" sz="1000" dirty="0"/>
          </a:p>
        </p:txBody>
      </p:sp>
      <p:sp>
        <p:nvSpPr>
          <p:cNvPr id="32" name="Shape 27"/>
          <p:cNvSpPr/>
          <p:nvPr/>
        </p:nvSpPr>
        <p:spPr>
          <a:xfrm>
            <a:off x="384048" y="3877056"/>
            <a:ext cx="8375904" cy="914400"/>
          </a:xfrm>
          <a:prstGeom prst="roundRect">
            <a:avLst>
              <a:gd name="adj" fmla="val 6000"/>
            </a:avLst>
          </a:prstGeom>
          <a:solidFill>
            <a:srgbClr val="0F2F44"/>
          </a:solidFill>
          <a:ln w="9525">
            <a:solidFill>
              <a:srgbClr val="0F2F44"/>
            </a:solidFill>
            <a:prstDash val="solid"/>
          </a:ln>
        </p:spPr>
        <p:txBody>
          <a:bodyPr/>
          <a:lstStyle/>
          <a:p>
            <a:endParaRPr lang="en-US"/>
          </a:p>
        </p:txBody>
      </p:sp>
      <p:sp>
        <p:nvSpPr>
          <p:cNvPr id="33" name="Text 28"/>
          <p:cNvSpPr txBox="1"/>
          <p:nvPr/>
        </p:nvSpPr>
        <p:spPr>
          <a:xfrm>
            <a:off x="548640" y="3950208"/>
            <a:ext cx="3931920" cy="21945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The concentration curve said something we did not expect</a:t>
            </a:r>
            <a:endParaRPr lang="en-US" sz="1050" dirty="0"/>
          </a:p>
        </p:txBody>
      </p:sp>
      <p:sp>
        <p:nvSpPr>
          <p:cNvPr id="34" name="Text 29"/>
          <p:cNvSpPr txBox="1"/>
          <p:nvPr/>
        </p:nvSpPr>
        <p:spPr>
          <a:xfrm>
            <a:off x="548640" y="4187952"/>
            <a:ext cx="3931920" cy="512064"/>
          </a:xfrm>
          <a:prstGeom prst="rect">
            <a:avLst/>
          </a:prstGeom>
          <a:noFill/>
          <a:ln/>
        </p:spPr>
        <p:txBody>
          <a:bodyPr wrap="square" lIns="0" tIns="0" rIns="0" bIns="0" rtlCol="0" anchor="t"/>
          <a:lstStyle/>
          <a:p>
            <a:pPr marL="0" indent="0">
              <a:lnSpc>
                <a:spcPct val="102000"/>
              </a:lnSpc>
              <a:buNone/>
            </a:pPr>
            <a:r>
              <a:rPr lang="en-US" sz="900" dirty="0">
                <a:solidFill>
                  <a:srgbClr val="C9D6E2"/>
                </a:solidFill>
                <a:latin typeface="Calibri" pitchFamily="34" charset="0"/>
                <a:ea typeface="Calibri" pitchFamily="34" charset="-122"/>
                <a:cs typeface="Calibri" pitchFamily="34" charset="-120"/>
              </a:rPr>
              <a:t>Gini across the 31 districts is 0.583. Across the 298 stations it is 0.047 — the busiest 10% of stations carry just 11.5% of the load, so resource cannot be moved between stations on volume alone.</a:t>
            </a:r>
            <a:endParaRPr lang="en-US" sz="900" dirty="0"/>
          </a:p>
        </p:txBody>
      </p:sp>
      <p:sp>
        <p:nvSpPr>
          <p:cNvPr id="35" name="Text 30"/>
          <p:cNvSpPr txBox="1"/>
          <p:nvPr/>
        </p:nvSpPr>
        <p:spPr>
          <a:xfrm>
            <a:off x="4700016" y="3968496"/>
            <a:ext cx="1335024" cy="274320"/>
          </a:xfrm>
          <a:prstGeom prst="rect">
            <a:avLst/>
          </a:prstGeom>
          <a:noFill/>
          <a:ln/>
        </p:spPr>
        <p:txBody>
          <a:bodyPr wrap="square" lIns="0" tIns="0" rIns="0" bIns="0" rtlCol="0" anchor="ctr"/>
          <a:lstStyle/>
          <a:p>
            <a:pPr marL="0" indent="0">
              <a:buNone/>
            </a:pPr>
            <a:r>
              <a:rPr lang="en-US" sz="1500" b="1" dirty="0">
                <a:solidFill>
                  <a:srgbClr val="E8871E"/>
                </a:solidFill>
                <a:latin typeface="Calibri" pitchFamily="34" charset="0"/>
                <a:ea typeface="Calibri" pitchFamily="34" charset="-122"/>
                <a:cs typeface="Calibri" pitchFamily="34" charset="-120"/>
              </a:rPr>
              <a:t>0.583</a:t>
            </a:r>
            <a:endParaRPr lang="en-US" sz="1500" dirty="0"/>
          </a:p>
        </p:txBody>
      </p:sp>
      <p:sp>
        <p:nvSpPr>
          <p:cNvPr id="36" name="Text 31"/>
          <p:cNvSpPr txBox="1"/>
          <p:nvPr/>
        </p:nvSpPr>
        <p:spPr>
          <a:xfrm>
            <a:off x="4700016" y="4261104"/>
            <a:ext cx="1179576" cy="329184"/>
          </a:xfrm>
          <a:prstGeom prst="rect">
            <a:avLst/>
          </a:prstGeom>
          <a:noFill/>
          <a:ln/>
        </p:spPr>
        <p:txBody>
          <a:bodyPr wrap="square" lIns="0" tIns="0" rIns="0" bIns="0" rtlCol="0" anchor="t"/>
          <a:lstStyle/>
          <a:p>
            <a:pPr marL="0" indent="0">
              <a:lnSpc>
                <a:spcPct val="100000"/>
              </a:lnSpc>
              <a:buNone/>
            </a:pPr>
            <a:r>
              <a:rPr lang="en-US" sz="1100" dirty="0">
                <a:solidFill>
                  <a:srgbClr val="9FB3C8"/>
                </a:solidFill>
                <a:latin typeface="Calibri" pitchFamily="34" charset="0"/>
                <a:ea typeface="Calibri" pitchFamily="34" charset="-122"/>
                <a:cs typeface="Calibri" pitchFamily="34" charset="-120"/>
              </a:rPr>
              <a:t>districts — uneven</a:t>
            </a:r>
            <a:endParaRPr lang="en-US" sz="1100" dirty="0"/>
          </a:p>
        </p:txBody>
      </p:sp>
      <p:sp>
        <p:nvSpPr>
          <p:cNvPr id="37" name="Text 32"/>
          <p:cNvSpPr txBox="1"/>
          <p:nvPr/>
        </p:nvSpPr>
        <p:spPr>
          <a:xfrm>
            <a:off x="6089904" y="3968496"/>
            <a:ext cx="1335024" cy="274320"/>
          </a:xfrm>
          <a:prstGeom prst="rect">
            <a:avLst/>
          </a:prstGeom>
          <a:noFill/>
          <a:ln/>
        </p:spPr>
        <p:txBody>
          <a:bodyPr wrap="square" lIns="0" tIns="0" rIns="0" bIns="0" rtlCol="0" anchor="ctr"/>
          <a:lstStyle/>
          <a:p>
            <a:pPr marL="0" indent="0">
              <a:buNone/>
            </a:pPr>
            <a:r>
              <a:rPr lang="en-US" sz="1500" b="1" dirty="0">
                <a:solidFill>
                  <a:srgbClr val="9FB3C8"/>
                </a:solidFill>
                <a:latin typeface="Calibri" pitchFamily="34" charset="0"/>
                <a:ea typeface="Calibri" pitchFamily="34" charset="-122"/>
                <a:cs typeface="Calibri" pitchFamily="34" charset="-120"/>
              </a:rPr>
              <a:t>0.047</a:t>
            </a:r>
            <a:endParaRPr lang="en-US" sz="1500" dirty="0"/>
          </a:p>
        </p:txBody>
      </p:sp>
      <p:sp>
        <p:nvSpPr>
          <p:cNvPr id="38" name="Text 33"/>
          <p:cNvSpPr txBox="1"/>
          <p:nvPr/>
        </p:nvSpPr>
        <p:spPr>
          <a:xfrm>
            <a:off x="6089904" y="4261104"/>
            <a:ext cx="1179576" cy="329184"/>
          </a:xfrm>
          <a:prstGeom prst="rect">
            <a:avLst/>
          </a:prstGeom>
          <a:noFill/>
          <a:ln/>
        </p:spPr>
        <p:txBody>
          <a:bodyPr wrap="square" lIns="0" tIns="0" rIns="0" bIns="0" rtlCol="0" anchor="t"/>
          <a:lstStyle/>
          <a:p>
            <a:pPr marL="0" indent="0">
              <a:lnSpc>
                <a:spcPct val="100000"/>
              </a:lnSpc>
              <a:buNone/>
            </a:pPr>
            <a:r>
              <a:rPr lang="en-US" sz="1100" dirty="0">
                <a:solidFill>
                  <a:srgbClr val="9FB3C8"/>
                </a:solidFill>
                <a:latin typeface="Calibri" pitchFamily="34" charset="0"/>
                <a:ea typeface="Calibri" pitchFamily="34" charset="-122"/>
                <a:cs typeface="Calibri" pitchFamily="34" charset="-120"/>
              </a:rPr>
              <a:t>stations — nearly flat</a:t>
            </a:r>
            <a:endParaRPr lang="en-US" sz="1100" dirty="0"/>
          </a:p>
        </p:txBody>
      </p:sp>
      <p:sp>
        <p:nvSpPr>
          <p:cNvPr id="39" name="Text 34"/>
          <p:cNvSpPr txBox="1"/>
          <p:nvPr/>
        </p:nvSpPr>
        <p:spPr>
          <a:xfrm>
            <a:off x="7479792" y="3968496"/>
            <a:ext cx="1335024" cy="274320"/>
          </a:xfrm>
          <a:prstGeom prst="rect">
            <a:avLst/>
          </a:prstGeom>
          <a:noFill/>
          <a:ln/>
        </p:spPr>
        <p:txBody>
          <a:bodyPr wrap="square" lIns="0" tIns="0" rIns="0" bIns="0" rtlCol="0" anchor="ctr"/>
          <a:lstStyle/>
          <a:p>
            <a:pPr marL="0" indent="0">
              <a:buNone/>
            </a:pPr>
            <a:r>
              <a:rPr lang="en-US" sz="1500" b="1" dirty="0">
                <a:solidFill>
                  <a:srgbClr val="8FE3DA"/>
                </a:solidFill>
                <a:latin typeface="Calibri" pitchFamily="34" charset="0"/>
                <a:ea typeface="Calibri" pitchFamily="34" charset="-122"/>
                <a:cs typeface="Calibri" pitchFamily="34" charset="-120"/>
              </a:rPr>
              <a:t>0.377</a:t>
            </a:r>
            <a:endParaRPr lang="en-US" sz="1500" dirty="0"/>
          </a:p>
        </p:txBody>
      </p:sp>
      <p:sp>
        <p:nvSpPr>
          <p:cNvPr id="40" name="Text 35"/>
          <p:cNvSpPr txBox="1"/>
          <p:nvPr/>
        </p:nvSpPr>
        <p:spPr>
          <a:xfrm>
            <a:off x="7479792" y="4261104"/>
            <a:ext cx="1179576" cy="329184"/>
          </a:xfrm>
          <a:prstGeom prst="rect">
            <a:avLst/>
          </a:prstGeom>
          <a:noFill/>
          <a:ln/>
        </p:spPr>
        <p:txBody>
          <a:bodyPr wrap="square" lIns="0" tIns="0" rIns="0" bIns="0" rtlCol="0" anchor="t"/>
          <a:lstStyle/>
          <a:p>
            <a:pPr marL="0" indent="0">
              <a:lnSpc>
                <a:spcPct val="100000"/>
              </a:lnSpc>
              <a:buNone/>
            </a:pPr>
            <a:r>
              <a:rPr lang="en-US" sz="1100" dirty="0">
                <a:solidFill>
                  <a:srgbClr val="9FB3C8"/>
                </a:solidFill>
                <a:latin typeface="Calibri" pitchFamily="34" charset="0"/>
                <a:ea typeface="Calibri" pitchFamily="34" charset="-122"/>
                <a:cs typeface="Calibri" pitchFamily="34" charset="-120"/>
              </a:rPr>
              <a:t>clusters — the layer to deploy against</a:t>
            </a:r>
            <a:endParaRPr lang="en-US" sz="1100" dirty="0"/>
          </a:p>
        </p:txBody>
      </p:sp>
      <p:sp>
        <p:nvSpPr>
          <p:cNvPr id="41" name="Text 36"/>
          <p:cNvSpPr txBox="1"/>
          <p:nvPr/>
        </p:nvSpPr>
        <p:spPr>
          <a:xfrm>
            <a:off x="3639312" y="4629654"/>
            <a:ext cx="4078224" cy="164592"/>
          </a:xfrm>
          <a:prstGeom prst="rect">
            <a:avLst/>
          </a:prstGeom>
          <a:noFill/>
          <a:ln/>
        </p:spPr>
        <p:txBody>
          <a:bodyPr wrap="square" lIns="0" tIns="0" rIns="0" bIns="0" rtlCol="0" anchor="t"/>
          <a:lstStyle/>
          <a:p>
            <a:pPr marL="0" indent="0">
              <a:buNone/>
            </a:pPr>
            <a:r>
              <a:rPr lang="en-US" sz="800" i="1" dirty="0">
                <a:solidFill>
                  <a:schemeClr val="bg2">
                    <a:lumMod val="90000"/>
                  </a:schemeClr>
                </a:solidFill>
                <a:latin typeface="Calibri" pitchFamily="34" charset="0"/>
                <a:ea typeface="Calibri" pitchFamily="34" charset="-122"/>
                <a:cs typeface="Calibri" pitchFamily="34" charset="-120"/>
              </a:rPr>
              <a:t>Tip : 0 is perfectly even, 1 is all load in one unit.</a:t>
            </a:r>
            <a:endParaRPr lang="en-US" sz="800" dirty="0">
              <a:solidFill>
                <a:schemeClr val="bg2">
                  <a:lumMod val="9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ivate/tmp/claude-501/-Users-adarsh-Desktop-Projects-KadiLabs/1a0b3114-7a5c-4b08-a5d4-f9d8371eeea4/scratchpad/deck/bg-content.png"/>
          <p:cNvPicPr>
            <a:picLocks noChangeAspect="1"/>
          </p:cNvPicPr>
          <p:nvPr/>
        </p:nvPicPr>
        <p:blipFill>
          <a:blip r:embed="rId3"/>
          <a:stretch>
            <a:fillRect/>
          </a:stretch>
        </p:blipFill>
        <p:spPr>
          <a:xfrm>
            <a:off x="0" y="0"/>
            <a:ext cx="9144000" cy="5143500"/>
          </a:xfrm>
          <a:prstGeom prst="rect">
            <a:avLst/>
          </a:prstGeom>
        </p:spPr>
      </p:pic>
      <p:sp>
        <p:nvSpPr>
          <p:cNvPr id="3" name="Text 0"/>
          <p:cNvSpPr txBox="1"/>
          <p:nvPr/>
        </p:nvSpPr>
        <p:spPr>
          <a:xfrm>
            <a:off x="384048" y="603504"/>
            <a:ext cx="8375904" cy="365760"/>
          </a:xfrm>
          <a:prstGeom prst="rect">
            <a:avLst/>
          </a:prstGeom>
          <a:noFill/>
          <a:ln/>
        </p:spPr>
        <p:txBody>
          <a:bodyPr wrap="square" lIns="0" tIns="0" rIns="0" bIns="0" rtlCol="0" anchor="t"/>
          <a:lstStyle/>
          <a:p>
            <a:pPr marL="0" indent="0">
              <a:buNone/>
            </a:pPr>
            <a:r>
              <a:rPr lang="en-US" sz="2100" b="1" dirty="0">
                <a:solidFill>
                  <a:srgbClr val="0F2F44"/>
                </a:solidFill>
                <a:latin typeface="Calibri" pitchFamily="34" charset="0"/>
                <a:ea typeface="Calibri" pitchFamily="34" charset="-122"/>
                <a:cs typeface="Calibri" pitchFamily="34" charset="-120"/>
              </a:rPr>
              <a:t>Opportunities</a:t>
            </a:r>
            <a:endParaRPr lang="en-US" sz="2100" dirty="0"/>
          </a:p>
        </p:txBody>
      </p:sp>
      <p:sp>
        <p:nvSpPr>
          <p:cNvPr id="4" name="Text 1"/>
          <p:cNvSpPr txBox="1"/>
          <p:nvPr/>
        </p:nvSpPr>
        <p:spPr>
          <a:xfrm>
            <a:off x="384048" y="969264"/>
            <a:ext cx="8375904" cy="237744"/>
          </a:xfrm>
          <a:prstGeom prst="rect">
            <a:avLst/>
          </a:prstGeom>
          <a:noFill/>
          <a:ln/>
        </p:spPr>
        <p:txBody>
          <a:bodyPr wrap="square" lIns="0" tIns="0" rIns="0" bIns="0" rtlCol="0" anchor="t"/>
          <a:lstStyle/>
          <a:p>
            <a:pPr marL="0" indent="0">
              <a:buNone/>
            </a:pPr>
            <a:r>
              <a:rPr lang="en-US" sz="1050" dirty="0">
                <a:solidFill>
                  <a:srgbClr val="5B6B7C"/>
                </a:solidFill>
                <a:latin typeface="Calibri" pitchFamily="34" charset="0"/>
                <a:ea typeface="Calibri" pitchFamily="34" charset="-122"/>
                <a:cs typeface="Calibri" pitchFamily="34" charset="-120"/>
              </a:rPr>
              <a:t>How it differs, how it solves the problem, and the USP</a:t>
            </a:r>
            <a:endParaRPr lang="en-US" sz="1050" dirty="0"/>
          </a:p>
        </p:txBody>
      </p:sp>
      <p:sp>
        <p:nvSpPr>
          <p:cNvPr id="5" name="Shape 2"/>
          <p:cNvSpPr/>
          <p:nvPr/>
        </p:nvSpPr>
        <p:spPr>
          <a:xfrm>
            <a:off x="384048" y="1280160"/>
            <a:ext cx="2688336" cy="3310128"/>
          </a:xfrm>
          <a:prstGeom prst="roundRect">
            <a:avLst>
              <a:gd name="adj" fmla="val 2041"/>
            </a:avLst>
          </a:prstGeom>
          <a:solidFill>
            <a:srgbClr val="EAF2FB"/>
          </a:solidFill>
          <a:ln w="9525">
            <a:solidFill>
              <a:srgbClr val="DCE3EC"/>
            </a:solidFill>
            <a:prstDash val="solid"/>
          </a:ln>
        </p:spPr>
        <p:txBody>
          <a:bodyPr/>
          <a:lstStyle/>
          <a:p>
            <a:endParaRPr lang="en-US"/>
          </a:p>
        </p:txBody>
      </p:sp>
      <p:sp>
        <p:nvSpPr>
          <p:cNvPr id="6" name="Text 3"/>
          <p:cNvSpPr txBox="1"/>
          <p:nvPr/>
        </p:nvSpPr>
        <p:spPr>
          <a:xfrm>
            <a:off x="493776" y="1344168"/>
            <a:ext cx="2468880" cy="201168"/>
          </a:xfrm>
          <a:prstGeom prst="rect">
            <a:avLst/>
          </a:prstGeom>
          <a:noFill/>
          <a:ln/>
        </p:spPr>
        <p:txBody>
          <a:bodyPr wrap="square" lIns="0" tIns="0" rIns="0" bIns="0" rtlCol="0" anchor="ctr"/>
          <a:lstStyle/>
          <a:p>
            <a:pPr marL="342900" indent="-342900">
              <a:buFont typeface="+mj-lt"/>
              <a:buAutoNum type="arabicPeriod"/>
            </a:pPr>
            <a:r>
              <a:rPr lang="en-US" sz="1400" b="1" dirty="0">
                <a:solidFill>
                  <a:srgbClr val="1A6FC4"/>
                </a:solidFill>
                <a:latin typeface="Calibri" pitchFamily="34" charset="0"/>
                <a:ea typeface="Calibri" pitchFamily="34" charset="-122"/>
                <a:cs typeface="Calibri" pitchFamily="34" charset="-120"/>
              </a:rPr>
              <a:t>How is it different?</a:t>
            </a:r>
            <a:endParaRPr lang="en-US" sz="1400" dirty="0"/>
          </a:p>
        </p:txBody>
      </p:sp>
      <p:sp>
        <p:nvSpPr>
          <p:cNvPr id="7" name="Shape 4"/>
          <p:cNvSpPr/>
          <p:nvPr/>
        </p:nvSpPr>
        <p:spPr>
          <a:xfrm>
            <a:off x="484632" y="1600200"/>
            <a:ext cx="2487168" cy="658368"/>
          </a:xfrm>
          <a:prstGeom prst="roundRect">
            <a:avLst>
              <a:gd name="adj" fmla="val 8333"/>
            </a:avLst>
          </a:prstGeom>
          <a:solidFill>
            <a:srgbClr val="FFFFFF"/>
          </a:solidFill>
          <a:ln w="9525">
            <a:solidFill>
              <a:srgbClr val="DCE3EC"/>
            </a:solidFill>
            <a:prstDash val="solid"/>
          </a:ln>
        </p:spPr>
        <p:txBody>
          <a:bodyPr/>
          <a:lstStyle/>
          <a:p>
            <a:endParaRPr lang="en-US"/>
          </a:p>
        </p:txBody>
      </p:sp>
      <p:sp>
        <p:nvSpPr>
          <p:cNvPr id="8" name="Text 5"/>
          <p:cNvSpPr txBox="1"/>
          <p:nvPr/>
        </p:nvSpPr>
        <p:spPr>
          <a:xfrm>
            <a:off x="566928" y="1645920"/>
            <a:ext cx="2322576" cy="164592"/>
          </a:xfrm>
          <a:prstGeom prst="rect">
            <a:avLst/>
          </a:prstGeom>
          <a:noFill/>
          <a:ln/>
        </p:spPr>
        <p:txBody>
          <a:bodyPr wrap="square" lIns="0" tIns="0" rIns="0" bIns="0" rtlCol="0" anchor="ctr"/>
          <a:lstStyle/>
          <a:p>
            <a:pPr marL="0" indent="0">
              <a:buNone/>
            </a:pPr>
            <a:r>
              <a:rPr lang="en-US" sz="1100" b="1" dirty="0">
                <a:solidFill>
                  <a:srgbClr val="0F2F44"/>
                </a:solidFill>
                <a:latin typeface="Calibri" pitchFamily="34" charset="0"/>
                <a:ea typeface="Calibri" pitchFamily="34" charset="-122"/>
                <a:cs typeface="Calibri" pitchFamily="34" charset="-120"/>
              </a:rPr>
              <a:t>Not a dashboard over counts</a:t>
            </a:r>
            <a:endParaRPr lang="en-US" sz="1100" dirty="0"/>
          </a:p>
        </p:txBody>
      </p:sp>
      <p:sp>
        <p:nvSpPr>
          <p:cNvPr id="9" name="Text 6"/>
          <p:cNvSpPr txBox="1"/>
          <p:nvPr/>
        </p:nvSpPr>
        <p:spPr>
          <a:xfrm>
            <a:off x="566928" y="1801368"/>
            <a:ext cx="2395728" cy="420624"/>
          </a:xfrm>
          <a:prstGeom prst="rect">
            <a:avLst/>
          </a:prstGeom>
          <a:noFill/>
          <a:ln/>
        </p:spPr>
        <p:txBody>
          <a:bodyPr wrap="square" lIns="0" tIns="0" rIns="0" bIns="0" rtlCol="0" anchor="ctr"/>
          <a:lstStyle/>
          <a:p>
            <a:pPr marL="0" indent="0">
              <a:lnSpc>
                <a:spcPct val="97000"/>
              </a:lnSpc>
              <a:buNone/>
            </a:pPr>
            <a:r>
              <a:rPr lang="en-US" sz="900" dirty="0">
                <a:solidFill>
                  <a:srgbClr val="5B6B7C"/>
                </a:solidFill>
                <a:latin typeface="Calibri" pitchFamily="34" charset="0"/>
                <a:ea typeface="Calibri" pitchFamily="34" charset="-122"/>
                <a:cs typeface="Calibri" pitchFamily="34" charset="-120"/>
              </a:rPr>
              <a:t>A graph over evidence. Every edge names the attribute that matched and the FIRs it matched on.</a:t>
            </a:r>
            <a:endParaRPr lang="en-US" sz="900" dirty="0"/>
          </a:p>
        </p:txBody>
      </p:sp>
      <p:sp>
        <p:nvSpPr>
          <p:cNvPr id="10" name="Shape 7"/>
          <p:cNvSpPr/>
          <p:nvPr/>
        </p:nvSpPr>
        <p:spPr>
          <a:xfrm>
            <a:off x="484632" y="2331720"/>
            <a:ext cx="2487168" cy="658368"/>
          </a:xfrm>
          <a:prstGeom prst="roundRect">
            <a:avLst>
              <a:gd name="adj" fmla="val 8333"/>
            </a:avLst>
          </a:prstGeom>
          <a:solidFill>
            <a:srgbClr val="FFFFFF"/>
          </a:solidFill>
          <a:ln w="9525">
            <a:solidFill>
              <a:srgbClr val="DCE3EC"/>
            </a:solidFill>
            <a:prstDash val="solid"/>
          </a:ln>
        </p:spPr>
        <p:txBody>
          <a:bodyPr/>
          <a:lstStyle/>
          <a:p>
            <a:endParaRPr lang="en-US"/>
          </a:p>
        </p:txBody>
      </p:sp>
      <p:sp>
        <p:nvSpPr>
          <p:cNvPr id="11" name="Text 8"/>
          <p:cNvSpPr txBox="1"/>
          <p:nvPr/>
        </p:nvSpPr>
        <p:spPr>
          <a:xfrm>
            <a:off x="566928" y="2377440"/>
            <a:ext cx="2322576" cy="164592"/>
          </a:xfrm>
          <a:prstGeom prst="rect">
            <a:avLst/>
          </a:prstGeom>
          <a:noFill/>
          <a:ln/>
        </p:spPr>
        <p:txBody>
          <a:bodyPr wrap="square" lIns="0" tIns="0" rIns="0" bIns="0" rtlCol="0" anchor="ctr"/>
          <a:lstStyle/>
          <a:p>
            <a:pPr marL="0" indent="0">
              <a:buNone/>
            </a:pPr>
            <a:r>
              <a:rPr lang="en-US" sz="1100" b="1" dirty="0">
                <a:solidFill>
                  <a:srgbClr val="0F2F44"/>
                </a:solidFill>
                <a:latin typeface="Calibri" pitchFamily="34" charset="0"/>
                <a:ea typeface="Calibri" pitchFamily="34" charset="-122"/>
                <a:cs typeface="Calibri" pitchFamily="34" charset="-120"/>
              </a:rPr>
              <a:t>Entity resolution comes first</a:t>
            </a:r>
            <a:endParaRPr lang="en-US" sz="1100" dirty="0"/>
          </a:p>
        </p:txBody>
      </p:sp>
      <p:sp>
        <p:nvSpPr>
          <p:cNvPr id="12" name="Text 9"/>
          <p:cNvSpPr txBox="1"/>
          <p:nvPr/>
        </p:nvSpPr>
        <p:spPr>
          <a:xfrm>
            <a:off x="566928" y="2532888"/>
            <a:ext cx="2322576" cy="420624"/>
          </a:xfrm>
          <a:prstGeom prst="rect">
            <a:avLst/>
          </a:prstGeom>
          <a:noFill/>
          <a:ln/>
        </p:spPr>
        <p:txBody>
          <a:bodyPr wrap="square" lIns="0" tIns="0" rIns="0" bIns="0" rtlCol="0" anchor="ctr"/>
          <a:lstStyle/>
          <a:p>
            <a:pPr marL="0" indent="0">
              <a:lnSpc>
                <a:spcPct val="97000"/>
              </a:lnSpc>
              <a:buNone/>
            </a:pPr>
            <a:r>
              <a:rPr lang="en-US" sz="900" dirty="0">
                <a:solidFill>
                  <a:srgbClr val="5B6B7C"/>
                </a:solidFill>
                <a:latin typeface="Calibri" pitchFamily="34" charset="0"/>
                <a:ea typeface="Calibri" pitchFamily="34" charset="-122"/>
                <a:cs typeface="Calibri" pitchFamily="34" charset="-120"/>
              </a:rPr>
              <a:t>54,337 accused records resolved to 52,928 identities before anything is counted.</a:t>
            </a:r>
            <a:endParaRPr lang="en-US" sz="900" dirty="0"/>
          </a:p>
        </p:txBody>
      </p:sp>
      <p:sp>
        <p:nvSpPr>
          <p:cNvPr id="13" name="Shape 10"/>
          <p:cNvSpPr/>
          <p:nvPr/>
        </p:nvSpPr>
        <p:spPr>
          <a:xfrm>
            <a:off x="484632" y="3063240"/>
            <a:ext cx="2487168" cy="658368"/>
          </a:xfrm>
          <a:prstGeom prst="roundRect">
            <a:avLst>
              <a:gd name="adj" fmla="val 8333"/>
            </a:avLst>
          </a:prstGeom>
          <a:solidFill>
            <a:srgbClr val="FFFFFF"/>
          </a:solidFill>
          <a:ln w="9525">
            <a:solidFill>
              <a:srgbClr val="DCE3EC"/>
            </a:solidFill>
            <a:prstDash val="solid"/>
          </a:ln>
        </p:spPr>
        <p:txBody>
          <a:bodyPr/>
          <a:lstStyle/>
          <a:p>
            <a:endParaRPr lang="en-US"/>
          </a:p>
        </p:txBody>
      </p:sp>
      <p:sp>
        <p:nvSpPr>
          <p:cNvPr id="14" name="Text 11"/>
          <p:cNvSpPr txBox="1"/>
          <p:nvPr/>
        </p:nvSpPr>
        <p:spPr>
          <a:xfrm>
            <a:off x="566928" y="3108960"/>
            <a:ext cx="2322576" cy="164592"/>
          </a:xfrm>
          <a:prstGeom prst="rect">
            <a:avLst/>
          </a:prstGeom>
          <a:noFill/>
          <a:ln/>
        </p:spPr>
        <p:txBody>
          <a:bodyPr wrap="square" lIns="0" tIns="0" rIns="0" bIns="0" rtlCol="0" anchor="ctr"/>
          <a:lstStyle/>
          <a:p>
            <a:pPr marL="0" indent="0">
              <a:buNone/>
            </a:pPr>
            <a:r>
              <a:rPr lang="en-US" sz="1100" b="1" dirty="0">
                <a:solidFill>
                  <a:srgbClr val="0F2F44"/>
                </a:solidFill>
                <a:latin typeface="Calibri" pitchFamily="34" charset="0"/>
                <a:ea typeface="Calibri" pitchFamily="34" charset="-122"/>
                <a:cs typeface="Calibri" pitchFamily="34" charset="-120"/>
              </a:rPr>
              <a:t>A model must beat the rule</a:t>
            </a:r>
            <a:endParaRPr lang="en-US" sz="1100" dirty="0"/>
          </a:p>
        </p:txBody>
      </p:sp>
      <p:sp>
        <p:nvSpPr>
          <p:cNvPr id="15" name="Text 12"/>
          <p:cNvSpPr txBox="1"/>
          <p:nvPr/>
        </p:nvSpPr>
        <p:spPr>
          <a:xfrm>
            <a:off x="566928" y="3264408"/>
            <a:ext cx="2322576" cy="420624"/>
          </a:xfrm>
          <a:prstGeom prst="rect">
            <a:avLst/>
          </a:prstGeom>
          <a:noFill/>
          <a:ln/>
        </p:spPr>
        <p:txBody>
          <a:bodyPr wrap="square" lIns="0" tIns="0" rIns="0" bIns="0" rtlCol="0" anchor="ctr"/>
          <a:lstStyle/>
          <a:p>
            <a:pPr marL="0" indent="0">
              <a:lnSpc>
                <a:spcPct val="97000"/>
              </a:lnSpc>
              <a:buNone/>
            </a:pPr>
            <a:r>
              <a:rPr lang="en-US" sz="900" dirty="0">
                <a:solidFill>
                  <a:srgbClr val="5B6B7C"/>
                </a:solidFill>
                <a:latin typeface="Calibri" pitchFamily="34" charset="0"/>
                <a:ea typeface="Calibri" pitchFamily="34" charset="-122"/>
                <a:cs typeface="Calibri" pitchFamily="34" charset="-120"/>
              </a:rPr>
              <a:t>Twelve candidates were built and rejected for not beating the heuristic they replace.</a:t>
            </a:r>
            <a:endParaRPr lang="en-US" sz="900" dirty="0"/>
          </a:p>
        </p:txBody>
      </p:sp>
      <p:sp>
        <p:nvSpPr>
          <p:cNvPr id="16" name="Shape 13"/>
          <p:cNvSpPr/>
          <p:nvPr/>
        </p:nvSpPr>
        <p:spPr>
          <a:xfrm>
            <a:off x="484632" y="3794760"/>
            <a:ext cx="2487168" cy="658368"/>
          </a:xfrm>
          <a:prstGeom prst="roundRect">
            <a:avLst>
              <a:gd name="adj" fmla="val 8333"/>
            </a:avLst>
          </a:prstGeom>
          <a:solidFill>
            <a:srgbClr val="FFFFFF"/>
          </a:solidFill>
          <a:ln w="9525">
            <a:solidFill>
              <a:srgbClr val="DCE3EC"/>
            </a:solidFill>
            <a:prstDash val="solid"/>
          </a:ln>
        </p:spPr>
        <p:txBody>
          <a:bodyPr/>
          <a:lstStyle/>
          <a:p>
            <a:endParaRPr lang="en-US"/>
          </a:p>
        </p:txBody>
      </p:sp>
      <p:sp>
        <p:nvSpPr>
          <p:cNvPr id="17" name="Text 14"/>
          <p:cNvSpPr txBox="1"/>
          <p:nvPr/>
        </p:nvSpPr>
        <p:spPr>
          <a:xfrm>
            <a:off x="566928" y="3840480"/>
            <a:ext cx="2322576" cy="164592"/>
          </a:xfrm>
          <a:prstGeom prst="rect">
            <a:avLst/>
          </a:prstGeom>
          <a:noFill/>
          <a:ln/>
        </p:spPr>
        <p:txBody>
          <a:bodyPr wrap="square" lIns="0" tIns="0" rIns="0" bIns="0" rtlCol="0" anchor="ctr"/>
          <a:lstStyle/>
          <a:p>
            <a:pPr marL="0" indent="0">
              <a:buNone/>
            </a:pPr>
            <a:r>
              <a:rPr lang="en-US" sz="1100" b="1" dirty="0">
                <a:solidFill>
                  <a:srgbClr val="0F2F44"/>
                </a:solidFill>
                <a:latin typeface="Calibri" pitchFamily="34" charset="0"/>
                <a:ea typeface="Calibri" pitchFamily="34" charset="-122"/>
                <a:cs typeface="Calibri" pitchFamily="34" charset="-120"/>
              </a:rPr>
              <a:t>Fairness is a failing test</a:t>
            </a:r>
            <a:endParaRPr lang="en-US" sz="1100" dirty="0"/>
          </a:p>
        </p:txBody>
      </p:sp>
      <p:sp>
        <p:nvSpPr>
          <p:cNvPr id="18" name="Text 15"/>
          <p:cNvSpPr txBox="1"/>
          <p:nvPr/>
        </p:nvSpPr>
        <p:spPr>
          <a:xfrm>
            <a:off x="566928" y="3995928"/>
            <a:ext cx="2322576" cy="420624"/>
          </a:xfrm>
          <a:prstGeom prst="rect">
            <a:avLst/>
          </a:prstGeom>
          <a:noFill/>
          <a:ln/>
        </p:spPr>
        <p:txBody>
          <a:bodyPr wrap="square" lIns="0" tIns="0" rIns="0" bIns="0" rtlCol="0" anchor="ctr"/>
          <a:lstStyle/>
          <a:p>
            <a:pPr marL="0" indent="0">
              <a:lnSpc>
                <a:spcPct val="97000"/>
              </a:lnSpc>
              <a:buNone/>
            </a:pPr>
            <a:r>
              <a:rPr lang="en-US" sz="900" dirty="0">
                <a:solidFill>
                  <a:srgbClr val="5B6B7C"/>
                </a:solidFill>
                <a:latin typeface="Calibri" pitchFamily="34" charset="0"/>
                <a:ea typeface="Calibri" pitchFamily="34" charset="-122"/>
                <a:cs typeface="Calibri" pitchFamily="34" charset="-120"/>
              </a:rPr>
              <a:t>Caste, religion and occupation cannot reach a feature set — the build stops.</a:t>
            </a:r>
            <a:endParaRPr lang="en-US" sz="900" dirty="0"/>
          </a:p>
        </p:txBody>
      </p:sp>
      <p:sp>
        <p:nvSpPr>
          <p:cNvPr id="19" name="Shape 16"/>
          <p:cNvSpPr/>
          <p:nvPr/>
        </p:nvSpPr>
        <p:spPr>
          <a:xfrm>
            <a:off x="3209544" y="1280160"/>
            <a:ext cx="2688336" cy="3310128"/>
          </a:xfrm>
          <a:prstGeom prst="roundRect">
            <a:avLst>
              <a:gd name="adj" fmla="val 2041"/>
            </a:avLst>
          </a:prstGeom>
          <a:solidFill>
            <a:srgbClr val="E4F5F3"/>
          </a:solidFill>
          <a:ln w="9525">
            <a:solidFill>
              <a:srgbClr val="DCE3EC"/>
            </a:solidFill>
            <a:prstDash val="solid"/>
          </a:ln>
        </p:spPr>
        <p:txBody>
          <a:bodyPr/>
          <a:lstStyle/>
          <a:p>
            <a:endParaRPr lang="en-US"/>
          </a:p>
        </p:txBody>
      </p:sp>
      <p:sp>
        <p:nvSpPr>
          <p:cNvPr id="20" name="Text 17"/>
          <p:cNvSpPr txBox="1"/>
          <p:nvPr/>
        </p:nvSpPr>
        <p:spPr>
          <a:xfrm>
            <a:off x="3319272" y="1344168"/>
            <a:ext cx="2468880" cy="201168"/>
          </a:xfrm>
          <a:prstGeom prst="rect">
            <a:avLst/>
          </a:prstGeom>
          <a:noFill/>
          <a:ln/>
        </p:spPr>
        <p:txBody>
          <a:bodyPr wrap="square" lIns="0" tIns="0" rIns="0" bIns="0" rtlCol="0" anchor="ctr"/>
          <a:lstStyle/>
          <a:p>
            <a:pPr marL="342900" indent="-342900">
              <a:buFont typeface="+mj-lt"/>
              <a:buAutoNum type="arabicPeriod"/>
            </a:pPr>
            <a:r>
              <a:rPr lang="en-US" sz="1400" b="1" dirty="0">
                <a:solidFill>
                  <a:srgbClr val="2FA8A0"/>
                </a:solidFill>
                <a:latin typeface="Calibri" pitchFamily="34" charset="0"/>
                <a:ea typeface="Calibri" pitchFamily="34" charset="-122"/>
                <a:cs typeface="Calibri" pitchFamily="34" charset="-120"/>
              </a:rPr>
              <a:t>How will it solve it?</a:t>
            </a:r>
            <a:endParaRPr lang="en-US" sz="1400" dirty="0"/>
          </a:p>
        </p:txBody>
      </p:sp>
      <p:sp>
        <p:nvSpPr>
          <p:cNvPr id="21" name="Shape 18"/>
          <p:cNvSpPr/>
          <p:nvPr/>
        </p:nvSpPr>
        <p:spPr>
          <a:xfrm>
            <a:off x="3310128" y="1600200"/>
            <a:ext cx="2487168" cy="658368"/>
          </a:xfrm>
          <a:prstGeom prst="roundRect">
            <a:avLst>
              <a:gd name="adj" fmla="val 8333"/>
            </a:avLst>
          </a:prstGeom>
          <a:solidFill>
            <a:srgbClr val="FFFFFF"/>
          </a:solidFill>
          <a:ln w="9525">
            <a:solidFill>
              <a:srgbClr val="DCE3EC"/>
            </a:solidFill>
            <a:prstDash val="solid"/>
          </a:ln>
        </p:spPr>
        <p:txBody>
          <a:bodyPr/>
          <a:lstStyle/>
          <a:p>
            <a:endParaRPr lang="en-US"/>
          </a:p>
        </p:txBody>
      </p:sp>
      <p:sp>
        <p:nvSpPr>
          <p:cNvPr id="22" name="Text 19"/>
          <p:cNvSpPr txBox="1"/>
          <p:nvPr/>
        </p:nvSpPr>
        <p:spPr>
          <a:xfrm>
            <a:off x="3392424" y="1645920"/>
            <a:ext cx="2322576" cy="164592"/>
          </a:xfrm>
          <a:prstGeom prst="rect">
            <a:avLst/>
          </a:prstGeom>
          <a:noFill/>
          <a:ln/>
        </p:spPr>
        <p:txBody>
          <a:bodyPr wrap="square" lIns="0" tIns="0" rIns="0" bIns="0" rtlCol="0" anchor="ctr"/>
          <a:lstStyle/>
          <a:p>
            <a:pPr marL="0" indent="0">
              <a:buNone/>
            </a:pPr>
            <a:r>
              <a:rPr lang="en-US" sz="1100" b="1" dirty="0">
                <a:solidFill>
                  <a:srgbClr val="0F2F44"/>
                </a:solidFill>
                <a:latin typeface="Calibri" pitchFamily="34" charset="0"/>
                <a:ea typeface="Calibri" pitchFamily="34" charset="-122"/>
                <a:cs typeface="Calibri" pitchFamily="34" charset="-120"/>
              </a:rPr>
              <a:t>Breaks the silo, deliberately</a:t>
            </a:r>
            <a:endParaRPr lang="en-US" sz="1100" dirty="0"/>
          </a:p>
        </p:txBody>
      </p:sp>
      <p:sp>
        <p:nvSpPr>
          <p:cNvPr id="23" name="Text 20"/>
          <p:cNvSpPr txBox="1"/>
          <p:nvPr/>
        </p:nvSpPr>
        <p:spPr>
          <a:xfrm>
            <a:off x="3392424" y="1801368"/>
            <a:ext cx="2322576" cy="420624"/>
          </a:xfrm>
          <a:prstGeom prst="rect">
            <a:avLst/>
          </a:prstGeom>
          <a:noFill/>
          <a:ln/>
        </p:spPr>
        <p:txBody>
          <a:bodyPr wrap="square" lIns="0" tIns="0" rIns="0" bIns="0" rtlCol="0" anchor="ctr"/>
          <a:lstStyle/>
          <a:p>
            <a:pPr marL="0" indent="0">
              <a:lnSpc>
                <a:spcPct val="97000"/>
              </a:lnSpc>
              <a:buNone/>
            </a:pPr>
            <a:r>
              <a:rPr lang="en-US" sz="900" dirty="0">
                <a:solidFill>
                  <a:srgbClr val="5B6B7C"/>
                </a:solidFill>
                <a:latin typeface="Calibri" pitchFamily="34" charset="0"/>
                <a:ea typeface="Calibri" pitchFamily="34" charset="-122"/>
                <a:cs typeface="Calibri" pitchFamily="34" charset="-120"/>
              </a:rPr>
              <a:t>A district officer sees cases linked into their district; a station still sees its own register.</a:t>
            </a:r>
            <a:endParaRPr lang="en-US" sz="900" dirty="0"/>
          </a:p>
        </p:txBody>
      </p:sp>
      <p:sp>
        <p:nvSpPr>
          <p:cNvPr id="24" name="Shape 21"/>
          <p:cNvSpPr/>
          <p:nvPr/>
        </p:nvSpPr>
        <p:spPr>
          <a:xfrm>
            <a:off x="3310128" y="2331720"/>
            <a:ext cx="2487168" cy="658368"/>
          </a:xfrm>
          <a:prstGeom prst="roundRect">
            <a:avLst>
              <a:gd name="adj" fmla="val 8333"/>
            </a:avLst>
          </a:prstGeom>
          <a:solidFill>
            <a:srgbClr val="FFFFFF"/>
          </a:solidFill>
          <a:ln w="9525">
            <a:solidFill>
              <a:srgbClr val="DCE3EC"/>
            </a:solidFill>
            <a:prstDash val="solid"/>
          </a:ln>
        </p:spPr>
        <p:txBody>
          <a:bodyPr/>
          <a:lstStyle/>
          <a:p>
            <a:endParaRPr lang="en-US"/>
          </a:p>
        </p:txBody>
      </p:sp>
      <p:sp>
        <p:nvSpPr>
          <p:cNvPr id="25" name="Text 22"/>
          <p:cNvSpPr txBox="1"/>
          <p:nvPr/>
        </p:nvSpPr>
        <p:spPr>
          <a:xfrm>
            <a:off x="3392424" y="2377440"/>
            <a:ext cx="2322576" cy="164592"/>
          </a:xfrm>
          <a:prstGeom prst="rect">
            <a:avLst/>
          </a:prstGeom>
          <a:noFill/>
          <a:ln/>
        </p:spPr>
        <p:txBody>
          <a:bodyPr wrap="square" lIns="0" tIns="0" rIns="0" bIns="0" rtlCol="0" anchor="ctr"/>
          <a:lstStyle/>
          <a:p>
            <a:pPr marL="0" indent="0">
              <a:buNone/>
            </a:pPr>
            <a:r>
              <a:rPr lang="en-US" sz="1100" b="1" dirty="0">
                <a:solidFill>
                  <a:srgbClr val="0F2F44"/>
                </a:solidFill>
                <a:latin typeface="Calibri" pitchFamily="34" charset="0"/>
                <a:ea typeface="Calibri" pitchFamily="34" charset="-122"/>
                <a:cs typeface="Calibri" pitchFamily="34" charset="-120"/>
              </a:rPr>
              <a:t>Turns backlog into a queue</a:t>
            </a:r>
            <a:endParaRPr lang="en-US" sz="1100" dirty="0"/>
          </a:p>
        </p:txBody>
      </p:sp>
      <p:sp>
        <p:nvSpPr>
          <p:cNvPr id="26" name="Text 23"/>
          <p:cNvSpPr txBox="1"/>
          <p:nvPr/>
        </p:nvSpPr>
        <p:spPr>
          <a:xfrm>
            <a:off x="3392424" y="2532888"/>
            <a:ext cx="2322576" cy="420624"/>
          </a:xfrm>
          <a:prstGeom prst="rect">
            <a:avLst/>
          </a:prstGeom>
          <a:noFill/>
          <a:ln/>
        </p:spPr>
        <p:txBody>
          <a:bodyPr wrap="square" lIns="0" tIns="0" rIns="0" bIns="0" rtlCol="0" anchor="ctr"/>
          <a:lstStyle/>
          <a:p>
            <a:pPr marL="0" indent="0">
              <a:lnSpc>
                <a:spcPct val="97000"/>
              </a:lnSpc>
              <a:buNone/>
            </a:pPr>
            <a:r>
              <a:rPr lang="en-US" sz="900" dirty="0">
                <a:solidFill>
                  <a:srgbClr val="5B6B7C"/>
                </a:solidFill>
                <a:latin typeface="Calibri" pitchFamily="34" charset="0"/>
                <a:ea typeface="Calibri" pitchFamily="34" charset="-122"/>
                <a:cs typeface="Calibri" pitchFamily="34" charset="-120"/>
              </a:rPr>
              <a:t>26,168 flagged cases ranked by severity, each with a recommended next action.</a:t>
            </a:r>
            <a:endParaRPr lang="en-US" sz="900" dirty="0"/>
          </a:p>
        </p:txBody>
      </p:sp>
      <p:sp>
        <p:nvSpPr>
          <p:cNvPr id="27" name="Shape 24"/>
          <p:cNvSpPr/>
          <p:nvPr/>
        </p:nvSpPr>
        <p:spPr>
          <a:xfrm>
            <a:off x="3310128" y="3063240"/>
            <a:ext cx="2487168" cy="658368"/>
          </a:xfrm>
          <a:prstGeom prst="roundRect">
            <a:avLst>
              <a:gd name="adj" fmla="val 8333"/>
            </a:avLst>
          </a:prstGeom>
          <a:solidFill>
            <a:srgbClr val="FFFFFF"/>
          </a:solidFill>
          <a:ln w="9525">
            <a:solidFill>
              <a:srgbClr val="DCE3EC"/>
            </a:solidFill>
            <a:prstDash val="solid"/>
          </a:ln>
        </p:spPr>
        <p:txBody>
          <a:bodyPr/>
          <a:lstStyle/>
          <a:p>
            <a:endParaRPr lang="en-US"/>
          </a:p>
        </p:txBody>
      </p:sp>
      <p:sp>
        <p:nvSpPr>
          <p:cNvPr id="28" name="Text 25"/>
          <p:cNvSpPr txBox="1"/>
          <p:nvPr/>
        </p:nvSpPr>
        <p:spPr>
          <a:xfrm>
            <a:off x="3392424" y="3108960"/>
            <a:ext cx="2322576" cy="164592"/>
          </a:xfrm>
          <a:prstGeom prst="rect">
            <a:avLst/>
          </a:prstGeom>
          <a:noFill/>
          <a:ln/>
        </p:spPr>
        <p:txBody>
          <a:bodyPr wrap="square" lIns="0" tIns="0" rIns="0" bIns="0" rtlCol="0" anchor="ctr"/>
          <a:lstStyle/>
          <a:p>
            <a:pPr marL="0" indent="0">
              <a:buNone/>
            </a:pPr>
            <a:r>
              <a:rPr lang="en-US" sz="1100" b="1" dirty="0">
                <a:solidFill>
                  <a:srgbClr val="0F2F44"/>
                </a:solidFill>
                <a:latin typeface="Calibri" pitchFamily="34" charset="0"/>
                <a:ea typeface="Calibri" pitchFamily="34" charset="-122"/>
                <a:cs typeface="Calibri" pitchFamily="34" charset="-120"/>
              </a:rPr>
              <a:t>Warns before it happens</a:t>
            </a:r>
            <a:endParaRPr lang="en-US" sz="1100" dirty="0"/>
          </a:p>
        </p:txBody>
      </p:sp>
      <p:sp>
        <p:nvSpPr>
          <p:cNvPr id="29" name="Text 26"/>
          <p:cNvSpPr txBox="1"/>
          <p:nvPr/>
        </p:nvSpPr>
        <p:spPr>
          <a:xfrm>
            <a:off x="3392424" y="3264408"/>
            <a:ext cx="2322576" cy="420624"/>
          </a:xfrm>
          <a:prstGeom prst="rect">
            <a:avLst/>
          </a:prstGeom>
          <a:noFill/>
          <a:ln/>
        </p:spPr>
        <p:txBody>
          <a:bodyPr wrap="square" lIns="0" tIns="0" rIns="0" bIns="0" rtlCol="0" anchor="ctr"/>
          <a:lstStyle/>
          <a:p>
            <a:pPr marL="0" indent="0">
              <a:lnSpc>
                <a:spcPct val="97000"/>
              </a:lnSpc>
              <a:buNone/>
            </a:pPr>
            <a:r>
              <a:rPr lang="en-US" sz="900" dirty="0">
                <a:solidFill>
                  <a:srgbClr val="5B6B7C"/>
                </a:solidFill>
                <a:latin typeface="Calibri" pitchFamily="34" charset="0"/>
                <a:ea typeface="Calibri" pitchFamily="34" charset="-122"/>
                <a:cs typeface="Calibri" pitchFamily="34" charset="-120"/>
              </a:rPr>
              <a:t>Station pendency +20% in 3 months, predicted at 0.870 AUC against a 0.701 rule.</a:t>
            </a:r>
            <a:endParaRPr lang="en-US" sz="900" dirty="0"/>
          </a:p>
        </p:txBody>
      </p:sp>
      <p:sp>
        <p:nvSpPr>
          <p:cNvPr id="30" name="Shape 27"/>
          <p:cNvSpPr/>
          <p:nvPr/>
        </p:nvSpPr>
        <p:spPr>
          <a:xfrm>
            <a:off x="3310128" y="3794760"/>
            <a:ext cx="2487168" cy="658368"/>
          </a:xfrm>
          <a:prstGeom prst="roundRect">
            <a:avLst>
              <a:gd name="adj" fmla="val 8333"/>
            </a:avLst>
          </a:prstGeom>
          <a:solidFill>
            <a:srgbClr val="FFFFFF"/>
          </a:solidFill>
          <a:ln w="9525">
            <a:solidFill>
              <a:srgbClr val="DCE3EC"/>
            </a:solidFill>
            <a:prstDash val="solid"/>
          </a:ln>
        </p:spPr>
        <p:txBody>
          <a:bodyPr/>
          <a:lstStyle/>
          <a:p>
            <a:endParaRPr lang="en-US"/>
          </a:p>
        </p:txBody>
      </p:sp>
      <p:sp>
        <p:nvSpPr>
          <p:cNvPr id="31" name="Text 28"/>
          <p:cNvSpPr txBox="1"/>
          <p:nvPr/>
        </p:nvSpPr>
        <p:spPr>
          <a:xfrm>
            <a:off x="3392424" y="3840480"/>
            <a:ext cx="2322576" cy="164592"/>
          </a:xfrm>
          <a:prstGeom prst="rect">
            <a:avLst/>
          </a:prstGeom>
          <a:noFill/>
          <a:ln/>
        </p:spPr>
        <p:txBody>
          <a:bodyPr wrap="square" lIns="0" tIns="0" rIns="0" bIns="0" rtlCol="0" anchor="ctr"/>
          <a:lstStyle/>
          <a:p>
            <a:pPr marL="0" indent="0">
              <a:buNone/>
            </a:pPr>
            <a:r>
              <a:rPr lang="en-US" sz="1100" b="1" dirty="0">
                <a:solidFill>
                  <a:srgbClr val="0F2F44"/>
                </a:solidFill>
                <a:latin typeface="Calibri" pitchFamily="34" charset="0"/>
                <a:ea typeface="Calibri" pitchFamily="34" charset="-122"/>
                <a:cs typeface="Calibri" pitchFamily="34" charset="-120"/>
              </a:rPr>
              <a:t>Removes the retyping</a:t>
            </a:r>
            <a:endParaRPr lang="en-US" sz="1100" dirty="0"/>
          </a:p>
        </p:txBody>
      </p:sp>
      <p:sp>
        <p:nvSpPr>
          <p:cNvPr id="32" name="Text 29"/>
          <p:cNvSpPr txBox="1"/>
          <p:nvPr/>
        </p:nvSpPr>
        <p:spPr>
          <a:xfrm>
            <a:off x="3392424" y="3995928"/>
            <a:ext cx="2322576" cy="420624"/>
          </a:xfrm>
          <a:prstGeom prst="rect">
            <a:avLst/>
          </a:prstGeom>
          <a:noFill/>
          <a:ln/>
        </p:spPr>
        <p:txBody>
          <a:bodyPr wrap="square" lIns="0" tIns="0" rIns="0" bIns="0" rtlCol="0" anchor="ctr"/>
          <a:lstStyle/>
          <a:p>
            <a:pPr marL="0" indent="0">
              <a:lnSpc>
                <a:spcPct val="97000"/>
              </a:lnSpc>
              <a:buNone/>
            </a:pPr>
            <a:r>
              <a:rPr lang="en-US" sz="900" dirty="0">
                <a:solidFill>
                  <a:srgbClr val="5B6B7C"/>
                </a:solidFill>
                <a:latin typeface="Calibri" pitchFamily="34" charset="0"/>
                <a:ea typeface="Calibri" pitchFamily="34" charset="-122"/>
                <a:cs typeface="Calibri" pitchFamily="34" charset="-120"/>
              </a:rPr>
              <a:t>Photograph a seizure memo; OCR reads it at 99% and files it against the case.</a:t>
            </a:r>
            <a:endParaRPr lang="en-US" sz="900" dirty="0"/>
          </a:p>
        </p:txBody>
      </p:sp>
      <p:sp>
        <p:nvSpPr>
          <p:cNvPr id="33" name="Shape 30"/>
          <p:cNvSpPr/>
          <p:nvPr/>
        </p:nvSpPr>
        <p:spPr>
          <a:xfrm>
            <a:off x="6035040" y="1280160"/>
            <a:ext cx="2688336" cy="3310128"/>
          </a:xfrm>
          <a:prstGeom prst="roundRect">
            <a:avLst>
              <a:gd name="adj" fmla="val 2041"/>
            </a:avLst>
          </a:prstGeom>
          <a:solidFill>
            <a:srgbClr val="FDF1E4"/>
          </a:solidFill>
          <a:ln w="9525">
            <a:solidFill>
              <a:srgbClr val="DCE3EC"/>
            </a:solidFill>
            <a:prstDash val="solid"/>
          </a:ln>
        </p:spPr>
        <p:txBody>
          <a:bodyPr/>
          <a:lstStyle/>
          <a:p>
            <a:endParaRPr lang="en-US"/>
          </a:p>
        </p:txBody>
      </p:sp>
      <p:sp>
        <p:nvSpPr>
          <p:cNvPr id="34" name="Text 31"/>
          <p:cNvSpPr txBox="1"/>
          <p:nvPr/>
        </p:nvSpPr>
        <p:spPr>
          <a:xfrm>
            <a:off x="6144768" y="1344168"/>
            <a:ext cx="2468880" cy="201168"/>
          </a:xfrm>
          <a:prstGeom prst="rect">
            <a:avLst/>
          </a:prstGeom>
          <a:noFill/>
          <a:ln/>
        </p:spPr>
        <p:txBody>
          <a:bodyPr wrap="square" lIns="0" tIns="0" rIns="0" bIns="0" rtlCol="0" anchor="ctr"/>
          <a:lstStyle/>
          <a:p>
            <a:pPr marL="342900" indent="-342900">
              <a:buFont typeface="+mj-lt"/>
              <a:buAutoNum type="arabicPeriod"/>
            </a:pPr>
            <a:r>
              <a:rPr lang="en-US" sz="1400" b="1" dirty="0">
                <a:solidFill>
                  <a:srgbClr val="E8871E"/>
                </a:solidFill>
                <a:latin typeface="Calibri" pitchFamily="34" charset="0"/>
                <a:ea typeface="Calibri" pitchFamily="34" charset="-122"/>
                <a:cs typeface="Calibri" pitchFamily="34" charset="-120"/>
              </a:rPr>
              <a:t>USP</a:t>
            </a:r>
            <a:endParaRPr lang="en-US" sz="1400" dirty="0"/>
          </a:p>
        </p:txBody>
      </p:sp>
      <p:sp>
        <p:nvSpPr>
          <p:cNvPr id="35" name="Shape 32"/>
          <p:cNvSpPr/>
          <p:nvPr/>
        </p:nvSpPr>
        <p:spPr>
          <a:xfrm>
            <a:off x="6135624" y="1600200"/>
            <a:ext cx="2487168" cy="658368"/>
          </a:xfrm>
          <a:prstGeom prst="roundRect">
            <a:avLst>
              <a:gd name="adj" fmla="val 8333"/>
            </a:avLst>
          </a:prstGeom>
          <a:solidFill>
            <a:srgbClr val="FFFFFF"/>
          </a:solidFill>
          <a:ln w="9525">
            <a:solidFill>
              <a:srgbClr val="DCE3EC"/>
            </a:solidFill>
            <a:prstDash val="solid"/>
          </a:ln>
        </p:spPr>
        <p:txBody>
          <a:bodyPr/>
          <a:lstStyle/>
          <a:p>
            <a:endParaRPr lang="en-US"/>
          </a:p>
        </p:txBody>
      </p:sp>
      <p:sp>
        <p:nvSpPr>
          <p:cNvPr id="36" name="Text 33"/>
          <p:cNvSpPr txBox="1"/>
          <p:nvPr/>
        </p:nvSpPr>
        <p:spPr>
          <a:xfrm>
            <a:off x="6217920" y="1645920"/>
            <a:ext cx="2322576" cy="164592"/>
          </a:xfrm>
          <a:prstGeom prst="rect">
            <a:avLst/>
          </a:prstGeom>
          <a:noFill/>
          <a:ln/>
        </p:spPr>
        <p:txBody>
          <a:bodyPr wrap="square" lIns="0" tIns="0" rIns="0" bIns="0" rtlCol="0" anchor="ctr"/>
          <a:lstStyle/>
          <a:p>
            <a:pPr marL="0" indent="0">
              <a:buNone/>
            </a:pPr>
            <a:r>
              <a:rPr lang="en-US" sz="1100" b="1" dirty="0">
                <a:solidFill>
                  <a:srgbClr val="0F2F44"/>
                </a:solidFill>
                <a:latin typeface="Calibri" pitchFamily="34" charset="0"/>
                <a:ea typeface="Calibri" pitchFamily="34" charset="-122"/>
                <a:cs typeface="Calibri" pitchFamily="34" charset="-120"/>
              </a:rPr>
              <a:t>Explainable end to end</a:t>
            </a:r>
            <a:endParaRPr lang="en-US" sz="1100" dirty="0"/>
          </a:p>
        </p:txBody>
      </p:sp>
      <p:sp>
        <p:nvSpPr>
          <p:cNvPr id="37" name="Text 34"/>
          <p:cNvSpPr txBox="1"/>
          <p:nvPr/>
        </p:nvSpPr>
        <p:spPr>
          <a:xfrm>
            <a:off x="6217920" y="1801368"/>
            <a:ext cx="2322576" cy="420624"/>
          </a:xfrm>
          <a:prstGeom prst="rect">
            <a:avLst/>
          </a:prstGeom>
          <a:noFill/>
          <a:ln/>
        </p:spPr>
        <p:txBody>
          <a:bodyPr wrap="square" lIns="0" tIns="0" rIns="0" bIns="0" rtlCol="0" anchor="ctr"/>
          <a:lstStyle/>
          <a:p>
            <a:pPr marL="0" indent="0">
              <a:lnSpc>
                <a:spcPct val="97000"/>
              </a:lnSpc>
              <a:buNone/>
            </a:pPr>
            <a:r>
              <a:rPr lang="en-US" sz="900" dirty="0">
                <a:solidFill>
                  <a:srgbClr val="5B6B7C"/>
                </a:solidFill>
                <a:latin typeface="Calibri" pitchFamily="34" charset="0"/>
                <a:ea typeface="Calibri" pitchFamily="34" charset="-122"/>
                <a:cs typeface="Calibri" pitchFamily="34" charset="-120"/>
              </a:rPr>
              <a:t>Every edge, every score and every answer cites what it was built from.</a:t>
            </a:r>
            <a:endParaRPr lang="en-US" sz="900" dirty="0"/>
          </a:p>
        </p:txBody>
      </p:sp>
      <p:sp>
        <p:nvSpPr>
          <p:cNvPr id="38" name="Shape 35"/>
          <p:cNvSpPr/>
          <p:nvPr/>
        </p:nvSpPr>
        <p:spPr>
          <a:xfrm>
            <a:off x="6135624" y="2331720"/>
            <a:ext cx="2487168" cy="658368"/>
          </a:xfrm>
          <a:prstGeom prst="roundRect">
            <a:avLst>
              <a:gd name="adj" fmla="val 8333"/>
            </a:avLst>
          </a:prstGeom>
          <a:solidFill>
            <a:srgbClr val="FFFFFF"/>
          </a:solidFill>
          <a:ln w="9525">
            <a:solidFill>
              <a:srgbClr val="DCE3EC"/>
            </a:solidFill>
            <a:prstDash val="solid"/>
          </a:ln>
        </p:spPr>
        <p:txBody>
          <a:bodyPr/>
          <a:lstStyle/>
          <a:p>
            <a:endParaRPr lang="en-US"/>
          </a:p>
        </p:txBody>
      </p:sp>
      <p:sp>
        <p:nvSpPr>
          <p:cNvPr id="39" name="Text 36"/>
          <p:cNvSpPr txBox="1"/>
          <p:nvPr/>
        </p:nvSpPr>
        <p:spPr>
          <a:xfrm>
            <a:off x="6217920" y="2377440"/>
            <a:ext cx="2322576" cy="164592"/>
          </a:xfrm>
          <a:prstGeom prst="rect">
            <a:avLst/>
          </a:prstGeom>
          <a:noFill/>
          <a:ln/>
        </p:spPr>
        <p:txBody>
          <a:bodyPr wrap="square" lIns="0" tIns="0" rIns="0" bIns="0" rtlCol="0" anchor="ctr"/>
          <a:lstStyle/>
          <a:p>
            <a:pPr marL="0" indent="0">
              <a:buNone/>
            </a:pPr>
            <a:r>
              <a:rPr lang="en-US" sz="1100" b="1" dirty="0">
                <a:solidFill>
                  <a:srgbClr val="0F2F44"/>
                </a:solidFill>
                <a:latin typeface="Calibri" pitchFamily="34" charset="0"/>
                <a:ea typeface="Calibri" pitchFamily="34" charset="-122"/>
                <a:cs typeface="Calibri" pitchFamily="34" charset="-120"/>
              </a:rPr>
              <a:t>Runs on Catalyst alone</a:t>
            </a:r>
            <a:endParaRPr lang="en-US" sz="1100" dirty="0"/>
          </a:p>
        </p:txBody>
      </p:sp>
      <p:sp>
        <p:nvSpPr>
          <p:cNvPr id="40" name="Text 37"/>
          <p:cNvSpPr txBox="1"/>
          <p:nvPr/>
        </p:nvSpPr>
        <p:spPr>
          <a:xfrm>
            <a:off x="6217920" y="2532888"/>
            <a:ext cx="2322576" cy="420624"/>
          </a:xfrm>
          <a:prstGeom prst="rect">
            <a:avLst/>
          </a:prstGeom>
          <a:noFill/>
          <a:ln/>
        </p:spPr>
        <p:txBody>
          <a:bodyPr wrap="square" lIns="0" tIns="0" rIns="0" bIns="0" rtlCol="0" anchor="ctr"/>
          <a:lstStyle/>
          <a:p>
            <a:pPr marL="0" indent="0">
              <a:lnSpc>
                <a:spcPct val="97000"/>
              </a:lnSpc>
              <a:buNone/>
            </a:pPr>
            <a:r>
              <a:rPr lang="en-US" sz="900" dirty="0">
                <a:solidFill>
                  <a:srgbClr val="5B6B7C"/>
                </a:solidFill>
                <a:latin typeface="Calibri" pitchFamily="34" charset="0"/>
                <a:ea typeface="Calibri" pitchFamily="34" charset="-122"/>
                <a:cs typeface="Calibri" pitchFamily="34" charset="-120"/>
              </a:rPr>
              <a:t>Thirteen services. The 30-second request cap shaped the architecture, not a workaround.</a:t>
            </a:r>
            <a:endParaRPr lang="en-US" sz="900" dirty="0"/>
          </a:p>
        </p:txBody>
      </p:sp>
      <p:sp>
        <p:nvSpPr>
          <p:cNvPr id="41" name="Shape 38"/>
          <p:cNvSpPr/>
          <p:nvPr/>
        </p:nvSpPr>
        <p:spPr>
          <a:xfrm>
            <a:off x="6135624" y="3063240"/>
            <a:ext cx="2487168" cy="658368"/>
          </a:xfrm>
          <a:prstGeom prst="roundRect">
            <a:avLst>
              <a:gd name="adj" fmla="val 8333"/>
            </a:avLst>
          </a:prstGeom>
          <a:solidFill>
            <a:srgbClr val="FFFFFF"/>
          </a:solidFill>
          <a:ln w="9525">
            <a:solidFill>
              <a:srgbClr val="DCE3EC"/>
            </a:solidFill>
            <a:prstDash val="solid"/>
          </a:ln>
        </p:spPr>
        <p:txBody>
          <a:bodyPr/>
          <a:lstStyle/>
          <a:p>
            <a:endParaRPr lang="en-US"/>
          </a:p>
        </p:txBody>
      </p:sp>
      <p:sp>
        <p:nvSpPr>
          <p:cNvPr id="42" name="Text 39"/>
          <p:cNvSpPr txBox="1"/>
          <p:nvPr/>
        </p:nvSpPr>
        <p:spPr>
          <a:xfrm>
            <a:off x="6217920" y="3108960"/>
            <a:ext cx="2322576" cy="164592"/>
          </a:xfrm>
          <a:prstGeom prst="rect">
            <a:avLst/>
          </a:prstGeom>
          <a:noFill/>
          <a:ln/>
        </p:spPr>
        <p:txBody>
          <a:bodyPr wrap="square" lIns="0" tIns="0" rIns="0" bIns="0" rtlCol="0" anchor="ctr"/>
          <a:lstStyle/>
          <a:p>
            <a:pPr marL="0" indent="0">
              <a:buNone/>
            </a:pPr>
            <a:r>
              <a:rPr lang="en-US" sz="1100" b="1" dirty="0">
                <a:solidFill>
                  <a:srgbClr val="0F2F44"/>
                </a:solidFill>
                <a:latin typeface="Calibri" pitchFamily="34" charset="0"/>
                <a:ea typeface="Calibri" pitchFamily="34" charset="-122"/>
                <a:cs typeface="Calibri" pitchFamily="34" charset="-120"/>
              </a:rPr>
              <a:t>Bilingual to the last label</a:t>
            </a:r>
            <a:endParaRPr lang="en-US" sz="1100" dirty="0"/>
          </a:p>
        </p:txBody>
      </p:sp>
      <p:sp>
        <p:nvSpPr>
          <p:cNvPr id="43" name="Text 40"/>
          <p:cNvSpPr txBox="1"/>
          <p:nvPr/>
        </p:nvSpPr>
        <p:spPr>
          <a:xfrm>
            <a:off x="6217920" y="3264408"/>
            <a:ext cx="2322576" cy="420624"/>
          </a:xfrm>
          <a:prstGeom prst="rect">
            <a:avLst/>
          </a:prstGeom>
          <a:noFill/>
          <a:ln/>
        </p:spPr>
        <p:txBody>
          <a:bodyPr wrap="square" lIns="0" tIns="0" rIns="0" bIns="0" rtlCol="0" anchor="ctr"/>
          <a:lstStyle/>
          <a:p>
            <a:pPr marL="0" indent="0">
              <a:lnSpc>
                <a:spcPct val="97000"/>
              </a:lnSpc>
              <a:buNone/>
            </a:pPr>
            <a:r>
              <a:rPr lang="en-US" sz="900" dirty="0">
                <a:solidFill>
                  <a:srgbClr val="5B6B7C"/>
                </a:solidFill>
                <a:latin typeface="Calibri" pitchFamily="34" charset="0"/>
                <a:ea typeface="Calibri" pitchFamily="34" charset="-122"/>
                <a:cs typeface="Calibri" pitchFamily="34" charset="-120"/>
              </a:rPr>
              <a:t>1,134 Kannada strings, correctable in-product by the officers who read them.</a:t>
            </a:r>
            <a:endParaRPr lang="en-US" sz="900" dirty="0"/>
          </a:p>
        </p:txBody>
      </p:sp>
      <p:sp>
        <p:nvSpPr>
          <p:cNvPr id="44" name="Shape 41"/>
          <p:cNvSpPr/>
          <p:nvPr/>
        </p:nvSpPr>
        <p:spPr>
          <a:xfrm>
            <a:off x="6135624" y="3794760"/>
            <a:ext cx="2487168" cy="658368"/>
          </a:xfrm>
          <a:prstGeom prst="roundRect">
            <a:avLst>
              <a:gd name="adj" fmla="val 8333"/>
            </a:avLst>
          </a:prstGeom>
          <a:solidFill>
            <a:srgbClr val="FFFFFF"/>
          </a:solidFill>
          <a:ln w="9525">
            <a:solidFill>
              <a:srgbClr val="DCE3EC"/>
            </a:solidFill>
            <a:prstDash val="solid"/>
          </a:ln>
        </p:spPr>
        <p:txBody>
          <a:bodyPr/>
          <a:lstStyle/>
          <a:p>
            <a:endParaRPr lang="en-US"/>
          </a:p>
        </p:txBody>
      </p:sp>
      <p:sp>
        <p:nvSpPr>
          <p:cNvPr id="45" name="Text 42"/>
          <p:cNvSpPr txBox="1"/>
          <p:nvPr/>
        </p:nvSpPr>
        <p:spPr>
          <a:xfrm>
            <a:off x="6217920" y="3840480"/>
            <a:ext cx="2322576" cy="164592"/>
          </a:xfrm>
          <a:prstGeom prst="rect">
            <a:avLst/>
          </a:prstGeom>
          <a:noFill/>
          <a:ln/>
        </p:spPr>
        <p:txBody>
          <a:bodyPr wrap="square" lIns="0" tIns="0" rIns="0" bIns="0" rtlCol="0" anchor="ctr"/>
          <a:lstStyle/>
          <a:p>
            <a:pPr marL="0" indent="0">
              <a:buNone/>
            </a:pPr>
            <a:r>
              <a:rPr lang="en-US" sz="1100" b="1" dirty="0">
                <a:solidFill>
                  <a:srgbClr val="0F2F44"/>
                </a:solidFill>
                <a:latin typeface="Calibri" pitchFamily="34" charset="0"/>
                <a:ea typeface="Calibri" pitchFamily="34" charset="-122"/>
                <a:cs typeface="Calibri" pitchFamily="34" charset="-120"/>
              </a:rPr>
              <a:t>Honest about its limits</a:t>
            </a:r>
            <a:endParaRPr lang="en-US" sz="1100" dirty="0"/>
          </a:p>
        </p:txBody>
      </p:sp>
      <p:sp>
        <p:nvSpPr>
          <p:cNvPr id="46" name="Text 43"/>
          <p:cNvSpPr txBox="1"/>
          <p:nvPr/>
        </p:nvSpPr>
        <p:spPr>
          <a:xfrm>
            <a:off x="6217920" y="3995928"/>
            <a:ext cx="2322576" cy="420624"/>
          </a:xfrm>
          <a:prstGeom prst="rect">
            <a:avLst/>
          </a:prstGeom>
          <a:noFill/>
          <a:ln/>
        </p:spPr>
        <p:txBody>
          <a:bodyPr wrap="square" lIns="0" tIns="0" rIns="0" bIns="0" rtlCol="0" anchor="ctr"/>
          <a:lstStyle/>
          <a:p>
            <a:pPr marL="0" indent="0">
              <a:lnSpc>
                <a:spcPct val="97000"/>
              </a:lnSpc>
              <a:buNone/>
            </a:pPr>
            <a:r>
              <a:rPr lang="en-US" sz="900" dirty="0">
                <a:solidFill>
                  <a:srgbClr val="5B6B7C"/>
                </a:solidFill>
                <a:latin typeface="Calibri" pitchFamily="34" charset="0"/>
                <a:ea typeface="Calibri" pitchFamily="34" charset="-122"/>
                <a:cs typeface="Calibri" pitchFamily="34" charset="-120"/>
              </a:rPr>
              <a:t>The deck and the app both name what is not wired, and why.</a:t>
            </a:r>
            <a:endParaRPr lang="en-US" sz="900" dirty="0"/>
          </a:p>
        </p:txBody>
      </p:sp>
      <p:sp>
        <p:nvSpPr>
          <p:cNvPr id="47" name="Text 44"/>
          <p:cNvSpPr txBox="1"/>
          <p:nvPr/>
        </p:nvSpPr>
        <p:spPr>
          <a:xfrm>
            <a:off x="384048" y="4754880"/>
            <a:ext cx="8375904" cy="201168"/>
          </a:xfrm>
          <a:prstGeom prst="rect">
            <a:avLst/>
          </a:prstGeom>
          <a:noFill/>
          <a:ln/>
        </p:spPr>
        <p:txBody>
          <a:bodyPr wrap="square" lIns="0" tIns="0" rIns="0" bIns="0" rtlCol="0" anchor="t"/>
          <a:lstStyle/>
          <a:p>
            <a:pPr marL="0" indent="0">
              <a:buNone/>
            </a:pPr>
            <a:r>
              <a:rPr lang="en-US" sz="720" i="1" dirty="0">
                <a:solidFill>
                  <a:srgbClr val="8A98A8"/>
                </a:solidFill>
                <a:latin typeface="Calibri" pitchFamily="34" charset="0"/>
                <a:ea typeface="Calibri" pitchFamily="34" charset="-122"/>
                <a:cs typeface="Calibri" pitchFamily="34" charset="-120"/>
              </a:rPr>
              <a:t>The differentiator is not the chart library. It is that every claim on every screen traces back to the record it came from.</a:t>
            </a:r>
            <a:endParaRPr lang="en-US" sz="7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ivate/tmp/claude-501/-Users-adarsh-Desktop-Projects-KadiLabs/1a0b3114-7a5c-4b08-a5d4-f9d8371eeea4/scratchpad/deck/bg-content.png"/>
          <p:cNvPicPr>
            <a:picLocks noChangeAspect="1"/>
          </p:cNvPicPr>
          <p:nvPr/>
        </p:nvPicPr>
        <p:blipFill>
          <a:blip r:embed="rId3"/>
          <a:stretch>
            <a:fillRect/>
          </a:stretch>
        </p:blipFill>
        <p:spPr>
          <a:xfrm>
            <a:off x="0" y="0"/>
            <a:ext cx="9144000" cy="5143500"/>
          </a:xfrm>
          <a:prstGeom prst="rect">
            <a:avLst/>
          </a:prstGeom>
        </p:spPr>
      </p:pic>
      <p:sp>
        <p:nvSpPr>
          <p:cNvPr id="3" name="Text 0"/>
          <p:cNvSpPr txBox="1"/>
          <p:nvPr/>
        </p:nvSpPr>
        <p:spPr>
          <a:xfrm>
            <a:off x="384048" y="603504"/>
            <a:ext cx="8375904" cy="365760"/>
          </a:xfrm>
          <a:prstGeom prst="rect">
            <a:avLst/>
          </a:prstGeom>
          <a:noFill/>
          <a:ln/>
        </p:spPr>
        <p:txBody>
          <a:bodyPr wrap="square" lIns="0" tIns="0" rIns="0" bIns="0" rtlCol="0" anchor="t"/>
          <a:lstStyle/>
          <a:p>
            <a:pPr marL="0" indent="0">
              <a:buNone/>
            </a:pPr>
            <a:r>
              <a:rPr lang="en-US" sz="2100" b="1" dirty="0">
                <a:solidFill>
                  <a:srgbClr val="0F2F44"/>
                </a:solidFill>
                <a:latin typeface="Calibri" pitchFamily="34" charset="0"/>
                <a:ea typeface="Calibri" pitchFamily="34" charset="-122"/>
                <a:cs typeface="Calibri" pitchFamily="34" charset="-120"/>
              </a:rPr>
              <a:t>List of features offered by the solution</a:t>
            </a:r>
            <a:endParaRPr lang="en-US" sz="2100" dirty="0"/>
          </a:p>
        </p:txBody>
      </p:sp>
      <p:sp>
        <p:nvSpPr>
          <p:cNvPr id="4" name="Text 1"/>
          <p:cNvSpPr txBox="1"/>
          <p:nvPr/>
        </p:nvSpPr>
        <p:spPr>
          <a:xfrm>
            <a:off x="384048" y="969264"/>
            <a:ext cx="8375904" cy="237744"/>
          </a:xfrm>
          <a:prstGeom prst="rect">
            <a:avLst/>
          </a:prstGeom>
          <a:noFill/>
          <a:ln/>
        </p:spPr>
        <p:txBody>
          <a:bodyPr wrap="square" lIns="0" tIns="0" rIns="0" bIns="0" rtlCol="0" anchor="t"/>
          <a:lstStyle/>
          <a:p>
            <a:pPr marL="0" indent="0">
              <a:buNone/>
            </a:pPr>
            <a:r>
              <a:rPr lang="en-US" sz="1050" dirty="0">
                <a:solidFill>
                  <a:srgbClr val="5B6B7C"/>
                </a:solidFill>
                <a:latin typeface="Calibri" pitchFamily="34" charset="0"/>
                <a:ea typeface="Calibri" pitchFamily="34" charset="-122"/>
                <a:cs typeface="Calibri" pitchFamily="34" charset="-120"/>
              </a:rPr>
              <a:t>Twelve capabilities, all live in the deployed build</a:t>
            </a:r>
            <a:endParaRPr lang="en-US" sz="1050" dirty="0"/>
          </a:p>
        </p:txBody>
      </p:sp>
      <p:sp>
        <p:nvSpPr>
          <p:cNvPr id="5" name="Shape 2"/>
          <p:cNvSpPr/>
          <p:nvPr/>
        </p:nvSpPr>
        <p:spPr>
          <a:xfrm>
            <a:off x="384048" y="1261872"/>
            <a:ext cx="1956816" cy="804672"/>
          </a:xfrm>
          <a:prstGeom prst="roundRect">
            <a:avLst>
              <a:gd name="adj" fmla="val 6818"/>
            </a:avLst>
          </a:prstGeom>
          <a:solidFill>
            <a:srgbClr val="FFFFFF"/>
          </a:solidFill>
          <a:ln w="9525">
            <a:solidFill>
              <a:srgbClr val="DCE3EC"/>
            </a:solidFill>
            <a:prstDash val="solid"/>
          </a:ln>
        </p:spPr>
        <p:txBody>
          <a:bodyPr/>
          <a:lstStyle/>
          <a:p>
            <a:endParaRPr lang="en-US"/>
          </a:p>
        </p:txBody>
      </p:sp>
      <p:sp>
        <p:nvSpPr>
          <p:cNvPr id="6" name="Shape 3"/>
          <p:cNvSpPr/>
          <p:nvPr/>
        </p:nvSpPr>
        <p:spPr>
          <a:xfrm>
            <a:off x="484632" y="1344168"/>
            <a:ext cx="128016" cy="128016"/>
          </a:xfrm>
          <a:prstGeom prst="roundRect">
            <a:avLst>
              <a:gd name="adj" fmla="val 42857"/>
            </a:avLst>
          </a:prstGeom>
          <a:solidFill>
            <a:srgbClr val="1A6FC4"/>
          </a:solidFill>
          <a:ln w="12700">
            <a:solidFill>
              <a:srgbClr val="1A6FC4"/>
            </a:solidFill>
            <a:prstDash val="solid"/>
          </a:ln>
        </p:spPr>
        <p:txBody>
          <a:bodyPr/>
          <a:lstStyle/>
          <a:p>
            <a:endParaRPr lang="en-US"/>
          </a:p>
        </p:txBody>
      </p:sp>
      <p:sp>
        <p:nvSpPr>
          <p:cNvPr id="7" name="Text 4"/>
          <p:cNvSpPr txBox="1"/>
          <p:nvPr/>
        </p:nvSpPr>
        <p:spPr>
          <a:xfrm>
            <a:off x="690759" y="1307592"/>
            <a:ext cx="1609344" cy="201168"/>
          </a:xfrm>
          <a:prstGeom prst="rect">
            <a:avLst/>
          </a:prstGeom>
          <a:noFill/>
          <a:ln/>
        </p:spPr>
        <p:txBody>
          <a:bodyPr wrap="square" lIns="0" tIns="0" rIns="0" bIns="0" rtlCol="0" anchor="ctr"/>
          <a:lstStyle/>
          <a:p>
            <a:pPr marL="0" indent="0">
              <a:buNone/>
            </a:pPr>
            <a:r>
              <a:rPr lang="en-US" sz="1200" b="1" dirty="0">
                <a:solidFill>
                  <a:srgbClr val="0F2F44"/>
                </a:solidFill>
                <a:latin typeface="Calibri" pitchFamily="34" charset="0"/>
                <a:ea typeface="Calibri" pitchFamily="34" charset="-122"/>
                <a:cs typeface="Calibri" pitchFamily="34" charset="-120"/>
              </a:rPr>
              <a:t>Case-Linkage Graph</a:t>
            </a:r>
            <a:endParaRPr lang="en-US" sz="1200" dirty="0"/>
          </a:p>
        </p:txBody>
      </p:sp>
      <p:sp>
        <p:nvSpPr>
          <p:cNvPr id="8" name="Text 5"/>
          <p:cNvSpPr txBox="1"/>
          <p:nvPr/>
        </p:nvSpPr>
        <p:spPr>
          <a:xfrm>
            <a:off x="484632" y="1658781"/>
            <a:ext cx="1773936" cy="475488"/>
          </a:xfrm>
          <a:prstGeom prst="rect">
            <a:avLst/>
          </a:prstGeom>
          <a:noFill/>
          <a:ln/>
        </p:spPr>
        <p:txBody>
          <a:bodyPr wrap="square" lIns="0" tIns="0" rIns="0" bIns="0" rtlCol="0" anchor="t"/>
          <a:lstStyle/>
          <a:p>
            <a:pPr marL="0" indent="0">
              <a:lnSpc>
                <a:spcPct val="102000"/>
              </a:lnSpc>
              <a:buNone/>
            </a:pPr>
            <a:r>
              <a:rPr lang="en-US" sz="900" dirty="0">
                <a:solidFill>
                  <a:srgbClr val="5B6B7C"/>
                </a:solidFill>
                <a:latin typeface="Calibri" pitchFamily="34" charset="0"/>
                <a:ea typeface="Calibri" pitchFamily="34" charset="-122"/>
                <a:cs typeface="Calibri" pitchFamily="34" charset="-120"/>
              </a:rPr>
              <a:t>Six typed edge kinds · 85,429 links · clickable “why linked” evidence</a:t>
            </a:r>
            <a:endParaRPr lang="en-US" sz="900" dirty="0"/>
          </a:p>
        </p:txBody>
      </p:sp>
      <p:sp>
        <p:nvSpPr>
          <p:cNvPr id="9" name="Shape 6"/>
          <p:cNvSpPr/>
          <p:nvPr/>
        </p:nvSpPr>
        <p:spPr>
          <a:xfrm>
            <a:off x="2505456" y="1261872"/>
            <a:ext cx="1956816" cy="804672"/>
          </a:xfrm>
          <a:prstGeom prst="roundRect">
            <a:avLst>
              <a:gd name="adj" fmla="val 6818"/>
            </a:avLst>
          </a:prstGeom>
          <a:solidFill>
            <a:srgbClr val="FFFFFF"/>
          </a:solidFill>
          <a:ln w="9525">
            <a:solidFill>
              <a:srgbClr val="DCE3EC"/>
            </a:solidFill>
            <a:prstDash val="solid"/>
          </a:ln>
        </p:spPr>
        <p:txBody>
          <a:bodyPr/>
          <a:lstStyle/>
          <a:p>
            <a:endParaRPr lang="en-US"/>
          </a:p>
        </p:txBody>
      </p:sp>
      <p:sp>
        <p:nvSpPr>
          <p:cNvPr id="10" name="Shape 7"/>
          <p:cNvSpPr/>
          <p:nvPr/>
        </p:nvSpPr>
        <p:spPr>
          <a:xfrm>
            <a:off x="2606040" y="1344168"/>
            <a:ext cx="128016" cy="128016"/>
          </a:xfrm>
          <a:prstGeom prst="roundRect">
            <a:avLst>
              <a:gd name="adj" fmla="val 42857"/>
            </a:avLst>
          </a:prstGeom>
          <a:solidFill>
            <a:srgbClr val="1A6FC4"/>
          </a:solidFill>
          <a:ln w="12700">
            <a:solidFill>
              <a:srgbClr val="1A6FC4"/>
            </a:solidFill>
            <a:prstDash val="solid"/>
          </a:ln>
        </p:spPr>
        <p:txBody>
          <a:bodyPr/>
          <a:lstStyle/>
          <a:p>
            <a:endParaRPr lang="en-US"/>
          </a:p>
        </p:txBody>
      </p:sp>
      <p:sp>
        <p:nvSpPr>
          <p:cNvPr id="11" name="Text 8"/>
          <p:cNvSpPr txBox="1"/>
          <p:nvPr/>
        </p:nvSpPr>
        <p:spPr>
          <a:xfrm>
            <a:off x="2812167" y="1307592"/>
            <a:ext cx="1609344" cy="201168"/>
          </a:xfrm>
          <a:prstGeom prst="rect">
            <a:avLst/>
          </a:prstGeom>
          <a:noFill/>
          <a:ln/>
        </p:spPr>
        <p:txBody>
          <a:bodyPr wrap="square" lIns="0" tIns="0" rIns="0" bIns="0" rtlCol="0" anchor="ctr"/>
          <a:lstStyle/>
          <a:p>
            <a:pPr marL="0" indent="0">
              <a:buNone/>
            </a:pPr>
            <a:r>
              <a:rPr lang="en-US" sz="1200" b="1" dirty="0">
                <a:solidFill>
                  <a:srgbClr val="0F2F44"/>
                </a:solidFill>
                <a:latin typeface="Calibri" pitchFamily="34" charset="0"/>
                <a:ea typeface="Calibri" pitchFamily="34" charset="-122"/>
                <a:cs typeface="Calibri" pitchFamily="34" charset="-120"/>
              </a:rPr>
              <a:t>Entity Resolution</a:t>
            </a:r>
            <a:endParaRPr lang="en-US" sz="1200" dirty="0"/>
          </a:p>
        </p:txBody>
      </p:sp>
      <p:sp>
        <p:nvSpPr>
          <p:cNvPr id="12" name="Text 9"/>
          <p:cNvSpPr txBox="1"/>
          <p:nvPr/>
        </p:nvSpPr>
        <p:spPr>
          <a:xfrm>
            <a:off x="2606040" y="1658781"/>
            <a:ext cx="1773936" cy="475488"/>
          </a:xfrm>
          <a:prstGeom prst="rect">
            <a:avLst/>
          </a:prstGeom>
          <a:noFill/>
          <a:ln/>
        </p:spPr>
        <p:txBody>
          <a:bodyPr wrap="square" lIns="0" tIns="0" rIns="0" bIns="0" rtlCol="0" anchor="t"/>
          <a:lstStyle/>
          <a:p>
            <a:pPr marL="0" indent="0">
              <a:lnSpc>
                <a:spcPct val="102000"/>
              </a:lnSpc>
              <a:buNone/>
            </a:pPr>
            <a:r>
              <a:rPr lang="en-US" sz="900" dirty="0">
                <a:solidFill>
                  <a:srgbClr val="5B6B7C"/>
                </a:solidFill>
                <a:latin typeface="Calibri" pitchFamily="34" charset="0"/>
                <a:ea typeface="Calibri" pitchFamily="34" charset="-122"/>
                <a:cs typeface="Calibri" pitchFamily="34" charset="-120"/>
              </a:rPr>
              <a:t>Rarity-weighted fuzzy matching · 54,337 → 52,928 · 578 repeat</a:t>
            </a:r>
            <a:endParaRPr lang="en-US" sz="900" dirty="0"/>
          </a:p>
        </p:txBody>
      </p:sp>
      <p:sp>
        <p:nvSpPr>
          <p:cNvPr id="13" name="Shape 10"/>
          <p:cNvSpPr/>
          <p:nvPr/>
        </p:nvSpPr>
        <p:spPr>
          <a:xfrm>
            <a:off x="4626864" y="1261872"/>
            <a:ext cx="1956816" cy="804672"/>
          </a:xfrm>
          <a:prstGeom prst="roundRect">
            <a:avLst>
              <a:gd name="adj" fmla="val 6818"/>
            </a:avLst>
          </a:prstGeom>
          <a:solidFill>
            <a:srgbClr val="FFFFFF"/>
          </a:solidFill>
          <a:ln w="9525">
            <a:solidFill>
              <a:srgbClr val="DCE3EC"/>
            </a:solidFill>
            <a:prstDash val="solid"/>
          </a:ln>
        </p:spPr>
        <p:txBody>
          <a:bodyPr/>
          <a:lstStyle/>
          <a:p>
            <a:endParaRPr lang="en-US"/>
          </a:p>
        </p:txBody>
      </p:sp>
      <p:sp>
        <p:nvSpPr>
          <p:cNvPr id="14" name="Shape 11"/>
          <p:cNvSpPr/>
          <p:nvPr/>
        </p:nvSpPr>
        <p:spPr>
          <a:xfrm>
            <a:off x="4727448" y="1344168"/>
            <a:ext cx="128016" cy="128016"/>
          </a:xfrm>
          <a:prstGeom prst="roundRect">
            <a:avLst>
              <a:gd name="adj" fmla="val 42857"/>
            </a:avLst>
          </a:prstGeom>
          <a:solidFill>
            <a:srgbClr val="1A6FC4"/>
          </a:solidFill>
          <a:ln w="12700">
            <a:solidFill>
              <a:srgbClr val="1A6FC4"/>
            </a:solidFill>
            <a:prstDash val="solid"/>
          </a:ln>
        </p:spPr>
        <p:txBody>
          <a:bodyPr/>
          <a:lstStyle/>
          <a:p>
            <a:endParaRPr lang="en-US"/>
          </a:p>
        </p:txBody>
      </p:sp>
      <p:sp>
        <p:nvSpPr>
          <p:cNvPr id="15" name="Text 12"/>
          <p:cNvSpPr txBox="1"/>
          <p:nvPr/>
        </p:nvSpPr>
        <p:spPr>
          <a:xfrm>
            <a:off x="4933575" y="1307592"/>
            <a:ext cx="1609344" cy="201168"/>
          </a:xfrm>
          <a:prstGeom prst="rect">
            <a:avLst/>
          </a:prstGeom>
          <a:noFill/>
          <a:ln/>
        </p:spPr>
        <p:txBody>
          <a:bodyPr wrap="square" lIns="0" tIns="0" rIns="0" bIns="0" rtlCol="0" anchor="ctr"/>
          <a:lstStyle/>
          <a:p>
            <a:pPr marL="0" indent="0">
              <a:buNone/>
            </a:pPr>
            <a:r>
              <a:rPr lang="en-US" sz="1200" b="1" dirty="0">
                <a:solidFill>
                  <a:srgbClr val="0F2F44"/>
                </a:solidFill>
                <a:latin typeface="Calibri" pitchFamily="34" charset="0"/>
                <a:ea typeface="Calibri" pitchFamily="34" charset="-122"/>
                <a:cs typeface="Calibri" pitchFamily="34" charset="-120"/>
              </a:rPr>
              <a:t>Offender Risk</a:t>
            </a:r>
            <a:endParaRPr lang="en-US" sz="1200" dirty="0"/>
          </a:p>
        </p:txBody>
      </p:sp>
      <p:sp>
        <p:nvSpPr>
          <p:cNvPr id="16" name="Text 13"/>
          <p:cNvSpPr txBox="1"/>
          <p:nvPr/>
        </p:nvSpPr>
        <p:spPr>
          <a:xfrm>
            <a:off x="4727448" y="1658781"/>
            <a:ext cx="1773936" cy="475488"/>
          </a:xfrm>
          <a:prstGeom prst="rect">
            <a:avLst/>
          </a:prstGeom>
          <a:noFill/>
          <a:ln/>
        </p:spPr>
        <p:txBody>
          <a:bodyPr wrap="square" lIns="0" tIns="0" rIns="0" bIns="0" rtlCol="0" anchor="t"/>
          <a:lstStyle/>
          <a:p>
            <a:pPr marL="0" indent="0">
              <a:lnSpc>
                <a:spcPct val="102000"/>
              </a:lnSpc>
              <a:buNone/>
            </a:pPr>
            <a:r>
              <a:rPr lang="en-US" sz="900" dirty="0">
                <a:solidFill>
                  <a:srgbClr val="5B6B7C"/>
                </a:solidFill>
                <a:latin typeface="Calibri" pitchFamily="34" charset="0"/>
                <a:ea typeface="Calibri" pitchFamily="34" charset="-122"/>
                <a:cs typeface="Calibri" pitchFamily="34" charset="-120"/>
              </a:rPr>
              <a:t>Glass-box factor breakdown · six horizons · name variants</a:t>
            </a:r>
            <a:endParaRPr lang="en-US" sz="900" dirty="0"/>
          </a:p>
        </p:txBody>
      </p:sp>
      <p:sp>
        <p:nvSpPr>
          <p:cNvPr id="17" name="Shape 14"/>
          <p:cNvSpPr/>
          <p:nvPr/>
        </p:nvSpPr>
        <p:spPr>
          <a:xfrm>
            <a:off x="6748272" y="1261872"/>
            <a:ext cx="1956816" cy="804672"/>
          </a:xfrm>
          <a:prstGeom prst="roundRect">
            <a:avLst>
              <a:gd name="adj" fmla="val 6818"/>
            </a:avLst>
          </a:prstGeom>
          <a:solidFill>
            <a:srgbClr val="FFFFFF"/>
          </a:solidFill>
          <a:ln w="9525">
            <a:solidFill>
              <a:srgbClr val="DCE3EC"/>
            </a:solidFill>
            <a:prstDash val="solid"/>
          </a:ln>
        </p:spPr>
        <p:txBody>
          <a:bodyPr/>
          <a:lstStyle/>
          <a:p>
            <a:endParaRPr lang="en-US"/>
          </a:p>
        </p:txBody>
      </p:sp>
      <p:sp>
        <p:nvSpPr>
          <p:cNvPr id="18" name="Shape 15"/>
          <p:cNvSpPr/>
          <p:nvPr/>
        </p:nvSpPr>
        <p:spPr>
          <a:xfrm>
            <a:off x="6848856" y="1344168"/>
            <a:ext cx="128016" cy="128016"/>
          </a:xfrm>
          <a:prstGeom prst="roundRect">
            <a:avLst>
              <a:gd name="adj" fmla="val 42857"/>
            </a:avLst>
          </a:prstGeom>
          <a:solidFill>
            <a:srgbClr val="2FA8A0"/>
          </a:solidFill>
          <a:ln w="12700">
            <a:solidFill>
              <a:srgbClr val="2FA8A0"/>
            </a:solidFill>
            <a:prstDash val="solid"/>
          </a:ln>
        </p:spPr>
        <p:txBody>
          <a:bodyPr/>
          <a:lstStyle/>
          <a:p>
            <a:endParaRPr lang="en-US"/>
          </a:p>
        </p:txBody>
      </p:sp>
      <p:sp>
        <p:nvSpPr>
          <p:cNvPr id="19" name="Text 16"/>
          <p:cNvSpPr txBox="1"/>
          <p:nvPr/>
        </p:nvSpPr>
        <p:spPr>
          <a:xfrm>
            <a:off x="7054983" y="1307592"/>
            <a:ext cx="1609344" cy="201168"/>
          </a:xfrm>
          <a:prstGeom prst="rect">
            <a:avLst/>
          </a:prstGeom>
          <a:noFill/>
          <a:ln/>
        </p:spPr>
        <p:txBody>
          <a:bodyPr wrap="square" lIns="0" tIns="0" rIns="0" bIns="0" rtlCol="0" anchor="ctr"/>
          <a:lstStyle/>
          <a:p>
            <a:pPr marL="0" indent="0">
              <a:buNone/>
            </a:pPr>
            <a:r>
              <a:rPr lang="en-US" sz="1200" b="1" dirty="0">
                <a:solidFill>
                  <a:srgbClr val="0F2F44"/>
                </a:solidFill>
                <a:latin typeface="Calibri" pitchFamily="34" charset="0"/>
                <a:ea typeface="Calibri" pitchFamily="34" charset="-122"/>
                <a:cs typeface="Calibri" pitchFamily="34" charset="-120"/>
              </a:rPr>
              <a:t>Investigation Health</a:t>
            </a:r>
            <a:endParaRPr lang="en-US" sz="1200" dirty="0"/>
          </a:p>
        </p:txBody>
      </p:sp>
      <p:sp>
        <p:nvSpPr>
          <p:cNvPr id="20" name="Text 17"/>
          <p:cNvSpPr txBox="1"/>
          <p:nvPr/>
        </p:nvSpPr>
        <p:spPr>
          <a:xfrm>
            <a:off x="6848856" y="1658781"/>
            <a:ext cx="1773936" cy="475488"/>
          </a:xfrm>
          <a:prstGeom prst="rect">
            <a:avLst/>
          </a:prstGeom>
          <a:noFill/>
          <a:ln/>
        </p:spPr>
        <p:txBody>
          <a:bodyPr wrap="square" lIns="0" tIns="0" rIns="0" bIns="0" rtlCol="0" anchor="t"/>
          <a:lstStyle/>
          <a:p>
            <a:pPr marL="0" indent="0">
              <a:lnSpc>
                <a:spcPct val="102000"/>
              </a:lnSpc>
              <a:buNone/>
            </a:pPr>
            <a:r>
              <a:rPr lang="en-US" sz="900" dirty="0">
                <a:solidFill>
                  <a:srgbClr val="5B6B7C"/>
                </a:solidFill>
                <a:latin typeface="Calibri" pitchFamily="34" charset="0"/>
                <a:ea typeface="Calibri" pitchFamily="34" charset="-122"/>
                <a:cs typeface="Calibri" pitchFamily="34" charset="-120"/>
              </a:rPr>
              <a:t>26,168 flagged, each with a reason and a recommended action</a:t>
            </a:r>
            <a:endParaRPr lang="en-US" sz="900" dirty="0"/>
          </a:p>
        </p:txBody>
      </p:sp>
      <p:sp>
        <p:nvSpPr>
          <p:cNvPr id="21" name="Shape 18"/>
          <p:cNvSpPr/>
          <p:nvPr/>
        </p:nvSpPr>
        <p:spPr>
          <a:xfrm>
            <a:off x="384048" y="2176272"/>
            <a:ext cx="1956816" cy="804672"/>
          </a:xfrm>
          <a:prstGeom prst="roundRect">
            <a:avLst>
              <a:gd name="adj" fmla="val 6818"/>
            </a:avLst>
          </a:prstGeom>
          <a:solidFill>
            <a:srgbClr val="FFFFFF"/>
          </a:solidFill>
          <a:ln w="9525">
            <a:solidFill>
              <a:srgbClr val="DCE3EC"/>
            </a:solidFill>
            <a:prstDash val="solid"/>
          </a:ln>
        </p:spPr>
        <p:txBody>
          <a:bodyPr/>
          <a:lstStyle/>
          <a:p>
            <a:endParaRPr lang="en-US"/>
          </a:p>
        </p:txBody>
      </p:sp>
      <p:sp>
        <p:nvSpPr>
          <p:cNvPr id="22" name="Shape 19"/>
          <p:cNvSpPr/>
          <p:nvPr/>
        </p:nvSpPr>
        <p:spPr>
          <a:xfrm>
            <a:off x="484632" y="2258568"/>
            <a:ext cx="128016" cy="128016"/>
          </a:xfrm>
          <a:prstGeom prst="roundRect">
            <a:avLst>
              <a:gd name="adj" fmla="val 42857"/>
            </a:avLst>
          </a:prstGeom>
          <a:solidFill>
            <a:srgbClr val="2FA8A0"/>
          </a:solidFill>
          <a:ln w="12700">
            <a:solidFill>
              <a:srgbClr val="2FA8A0"/>
            </a:solidFill>
            <a:prstDash val="solid"/>
          </a:ln>
        </p:spPr>
        <p:txBody>
          <a:bodyPr/>
          <a:lstStyle/>
          <a:p>
            <a:endParaRPr lang="en-US"/>
          </a:p>
        </p:txBody>
      </p:sp>
      <p:sp>
        <p:nvSpPr>
          <p:cNvPr id="23" name="Text 20"/>
          <p:cNvSpPr txBox="1"/>
          <p:nvPr/>
        </p:nvSpPr>
        <p:spPr>
          <a:xfrm>
            <a:off x="690759" y="2283984"/>
            <a:ext cx="1609344" cy="201168"/>
          </a:xfrm>
          <a:prstGeom prst="rect">
            <a:avLst/>
          </a:prstGeom>
          <a:noFill/>
          <a:ln/>
        </p:spPr>
        <p:txBody>
          <a:bodyPr wrap="square" lIns="0" tIns="0" rIns="0" bIns="0" rtlCol="0" anchor="ctr"/>
          <a:lstStyle/>
          <a:p>
            <a:pPr marL="0" indent="0">
              <a:buNone/>
            </a:pPr>
            <a:r>
              <a:rPr lang="en-US" sz="1200" b="1" dirty="0">
                <a:solidFill>
                  <a:srgbClr val="0F2F44"/>
                </a:solidFill>
                <a:latin typeface="Calibri" pitchFamily="34" charset="0"/>
                <a:ea typeface="Calibri" pitchFamily="34" charset="-122"/>
                <a:cs typeface="Calibri" pitchFamily="34" charset="-120"/>
              </a:rPr>
              <a:t>React — one ranked queue</a:t>
            </a:r>
            <a:endParaRPr lang="en-US" sz="1200" dirty="0"/>
          </a:p>
        </p:txBody>
      </p:sp>
      <p:sp>
        <p:nvSpPr>
          <p:cNvPr id="24" name="Text 21"/>
          <p:cNvSpPr txBox="1"/>
          <p:nvPr/>
        </p:nvSpPr>
        <p:spPr>
          <a:xfrm>
            <a:off x="484632" y="2573181"/>
            <a:ext cx="1773936" cy="475488"/>
          </a:xfrm>
          <a:prstGeom prst="rect">
            <a:avLst/>
          </a:prstGeom>
          <a:noFill/>
          <a:ln/>
        </p:spPr>
        <p:txBody>
          <a:bodyPr wrap="square" lIns="0" tIns="0" rIns="0" bIns="0" rtlCol="0" anchor="t"/>
          <a:lstStyle/>
          <a:p>
            <a:pPr marL="0" indent="0">
              <a:lnSpc>
                <a:spcPct val="102000"/>
              </a:lnSpc>
              <a:buNone/>
            </a:pPr>
            <a:r>
              <a:rPr lang="en-US" sz="900" dirty="0">
                <a:solidFill>
                  <a:srgbClr val="5B6B7C"/>
                </a:solidFill>
                <a:latin typeface="Calibri" pitchFamily="34" charset="0"/>
                <a:ea typeface="Calibri" pitchFamily="34" charset="-122"/>
                <a:cs typeface="Calibri" pitchFamily="34" charset="-120"/>
              </a:rPr>
              <a:t>Failing cases, active offenders and pulsing stations in one list</a:t>
            </a:r>
            <a:endParaRPr lang="en-US" sz="900" dirty="0"/>
          </a:p>
        </p:txBody>
      </p:sp>
      <p:sp>
        <p:nvSpPr>
          <p:cNvPr id="25" name="Shape 22"/>
          <p:cNvSpPr/>
          <p:nvPr/>
        </p:nvSpPr>
        <p:spPr>
          <a:xfrm>
            <a:off x="2505456" y="2176272"/>
            <a:ext cx="1956816" cy="804672"/>
          </a:xfrm>
          <a:prstGeom prst="roundRect">
            <a:avLst>
              <a:gd name="adj" fmla="val 6818"/>
            </a:avLst>
          </a:prstGeom>
          <a:solidFill>
            <a:srgbClr val="FFFFFF"/>
          </a:solidFill>
          <a:ln w="9525">
            <a:solidFill>
              <a:srgbClr val="DCE3EC"/>
            </a:solidFill>
            <a:prstDash val="solid"/>
          </a:ln>
        </p:spPr>
        <p:txBody>
          <a:bodyPr/>
          <a:lstStyle/>
          <a:p>
            <a:endParaRPr lang="en-US"/>
          </a:p>
        </p:txBody>
      </p:sp>
      <p:sp>
        <p:nvSpPr>
          <p:cNvPr id="26" name="Shape 23"/>
          <p:cNvSpPr/>
          <p:nvPr/>
        </p:nvSpPr>
        <p:spPr>
          <a:xfrm>
            <a:off x="2606040" y="2258568"/>
            <a:ext cx="128016" cy="128016"/>
          </a:xfrm>
          <a:prstGeom prst="roundRect">
            <a:avLst>
              <a:gd name="adj" fmla="val 42857"/>
            </a:avLst>
          </a:prstGeom>
          <a:solidFill>
            <a:srgbClr val="2FA8A0"/>
          </a:solidFill>
          <a:ln w="12700">
            <a:solidFill>
              <a:srgbClr val="2FA8A0"/>
            </a:solidFill>
            <a:prstDash val="solid"/>
          </a:ln>
        </p:spPr>
        <p:txBody>
          <a:bodyPr/>
          <a:lstStyle/>
          <a:p>
            <a:endParaRPr lang="en-US"/>
          </a:p>
        </p:txBody>
      </p:sp>
      <p:sp>
        <p:nvSpPr>
          <p:cNvPr id="27" name="Text 24"/>
          <p:cNvSpPr txBox="1"/>
          <p:nvPr/>
        </p:nvSpPr>
        <p:spPr>
          <a:xfrm>
            <a:off x="2812167" y="2221992"/>
            <a:ext cx="1609344" cy="201168"/>
          </a:xfrm>
          <a:prstGeom prst="rect">
            <a:avLst/>
          </a:prstGeom>
          <a:noFill/>
          <a:ln/>
        </p:spPr>
        <p:txBody>
          <a:bodyPr wrap="square" lIns="0" tIns="0" rIns="0" bIns="0" rtlCol="0" anchor="ctr"/>
          <a:lstStyle/>
          <a:p>
            <a:pPr marL="0" indent="0">
              <a:buNone/>
            </a:pPr>
            <a:r>
              <a:rPr lang="en-US" sz="1200" b="1" dirty="0">
                <a:solidFill>
                  <a:srgbClr val="0F2F44"/>
                </a:solidFill>
                <a:latin typeface="Calibri" pitchFamily="34" charset="0"/>
                <a:ea typeface="Calibri" pitchFamily="34" charset="-122"/>
                <a:cs typeface="Calibri" pitchFamily="34" charset="-120"/>
              </a:rPr>
              <a:t>Spatiotemporal Map</a:t>
            </a:r>
            <a:endParaRPr lang="en-US" sz="1200" dirty="0"/>
          </a:p>
        </p:txBody>
      </p:sp>
      <p:sp>
        <p:nvSpPr>
          <p:cNvPr id="28" name="Text 25"/>
          <p:cNvSpPr txBox="1"/>
          <p:nvPr/>
        </p:nvSpPr>
        <p:spPr>
          <a:xfrm>
            <a:off x="2606040" y="2573181"/>
            <a:ext cx="1773936" cy="475488"/>
          </a:xfrm>
          <a:prstGeom prst="rect">
            <a:avLst/>
          </a:prstGeom>
          <a:noFill/>
          <a:ln/>
        </p:spPr>
        <p:txBody>
          <a:bodyPr wrap="square" lIns="0" tIns="0" rIns="0" bIns="0" rtlCol="0" anchor="t"/>
          <a:lstStyle/>
          <a:p>
            <a:pPr marL="0" indent="0">
              <a:lnSpc>
                <a:spcPct val="102000"/>
              </a:lnSpc>
              <a:buNone/>
            </a:pPr>
            <a:r>
              <a:rPr lang="en-US" sz="900" dirty="0">
                <a:solidFill>
                  <a:srgbClr val="5B6B7C"/>
                </a:solidFill>
                <a:latin typeface="Calibri" pitchFamily="34" charset="0"/>
                <a:ea typeface="Calibri" pitchFamily="34" charset="-122"/>
                <a:cs typeface="Calibri" pitchFamily="34" charset="-120"/>
              </a:rPr>
              <a:t>Satellite · DBSCAN hotspots · hour × weekday · pulsing red zones</a:t>
            </a:r>
            <a:endParaRPr lang="en-US" sz="900" dirty="0"/>
          </a:p>
        </p:txBody>
      </p:sp>
      <p:sp>
        <p:nvSpPr>
          <p:cNvPr id="29" name="Shape 26"/>
          <p:cNvSpPr/>
          <p:nvPr/>
        </p:nvSpPr>
        <p:spPr>
          <a:xfrm>
            <a:off x="4626864" y="2176272"/>
            <a:ext cx="1956816" cy="804672"/>
          </a:xfrm>
          <a:prstGeom prst="roundRect">
            <a:avLst>
              <a:gd name="adj" fmla="val 6818"/>
            </a:avLst>
          </a:prstGeom>
          <a:solidFill>
            <a:srgbClr val="FFFFFF"/>
          </a:solidFill>
          <a:ln w="9525">
            <a:solidFill>
              <a:srgbClr val="DCE3EC"/>
            </a:solidFill>
            <a:prstDash val="solid"/>
          </a:ln>
        </p:spPr>
        <p:txBody>
          <a:bodyPr/>
          <a:lstStyle/>
          <a:p>
            <a:endParaRPr lang="en-US"/>
          </a:p>
        </p:txBody>
      </p:sp>
      <p:sp>
        <p:nvSpPr>
          <p:cNvPr id="30" name="Shape 27"/>
          <p:cNvSpPr/>
          <p:nvPr/>
        </p:nvSpPr>
        <p:spPr>
          <a:xfrm>
            <a:off x="4727448" y="2258568"/>
            <a:ext cx="128016" cy="128016"/>
          </a:xfrm>
          <a:prstGeom prst="roundRect">
            <a:avLst>
              <a:gd name="adj" fmla="val 42857"/>
            </a:avLst>
          </a:prstGeom>
          <a:solidFill>
            <a:srgbClr val="6D4C9F"/>
          </a:solidFill>
          <a:ln w="12700">
            <a:solidFill>
              <a:srgbClr val="6D4C9F"/>
            </a:solidFill>
            <a:prstDash val="solid"/>
          </a:ln>
        </p:spPr>
        <p:txBody>
          <a:bodyPr/>
          <a:lstStyle/>
          <a:p>
            <a:endParaRPr lang="en-US"/>
          </a:p>
        </p:txBody>
      </p:sp>
      <p:sp>
        <p:nvSpPr>
          <p:cNvPr id="31" name="Text 28"/>
          <p:cNvSpPr txBox="1"/>
          <p:nvPr/>
        </p:nvSpPr>
        <p:spPr>
          <a:xfrm>
            <a:off x="4933575" y="2221992"/>
            <a:ext cx="1609344" cy="201168"/>
          </a:xfrm>
          <a:prstGeom prst="rect">
            <a:avLst/>
          </a:prstGeom>
          <a:noFill/>
          <a:ln/>
        </p:spPr>
        <p:txBody>
          <a:bodyPr wrap="square" lIns="0" tIns="0" rIns="0" bIns="0" rtlCol="0" anchor="ctr"/>
          <a:lstStyle/>
          <a:p>
            <a:pPr marL="0" indent="0">
              <a:buNone/>
            </a:pPr>
            <a:r>
              <a:rPr lang="en-US" sz="1200" b="1" dirty="0">
                <a:solidFill>
                  <a:srgbClr val="0F2F44"/>
                </a:solidFill>
                <a:latin typeface="Calibri" pitchFamily="34" charset="0"/>
                <a:ea typeface="Calibri" pitchFamily="34" charset="-122"/>
                <a:cs typeface="Calibri" pitchFamily="34" charset="-120"/>
              </a:rPr>
              <a:t>Forecasting</a:t>
            </a:r>
            <a:endParaRPr lang="en-US" sz="1200" dirty="0"/>
          </a:p>
        </p:txBody>
      </p:sp>
      <p:sp>
        <p:nvSpPr>
          <p:cNvPr id="32" name="Text 29"/>
          <p:cNvSpPr txBox="1"/>
          <p:nvPr/>
        </p:nvSpPr>
        <p:spPr>
          <a:xfrm>
            <a:off x="4727448" y="2573181"/>
            <a:ext cx="1773936" cy="475488"/>
          </a:xfrm>
          <a:prstGeom prst="rect">
            <a:avLst/>
          </a:prstGeom>
          <a:noFill/>
          <a:ln/>
        </p:spPr>
        <p:txBody>
          <a:bodyPr wrap="square" lIns="0" tIns="0" rIns="0" bIns="0" rtlCol="0" anchor="t"/>
          <a:lstStyle/>
          <a:p>
            <a:pPr marL="0" indent="0">
              <a:lnSpc>
                <a:spcPct val="102000"/>
              </a:lnSpc>
              <a:buNone/>
            </a:pPr>
            <a:r>
              <a:rPr lang="en-US" sz="900" dirty="0">
                <a:solidFill>
                  <a:srgbClr val="5B6B7C"/>
                </a:solidFill>
                <a:latin typeface="Calibri" pitchFamily="34" charset="0"/>
                <a:ea typeface="Calibri" pitchFamily="34" charset="-122"/>
                <a:cs typeface="Calibri" pitchFamily="34" charset="-120"/>
              </a:rPr>
              <a:t>Statistical and ML side by side · MAPE 7.8% on a hold-out backtest</a:t>
            </a:r>
            <a:endParaRPr lang="en-US" sz="900" dirty="0"/>
          </a:p>
        </p:txBody>
      </p:sp>
      <p:sp>
        <p:nvSpPr>
          <p:cNvPr id="33" name="Shape 30"/>
          <p:cNvSpPr/>
          <p:nvPr/>
        </p:nvSpPr>
        <p:spPr>
          <a:xfrm>
            <a:off x="6748272" y="2176272"/>
            <a:ext cx="1956816" cy="804672"/>
          </a:xfrm>
          <a:prstGeom prst="roundRect">
            <a:avLst>
              <a:gd name="adj" fmla="val 6818"/>
            </a:avLst>
          </a:prstGeom>
          <a:solidFill>
            <a:srgbClr val="FFFFFF"/>
          </a:solidFill>
          <a:ln w="9525">
            <a:solidFill>
              <a:srgbClr val="DCE3EC"/>
            </a:solidFill>
            <a:prstDash val="solid"/>
          </a:ln>
        </p:spPr>
        <p:txBody>
          <a:bodyPr/>
          <a:lstStyle/>
          <a:p>
            <a:endParaRPr lang="en-US"/>
          </a:p>
        </p:txBody>
      </p:sp>
      <p:sp>
        <p:nvSpPr>
          <p:cNvPr id="34" name="Shape 31"/>
          <p:cNvSpPr/>
          <p:nvPr/>
        </p:nvSpPr>
        <p:spPr>
          <a:xfrm>
            <a:off x="6848856" y="2258568"/>
            <a:ext cx="128016" cy="128016"/>
          </a:xfrm>
          <a:prstGeom prst="roundRect">
            <a:avLst>
              <a:gd name="adj" fmla="val 42857"/>
            </a:avLst>
          </a:prstGeom>
          <a:solidFill>
            <a:srgbClr val="6D4C9F"/>
          </a:solidFill>
          <a:ln w="12700">
            <a:solidFill>
              <a:srgbClr val="6D4C9F"/>
            </a:solidFill>
            <a:prstDash val="solid"/>
          </a:ln>
        </p:spPr>
        <p:txBody>
          <a:bodyPr/>
          <a:lstStyle/>
          <a:p>
            <a:endParaRPr lang="en-US"/>
          </a:p>
        </p:txBody>
      </p:sp>
      <p:sp>
        <p:nvSpPr>
          <p:cNvPr id="35" name="Text 32"/>
          <p:cNvSpPr txBox="1"/>
          <p:nvPr/>
        </p:nvSpPr>
        <p:spPr>
          <a:xfrm>
            <a:off x="7054983" y="2221992"/>
            <a:ext cx="1609344" cy="201168"/>
          </a:xfrm>
          <a:prstGeom prst="rect">
            <a:avLst/>
          </a:prstGeom>
          <a:noFill/>
          <a:ln/>
        </p:spPr>
        <p:txBody>
          <a:bodyPr wrap="square" lIns="0" tIns="0" rIns="0" bIns="0" rtlCol="0" anchor="ctr"/>
          <a:lstStyle/>
          <a:p>
            <a:pPr marL="0" indent="0">
              <a:buNone/>
            </a:pPr>
            <a:r>
              <a:rPr lang="en-US" sz="1200" b="1" dirty="0">
                <a:solidFill>
                  <a:srgbClr val="0F2F44"/>
                </a:solidFill>
                <a:latin typeface="Calibri" pitchFamily="34" charset="0"/>
                <a:ea typeface="Calibri" pitchFamily="34" charset="-122"/>
                <a:cs typeface="Calibri" pitchFamily="34" charset="-120"/>
              </a:rPr>
              <a:t>Socio-economic Analytics</a:t>
            </a:r>
            <a:endParaRPr lang="en-US" sz="1200" dirty="0"/>
          </a:p>
        </p:txBody>
      </p:sp>
      <p:sp>
        <p:nvSpPr>
          <p:cNvPr id="36" name="Text 33"/>
          <p:cNvSpPr txBox="1"/>
          <p:nvPr/>
        </p:nvSpPr>
        <p:spPr>
          <a:xfrm>
            <a:off x="6848856" y="2573181"/>
            <a:ext cx="1773936" cy="475488"/>
          </a:xfrm>
          <a:prstGeom prst="rect">
            <a:avLst/>
          </a:prstGeom>
          <a:noFill/>
          <a:ln/>
        </p:spPr>
        <p:txBody>
          <a:bodyPr wrap="square" lIns="0" tIns="0" rIns="0" bIns="0" rtlCol="0" anchor="t"/>
          <a:lstStyle/>
          <a:p>
            <a:pPr marL="0" indent="0">
              <a:lnSpc>
                <a:spcPct val="102000"/>
              </a:lnSpc>
              <a:buNone/>
            </a:pPr>
            <a:r>
              <a:rPr lang="en-US" sz="900" dirty="0">
                <a:solidFill>
                  <a:srgbClr val="5B6B7C"/>
                </a:solidFill>
                <a:latin typeface="Calibri" pitchFamily="34" charset="0"/>
                <a:ea typeface="Calibri" pitchFamily="34" charset="-122"/>
                <a:cs typeface="Calibri" pitchFamily="34" charset="-120"/>
              </a:rPr>
              <a:t>Per-capita rates with p-values, so a weak signal reads as weak</a:t>
            </a:r>
            <a:endParaRPr lang="en-US" sz="900" dirty="0"/>
          </a:p>
        </p:txBody>
      </p:sp>
      <p:sp>
        <p:nvSpPr>
          <p:cNvPr id="37" name="Shape 34"/>
          <p:cNvSpPr/>
          <p:nvPr/>
        </p:nvSpPr>
        <p:spPr>
          <a:xfrm>
            <a:off x="384048" y="3090672"/>
            <a:ext cx="1956816" cy="804672"/>
          </a:xfrm>
          <a:prstGeom prst="roundRect">
            <a:avLst>
              <a:gd name="adj" fmla="val 6818"/>
            </a:avLst>
          </a:prstGeom>
          <a:solidFill>
            <a:srgbClr val="FFFFFF"/>
          </a:solidFill>
          <a:ln w="9525">
            <a:solidFill>
              <a:srgbClr val="DCE3EC"/>
            </a:solidFill>
            <a:prstDash val="solid"/>
          </a:ln>
        </p:spPr>
        <p:txBody>
          <a:bodyPr/>
          <a:lstStyle/>
          <a:p>
            <a:endParaRPr lang="en-US"/>
          </a:p>
        </p:txBody>
      </p:sp>
      <p:sp>
        <p:nvSpPr>
          <p:cNvPr id="38" name="Shape 35"/>
          <p:cNvSpPr/>
          <p:nvPr/>
        </p:nvSpPr>
        <p:spPr>
          <a:xfrm>
            <a:off x="484632" y="3172968"/>
            <a:ext cx="128016" cy="128016"/>
          </a:xfrm>
          <a:prstGeom prst="roundRect">
            <a:avLst>
              <a:gd name="adj" fmla="val 42857"/>
            </a:avLst>
          </a:prstGeom>
          <a:solidFill>
            <a:srgbClr val="E8871E"/>
          </a:solidFill>
          <a:ln w="12700">
            <a:solidFill>
              <a:srgbClr val="E8871E"/>
            </a:solidFill>
            <a:prstDash val="solid"/>
          </a:ln>
        </p:spPr>
        <p:txBody>
          <a:bodyPr/>
          <a:lstStyle/>
          <a:p>
            <a:endParaRPr lang="en-US"/>
          </a:p>
        </p:txBody>
      </p:sp>
      <p:sp>
        <p:nvSpPr>
          <p:cNvPr id="39" name="Text 36"/>
          <p:cNvSpPr txBox="1"/>
          <p:nvPr/>
        </p:nvSpPr>
        <p:spPr>
          <a:xfrm>
            <a:off x="690759" y="3136392"/>
            <a:ext cx="1609344" cy="201168"/>
          </a:xfrm>
          <a:prstGeom prst="rect">
            <a:avLst/>
          </a:prstGeom>
          <a:noFill/>
          <a:ln/>
        </p:spPr>
        <p:txBody>
          <a:bodyPr wrap="square" lIns="0" tIns="0" rIns="0" bIns="0" rtlCol="0" anchor="ctr"/>
          <a:lstStyle/>
          <a:p>
            <a:pPr marL="0" indent="0">
              <a:buNone/>
            </a:pPr>
            <a:r>
              <a:rPr lang="en-US" sz="1200" b="1" dirty="0">
                <a:solidFill>
                  <a:srgbClr val="0F2F44"/>
                </a:solidFill>
                <a:latin typeface="Calibri" pitchFamily="34" charset="0"/>
                <a:ea typeface="Calibri" pitchFamily="34" charset="-122"/>
                <a:cs typeface="Calibri" pitchFamily="34" charset="-120"/>
              </a:rPr>
              <a:t>Evidence Reading</a:t>
            </a:r>
            <a:endParaRPr lang="en-US" sz="1200" dirty="0"/>
          </a:p>
        </p:txBody>
      </p:sp>
      <p:sp>
        <p:nvSpPr>
          <p:cNvPr id="40" name="Text 37"/>
          <p:cNvSpPr txBox="1"/>
          <p:nvPr/>
        </p:nvSpPr>
        <p:spPr>
          <a:xfrm>
            <a:off x="484632" y="3487581"/>
            <a:ext cx="1773936" cy="475488"/>
          </a:xfrm>
          <a:prstGeom prst="rect">
            <a:avLst/>
          </a:prstGeom>
          <a:noFill/>
          <a:ln/>
        </p:spPr>
        <p:txBody>
          <a:bodyPr wrap="square" lIns="0" tIns="0" rIns="0" bIns="0" rtlCol="0" anchor="t"/>
          <a:lstStyle/>
          <a:p>
            <a:pPr marL="0" indent="0">
              <a:lnSpc>
                <a:spcPct val="102000"/>
              </a:lnSpc>
              <a:buNone/>
            </a:pPr>
            <a:r>
              <a:rPr lang="en-US" sz="900" dirty="0">
                <a:solidFill>
                  <a:srgbClr val="5B6B7C"/>
                </a:solidFill>
                <a:latin typeface="Calibri" pitchFamily="34" charset="0"/>
                <a:ea typeface="Calibri" pitchFamily="34" charset="-122"/>
                <a:cs typeface="Calibri" pitchFamily="34" charset="-120"/>
              </a:rPr>
              <a:t>OCR · barcode · vision · PDF and multi-page · files to the case</a:t>
            </a:r>
            <a:endParaRPr lang="en-US" sz="900" dirty="0"/>
          </a:p>
        </p:txBody>
      </p:sp>
      <p:sp>
        <p:nvSpPr>
          <p:cNvPr id="41" name="Shape 38"/>
          <p:cNvSpPr/>
          <p:nvPr/>
        </p:nvSpPr>
        <p:spPr>
          <a:xfrm>
            <a:off x="2505456" y="3090672"/>
            <a:ext cx="1956816" cy="804672"/>
          </a:xfrm>
          <a:prstGeom prst="roundRect">
            <a:avLst>
              <a:gd name="adj" fmla="val 6818"/>
            </a:avLst>
          </a:prstGeom>
          <a:solidFill>
            <a:srgbClr val="FFFFFF"/>
          </a:solidFill>
          <a:ln w="9525">
            <a:solidFill>
              <a:srgbClr val="DCE3EC"/>
            </a:solidFill>
            <a:prstDash val="solid"/>
          </a:ln>
        </p:spPr>
        <p:txBody>
          <a:bodyPr/>
          <a:lstStyle/>
          <a:p>
            <a:endParaRPr lang="en-US"/>
          </a:p>
        </p:txBody>
      </p:sp>
      <p:sp>
        <p:nvSpPr>
          <p:cNvPr id="42" name="Shape 39"/>
          <p:cNvSpPr/>
          <p:nvPr/>
        </p:nvSpPr>
        <p:spPr>
          <a:xfrm>
            <a:off x="2606040" y="3172968"/>
            <a:ext cx="128016" cy="128016"/>
          </a:xfrm>
          <a:prstGeom prst="roundRect">
            <a:avLst>
              <a:gd name="adj" fmla="val 42857"/>
            </a:avLst>
          </a:prstGeom>
          <a:solidFill>
            <a:srgbClr val="E8871E"/>
          </a:solidFill>
          <a:ln w="12700">
            <a:solidFill>
              <a:srgbClr val="E8871E"/>
            </a:solidFill>
            <a:prstDash val="solid"/>
          </a:ln>
        </p:spPr>
        <p:txBody>
          <a:bodyPr/>
          <a:lstStyle/>
          <a:p>
            <a:endParaRPr lang="en-US"/>
          </a:p>
        </p:txBody>
      </p:sp>
      <p:sp>
        <p:nvSpPr>
          <p:cNvPr id="43" name="Text 40"/>
          <p:cNvSpPr txBox="1"/>
          <p:nvPr/>
        </p:nvSpPr>
        <p:spPr>
          <a:xfrm>
            <a:off x="2812167" y="3136392"/>
            <a:ext cx="1609344" cy="201168"/>
          </a:xfrm>
          <a:prstGeom prst="rect">
            <a:avLst/>
          </a:prstGeom>
          <a:noFill/>
          <a:ln/>
        </p:spPr>
        <p:txBody>
          <a:bodyPr wrap="square" lIns="0" tIns="0" rIns="0" bIns="0" rtlCol="0" anchor="ctr"/>
          <a:lstStyle/>
          <a:p>
            <a:pPr marL="0" indent="0">
              <a:buNone/>
            </a:pPr>
            <a:r>
              <a:rPr lang="en-US" sz="1200" b="1" dirty="0">
                <a:solidFill>
                  <a:srgbClr val="0F2F44"/>
                </a:solidFill>
                <a:latin typeface="Calibri" pitchFamily="34" charset="0"/>
                <a:ea typeface="Calibri" pitchFamily="34" charset="-122"/>
                <a:cs typeface="Calibri" pitchFamily="34" charset="-120"/>
              </a:rPr>
              <a:t>Bilingual Assistant</a:t>
            </a:r>
            <a:endParaRPr lang="en-US" sz="1200" dirty="0"/>
          </a:p>
        </p:txBody>
      </p:sp>
      <p:sp>
        <p:nvSpPr>
          <p:cNvPr id="44" name="Text 41"/>
          <p:cNvSpPr txBox="1"/>
          <p:nvPr/>
        </p:nvSpPr>
        <p:spPr>
          <a:xfrm>
            <a:off x="2606040" y="3487581"/>
            <a:ext cx="1773936" cy="475488"/>
          </a:xfrm>
          <a:prstGeom prst="rect">
            <a:avLst/>
          </a:prstGeom>
          <a:noFill/>
          <a:ln/>
        </p:spPr>
        <p:txBody>
          <a:bodyPr wrap="square" lIns="0" tIns="0" rIns="0" bIns="0" rtlCol="0" anchor="t"/>
          <a:lstStyle/>
          <a:p>
            <a:pPr marL="0" indent="0">
              <a:lnSpc>
                <a:spcPct val="102000"/>
              </a:lnSpc>
              <a:buNone/>
            </a:pPr>
            <a:r>
              <a:rPr lang="en-US" sz="900" dirty="0">
                <a:solidFill>
                  <a:srgbClr val="5B6B7C"/>
                </a:solidFill>
                <a:latin typeface="Calibri" pitchFamily="34" charset="0"/>
                <a:ea typeface="Calibri" pitchFamily="34" charset="-122"/>
                <a:cs typeface="Calibri" pitchFamily="34" charset="-120"/>
              </a:rPr>
              <a:t>EN / ಕನ್ನಡ · text or voice · every answer cites its FIR numbers</a:t>
            </a:r>
            <a:endParaRPr lang="en-US" sz="900" dirty="0"/>
          </a:p>
        </p:txBody>
      </p:sp>
      <p:sp>
        <p:nvSpPr>
          <p:cNvPr id="45" name="Shape 42"/>
          <p:cNvSpPr/>
          <p:nvPr/>
        </p:nvSpPr>
        <p:spPr>
          <a:xfrm>
            <a:off x="4626864" y="3090672"/>
            <a:ext cx="1956816" cy="804672"/>
          </a:xfrm>
          <a:prstGeom prst="roundRect">
            <a:avLst>
              <a:gd name="adj" fmla="val 6818"/>
            </a:avLst>
          </a:prstGeom>
          <a:solidFill>
            <a:srgbClr val="FFFFFF"/>
          </a:solidFill>
          <a:ln w="9525">
            <a:solidFill>
              <a:srgbClr val="DCE3EC"/>
            </a:solidFill>
            <a:prstDash val="solid"/>
          </a:ln>
        </p:spPr>
        <p:txBody>
          <a:bodyPr/>
          <a:lstStyle/>
          <a:p>
            <a:endParaRPr lang="en-US"/>
          </a:p>
        </p:txBody>
      </p:sp>
      <p:sp>
        <p:nvSpPr>
          <p:cNvPr id="46" name="Shape 43"/>
          <p:cNvSpPr/>
          <p:nvPr/>
        </p:nvSpPr>
        <p:spPr>
          <a:xfrm>
            <a:off x="4727448" y="3172968"/>
            <a:ext cx="128016" cy="128016"/>
          </a:xfrm>
          <a:prstGeom prst="roundRect">
            <a:avLst>
              <a:gd name="adj" fmla="val 42857"/>
            </a:avLst>
          </a:prstGeom>
          <a:solidFill>
            <a:srgbClr val="0F2F44"/>
          </a:solidFill>
          <a:ln w="12700">
            <a:solidFill>
              <a:srgbClr val="0F2F44"/>
            </a:solidFill>
            <a:prstDash val="solid"/>
          </a:ln>
        </p:spPr>
        <p:txBody>
          <a:bodyPr/>
          <a:lstStyle/>
          <a:p>
            <a:endParaRPr lang="en-US"/>
          </a:p>
        </p:txBody>
      </p:sp>
      <p:sp>
        <p:nvSpPr>
          <p:cNvPr id="47" name="Text 44"/>
          <p:cNvSpPr txBox="1"/>
          <p:nvPr/>
        </p:nvSpPr>
        <p:spPr>
          <a:xfrm>
            <a:off x="4933575" y="3136392"/>
            <a:ext cx="1609344" cy="201168"/>
          </a:xfrm>
          <a:prstGeom prst="rect">
            <a:avLst/>
          </a:prstGeom>
          <a:noFill/>
          <a:ln/>
        </p:spPr>
        <p:txBody>
          <a:bodyPr wrap="square" lIns="0" tIns="0" rIns="0" bIns="0" rtlCol="0" anchor="ctr"/>
          <a:lstStyle/>
          <a:p>
            <a:pPr marL="0" indent="0">
              <a:buNone/>
            </a:pPr>
            <a:r>
              <a:rPr lang="en-US" sz="1200" b="1" dirty="0">
                <a:solidFill>
                  <a:srgbClr val="0F2F44"/>
                </a:solidFill>
                <a:latin typeface="Calibri" pitchFamily="34" charset="0"/>
                <a:ea typeface="Calibri" pitchFamily="34" charset="-122"/>
                <a:cs typeface="Calibri" pitchFamily="34" charset="-120"/>
              </a:rPr>
              <a:t>Register &amp; approvals</a:t>
            </a:r>
            <a:endParaRPr lang="en-US" sz="1200" dirty="0"/>
          </a:p>
        </p:txBody>
      </p:sp>
      <p:sp>
        <p:nvSpPr>
          <p:cNvPr id="48" name="Text 45"/>
          <p:cNvSpPr txBox="1"/>
          <p:nvPr/>
        </p:nvSpPr>
        <p:spPr>
          <a:xfrm>
            <a:off x="4727448" y="3487581"/>
            <a:ext cx="1773936" cy="475488"/>
          </a:xfrm>
          <a:prstGeom prst="rect">
            <a:avLst/>
          </a:prstGeom>
          <a:noFill/>
          <a:ln/>
        </p:spPr>
        <p:txBody>
          <a:bodyPr wrap="square" lIns="0" tIns="0" rIns="0" bIns="0" rtlCol="0" anchor="t"/>
          <a:lstStyle/>
          <a:p>
            <a:pPr marL="0" indent="0">
              <a:lnSpc>
                <a:spcPct val="102000"/>
              </a:lnSpc>
              <a:buNone/>
            </a:pPr>
            <a:r>
              <a:rPr lang="en-US" sz="900" dirty="0">
                <a:solidFill>
                  <a:srgbClr val="5B6B7C"/>
                </a:solidFill>
                <a:latin typeface="Calibri" pitchFamily="34" charset="0"/>
                <a:ea typeface="Calibri" pitchFamily="34" charset="-122"/>
                <a:cs typeface="Calibri" pitchFamily="34" charset="-120"/>
              </a:rPr>
              <a:t>A station files an FIR; a supervisor approves it, before and after</a:t>
            </a:r>
            <a:endParaRPr lang="en-US" sz="900" dirty="0"/>
          </a:p>
        </p:txBody>
      </p:sp>
      <p:sp>
        <p:nvSpPr>
          <p:cNvPr id="49" name="Shape 46"/>
          <p:cNvSpPr/>
          <p:nvPr/>
        </p:nvSpPr>
        <p:spPr>
          <a:xfrm>
            <a:off x="6748272" y="3090672"/>
            <a:ext cx="1956816" cy="804672"/>
          </a:xfrm>
          <a:prstGeom prst="roundRect">
            <a:avLst>
              <a:gd name="adj" fmla="val 6818"/>
            </a:avLst>
          </a:prstGeom>
          <a:solidFill>
            <a:srgbClr val="FFFFFF"/>
          </a:solidFill>
          <a:ln w="9525">
            <a:solidFill>
              <a:srgbClr val="DCE3EC"/>
            </a:solidFill>
            <a:prstDash val="solid"/>
          </a:ln>
        </p:spPr>
        <p:txBody>
          <a:bodyPr/>
          <a:lstStyle/>
          <a:p>
            <a:endParaRPr lang="en-US"/>
          </a:p>
        </p:txBody>
      </p:sp>
      <p:sp>
        <p:nvSpPr>
          <p:cNvPr id="50" name="Shape 47"/>
          <p:cNvSpPr/>
          <p:nvPr/>
        </p:nvSpPr>
        <p:spPr>
          <a:xfrm>
            <a:off x="6848856" y="3172968"/>
            <a:ext cx="128016" cy="128016"/>
          </a:xfrm>
          <a:prstGeom prst="roundRect">
            <a:avLst>
              <a:gd name="adj" fmla="val 42857"/>
            </a:avLst>
          </a:prstGeom>
          <a:solidFill>
            <a:srgbClr val="0F2F44"/>
          </a:solidFill>
          <a:ln w="12700">
            <a:solidFill>
              <a:srgbClr val="0F2F44"/>
            </a:solidFill>
            <a:prstDash val="solid"/>
          </a:ln>
        </p:spPr>
        <p:txBody>
          <a:bodyPr/>
          <a:lstStyle/>
          <a:p>
            <a:endParaRPr lang="en-US"/>
          </a:p>
        </p:txBody>
      </p:sp>
      <p:sp>
        <p:nvSpPr>
          <p:cNvPr id="51" name="Text 48"/>
          <p:cNvSpPr txBox="1"/>
          <p:nvPr/>
        </p:nvSpPr>
        <p:spPr>
          <a:xfrm>
            <a:off x="7054983" y="3136392"/>
            <a:ext cx="1609344" cy="201168"/>
          </a:xfrm>
          <a:prstGeom prst="rect">
            <a:avLst/>
          </a:prstGeom>
          <a:noFill/>
          <a:ln/>
        </p:spPr>
        <p:txBody>
          <a:bodyPr wrap="square" lIns="0" tIns="0" rIns="0" bIns="0" rtlCol="0" anchor="ctr"/>
          <a:lstStyle/>
          <a:p>
            <a:pPr marL="0" indent="0">
              <a:buNone/>
            </a:pPr>
            <a:r>
              <a:rPr lang="en-US" sz="1200" b="1" dirty="0">
                <a:solidFill>
                  <a:srgbClr val="0F2F44"/>
                </a:solidFill>
                <a:latin typeface="Calibri" pitchFamily="34" charset="0"/>
                <a:ea typeface="Calibri" pitchFamily="34" charset="-122"/>
                <a:cs typeface="Calibri" pitchFamily="34" charset="-120"/>
              </a:rPr>
              <a:t>Fairness &amp; Audit</a:t>
            </a:r>
            <a:endParaRPr lang="en-US" sz="1200" dirty="0"/>
          </a:p>
        </p:txBody>
      </p:sp>
      <p:sp>
        <p:nvSpPr>
          <p:cNvPr id="52" name="Text 49"/>
          <p:cNvSpPr txBox="1"/>
          <p:nvPr/>
        </p:nvSpPr>
        <p:spPr>
          <a:xfrm>
            <a:off x="6848856" y="3487581"/>
            <a:ext cx="1773936" cy="475488"/>
          </a:xfrm>
          <a:prstGeom prst="rect">
            <a:avLst/>
          </a:prstGeom>
          <a:noFill/>
          <a:ln/>
        </p:spPr>
        <p:txBody>
          <a:bodyPr wrap="square" lIns="0" tIns="0" rIns="0" bIns="0" rtlCol="0" anchor="t"/>
          <a:lstStyle/>
          <a:p>
            <a:pPr marL="0" indent="0">
              <a:lnSpc>
                <a:spcPct val="102000"/>
              </a:lnSpc>
              <a:buNone/>
            </a:pPr>
            <a:r>
              <a:rPr lang="en-US" sz="900" dirty="0">
                <a:solidFill>
                  <a:srgbClr val="5B6B7C"/>
                </a:solidFill>
                <a:latin typeface="Calibri" pitchFamily="34" charset="0"/>
                <a:ea typeface="Calibri" pitchFamily="34" charset="-122"/>
                <a:cs typeface="Calibri" pitchFamily="34" charset="-120"/>
              </a:rPr>
              <a:t>Protected attributes excluded by a failing test · every read logged</a:t>
            </a:r>
            <a:endParaRPr lang="en-US" sz="900" dirty="0"/>
          </a:p>
        </p:txBody>
      </p:sp>
      <p:sp>
        <p:nvSpPr>
          <p:cNvPr id="53" name="Shape 50"/>
          <p:cNvSpPr/>
          <p:nvPr/>
        </p:nvSpPr>
        <p:spPr>
          <a:xfrm>
            <a:off x="384048" y="4041648"/>
            <a:ext cx="8375904" cy="749808"/>
          </a:xfrm>
          <a:prstGeom prst="roundRect">
            <a:avLst>
              <a:gd name="adj" fmla="val 7317"/>
            </a:avLst>
          </a:prstGeom>
          <a:solidFill>
            <a:srgbClr val="0F2F44"/>
          </a:solidFill>
          <a:ln w="9525">
            <a:solidFill>
              <a:srgbClr val="0F2F44"/>
            </a:solidFill>
            <a:prstDash val="solid"/>
          </a:ln>
        </p:spPr>
        <p:txBody>
          <a:bodyPr/>
          <a:lstStyle/>
          <a:p>
            <a:endParaRPr lang="en-US"/>
          </a:p>
        </p:txBody>
      </p:sp>
      <p:sp>
        <p:nvSpPr>
          <p:cNvPr id="54" name="Text 51"/>
          <p:cNvSpPr txBox="1"/>
          <p:nvPr/>
        </p:nvSpPr>
        <p:spPr>
          <a:xfrm>
            <a:off x="548640" y="4159047"/>
            <a:ext cx="3566160" cy="33251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All twelve ship in the deployed build — none is a roadmap item.</a:t>
            </a:r>
            <a:endParaRPr lang="en-US" sz="1200" dirty="0"/>
          </a:p>
        </p:txBody>
      </p:sp>
      <p:sp>
        <p:nvSpPr>
          <p:cNvPr id="55" name="Text 52"/>
          <p:cNvSpPr txBox="1"/>
          <p:nvPr/>
        </p:nvSpPr>
        <p:spPr>
          <a:xfrm>
            <a:off x="548640" y="4569053"/>
            <a:ext cx="3566160" cy="182880"/>
          </a:xfrm>
          <a:prstGeom prst="rect">
            <a:avLst/>
          </a:prstGeom>
          <a:noFill/>
          <a:ln/>
        </p:spPr>
        <p:txBody>
          <a:bodyPr wrap="square" lIns="0" tIns="0" rIns="0" bIns="0" rtlCol="0" anchor="t"/>
          <a:lstStyle/>
          <a:p>
            <a:pPr marL="0" indent="0">
              <a:buNone/>
            </a:pPr>
            <a:r>
              <a:rPr lang="en-US" sz="900" i="1" dirty="0">
                <a:solidFill>
                  <a:srgbClr val="9FB3C8"/>
                </a:solidFill>
                <a:latin typeface="Calibri" pitchFamily="34" charset="0"/>
                <a:ea typeface="Calibri" pitchFamily="34" charset="-122"/>
                <a:cs typeface="Calibri" pitchFamily="34" charset="-120"/>
              </a:rPr>
              <a:t>Every figure on this slide was read from the live Catalyst API.</a:t>
            </a:r>
            <a:endParaRPr lang="en-US" sz="900" dirty="0"/>
          </a:p>
        </p:txBody>
      </p:sp>
      <p:sp>
        <p:nvSpPr>
          <p:cNvPr id="56" name="Text 53"/>
          <p:cNvSpPr txBox="1"/>
          <p:nvPr/>
        </p:nvSpPr>
        <p:spPr>
          <a:xfrm>
            <a:off x="4352544" y="4145796"/>
            <a:ext cx="841248" cy="2560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19</a:t>
            </a:r>
            <a:endParaRPr lang="en-US" sz="1400" dirty="0"/>
          </a:p>
        </p:txBody>
      </p:sp>
      <p:sp>
        <p:nvSpPr>
          <p:cNvPr id="57" name="Text 54"/>
          <p:cNvSpPr txBox="1"/>
          <p:nvPr/>
        </p:nvSpPr>
        <p:spPr>
          <a:xfrm>
            <a:off x="4352544" y="4401828"/>
            <a:ext cx="841248" cy="219456"/>
          </a:xfrm>
          <a:prstGeom prst="rect">
            <a:avLst/>
          </a:prstGeom>
          <a:noFill/>
          <a:ln/>
        </p:spPr>
        <p:txBody>
          <a:bodyPr wrap="square" lIns="0" tIns="0" rIns="0" bIns="0" rtlCol="0" anchor="t"/>
          <a:lstStyle/>
          <a:p>
            <a:pPr marL="0" indent="0">
              <a:lnSpc>
                <a:spcPct val="98000"/>
              </a:lnSpc>
              <a:buNone/>
            </a:pPr>
            <a:r>
              <a:rPr lang="en-US" sz="1000" dirty="0">
                <a:solidFill>
                  <a:srgbClr val="9FB3C8"/>
                </a:solidFill>
                <a:latin typeface="Calibri" pitchFamily="34" charset="0"/>
                <a:ea typeface="Calibri" pitchFamily="34" charset="-122"/>
                <a:cs typeface="Calibri" pitchFamily="34" charset="-120"/>
              </a:rPr>
              <a:t>screens</a:t>
            </a:r>
            <a:endParaRPr lang="en-US" sz="1000" dirty="0"/>
          </a:p>
        </p:txBody>
      </p:sp>
      <p:sp>
        <p:nvSpPr>
          <p:cNvPr id="58" name="Text 55"/>
          <p:cNvSpPr txBox="1"/>
          <p:nvPr/>
        </p:nvSpPr>
        <p:spPr>
          <a:xfrm>
            <a:off x="5221224" y="4145796"/>
            <a:ext cx="841248" cy="2560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105</a:t>
            </a:r>
            <a:endParaRPr lang="en-US" sz="1400" dirty="0"/>
          </a:p>
        </p:txBody>
      </p:sp>
      <p:sp>
        <p:nvSpPr>
          <p:cNvPr id="59" name="Text 56"/>
          <p:cNvSpPr txBox="1"/>
          <p:nvPr/>
        </p:nvSpPr>
        <p:spPr>
          <a:xfrm>
            <a:off x="5221224" y="4401828"/>
            <a:ext cx="841248" cy="219456"/>
          </a:xfrm>
          <a:prstGeom prst="rect">
            <a:avLst/>
          </a:prstGeom>
          <a:noFill/>
          <a:ln/>
        </p:spPr>
        <p:txBody>
          <a:bodyPr wrap="square" lIns="0" tIns="0" rIns="0" bIns="0" rtlCol="0" anchor="t"/>
          <a:lstStyle/>
          <a:p>
            <a:pPr marL="0" indent="0">
              <a:lnSpc>
                <a:spcPct val="98000"/>
              </a:lnSpc>
              <a:buNone/>
            </a:pPr>
            <a:r>
              <a:rPr lang="en-US" sz="1000" dirty="0">
                <a:solidFill>
                  <a:srgbClr val="9FB3C8"/>
                </a:solidFill>
                <a:latin typeface="Calibri" pitchFamily="34" charset="0"/>
                <a:ea typeface="Calibri" pitchFamily="34" charset="-122"/>
                <a:cs typeface="Calibri" pitchFamily="34" charset="-120"/>
              </a:rPr>
              <a:t>REST </a:t>
            </a:r>
          </a:p>
          <a:p>
            <a:pPr marL="0" indent="0">
              <a:lnSpc>
                <a:spcPct val="98000"/>
              </a:lnSpc>
              <a:buNone/>
            </a:pPr>
            <a:r>
              <a:rPr lang="en-US" sz="1000" dirty="0">
                <a:solidFill>
                  <a:srgbClr val="9FB3C8"/>
                </a:solidFill>
                <a:latin typeface="Calibri" pitchFamily="34" charset="0"/>
                <a:ea typeface="Calibri" pitchFamily="34" charset="-122"/>
                <a:cs typeface="Calibri" pitchFamily="34" charset="-120"/>
              </a:rPr>
              <a:t>endpoints</a:t>
            </a:r>
            <a:endParaRPr lang="en-US" sz="1000" dirty="0"/>
          </a:p>
        </p:txBody>
      </p:sp>
      <p:sp>
        <p:nvSpPr>
          <p:cNvPr id="60" name="Text 57"/>
          <p:cNvSpPr txBox="1"/>
          <p:nvPr/>
        </p:nvSpPr>
        <p:spPr>
          <a:xfrm>
            <a:off x="6089904" y="4145796"/>
            <a:ext cx="841248" cy="2560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103</a:t>
            </a:r>
            <a:endParaRPr lang="en-US" sz="1400" dirty="0"/>
          </a:p>
        </p:txBody>
      </p:sp>
      <p:sp>
        <p:nvSpPr>
          <p:cNvPr id="61" name="Text 58"/>
          <p:cNvSpPr txBox="1"/>
          <p:nvPr/>
        </p:nvSpPr>
        <p:spPr>
          <a:xfrm>
            <a:off x="6089904" y="4401828"/>
            <a:ext cx="841248" cy="219456"/>
          </a:xfrm>
          <a:prstGeom prst="rect">
            <a:avLst/>
          </a:prstGeom>
          <a:noFill/>
          <a:ln/>
        </p:spPr>
        <p:txBody>
          <a:bodyPr wrap="square" lIns="0" tIns="0" rIns="0" bIns="0" rtlCol="0" anchor="t"/>
          <a:lstStyle/>
          <a:p>
            <a:pPr marL="0" indent="0">
              <a:lnSpc>
                <a:spcPct val="98000"/>
              </a:lnSpc>
              <a:buNone/>
            </a:pPr>
            <a:r>
              <a:rPr lang="en-US" sz="1000" dirty="0">
                <a:solidFill>
                  <a:srgbClr val="9FB3C8"/>
                </a:solidFill>
                <a:latin typeface="Calibri" pitchFamily="34" charset="0"/>
                <a:ea typeface="Calibri" pitchFamily="34" charset="-122"/>
                <a:cs typeface="Calibri" pitchFamily="34" charset="-120"/>
              </a:rPr>
              <a:t>automated tests</a:t>
            </a:r>
            <a:endParaRPr lang="en-US" sz="1000" dirty="0"/>
          </a:p>
        </p:txBody>
      </p:sp>
      <p:sp>
        <p:nvSpPr>
          <p:cNvPr id="62" name="Text 59"/>
          <p:cNvSpPr txBox="1"/>
          <p:nvPr/>
        </p:nvSpPr>
        <p:spPr>
          <a:xfrm>
            <a:off x="6958584" y="4145796"/>
            <a:ext cx="841248" cy="2560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1,134</a:t>
            </a:r>
            <a:endParaRPr lang="en-US" sz="1400" dirty="0"/>
          </a:p>
        </p:txBody>
      </p:sp>
      <p:sp>
        <p:nvSpPr>
          <p:cNvPr id="63" name="Text 60"/>
          <p:cNvSpPr txBox="1"/>
          <p:nvPr/>
        </p:nvSpPr>
        <p:spPr>
          <a:xfrm>
            <a:off x="6958584" y="4401828"/>
            <a:ext cx="841248" cy="219456"/>
          </a:xfrm>
          <a:prstGeom prst="rect">
            <a:avLst/>
          </a:prstGeom>
          <a:noFill/>
          <a:ln/>
        </p:spPr>
        <p:txBody>
          <a:bodyPr wrap="square" lIns="0" tIns="0" rIns="0" bIns="0" rtlCol="0" anchor="t"/>
          <a:lstStyle/>
          <a:p>
            <a:pPr marL="0" indent="0">
              <a:lnSpc>
                <a:spcPct val="98000"/>
              </a:lnSpc>
              <a:buNone/>
            </a:pPr>
            <a:r>
              <a:rPr lang="en-US" sz="1000" dirty="0">
                <a:solidFill>
                  <a:srgbClr val="9FB3C8"/>
                </a:solidFill>
                <a:latin typeface="Calibri" pitchFamily="34" charset="0"/>
                <a:ea typeface="Calibri" pitchFamily="34" charset="-122"/>
                <a:cs typeface="Calibri" pitchFamily="34" charset="-120"/>
              </a:rPr>
              <a:t>Kannada </a:t>
            </a:r>
          </a:p>
          <a:p>
            <a:pPr marL="0" indent="0">
              <a:lnSpc>
                <a:spcPct val="98000"/>
              </a:lnSpc>
              <a:buNone/>
            </a:pPr>
            <a:r>
              <a:rPr lang="en-US" sz="1000" dirty="0">
                <a:solidFill>
                  <a:srgbClr val="9FB3C8"/>
                </a:solidFill>
                <a:latin typeface="Calibri" pitchFamily="34" charset="0"/>
                <a:ea typeface="Calibri" pitchFamily="34" charset="-122"/>
                <a:cs typeface="Calibri" pitchFamily="34" charset="-120"/>
              </a:rPr>
              <a:t>strings</a:t>
            </a:r>
            <a:endParaRPr lang="en-US" sz="1000" dirty="0"/>
          </a:p>
        </p:txBody>
      </p:sp>
      <p:sp>
        <p:nvSpPr>
          <p:cNvPr id="64" name="Text 61"/>
          <p:cNvSpPr txBox="1"/>
          <p:nvPr/>
        </p:nvSpPr>
        <p:spPr>
          <a:xfrm>
            <a:off x="7827264" y="4145796"/>
            <a:ext cx="841248" cy="2560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65" name="Text 62"/>
          <p:cNvSpPr txBox="1"/>
          <p:nvPr/>
        </p:nvSpPr>
        <p:spPr>
          <a:xfrm>
            <a:off x="7827264" y="4401828"/>
            <a:ext cx="841248" cy="219456"/>
          </a:xfrm>
          <a:prstGeom prst="rect">
            <a:avLst/>
          </a:prstGeom>
          <a:noFill/>
          <a:ln/>
        </p:spPr>
        <p:txBody>
          <a:bodyPr wrap="square" lIns="0" tIns="0" rIns="0" bIns="0" rtlCol="0" anchor="t"/>
          <a:lstStyle/>
          <a:p>
            <a:pPr marL="0" indent="0">
              <a:lnSpc>
                <a:spcPct val="98000"/>
              </a:lnSpc>
              <a:buNone/>
            </a:pPr>
            <a:r>
              <a:rPr lang="en-US" sz="1000" dirty="0">
                <a:solidFill>
                  <a:srgbClr val="9FB3C8"/>
                </a:solidFill>
                <a:latin typeface="Calibri" pitchFamily="34" charset="0"/>
                <a:ea typeface="Calibri" pitchFamily="34" charset="-122"/>
                <a:cs typeface="Calibri" pitchFamily="34" charset="-120"/>
              </a:rPr>
              <a:t>Catalyst services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ivate/tmp/claude-501/-Users-adarsh-Desktop-Projects-KadiLabs/1a0b3114-7a5c-4b08-a5d4-f9d8371eeea4/scratchpad/deck/bg-content.png"/>
          <p:cNvPicPr>
            <a:picLocks noChangeAspect="1"/>
          </p:cNvPicPr>
          <p:nvPr/>
        </p:nvPicPr>
        <p:blipFill>
          <a:blip r:embed="rId3"/>
          <a:stretch>
            <a:fillRect/>
          </a:stretch>
        </p:blipFill>
        <p:spPr>
          <a:xfrm>
            <a:off x="0" y="0"/>
            <a:ext cx="9144000" cy="5143500"/>
          </a:xfrm>
          <a:prstGeom prst="rect">
            <a:avLst/>
          </a:prstGeom>
        </p:spPr>
      </p:pic>
      <p:sp>
        <p:nvSpPr>
          <p:cNvPr id="3" name="Text 0"/>
          <p:cNvSpPr txBox="1"/>
          <p:nvPr/>
        </p:nvSpPr>
        <p:spPr>
          <a:xfrm>
            <a:off x="384048" y="603504"/>
            <a:ext cx="8375904" cy="365760"/>
          </a:xfrm>
          <a:prstGeom prst="rect">
            <a:avLst/>
          </a:prstGeom>
          <a:noFill/>
          <a:ln/>
        </p:spPr>
        <p:txBody>
          <a:bodyPr wrap="square" lIns="0" tIns="0" rIns="0" bIns="0" rtlCol="0" anchor="t"/>
          <a:lstStyle/>
          <a:p>
            <a:pPr marL="0" indent="0">
              <a:buNone/>
            </a:pPr>
            <a:r>
              <a:rPr lang="en-US" sz="2100" b="1" dirty="0">
                <a:solidFill>
                  <a:srgbClr val="0F2F44"/>
                </a:solidFill>
                <a:latin typeface="Calibri" pitchFamily="34" charset="0"/>
                <a:ea typeface="Calibri" pitchFamily="34" charset="-122"/>
                <a:cs typeface="Calibri" pitchFamily="34" charset="-120"/>
              </a:rPr>
              <a:t>Process flow</a:t>
            </a:r>
            <a:endParaRPr lang="en-US" sz="2100" dirty="0"/>
          </a:p>
        </p:txBody>
      </p:sp>
      <p:sp>
        <p:nvSpPr>
          <p:cNvPr id="4" name="Text 1"/>
          <p:cNvSpPr txBox="1"/>
          <p:nvPr/>
        </p:nvSpPr>
        <p:spPr>
          <a:xfrm>
            <a:off x="384048" y="969264"/>
            <a:ext cx="8375904" cy="237744"/>
          </a:xfrm>
          <a:prstGeom prst="rect">
            <a:avLst/>
          </a:prstGeom>
          <a:noFill/>
          <a:ln/>
        </p:spPr>
        <p:txBody>
          <a:bodyPr wrap="square" lIns="0" tIns="0" rIns="0" bIns="0" rtlCol="0" anchor="t"/>
          <a:lstStyle/>
          <a:p>
            <a:pPr marL="0" indent="0">
              <a:buNone/>
            </a:pPr>
            <a:r>
              <a:rPr lang="en-US" sz="1050" dirty="0">
                <a:solidFill>
                  <a:srgbClr val="5B6B7C"/>
                </a:solidFill>
                <a:latin typeface="Calibri" pitchFamily="34" charset="0"/>
                <a:ea typeface="Calibri" pitchFamily="34" charset="-122"/>
                <a:cs typeface="Calibri" pitchFamily="34" charset="-120"/>
              </a:rPr>
              <a:t>From a FIR register to an investigator acting on a lead</a:t>
            </a:r>
            <a:endParaRPr lang="en-US" sz="1050" dirty="0"/>
          </a:p>
        </p:txBody>
      </p:sp>
      <p:sp>
        <p:nvSpPr>
          <p:cNvPr id="5" name="Shape 2"/>
          <p:cNvSpPr/>
          <p:nvPr/>
        </p:nvSpPr>
        <p:spPr>
          <a:xfrm>
            <a:off x="384048" y="1280160"/>
            <a:ext cx="1572768" cy="896112"/>
          </a:xfrm>
          <a:prstGeom prst="roundRect">
            <a:avLst>
              <a:gd name="adj" fmla="val 6122"/>
            </a:avLst>
          </a:prstGeom>
          <a:solidFill>
            <a:srgbClr val="FFFFFF"/>
          </a:solidFill>
          <a:ln w="9525">
            <a:solidFill>
              <a:srgbClr val="DCE3EC"/>
            </a:solidFill>
            <a:prstDash val="solid"/>
          </a:ln>
        </p:spPr>
        <p:txBody>
          <a:bodyPr/>
          <a:lstStyle/>
          <a:p>
            <a:endParaRPr lang="en-US"/>
          </a:p>
        </p:txBody>
      </p:sp>
      <p:sp>
        <p:nvSpPr>
          <p:cNvPr id="6" name="Shape 3"/>
          <p:cNvSpPr/>
          <p:nvPr/>
        </p:nvSpPr>
        <p:spPr>
          <a:xfrm>
            <a:off x="484632" y="1353312"/>
            <a:ext cx="219456" cy="219456"/>
          </a:xfrm>
          <a:prstGeom prst="ellipse">
            <a:avLst/>
          </a:prstGeom>
          <a:solidFill>
            <a:srgbClr val="0F2F44"/>
          </a:solidFill>
          <a:ln w="12700">
            <a:solidFill>
              <a:srgbClr val="0F2F44"/>
            </a:solidFill>
            <a:prstDash val="solid"/>
          </a:ln>
        </p:spPr>
        <p:txBody>
          <a:bodyPr/>
          <a:lstStyle/>
          <a:p>
            <a:endParaRPr lang="en-US"/>
          </a:p>
        </p:txBody>
      </p:sp>
      <p:sp>
        <p:nvSpPr>
          <p:cNvPr id="7" name="Text 4"/>
          <p:cNvSpPr txBox="1"/>
          <p:nvPr/>
        </p:nvSpPr>
        <p:spPr>
          <a:xfrm>
            <a:off x="484632" y="1353312"/>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8" name="Text 5"/>
          <p:cNvSpPr txBox="1"/>
          <p:nvPr/>
        </p:nvSpPr>
        <p:spPr>
          <a:xfrm>
            <a:off x="758952" y="1353312"/>
            <a:ext cx="1115568" cy="219456"/>
          </a:xfrm>
          <a:prstGeom prst="rect">
            <a:avLst/>
          </a:prstGeom>
          <a:noFill/>
          <a:ln/>
        </p:spPr>
        <p:txBody>
          <a:bodyPr wrap="square" lIns="0" tIns="0" rIns="0" bIns="0" rtlCol="0" anchor="ctr"/>
          <a:lstStyle/>
          <a:p>
            <a:pPr marL="0" indent="0">
              <a:buNone/>
            </a:pPr>
            <a:r>
              <a:rPr lang="en-US" sz="1200" b="1" dirty="0">
                <a:solidFill>
                  <a:srgbClr val="0F2F44"/>
                </a:solidFill>
                <a:latin typeface="Calibri" pitchFamily="34" charset="0"/>
                <a:ea typeface="Calibri" pitchFamily="34" charset="-122"/>
                <a:cs typeface="Calibri" pitchFamily="34" charset="-120"/>
              </a:rPr>
              <a:t>FIR intake</a:t>
            </a:r>
            <a:endParaRPr lang="en-US" sz="1200" dirty="0"/>
          </a:p>
        </p:txBody>
      </p:sp>
      <p:sp>
        <p:nvSpPr>
          <p:cNvPr id="9" name="Text 6"/>
          <p:cNvSpPr txBox="1"/>
          <p:nvPr/>
        </p:nvSpPr>
        <p:spPr>
          <a:xfrm>
            <a:off x="484632" y="1609344"/>
            <a:ext cx="1371600" cy="512064"/>
          </a:xfrm>
          <a:prstGeom prst="rect">
            <a:avLst/>
          </a:prstGeom>
          <a:noFill/>
          <a:ln/>
        </p:spPr>
        <p:txBody>
          <a:bodyPr wrap="square" lIns="0" tIns="0" rIns="0" bIns="0" rtlCol="0" anchor="ctr"/>
          <a:lstStyle/>
          <a:p>
            <a:pPr marL="0" indent="0">
              <a:lnSpc>
                <a:spcPct val="100000"/>
              </a:lnSpc>
              <a:buNone/>
            </a:pPr>
            <a:r>
              <a:rPr lang="en-US" sz="900" dirty="0">
                <a:solidFill>
                  <a:srgbClr val="5B6B7C"/>
                </a:solidFill>
                <a:latin typeface="Calibri" pitchFamily="34" charset="0"/>
                <a:ea typeface="Calibri" pitchFamily="34" charset="-122"/>
                <a:cs typeface="Calibri" pitchFamily="34" charset="-120"/>
              </a:rPr>
              <a:t>29 KSP tables · 59,985 FIRs over 43 months</a:t>
            </a:r>
            <a:endParaRPr lang="en-US" sz="900" dirty="0"/>
          </a:p>
        </p:txBody>
      </p:sp>
      <p:sp>
        <p:nvSpPr>
          <p:cNvPr id="10" name="Shape 7"/>
          <p:cNvSpPr/>
          <p:nvPr/>
        </p:nvSpPr>
        <p:spPr>
          <a:xfrm>
            <a:off x="1984248" y="1673352"/>
            <a:ext cx="82296" cy="109728"/>
          </a:xfrm>
          <a:prstGeom prst="rightArrow">
            <a:avLst/>
          </a:prstGeom>
          <a:solidFill>
            <a:srgbClr val="AEBBC8"/>
          </a:solidFill>
          <a:ln w="12700">
            <a:solidFill>
              <a:srgbClr val="AEBBC8"/>
            </a:solidFill>
            <a:prstDash val="solid"/>
          </a:ln>
        </p:spPr>
        <p:txBody>
          <a:bodyPr/>
          <a:lstStyle/>
          <a:p>
            <a:endParaRPr lang="en-US"/>
          </a:p>
        </p:txBody>
      </p:sp>
      <p:sp>
        <p:nvSpPr>
          <p:cNvPr id="11" name="Shape 8"/>
          <p:cNvSpPr/>
          <p:nvPr/>
        </p:nvSpPr>
        <p:spPr>
          <a:xfrm>
            <a:off x="2077517" y="1280160"/>
            <a:ext cx="1572768" cy="896112"/>
          </a:xfrm>
          <a:prstGeom prst="roundRect">
            <a:avLst>
              <a:gd name="adj" fmla="val 6122"/>
            </a:avLst>
          </a:prstGeom>
          <a:solidFill>
            <a:srgbClr val="FFFFFF"/>
          </a:solidFill>
          <a:ln w="9525">
            <a:solidFill>
              <a:srgbClr val="DCE3EC"/>
            </a:solidFill>
            <a:prstDash val="solid"/>
          </a:ln>
        </p:spPr>
        <p:txBody>
          <a:bodyPr/>
          <a:lstStyle/>
          <a:p>
            <a:endParaRPr lang="en-US"/>
          </a:p>
        </p:txBody>
      </p:sp>
      <p:sp>
        <p:nvSpPr>
          <p:cNvPr id="12" name="Shape 9"/>
          <p:cNvSpPr/>
          <p:nvPr/>
        </p:nvSpPr>
        <p:spPr>
          <a:xfrm>
            <a:off x="2178101" y="1353312"/>
            <a:ext cx="219456" cy="219456"/>
          </a:xfrm>
          <a:prstGeom prst="ellipse">
            <a:avLst/>
          </a:prstGeom>
          <a:solidFill>
            <a:srgbClr val="1A6FC4"/>
          </a:solidFill>
          <a:ln w="12700">
            <a:solidFill>
              <a:srgbClr val="1A6FC4"/>
            </a:solidFill>
            <a:prstDash val="solid"/>
          </a:ln>
        </p:spPr>
        <p:txBody>
          <a:bodyPr/>
          <a:lstStyle/>
          <a:p>
            <a:endParaRPr lang="en-US"/>
          </a:p>
        </p:txBody>
      </p:sp>
      <p:sp>
        <p:nvSpPr>
          <p:cNvPr id="13" name="Text 10"/>
          <p:cNvSpPr txBox="1"/>
          <p:nvPr/>
        </p:nvSpPr>
        <p:spPr>
          <a:xfrm>
            <a:off x="2178101" y="1353312"/>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Text 11"/>
          <p:cNvSpPr txBox="1"/>
          <p:nvPr/>
        </p:nvSpPr>
        <p:spPr>
          <a:xfrm>
            <a:off x="2452421" y="1353312"/>
            <a:ext cx="1115568" cy="219456"/>
          </a:xfrm>
          <a:prstGeom prst="rect">
            <a:avLst/>
          </a:prstGeom>
          <a:noFill/>
          <a:ln/>
        </p:spPr>
        <p:txBody>
          <a:bodyPr wrap="square" lIns="0" tIns="0" rIns="0" bIns="0" rtlCol="0" anchor="ctr"/>
          <a:lstStyle/>
          <a:p>
            <a:pPr marL="0" indent="0">
              <a:buNone/>
            </a:pPr>
            <a:r>
              <a:rPr lang="en-US" sz="1200" b="1" dirty="0">
                <a:solidFill>
                  <a:srgbClr val="0F2F44"/>
                </a:solidFill>
                <a:latin typeface="Calibri" pitchFamily="34" charset="0"/>
                <a:ea typeface="Calibri" pitchFamily="34" charset="-122"/>
                <a:cs typeface="Calibri" pitchFamily="34" charset="-120"/>
              </a:rPr>
              <a:t>Entity resolution</a:t>
            </a:r>
            <a:endParaRPr lang="en-US" sz="1200" dirty="0"/>
          </a:p>
        </p:txBody>
      </p:sp>
      <p:sp>
        <p:nvSpPr>
          <p:cNvPr id="15" name="Text 12"/>
          <p:cNvSpPr txBox="1"/>
          <p:nvPr/>
        </p:nvSpPr>
        <p:spPr>
          <a:xfrm>
            <a:off x="2178101" y="1609344"/>
            <a:ext cx="1371600" cy="512064"/>
          </a:xfrm>
          <a:prstGeom prst="rect">
            <a:avLst/>
          </a:prstGeom>
          <a:noFill/>
          <a:ln/>
        </p:spPr>
        <p:txBody>
          <a:bodyPr wrap="square" lIns="0" tIns="0" rIns="0" bIns="0" rtlCol="0" anchor="ctr"/>
          <a:lstStyle/>
          <a:p>
            <a:pPr marL="0" indent="0">
              <a:lnSpc>
                <a:spcPct val="100000"/>
              </a:lnSpc>
              <a:buNone/>
            </a:pPr>
            <a:r>
              <a:rPr lang="en-US" sz="900" dirty="0">
                <a:solidFill>
                  <a:srgbClr val="5B6B7C"/>
                </a:solidFill>
                <a:latin typeface="Calibri" pitchFamily="34" charset="0"/>
                <a:ea typeface="Calibri" pitchFamily="34" charset="-122"/>
                <a:cs typeface="Calibri" pitchFamily="34" charset="-120"/>
              </a:rPr>
              <a:t>Blocking → rarity-weighted score → union-find merge</a:t>
            </a:r>
            <a:endParaRPr lang="en-US" sz="900" dirty="0"/>
          </a:p>
        </p:txBody>
      </p:sp>
      <p:sp>
        <p:nvSpPr>
          <p:cNvPr id="16" name="Shape 13"/>
          <p:cNvSpPr/>
          <p:nvPr/>
        </p:nvSpPr>
        <p:spPr>
          <a:xfrm>
            <a:off x="3677717" y="1673352"/>
            <a:ext cx="82296" cy="109728"/>
          </a:xfrm>
          <a:prstGeom prst="rightArrow">
            <a:avLst/>
          </a:prstGeom>
          <a:solidFill>
            <a:srgbClr val="AEBBC8"/>
          </a:solidFill>
          <a:ln w="12700">
            <a:solidFill>
              <a:srgbClr val="AEBBC8"/>
            </a:solidFill>
            <a:prstDash val="solid"/>
          </a:ln>
        </p:spPr>
        <p:txBody>
          <a:bodyPr/>
          <a:lstStyle/>
          <a:p>
            <a:endParaRPr lang="en-US"/>
          </a:p>
        </p:txBody>
      </p:sp>
      <p:sp>
        <p:nvSpPr>
          <p:cNvPr id="17" name="Shape 14"/>
          <p:cNvSpPr/>
          <p:nvPr/>
        </p:nvSpPr>
        <p:spPr>
          <a:xfrm>
            <a:off x="3770986" y="1280160"/>
            <a:ext cx="1572768" cy="896112"/>
          </a:xfrm>
          <a:prstGeom prst="roundRect">
            <a:avLst>
              <a:gd name="adj" fmla="val 6122"/>
            </a:avLst>
          </a:prstGeom>
          <a:solidFill>
            <a:srgbClr val="FFFFFF"/>
          </a:solidFill>
          <a:ln w="9525">
            <a:solidFill>
              <a:srgbClr val="DCE3EC"/>
            </a:solidFill>
            <a:prstDash val="solid"/>
          </a:ln>
        </p:spPr>
        <p:txBody>
          <a:bodyPr/>
          <a:lstStyle/>
          <a:p>
            <a:endParaRPr lang="en-US"/>
          </a:p>
        </p:txBody>
      </p:sp>
      <p:sp>
        <p:nvSpPr>
          <p:cNvPr id="18" name="Shape 15"/>
          <p:cNvSpPr/>
          <p:nvPr/>
        </p:nvSpPr>
        <p:spPr>
          <a:xfrm>
            <a:off x="3871570" y="1353312"/>
            <a:ext cx="219456" cy="219456"/>
          </a:xfrm>
          <a:prstGeom prst="ellipse">
            <a:avLst/>
          </a:prstGeom>
          <a:solidFill>
            <a:srgbClr val="1A6FC4"/>
          </a:solidFill>
          <a:ln w="12700">
            <a:solidFill>
              <a:srgbClr val="1A6FC4"/>
            </a:solidFill>
            <a:prstDash val="solid"/>
          </a:ln>
        </p:spPr>
        <p:txBody>
          <a:bodyPr/>
          <a:lstStyle/>
          <a:p>
            <a:endParaRPr lang="en-US"/>
          </a:p>
        </p:txBody>
      </p:sp>
      <p:sp>
        <p:nvSpPr>
          <p:cNvPr id="19" name="Text 16"/>
          <p:cNvSpPr txBox="1"/>
          <p:nvPr/>
        </p:nvSpPr>
        <p:spPr>
          <a:xfrm>
            <a:off x="3871570" y="1353312"/>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0" name="Text 17"/>
          <p:cNvSpPr txBox="1"/>
          <p:nvPr/>
        </p:nvSpPr>
        <p:spPr>
          <a:xfrm>
            <a:off x="4145890" y="1353312"/>
            <a:ext cx="1115568" cy="219456"/>
          </a:xfrm>
          <a:prstGeom prst="rect">
            <a:avLst/>
          </a:prstGeom>
          <a:noFill/>
          <a:ln/>
        </p:spPr>
        <p:txBody>
          <a:bodyPr wrap="square" lIns="0" tIns="0" rIns="0" bIns="0" rtlCol="0" anchor="ctr"/>
          <a:lstStyle/>
          <a:p>
            <a:pPr marL="0" indent="0">
              <a:buNone/>
            </a:pPr>
            <a:r>
              <a:rPr lang="en-US" sz="1200" b="1" dirty="0">
                <a:solidFill>
                  <a:srgbClr val="0F2F44"/>
                </a:solidFill>
                <a:latin typeface="Calibri" pitchFamily="34" charset="0"/>
                <a:ea typeface="Calibri" pitchFamily="34" charset="-122"/>
                <a:cs typeface="Calibri" pitchFamily="34" charset="-120"/>
              </a:rPr>
              <a:t>Link building</a:t>
            </a:r>
            <a:endParaRPr lang="en-US" sz="1200" dirty="0"/>
          </a:p>
        </p:txBody>
      </p:sp>
      <p:sp>
        <p:nvSpPr>
          <p:cNvPr id="21" name="Text 18"/>
          <p:cNvSpPr txBox="1"/>
          <p:nvPr/>
        </p:nvSpPr>
        <p:spPr>
          <a:xfrm>
            <a:off x="3871570" y="1609344"/>
            <a:ext cx="1371600" cy="512064"/>
          </a:xfrm>
          <a:prstGeom prst="rect">
            <a:avLst/>
          </a:prstGeom>
          <a:noFill/>
          <a:ln/>
        </p:spPr>
        <p:txBody>
          <a:bodyPr wrap="square" lIns="0" tIns="0" rIns="0" bIns="0" rtlCol="0" anchor="ctr"/>
          <a:lstStyle/>
          <a:p>
            <a:pPr marL="0" indent="0">
              <a:lnSpc>
                <a:spcPct val="100000"/>
              </a:lnSpc>
              <a:buNone/>
            </a:pPr>
            <a:r>
              <a:rPr lang="en-US" sz="900" dirty="0">
                <a:solidFill>
                  <a:srgbClr val="5B6B7C"/>
                </a:solidFill>
                <a:latin typeface="Calibri" pitchFamily="34" charset="0"/>
                <a:ea typeface="Calibri" pitchFamily="34" charset="-122"/>
                <a:cs typeface="Calibri" pitchFamily="34" charset="-120"/>
              </a:rPr>
              <a:t>Six typed edge kinds · 85,429 links, each with its evidence</a:t>
            </a:r>
            <a:endParaRPr lang="en-US" sz="900" dirty="0"/>
          </a:p>
        </p:txBody>
      </p:sp>
      <p:sp>
        <p:nvSpPr>
          <p:cNvPr id="22" name="Shape 19"/>
          <p:cNvSpPr/>
          <p:nvPr/>
        </p:nvSpPr>
        <p:spPr>
          <a:xfrm>
            <a:off x="5371186" y="1673352"/>
            <a:ext cx="82296" cy="109728"/>
          </a:xfrm>
          <a:prstGeom prst="rightArrow">
            <a:avLst/>
          </a:prstGeom>
          <a:solidFill>
            <a:srgbClr val="AEBBC8"/>
          </a:solidFill>
          <a:ln w="12700">
            <a:solidFill>
              <a:srgbClr val="AEBBC8"/>
            </a:solidFill>
            <a:prstDash val="solid"/>
          </a:ln>
        </p:spPr>
        <p:txBody>
          <a:bodyPr/>
          <a:lstStyle/>
          <a:p>
            <a:endParaRPr lang="en-US"/>
          </a:p>
        </p:txBody>
      </p:sp>
      <p:sp>
        <p:nvSpPr>
          <p:cNvPr id="23" name="Shape 20"/>
          <p:cNvSpPr/>
          <p:nvPr/>
        </p:nvSpPr>
        <p:spPr>
          <a:xfrm>
            <a:off x="5464454" y="1280160"/>
            <a:ext cx="1572768" cy="896112"/>
          </a:xfrm>
          <a:prstGeom prst="roundRect">
            <a:avLst>
              <a:gd name="adj" fmla="val 6122"/>
            </a:avLst>
          </a:prstGeom>
          <a:solidFill>
            <a:srgbClr val="FFFFFF"/>
          </a:solidFill>
          <a:ln w="9525">
            <a:solidFill>
              <a:srgbClr val="DCE3EC"/>
            </a:solidFill>
            <a:prstDash val="solid"/>
          </a:ln>
        </p:spPr>
        <p:txBody>
          <a:bodyPr/>
          <a:lstStyle/>
          <a:p>
            <a:endParaRPr lang="en-US"/>
          </a:p>
        </p:txBody>
      </p:sp>
      <p:sp>
        <p:nvSpPr>
          <p:cNvPr id="24" name="Shape 21"/>
          <p:cNvSpPr/>
          <p:nvPr/>
        </p:nvSpPr>
        <p:spPr>
          <a:xfrm>
            <a:off x="5565038" y="1353312"/>
            <a:ext cx="219456" cy="219456"/>
          </a:xfrm>
          <a:prstGeom prst="ellipse">
            <a:avLst/>
          </a:prstGeom>
          <a:solidFill>
            <a:srgbClr val="2FA8A0"/>
          </a:solidFill>
          <a:ln w="12700">
            <a:solidFill>
              <a:srgbClr val="2FA8A0"/>
            </a:solidFill>
            <a:prstDash val="solid"/>
          </a:ln>
        </p:spPr>
        <p:txBody>
          <a:bodyPr/>
          <a:lstStyle/>
          <a:p>
            <a:endParaRPr lang="en-US"/>
          </a:p>
        </p:txBody>
      </p:sp>
      <p:sp>
        <p:nvSpPr>
          <p:cNvPr id="25" name="Text 22"/>
          <p:cNvSpPr txBox="1"/>
          <p:nvPr/>
        </p:nvSpPr>
        <p:spPr>
          <a:xfrm>
            <a:off x="5565038" y="1353312"/>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6" name="Text 23"/>
          <p:cNvSpPr txBox="1"/>
          <p:nvPr/>
        </p:nvSpPr>
        <p:spPr>
          <a:xfrm>
            <a:off x="5839358" y="1353312"/>
            <a:ext cx="1115568" cy="219456"/>
          </a:xfrm>
          <a:prstGeom prst="rect">
            <a:avLst/>
          </a:prstGeom>
          <a:noFill/>
          <a:ln/>
        </p:spPr>
        <p:txBody>
          <a:bodyPr wrap="square" lIns="0" tIns="0" rIns="0" bIns="0" rtlCol="0" anchor="ctr"/>
          <a:lstStyle/>
          <a:p>
            <a:pPr marL="0" indent="0">
              <a:buNone/>
            </a:pPr>
            <a:r>
              <a:rPr lang="en-US" sz="1200" b="1" dirty="0">
                <a:solidFill>
                  <a:srgbClr val="0F2F44"/>
                </a:solidFill>
                <a:latin typeface="Calibri" pitchFamily="34" charset="0"/>
                <a:ea typeface="Calibri" pitchFamily="34" charset="-122"/>
                <a:cs typeface="Calibri" pitchFamily="34" charset="-120"/>
              </a:rPr>
              <a:t>Analytics</a:t>
            </a:r>
            <a:endParaRPr lang="en-US" sz="1200" dirty="0"/>
          </a:p>
        </p:txBody>
      </p:sp>
      <p:sp>
        <p:nvSpPr>
          <p:cNvPr id="27" name="Text 24"/>
          <p:cNvSpPr txBox="1"/>
          <p:nvPr/>
        </p:nvSpPr>
        <p:spPr>
          <a:xfrm>
            <a:off x="5565038" y="1609344"/>
            <a:ext cx="1371600" cy="512064"/>
          </a:xfrm>
          <a:prstGeom prst="rect">
            <a:avLst/>
          </a:prstGeom>
          <a:noFill/>
          <a:ln/>
        </p:spPr>
        <p:txBody>
          <a:bodyPr wrap="square" lIns="0" tIns="0" rIns="0" bIns="0" rtlCol="0" anchor="ctr"/>
          <a:lstStyle/>
          <a:p>
            <a:pPr marL="0" indent="0">
              <a:lnSpc>
                <a:spcPct val="100000"/>
              </a:lnSpc>
              <a:buNone/>
            </a:pPr>
            <a:r>
              <a:rPr lang="en-US" sz="900" dirty="0">
                <a:solidFill>
                  <a:srgbClr val="5B6B7C"/>
                </a:solidFill>
                <a:latin typeface="Calibri" pitchFamily="34" charset="0"/>
                <a:ea typeface="Calibri" pitchFamily="34" charset="-122"/>
                <a:cs typeface="Calibri" pitchFamily="34" charset="-120"/>
              </a:rPr>
              <a:t>Louvain communities · risk · health · DBSCAN · forecast</a:t>
            </a:r>
            <a:endParaRPr lang="en-US" sz="900" dirty="0"/>
          </a:p>
        </p:txBody>
      </p:sp>
      <p:sp>
        <p:nvSpPr>
          <p:cNvPr id="28" name="Shape 25"/>
          <p:cNvSpPr/>
          <p:nvPr/>
        </p:nvSpPr>
        <p:spPr>
          <a:xfrm>
            <a:off x="7064654" y="1673352"/>
            <a:ext cx="82296" cy="109728"/>
          </a:xfrm>
          <a:prstGeom prst="rightArrow">
            <a:avLst/>
          </a:prstGeom>
          <a:solidFill>
            <a:srgbClr val="AEBBC8"/>
          </a:solidFill>
          <a:ln w="12700">
            <a:solidFill>
              <a:srgbClr val="AEBBC8"/>
            </a:solidFill>
            <a:prstDash val="solid"/>
          </a:ln>
        </p:spPr>
        <p:txBody>
          <a:bodyPr/>
          <a:lstStyle/>
          <a:p>
            <a:endParaRPr lang="en-US"/>
          </a:p>
        </p:txBody>
      </p:sp>
      <p:sp>
        <p:nvSpPr>
          <p:cNvPr id="29" name="Shape 26"/>
          <p:cNvSpPr/>
          <p:nvPr/>
        </p:nvSpPr>
        <p:spPr>
          <a:xfrm>
            <a:off x="7157923" y="1280160"/>
            <a:ext cx="1572768" cy="896112"/>
          </a:xfrm>
          <a:prstGeom prst="roundRect">
            <a:avLst>
              <a:gd name="adj" fmla="val 6122"/>
            </a:avLst>
          </a:prstGeom>
          <a:solidFill>
            <a:srgbClr val="FFFFFF"/>
          </a:solidFill>
          <a:ln w="9525">
            <a:solidFill>
              <a:srgbClr val="DCE3EC"/>
            </a:solidFill>
            <a:prstDash val="solid"/>
          </a:ln>
        </p:spPr>
        <p:txBody>
          <a:bodyPr/>
          <a:lstStyle/>
          <a:p>
            <a:endParaRPr lang="en-US"/>
          </a:p>
        </p:txBody>
      </p:sp>
      <p:sp>
        <p:nvSpPr>
          <p:cNvPr id="30" name="Shape 27"/>
          <p:cNvSpPr/>
          <p:nvPr/>
        </p:nvSpPr>
        <p:spPr>
          <a:xfrm>
            <a:off x="7258507" y="1353312"/>
            <a:ext cx="219456" cy="219456"/>
          </a:xfrm>
          <a:prstGeom prst="ellipse">
            <a:avLst/>
          </a:prstGeom>
          <a:solidFill>
            <a:srgbClr val="6D4C9F"/>
          </a:solidFill>
          <a:ln w="12700">
            <a:solidFill>
              <a:srgbClr val="6D4C9F"/>
            </a:solidFill>
            <a:prstDash val="solid"/>
          </a:ln>
        </p:spPr>
        <p:txBody>
          <a:bodyPr/>
          <a:lstStyle/>
          <a:p>
            <a:endParaRPr lang="en-US"/>
          </a:p>
        </p:txBody>
      </p:sp>
      <p:sp>
        <p:nvSpPr>
          <p:cNvPr id="31" name="Text 28"/>
          <p:cNvSpPr txBox="1"/>
          <p:nvPr/>
        </p:nvSpPr>
        <p:spPr>
          <a:xfrm>
            <a:off x="7258507" y="1353312"/>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32" name="Text 29"/>
          <p:cNvSpPr txBox="1"/>
          <p:nvPr/>
        </p:nvSpPr>
        <p:spPr>
          <a:xfrm>
            <a:off x="7532827" y="1353312"/>
            <a:ext cx="1115568" cy="219456"/>
          </a:xfrm>
          <a:prstGeom prst="rect">
            <a:avLst/>
          </a:prstGeom>
          <a:noFill/>
          <a:ln/>
        </p:spPr>
        <p:txBody>
          <a:bodyPr wrap="square" lIns="0" tIns="0" rIns="0" bIns="0" rtlCol="0" anchor="ctr"/>
          <a:lstStyle/>
          <a:p>
            <a:pPr marL="0" indent="0">
              <a:buNone/>
            </a:pPr>
            <a:r>
              <a:rPr lang="en-US" sz="1200" b="1" dirty="0">
                <a:solidFill>
                  <a:srgbClr val="0F2F44"/>
                </a:solidFill>
                <a:latin typeface="Calibri" pitchFamily="34" charset="0"/>
                <a:ea typeface="Calibri" pitchFamily="34" charset="-122"/>
                <a:cs typeface="Calibri" pitchFamily="34" charset="-120"/>
              </a:rPr>
              <a:t>Delivery</a:t>
            </a:r>
            <a:endParaRPr lang="en-US" sz="1200" dirty="0"/>
          </a:p>
        </p:txBody>
      </p:sp>
      <p:sp>
        <p:nvSpPr>
          <p:cNvPr id="33" name="Text 30"/>
          <p:cNvSpPr txBox="1"/>
          <p:nvPr/>
        </p:nvSpPr>
        <p:spPr>
          <a:xfrm>
            <a:off x="7258507" y="1609344"/>
            <a:ext cx="1371600" cy="512064"/>
          </a:xfrm>
          <a:prstGeom prst="rect">
            <a:avLst/>
          </a:prstGeom>
          <a:noFill/>
          <a:ln/>
        </p:spPr>
        <p:txBody>
          <a:bodyPr wrap="square" lIns="0" tIns="0" rIns="0" bIns="0" rtlCol="0" anchor="ctr"/>
          <a:lstStyle/>
          <a:p>
            <a:pPr marL="0" indent="0">
              <a:lnSpc>
                <a:spcPct val="100000"/>
              </a:lnSpc>
              <a:buNone/>
            </a:pPr>
            <a:r>
              <a:rPr lang="en-US" sz="900" dirty="0">
                <a:solidFill>
                  <a:srgbClr val="5B6B7C"/>
                </a:solidFill>
                <a:latin typeface="Calibri" pitchFamily="34" charset="0"/>
                <a:ea typeface="Calibri" pitchFamily="34" charset="-122"/>
                <a:cs typeface="Calibri" pitchFamily="34" charset="-120"/>
              </a:rPr>
              <a:t>Precomputed read-model, served to the SPA in under 100 ms</a:t>
            </a:r>
            <a:endParaRPr lang="en-US" sz="900" dirty="0"/>
          </a:p>
        </p:txBody>
      </p:sp>
      <p:sp>
        <p:nvSpPr>
          <p:cNvPr id="34" name="Text 31"/>
          <p:cNvSpPr txBox="1"/>
          <p:nvPr/>
        </p:nvSpPr>
        <p:spPr>
          <a:xfrm>
            <a:off x="384048" y="2322576"/>
            <a:ext cx="8375904" cy="219456"/>
          </a:xfrm>
          <a:prstGeom prst="rect">
            <a:avLst/>
          </a:prstGeom>
          <a:noFill/>
          <a:ln/>
        </p:spPr>
        <p:txBody>
          <a:bodyPr wrap="square" lIns="0" tIns="0" rIns="0" bIns="0" rtlCol="0" anchor="ctr"/>
          <a:lstStyle/>
          <a:p>
            <a:pPr marL="0" indent="0">
              <a:buNone/>
            </a:pPr>
            <a:r>
              <a:rPr lang="en-US" sz="1200" b="1" dirty="0">
                <a:solidFill>
                  <a:srgbClr val="0F2F44"/>
                </a:solidFill>
                <a:latin typeface="Calibri" pitchFamily="34" charset="0"/>
                <a:ea typeface="Calibri" pitchFamily="34" charset="-122"/>
                <a:cs typeface="Calibri" pitchFamily="34" charset="-120"/>
              </a:rPr>
              <a:t>Where each stage runs — and why the platform forces the split</a:t>
            </a:r>
            <a:endParaRPr lang="en-US" sz="1200" dirty="0"/>
          </a:p>
        </p:txBody>
      </p:sp>
      <p:sp>
        <p:nvSpPr>
          <p:cNvPr id="35" name="Shape 32"/>
          <p:cNvSpPr/>
          <p:nvPr/>
        </p:nvSpPr>
        <p:spPr>
          <a:xfrm>
            <a:off x="384048" y="2596896"/>
            <a:ext cx="2688336" cy="950976"/>
          </a:xfrm>
          <a:prstGeom prst="roundRect">
            <a:avLst>
              <a:gd name="adj" fmla="val 5769"/>
            </a:avLst>
          </a:prstGeom>
          <a:solidFill>
            <a:srgbClr val="F0EBF8"/>
          </a:solidFill>
          <a:ln w="9525">
            <a:solidFill>
              <a:srgbClr val="DCE3EC"/>
            </a:solidFill>
            <a:prstDash val="solid"/>
          </a:ln>
        </p:spPr>
        <p:txBody>
          <a:bodyPr/>
          <a:lstStyle/>
          <a:p>
            <a:endParaRPr lang="en-US"/>
          </a:p>
        </p:txBody>
      </p:sp>
      <p:sp>
        <p:nvSpPr>
          <p:cNvPr id="36" name="Text 33"/>
          <p:cNvSpPr txBox="1"/>
          <p:nvPr/>
        </p:nvSpPr>
        <p:spPr>
          <a:xfrm>
            <a:off x="484632" y="2660904"/>
            <a:ext cx="2487168" cy="182880"/>
          </a:xfrm>
          <a:prstGeom prst="rect">
            <a:avLst/>
          </a:prstGeom>
          <a:noFill/>
          <a:ln/>
        </p:spPr>
        <p:txBody>
          <a:bodyPr wrap="square" lIns="0" tIns="0" rIns="0" bIns="0" rtlCol="0" anchor="t"/>
          <a:lstStyle/>
          <a:p>
            <a:pPr marL="0" indent="0">
              <a:buNone/>
            </a:pPr>
            <a:r>
              <a:rPr lang="en-US" sz="1100" b="1" dirty="0">
                <a:solidFill>
                  <a:srgbClr val="6D4C9F"/>
                </a:solidFill>
                <a:latin typeface="Calibri" pitchFamily="34" charset="0"/>
                <a:ea typeface="Calibri" pitchFamily="34" charset="-122"/>
                <a:cs typeface="Calibri" pitchFamily="34" charset="-120"/>
              </a:rPr>
              <a:t>Catalyst Job · nightly 02:00 IST</a:t>
            </a:r>
            <a:endParaRPr lang="en-US" sz="1100" dirty="0"/>
          </a:p>
        </p:txBody>
      </p:sp>
      <p:sp>
        <p:nvSpPr>
          <p:cNvPr id="37" name="Text 34"/>
          <p:cNvSpPr txBox="1"/>
          <p:nvPr/>
        </p:nvSpPr>
        <p:spPr>
          <a:xfrm>
            <a:off x="484632" y="2921274"/>
            <a:ext cx="2487168" cy="640080"/>
          </a:xfrm>
          <a:prstGeom prst="rect">
            <a:avLst/>
          </a:prstGeom>
          <a:noFill/>
          <a:ln/>
        </p:spPr>
        <p:txBody>
          <a:bodyPr wrap="square" lIns="0" tIns="0" rIns="0" bIns="0" rtlCol="0" anchor="t"/>
          <a:lstStyle/>
          <a:p>
            <a:pPr marL="0" indent="0">
              <a:lnSpc>
                <a:spcPct val="102000"/>
              </a:lnSpc>
              <a:buNone/>
            </a:pPr>
            <a:r>
              <a:rPr lang="en-US" sz="950" dirty="0">
                <a:solidFill>
                  <a:srgbClr val="5B6B7C"/>
                </a:solidFill>
                <a:latin typeface="Calibri" pitchFamily="34" charset="0"/>
                <a:ea typeface="Calibri" pitchFamily="34" charset="-122"/>
                <a:cs typeface="Calibri" pitchFamily="34" charset="-120"/>
              </a:rPr>
              <a:t>A 15-minute budget. Entity resolution, graph build, Louvain, risk, health, DBSCAN and forecast — 24.6 s at 738 MB peak.</a:t>
            </a:r>
            <a:endParaRPr lang="en-US" sz="950" dirty="0"/>
          </a:p>
        </p:txBody>
      </p:sp>
      <p:sp>
        <p:nvSpPr>
          <p:cNvPr id="38" name="Shape 35"/>
          <p:cNvSpPr/>
          <p:nvPr/>
        </p:nvSpPr>
        <p:spPr>
          <a:xfrm>
            <a:off x="3209544" y="2596896"/>
            <a:ext cx="2688336" cy="950976"/>
          </a:xfrm>
          <a:prstGeom prst="roundRect">
            <a:avLst>
              <a:gd name="adj" fmla="val 5769"/>
            </a:avLst>
          </a:prstGeom>
          <a:solidFill>
            <a:srgbClr val="E4F5F3"/>
          </a:solidFill>
          <a:ln w="9525">
            <a:solidFill>
              <a:srgbClr val="DCE3EC"/>
            </a:solidFill>
            <a:prstDash val="solid"/>
          </a:ln>
        </p:spPr>
        <p:txBody>
          <a:bodyPr/>
          <a:lstStyle/>
          <a:p>
            <a:endParaRPr lang="en-US"/>
          </a:p>
        </p:txBody>
      </p:sp>
      <p:sp>
        <p:nvSpPr>
          <p:cNvPr id="39" name="Text 36"/>
          <p:cNvSpPr txBox="1"/>
          <p:nvPr/>
        </p:nvSpPr>
        <p:spPr>
          <a:xfrm>
            <a:off x="3310128" y="2660904"/>
            <a:ext cx="2487168" cy="182880"/>
          </a:xfrm>
          <a:prstGeom prst="rect">
            <a:avLst/>
          </a:prstGeom>
          <a:noFill/>
          <a:ln/>
        </p:spPr>
        <p:txBody>
          <a:bodyPr wrap="square" lIns="0" tIns="0" rIns="0" bIns="0" rtlCol="0" anchor="t"/>
          <a:lstStyle/>
          <a:p>
            <a:pPr marL="0" indent="0">
              <a:buNone/>
            </a:pPr>
            <a:r>
              <a:rPr lang="en-US" sz="1100" b="1" dirty="0">
                <a:solidFill>
                  <a:srgbClr val="2FA8A0"/>
                </a:solidFill>
                <a:latin typeface="Calibri" pitchFamily="34" charset="0"/>
                <a:ea typeface="Calibri" pitchFamily="34" charset="-122"/>
                <a:cs typeface="Calibri" pitchFamily="34" charset="-120"/>
              </a:rPr>
              <a:t>Function / AppSail · on request</a:t>
            </a:r>
            <a:endParaRPr lang="en-US" sz="1100" dirty="0"/>
          </a:p>
        </p:txBody>
      </p:sp>
      <p:sp>
        <p:nvSpPr>
          <p:cNvPr id="40" name="Text 37"/>
          <p:cNvSpPr txBox="1"/>
          <p:nvPr/>
        </p:nvSpPr>
        <p:spPr>
          <a:xfrm>
            <a:off x="3310128" y="2921274"/>
            <a:ext cx="2487168" cy="640080"/>
          </a:xfrm>
          <a:prstGeom prst="rect">
            <a:avLst/>
          </a:prstGeom>
          <a:noFill/>
          <a:ln/>
        </p:spPr>
        <p:txBody>
          <a:bodyPr wrap="square" lIns="0" tIns="0" rIns="0" bIns="0" rtlCol="0" anchor="t"/>
          <a:lstStyle/>
          <a:p>
            <a:pPr marL="0" indent="0">
              <a:lnSpc>
                <a:spcPct val="102000"/>
              </a:lnSpc>
              <a:buNone/>
            </a:pPr>
            <a:r>
              <a:rPr lang="en-US" sz="950" dirty="0">
                <a:solidFill>
                  <a:srgbClr val="5B6B7C"/>
                </a:solidFill>
                <a:latin typeface="Calibri" pitchFamily="34" charset="0"/>
                <a:ea typeface="Calibri" pitchFamily="34" charset="-122"/>
                <a:cs typeface="Calibri" pitchFamily="34" charset="-120"/>
              </a:rPr>
              <a:t>Node 20, 512 MB. Reads what the Job already wrote and answers in under 100 ms. AppSail returns per-capita and forecast in ~135 ms.</a:t>
            </a:r>
            <a:endParaRPr lang="en-US" sz="950" dirty="0"/>
          </a:p>
        </p:txBody>
      </p:sp>
      <p:sp>
        <p:nvSpPr>
          <p:cNvPr id="41" name="Shape 38"/>
          <p:cNvSpPr/>
          <p:nvPr/>
        </p:nvSpPr>
        <p:spPr>
          <a:xfrm>
            <a:off x="6035040" y="2596896"/>
            <a:ext cx="2688336" cy="950976"/>
          </a:xfrm>
          <a:prstGeom prst="roundRect">
            <a:avLst>
              <a:gd name="adj" fmla="val 5769"/>
            </a:avLst>
          </a:prstGeom>
          <a:solidFill>
            <a:srgbClr val="EAF2FB"/>
          </a:solidFill>
          <a:ln w="9525">
            <a:solidFill>
              <a:srgbClr val="DCE3EC"/>
            </a:solidFill>
            <a:prstDash val="solid"/>
          </a:ln>
        </p:spPr>
        <p:txBody>
          <a:bodyPr/>
          <a:lstStyle/>
          <a:p>
            <a:endParaRPr lang="en-US"/>
          </a:p>
        </p:txBody>
      </p:sp>
      <p:sp>
        <p:nvSpPr>
          <p:cNvPr id="42" name="Text 39"/>
          <p:cNvSpPr txBox="1"/>
          <p:nvPr/>
        </p:nvSpPr>
        <p:spPr>
          <a:xfrm>
            <a:off x="6135624" y="2660904"/>
            <a:ext cx="2487168" cy="182880"/>
          </a:xfrm>
          <a:prstGeom prst="rect">
            <a:avLst/>
          </a:prstGeom>
          <a:noFill/>
          <a:ln/>
        </p:spPr>
        <p:txBody>
          <a:bodyPr wrap="square" lIns="0" tIns="0" rIns="0" bIns="0" rtlCol="0" anchor="t"/>
          <a:lstStyle/>
          <a:p>
            <a:pPr marL="0" indent="0">
              <a:buNone/>
            </a:pPr>
            <a:r>
              <a:rPr lang="en-US" sz="1100" b="1" dirty="0">
                <a:solidFill>
                  <a:srgbClr val="1A6FC4"/>
                </a:solidFill>
                <a:latin typeface="Calibri" pitchFamily="34" charset="0"/>
                <a:ea typeface="Calibri" pitchFamily="34" charset="-122"/>
                <a:cs typeface="Calibri" pitchFamily="34" charset="-120"/>
              </a:rPr>
              <a:t>Browser · instant</a:t>
            </a:r>
            <a:endParaRPr lang="en-US" sz="1100" dirty="0"/>
          </a:p>
        </p:txBody>
      </p:sp>
      <p:sp>
        <p:nvSpPr>
          <p:cNvPr id="43" name="Text 40"/>
          <p:cNvSpPr txBox="1"/>
          <p:nvPr/>
        </p:nvSpPr>
        <p:spPr>
          <a:xfrm>
            <a:off x="6135624" y="2921274"/>
            <a:ext cx="2487168" cy="640080"/>
          </a:xfrm>
          <a:prstGeom prst="rect">
            <a:avLst/>
          </a:prstGeom>
          <a:noFill/>
          <a:ln/>
        </p:spPr>
        <p:txBody>
          <a:bodyPr wrap="square" lIns="0" tIns="0" rIns="0" bIns="0" rtlCol="0" anchor="t"/>
          <a:lstStyle/>
          <a:p>
            <a:pPr marL="0" indent="0">
              <a:lnSpc>
                <a:spcPct val="102000"/>
              </a:lnSpc>
              <a:buNone/>
            </a:pPr>
            <a:r>
              <a:rPr lang="en-US" sz="950" dirty="0">
                <a:solidFill>
                  <a:srgbClr val="5B6B7C"/>
                </a:solidFill>
                <a:latin typeface="Calibri" pitchFamily="34" charset="0"/>
                <a:ea typeface="Calibri" pitchFamily="34" charset="-122"/>
                <a:cs typeface="Calibri" pitchFamily="34" charset="-120"/>
              </a:rPr>
              <a:t>The SPA reads a precomputed read-model. No screen ever waits on a model, because no model runs behind an HTTP request.</a:t>
            </a:r>
            <a:endParaRPr lang="en-US" sz="950" dirty="0"/>
          </a:p>
        </p:txBody>
      </p:sp>
      <p:sp>
        <p:nvSpPr>
          <p:cNvPr id="44" name="Shape 41"/>
          <p:cNvSpPr/>
          <p:nvPr/>
        </p:nvSpPr>
        <p:spPr>
          <a:xfrm>
            <a:off x="384048" y="3694176"/>
            <a:ext cx="8375904" cy="658368"/>
          </a:xfrm>
          <a:prstGeom prst="roundRect">
            <a:avLst>
              <a:gd name="adj" fmla="val 8333"/>
            </a:avLst>
          </a:prstGeom>
          <a:solidFill>
            <a:srgbClr val="FDF1E4"/>
          </a:solidFill>
          <a:ln w="9525">
            <a:solidFill>
              <a:srgbClr val="F0D9BE"/>
            </a:solidFill>
            <a:prstDash val="solid"/>
          </a:ln>
        </p:spPr>
        <p:txBody>
          <a:bodyPr/>
          <a:lstStyle/>
          <a:p>
            <a:endParaRPr lang="en-US"/>
          </a:p>
        </p:txBody>
      </p:sp>
      <p:sp>
        <p:nvSpPr>
          <p:cNvPr id="45" name="Text 42"/>
          <p:cNvSpPr txBox="1"/>
          <p:nvPr/>
        </p:nvSpPr>
        <p:spPr>
          <a:xfrm>
            <a:off x="512064" y="3767328"/>
            <a:ext cx="8119872" cy="530352"/>
          </a:xfrm>
          <a:prstGeom prst="rect">
            <a:avLst/>
          </a:prstGeom>
          <a:noFill/>
          <a:ln/>
        </p:spPr>
        <p:txBody>
          <a:bodyPr wrap="square" lIns="0" tIns="0" rIns="0" bIns="0" rtlCol="0" anchor="t"/>
          <a:lstStyle/>
          <a:p>
            <a:pPr marL="0" indent="0">
              <a:lnSpc>
                <a:spcPct val="102000"/>
              </a:lnSpc>
              <a:buNone/>
            </a:pPr>
            <a:r>
              <a:rPr lang="en-US" sz="1050" b="1" dirty="0">
                <a:solidFill>
                  <a:srgbClr val="E8871E"/>
                </a:solidFill>
                <a:latin typeface="Calibri" pitchFamily="34" charset="0"/>
                <a:ea typeface="Calibri" pitchFamily="34" charset="-122"/>
                <a:cs typeface="Calibri" pitchFamily="34" charset="-120"/>
              </a:rPr>
              <a:t>The constraint that shaped everything:  </a:t>
            </a:r>
            <a:r>
              <a:rPr lang="en-US" sz="1050" dirty="0">
                <a:solidFill>
                  <a:srgbClr val="5B6B7C"/>
                </a:solidFill>
                <a:latin typeface="Calibri" pitchFamily="34" charset="0"/>
                <a:ea typeface="Calibri" pitchFamily="34" charset="-122"/>
                <a:cs typeface="Calibri" pitchFamily="34" charset="-120"/>
              </a:rPr>
              <a:t>Catalyst Functions and AppSail both cap a request at 30 seconds — confirmed with the Zoho team in the Datathon workshop, and not raisable. Only Jobs get 15 minutes. So the pipeline runs nightly as a Job and the web tier only ever reads what it wrote. That single decision is why every screen loads instantly instead of waiting on a model.</a:t>
            </a:r>
            <a:endParaRPr lang="en-US" sz="1050" dirty="0"/>
          </a:p>
        </p:txBody>
      </p:sp>
      <p:sp>
        <p:nvSpPr>
          <p:cNvPr id="46" name="Text 43"/>
          <p:cNvSpPr txBox="1"/>
          <p:nvPr/>
        </p:nvSpPr>
        <p:spPr>
          <a:xfrm>
            <a:off x="384048" y="4443984"/>
            <a:ext cx="1572768" cy="274320"/>
          </a:xfrm>
          <a:prstGeom prst="rect">
            <a:avLst/>
          </a:prstGeom>
          <a:noFill/>
          <a:ln/>
        </p:spPr>
        <p:txBody>
          <a:bodyPr wrap="square" lIns="0" tIns="0" rIns="0" bIns="0" rtlCol="0" anchor="ctr"/>
          <a:lstStyle/>
          <a:p>
            <a:pPr marL="0" indent="0">
              <a:buNone/>
            </a:pPr>
            <a:r>
              <a:rPr lang="en-US" sz="1200" b="1" dirty="0">
                <a:solidFill>
                  <a:srgbClr val="0F2F44"/>
                </a:solidFill>
                <a:latin typeface="Calibri" pitchFamily="34" charset="0"/>
                <a:ea typeface="Calibri" pitchFamily="34" charset="-122"/>
                <a:cs typeface="Calibri" pitchFamily="34" charset="-120"/>
              </a:rPr>
              <a:t>24.6 s</a:t>
            </a:r>
            <a:r>
              <a:rPr lang="en-US" sz="1200" dirty="0">
                <a:solidFill>
                  <a:srgbClr val="5B6B7C"/>
                </a:solidFill>
                <a:latin typeface="Calibri" pitchFamily="34" charset="0"/>
                <a:ea typeface="Calibri" pitchFamily="34" charset="-122"/>
                <a:cs typeface="Calibri" pitchFamily="34" charset="-120"/>
              </a:rPr>
              <a:t>   </a:t>
            </a:r>
            <a:r>
              <a:rPr lang="en-US" sz="1000" dirty="0">
                <a:solidFill>
                  <a:srgbClr val="5B6B7C"/>
                </a:solidFill>
                <a:latin typeface="Calibri" pitchFamily="34" charset="0"/>
                <a:ea typeface="Calibri" pitchFamily="34" charset="-122"/>
                <a:cs typeface="Calibri" pitchFamily="34" charset="-120"/>
              </a:rPr>
              <a:t>full pipeline run</a:t>
            </a:r>
            <a:endParaRPr lang="en-US" sz="1000" dirty="0"/>
          </a:p>
        </p:txBody>
      </p:sp>
      <p:sp>
        <p:nvSpPr>
          <p:cNvPr id="47" name="Text 44"/>
          <p:cNvSpPr txBox="1"/>
          <p:nvPr/>
        </p:nvSpPr>
        <p:spPr>
          <a:xfrm>
            <a:off x="2097634" y="4443984"/>
            <a:ext cx="2048256" cy="414735"/>
          </a:xfrm>
          <a:prstGeom prst="rect">
            <a:avLst/>
          </a:prstGeom>
          <a:noFill/>
          <a:ln/>
        </p:spPr>
        <p:txBody>
          <a:bodyPr wrap="square" lIns="0" tIns="0" rIns="0" bIns="0" rtlCol="0" anchor="ctr"/>
          <a:lstStyle/>
          <a:p>
            <a:pPr marL="0" indent="0">
              <a:buNone/>
            </a:pPr>
            <a:r>
              <a:rPr lang="en-US" sz="1200" b="1" dirty="0">
                <a:solidFill>
                  <a:srgbClr val="0F2F44"/>
                </a:solidFill>
                <a:latin typeface="Calibri" pitchFamily="34" charset="0"/>
                <a:ea typeface="Calibri" pitchFamily="34" charset="-122"/>
                <a:cs typeface="Calibri" pitchFamily="34" charset="-120"/>
              </a:rPr>
              <a:t>738 MB</a:t>
            </a:r>
            <a:r>
              <a:rPr lang="en-US" sz="1200" dirty="0">
                <a:solidFill>
                  <a:srgbClr val="5B6B7C"/>
                </a:solidFill>
                <a:latin typeface="Calibri" pitchFamily="34" charset="0"/>
                <a:ea typeface="Calibri" pitchFamily="34" charset="-122"/>
                <a:cs typeface="Calibri" pitchFamily="34" charset="-120"/>
              </a:rPr>
              <a:t>   </a:t>
            </a:r>
            <a:r>
              <a:rPr lang="en-US" sz="1000" dirty="0">
                <a:solidFill>
                  <a:srgbClr val="5B6B7C"/>
                </a:solidFill>
                <a:latin typeface="Calibri" pitchFamily="34" charset="0"/>
                <a:ea typeface="Calibri" pitchFamily="34" charset="-122"/>
                <a:cs typeface="Calibri" pitchFamily="34" charset="-120"/>
              </a:rPr>
              <a:t>peak memory, under the 	512 MB cap</a:t>
            </a:r>
            <a:endParaRPr lang="en-US" sz="1000" dirty="0"/>
          </a:p>
        </p:txBody>
      </p:sp>
      <p:sp>
        <p:nvSpPr>
          <p:cNvPr id="48" name="Text 45"/>
          <p:cNvSpPr txBox="1"/>
          <p:nvPr/>
        </p:nvSpPr>
        <p:spPr>
          <a:xfrm>
            <a:off x="4626864" y="4443984"/>
            <a:ext cx="2048256" cy="274320"/>
          </a:xfrm>
          <a:prstGeom prst="rect">
            <a:avLst/>
          </a:prstGeom>
          <a:noFill/>
          <a:ln/>
        </p:spPr>
        <p:txBody>
          <a:bodyPr wrap="square" lIns="0" tIns="0" rIns="0" bIns="0" rtlCol="0" anchor="ctr"/>
          <a:lstStyle/>
          <a:p>
            <a:pPr marL="0" indent="0">
              <a:buNone/>
            </a:pPr>
            <a:r>
              <a:rPr lang="en-US" sz="1200" b="1" dirty="0">
                <a:solidFill>
                  <a:srgbClr val="0F2F44"/>
                </a:solidFill>
                <a:latin typeface="Calibri" pitchFamily="34" charset="0"/>
                <a:ea typeface="Calibri" pitchFamily="34" charset="-122"/>
                <a:cs typeface="Calibri" pitchFamily="34" charset="-120"/>
              </a:rPr>
              <a:t>135 ms</a:t>
            </a:r>
            <a:r>
              <a:rPr lang="en-US" sz="1200" dirty="0">
                <a:solidFill>
                  <a:srgbClr val="5B6B7C"/>
                </a:solidFill>
                <a:latin typeface="Calibri" pitchFamily="34" charset="0"/>
                <a:ea typeface="Calibri" pitchFamily="34" charset="-122"/>
                <a:cs typeface="Calibri" pitchFamily="34" charset="-120"/>
              </a:rPr>
              <a:t>   </a:t>
            </a:r>
            <a:r>
              <a:rPr lang="en-US" sz="1000" dirty="0">
                <a:solidFill>
                  <a:srgbClr val="5B6B7C"/>
                </a:solidFill>
                <a:latin typeface="Calibri" pitchFamily="34" charset="0"/>
                <a:ea typeface="Calibri" pitchFamily="34" charset="-122"/>
                <a:cs typeface="Calibri" pitchFamily="34" charset="-120"/>
              </a:rPr>
              <a:t>AppSail analytics</a:t>
            </a:r>
            <a:endParaRPr lang="en-US" sz="1000" dirty="0"/>
          </a:p>
        </p:txBody>
      </p:sp>
      <p:sp>
        <p:nvSpPr>
          <p:cNvPr id="49" name="Text 46"/>
          <p:cNvSpPr txBox="1"/>
          <p:nvPr/>
        </p:nvSpPr>
        <p:spPr>
          <a:xfrm>
            <a:off x="6748272" y="4443984"/>
            <a:ext cx="2048256" cy="274320"/>
          </a:xfrm>
          <a:prstGeom prst="rect">
            <a:avLst/>
          </a:prstGeom>
          <a:noFill/>
          <a:ln/>
        </p:spPr>
        <p:txBody>
          <a:bodyPr wrap="square" lIns="0" tIns="0" rIns="0" bIns="0" rtlCol="0" anchor="ctr"/>
          <a:lstStyle/>
          <a:p>
            <a:pPr marL="0" indent="0">
              <a:buNone/>
            </a:pPr>
            <a:r>
              <a:rPr lang="en-US" sz="1200" b="1" dirty="0">
                <a:solidFill>
                  <a:srgbClr val="0F2F44"/>
                </a:solidFill>
                <a:latin typeface="Calibri" pitchFamily="34" charset="0"/>
                <a:ea typeface="Calibri" pitchFamily="34" charset="-122"/>
                <a:cs typeface="Calibri" pitchFamily="34" charset="-120"/>
              </a:rPr>
              <a:t>&lt; 100 ms</a:t>
            </a:r>
            <a:r>
              <a:rPr lang="en-US" sz="1200" dirty="0">
                <a:solidFill>
                  <a:srgbClr val="5B6B7C"/>
                </a:solidFill>
                <a:latin typeface="Calibri" pitchFamily="34" charset="0"/>
                <a:ea typeface="Calibri" pitchFamily="34" charset="-122"/>
                <a:cs typeface="Calibri" pitchFamily="34" charset="-120"/>
              </a:rPr>
              <a:t>   </a:t>
            </a:r>
            <a:r>
              <a:rPr lang="en-US" sz="1000" dirty="0">
                <a:solidFill>
                  <a:srgbClr val="5B6B7C"/>
                </a:solidFill>
                <a:latin typeface="Calibri" pitchFamily="34" charset="0"/>
                <a:ea typeface="Calibri" pitchFamily="34" charset="-122"/>
                <a:cs typeface="Calibri" pitchFamily="34" charset="-120"/>
              </a:rPr>
              <a:t>typical API response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ivate/tmp/claude-501/-Users-adarsh-Desktop-Projects-KadiLabs/1a0b3114-7a5c-4b08-a5d4-f9d8371eeea4/scratchpad/deck/bg-content.png"/>
          <p:cNvPicPr>
            <a:picLocks noChangeAspect="1"/>
          </p:cNvPicPr>
          <p:nvPr/>
        </p:nvPicPr>
        <p:blipFill>
          <a:blip r:embed="rId3"/>
          <a:stretch>
            <a:fillRect/>
          </a:stretch>
        </p:blipFill>
        <p:spPr>
          <a:xfrm>
            <a:off x="0" y="0"/>
            <a:ext cx="9144000" cy="5143500"/>
          </a:xfrm>
          <a:prstGeom prst="rect">
            <a:avLst/>
          </a:prstGeom>
        </p:spPr>
      </p:pic>
      <p:sp>
        <p:nvSpPr>
          <p:cNvPr id="3" name="Text 0"/>
          <p:cNvSpPr txBox="1"/>
          <p:nvPr/>
        </p:nvSpPr>
        <p:spPr>
          <a:xfrm>
            <a:off x="384048" y="603504"/>
            <a:ext cx="8375904" cy="365760"/>
          </a:xfrm>
          <a:prstGeom prst="rect">
            <a:avLst/>
          </a:prstGeom>
          <a:noFill/>
          <a:ln/>
        </p:spPr>
        <p:txBody>
          <a:bodyPr wrap="square" lIns="0" tIns="0" rIns="0" bIns="0" rtlCol="0" anchor="t"/>
          <a:lstStyle/>
          <a:p>
            <a:pPr marL="0" indent="0">
              <a:buNone/>
            </a:pPr>
            <a:r>
              <a:rPr lang="en-US" sz="2100" b="1" dirty="0">
                <a:solidFill>
                  <a:srgbClr val="0F2F44"/>
                </a:solidFill>
                <a:latin typeface="Calibri" pitchFamily="34" charset="0"/>
                <a:ea typeface="Calibri" pitchFamily="34" charset="-122"/>
                <a:cs typeface="Calibri" pitchFamily="34" charset="-120"/>
              </a:rPr>
              <a:t>Wireframes of the proposed solution</a:t>
            </a:r>
            <a:endParaRPr lang="en-US" sz="2100" dirty="0"/>
          </a:p>
        </p:txBody>
      </p:sp>
      <p:sp>
        <p:nvSpPr>
          <p:cNvPr id="4" name="Text 1"/>
          <p:cNvSpPr txBox="1"/>
          <p:nvPr/>
        </p:nvSpPr>
        <p:spPr>
          <a:xfrm>
            <a:off x="384048" y="969264"/>
            <a:ext cx="8375904" cy="237744"/>
          </a:xfrm>
          <a:prstGeom prst="rect">
            <a:avLst/>
          </a:prstGeom>
          <a:noFill/>
          <a:ln/>
        </p:spPr>
        <p:txBody>
          <a:bodyPr wrap="square" lIns="0" tIns="0" rIns="0" bIns="0" rtlCol="0" anchor="t"/>
          <a:lstStyle/>
          <a:p>
            <a:pPr marL="0" indent="0">
              <a:buNone/>
            </a:pPr>
            <a:r>
              <a:rPr lang="en-US" sz="1050" b="1" dirty="0">
                <a:solidFill>
                  <a:srgbClr val="5B6B7C"/>
                </a:solidFill>
                <a:latin typeface="Calibri" pitchFamily="34" charset="0"/>
                <a:ea typeface="Calibri" pitchFamily="34" charset="-122"/>
                <a:cs typeface="Calibri" pitchFamily="34" charset="-120"/>
              </a:rPr>
              <a:t>Not wireframes </a:t>
            </a:r>
            <a:r>
              <a:rPr lang="en-US" sz="1050" dirty="0">
                <a:solidFill>
                  <a:srgbClr val="5B6B7C"/>
                </a:solidFill>
                <a:latin typeface="Calibri" pitchFamily="34" charset="0"/>
                <a:ea typeface="Calibri" pitchFamily="34" charset="-122"/>
                <a:cs typeface="Calibri" pitchFamily="34" charset="-120"/>
              </a:rPr>
              <a:t>— the deployed build. Eight of nineteen screens, captured </a:t>
            </a:r>
            <a:r>
              <a:rPr lang="en-US" sz="1050" b="1" u="sng" dirty="0">
                <a:solidFill>
                  <a:srgbClr val="5B6B7C"/>
                </a:solidFill>
                <a:latin typeface="Calibri" pitchFamily="34" charset="0"/>
                <a:ea typeface="Calibri" pitchFamily="34" charset="-122"/>
                <a:cs typeface="Calibri" pitchFamily="34" charset="-120"/>
              </a:rPr>
              <a:t>live</a:t>
            </a:r>
            <a:r>
              <a:rPr lang="en-US" sz="1050" dirty="0">
                <a:solidFill>
                  <a:srgbClr val="5B6B7C"/>
                </a:solidFill>
                <a:latin typeface="Calibri" pitchFamily="34" charset="0"/>
                <a:ea typeface="Calibri" pitchFamily="34" charset="-122"/>
                <a:cs typeface="Calibri" pitchFamily="34" charset="-120"/>
              </a:rPr>
              <a:t> at 3000 x 1880.</a:t>
            </a:r>
            <a:endParaRPr lang="en-US" sz="1050" dirty="0"/>
          </a:p>
        </p:txBody>
      </p:sp>
      <p:sp>
        <p:nvSpPr>
          <p:cNvPr id="5" name="Shape 2"/>
          <p:cNvSpPr/>
          <p:nvPr/>
        </p:nvSpPr>
        <p:spPr>
          <a:xfrm>
            <a:off x="365760" y="1207008"/>
            <a:ext cx="1924812" cy="1219904"/>
          </a:xfrm>
          <a:prstGeom prst="roundRect">
            <a:avLst>
              <a:gd name="adj" fmla="val 2998"/>
            </a:avLst>
          </a:prstGeom>
          <a:solidFill>
            <a:srgbClr val="FFFFFF"/>
          </a:solidFill>
          <a:ln w="9525">
            <a:solidFill>
              <a:srgbClr val="DCE3EC"/>
            </a:solidFill>
            <a:prstDash val="solid"/>
          </a:ln>
        </p:spPr>
        <p:txBody>
          <a:bodyPr/>
          <a:lstStyle/>
          <a:p>
            <a:endParaRPr lang="en-US"/>
          </a:p>
        </p:txBody>
      </p:sp>
      <p:pic>
        <p:nvPicPr>
          <p:cNvPr id="6" name="Image 1" descr="/private/tmp/claude-501/-Users-adarsh-Desktop-Projects-KadiLabs/1a0b3114-7a5c-4b08-a5d4-f9d8371eeea4/scratchpad/deck/../shots/out/login.png"/>
          <p:cNvPicPr>
            <a:picLocks noChangeAspect="1"/>
          </p:cNvPicPr>
          <p:nvPr/>
        </p:nvPicPr>
        <p:blipFill>
          <a:blip r:embed="rId4"/>
          <a:stretch>
            <a:fillRect/>
          </a:stretch>
        </p:blipFill>
        <p:spPr>
          <a:xfrm>
            <a:off x="384048" y="1225296"/>
            <a:ext cx="1888236" cy="1183328"/>
          </a:xfrm>
          <a:prstGeom prst="rect">
            <a:avLst/>
          </a:prstGeom>
        </p:spPr>
      </p:pic>
      <p:sp>
        <p:nvSpPr>
          <p:cNvPr id="7" name="Shape 3"/>
          <p:cNvSpPr/>
          <p:nvPr/>
        </p:nvSpPr>
        <p:spPr>
          <a:xfrm>
            <a:off x="448056" y="2143448"/>
            <a:ext cx="1229868" cy="201168"/>
          </a:xfrm>
          <a:prstGeom prst="roundRect">
            <a:avLst>
              <a:gd name="adj" fmla="val 45455"/>
            </a:avLst>
          </a:prstGeom>
          <a:solidFill>
            <a:srgbClr val="0F2F44"/>
          </a:solidFill>
          <a:ln w="12700">
            <a:solidFill>
              <a:srgbClr val="0F2F44"/>
            </a:solidFill>
            <a:prstDash val="solid"/>
          </a:ln>
        </p:spPr>
        <p:txBody>
          <a:bodyPr/>
          <a:lstStyle/>
          <a:p>
            <a:endParaRPr lang="en-US"/>
          </a:p>
        </p:txBody>
      </p:sp>
      <p:sp>
        <p:nvSpPr>
          <p:cNvPr id="8" name="Text 4"/>
          <p:cNvSpPr txBox="1"/>
          <p:nvPr/>
        </p:nvSpPr>
        <p:spPr>
          <a:xfrm>
            <a:off x="448056" y="2143448"/>
            <a:ext cx="1229868" cy="201168"/>
          </a:xfrm>
          <a:prstGeom prst="rect">
            <a:avLst/>
          </a:prstGeom>
          <a:noFill/>
          <a:ln/>
        </p:spPr>
        <p:txBody>
          <a:bodyPr wrap="square" lIns="0" tIns="0" rIns="0" bIns="0" rtlCol="0" anchor="ctr"/>
          <a:lstStyle/>
          <a:p>
            <a:pPr marL="0" indent="0" algn="ctr">
              <a:buNone/>
            </a:pPr>
            <a:r>
              <a:rPr lang="en-US" sz="760" b="1" dirty="0">
                <a:solidFill>
                  <a:srgbClr val="FFFFFF"/>
                </a:solidFill>
                <a:latin typeface="Calibri" pitchFamily="34" charset="0"/>
                <a:ea typeface="Calibri" pitchFamily="34" charset="-122"/>
                <a:cs typeface="Calibri" pitchFamily="34" charset="-120"/>
              </a:rPr>
              <a:t>Sign in by rank</a:t>
            </a:r>
            <a:endParaRPr lang="en-US" sz="760" dirty="0"/>
          </a:p>
        </p:txBody>
      </p:sp>
      <p:sp>
        <p:nvSpPr>
          <p:cNvPr id="9" name="Text 5"/>
          <p:cNvSpPr txBox="1"/>
          <p:nvPr/>
        </p:nvSpPr>
        <p:spPr>
          <a:xfrm>
            <a:off x="384048" y="2445200"/>
            <a:ext cx="1888236" cy="182880"/>
          </a:xfrm>
          <a:prstGeom prst="rect">
            <a:avLst/>
          </a:prstGeom>
          <a:noFill/>
          <a:ln/>
        </p:spPr>
        <p:txBody>
          <a:bodyPr wrap="square" lIns="0" tIns="0" rIns="0" bIns="0" rtlCol="0" anchor="t"/>
          <a:lstStyle/>
          <a:p>
            <a:pPr marL="0" indent="0" algn="l">
              <a:buNone/>
            </a:pPr>
            <a:r>
              <a:rPr lang="en-US" sz="740" dirty="0">
                <a:solidFill>
                  <a:srgbClr val="5B6B7C"/>
                </a:solidFill>
                <a:latin typeface="Calibri" pitchFamily="34" charset="0"/>
                <a:ea typeface="Calibri" pitchFamily="34" charset="-122"/>
                <a:cs typeface="Calibri" pitchFamily="34" charset="-120"/>
              </a:rPr>
              <a:t>Six ranks, no password — scope follows the post</a:t>
            </a:r>
            <a:endParaRPr lang="en-US" sz="740" dirty="0"/>
          </a:p>
        </p:txBody>
      </p:sp>
      <p:sp>
        <p:nvSpPr>
          <p:cNvPr id="10" name="Shape 6"/>
          <p:cNvSpPr/>
          <p:nvPr/>
        </p:nvSpPr>
        <p:spPr>
          <a:xfrm>
            <a:off x="2528316" y="1207008"/>
            <a:ext cx="1924812" cy="1219904"/>
          </a:xfrm>
          <a:prstGeom prst="roundRect">
            <a:avLst>
              <a:gd name="adj" fmla="val 2998"/>
            </a:avLst>
          </a:prstGeom>
          <a:solidFill>
            <a:srgbClr val="FFFFFF"/>
          </a:solidFill>
          <a:ln w="9525">
            <a:solidFill>
              <a:srgbClr val="DCE3EC"/>
            </a:solidFill>
            <a:prstDash val="solid"/>
          </a:ln>
        </p:spPr>
        <p:txBody>
          <a:bodyPr/>
          <a:lstStyle/>
          <a:p>
            <a:endParaRPr lang="en-US"/>
          </a:p>
        </p:txBody>
      </p:sp>
      <p:pic>
        <p:nvPicPr>
          <p:cNvPr id="11" name="Image 2" descr="/private/tmp/claude-501/-Users-adarsh-Desktop-Projects-KadiLabs/1a0b3114-7a5c-4b08-a5d4-f9d8371eeea4/scratchpad/deck/../shots/out/dashboard.png"/>
          <p:cNvPicPr>
            <a:picLocks noChangeAspect="1"/>
          </p:cNvPicPr>
          <p:nvPr/>
        </p:nvPicPr>
        <p:blipFill>
          <a:blip r:embed="rId5"/>
          <a:stretch>
            <a:fillRect/>
          </a:stretch>
        </p:blipFill>
        <p:spPr>
          <a:xfrm>
            <a:off x="2546604" y="1225296"/>
            <a:ext cx="1888236" cy="1183328"/>
          </a:xfrm>
          <a:prstGeom prst="rect">
            <a:avLst/>
          </a:prstGeom>
        </p:spPr>
      </p:pic>
      <p:sp>
        <p:nvSpPr>
          <p:cNvPr id="12" name="Shape 7"/>
          <p:cNvSpPr/>
          <p:nvPr/>
        </p:nvSpPr>
        <p:spPr>
          <a:xfrm>
            <a:off x="2610612" y="2143448"/>
            <a:ext cx="1367028" cy="201168"/>
          </a:xfrm>
          <a:prstGeom prst="roundRect">
            <a:avLst>
              <a:gd name="adj" fmla="val 45455"/>
            </a:avLst>
          </a:prstGeom>
          <a:solidFill>
            <a:srgbClr val="0F2F44"/>
          </a:solidFill>
          <a:ln w="12700">
            <a:solidFill>
              <a:srgbClr val="0F2F44"/>
            </a:solidFill>
            <a:prstDash val="solid"/>
          </a:ln>
        </p:spPr>
        <p:txBody>
          <a:bodyPr/>
          <a:lstStyle/>
          <a:p>
            <a:endParaRPr lang="en-US"/>
          </a:p>
        </p:txBody>
      </p:sp>
      <p:sp>
        <p:nvSpPr>
          <p:cNvPr id="13" name="Text 8"/>
          <p:cNvSpPr txBox="1"/>
          <p:nvPr/>
        </p:nvSpPr>
        <p:spPr>
          <a:xfrm>
            <a:off x="2610612" y="2143448"/>
            <a:ext cx="1367028" cy="201168"/>
          </a:xfrm>
          <a:prstGeom prst="rect">
            <a:avLst/>
          </a:prstGeom>
          <a:noFill/>
          <a:ln/>
        </p:spPr>
        <p:txBody>
          <a:bodyPr wrap="square" lIns="0" tIns="0" rIns="0" bIns="0" rtlCol="0" anchor="ctr"/>
          <a:lstStyle/>
          <a:p>
            <a:pPr marL="0" indent="0" algn="ctr">
              <a:buNone/>
            </a:pPr>
            <a:r>
              <a:rPr lang="en-US" sz="760" b="1" dirty="0">
                <a:solidFill>
                  <a:srgbClr val="FFFFFF"/>
                </a:solidFill>
                <a:latin typeface="Calibri" pitchFamily="34" charset="0"/>
                <a:ea typeface="Calibri" pitchFamily="34" charset="-122"/>
                <a:cs typeface="Calibri" pitchFamily="34" charset="-120"/>
              </a:rPr>
              <a:t>Command Dashboard</a:t>
            </a:r>
            <a:endParaRPr lang="en-US" sz="760" dirty="0"/>
          </a:p>
        </p:txBody>
      </p:sp>
      <p:sp>
        <p:nvSpPr>
          <p:cNvPr id="14" name="Text 9"/>
          <p:cNvSpPr txBox="1"/>
          <p:nvPr/>
        </p:nvSpPr>
        <p:spPr>
          <a:xfrm>
            <a:off x="2546604" y="2445200"/>
            <a:ext cx="1888236" cy="182880"/>
          </a:xfrm>
          <a:prstGeom prst="rect">
            <a:avLst/>
          </a:prstGeom>
          <a:noFill/>
          <a:ln/>
        </p:spPr>
        <p:txBody>
          <a:bodyPr wrap="square" lIns="0" tIns="0" rIns="0" bIns="0" rtlCol="0" anchor="t"/>
          <a:lstStyle/>
          <a:p>
            <a:pPr marL="0" indent="0" algn="l">
              <a:buNone/>
            </a:pPr>
            <a:r>
              <a:rPr lang="en-US" sz="740" dirty="0">
                <a:solidFill>
                  <a:srgbClr val="5B6B7C"/>
                </a:solidFill>
                <a:latin typeface="Calibri" pitchFamily="34" charset="0"/>
                <a:ea typeface="Calibri" pitchFamily="34" charset="-122"/>
                <a:cs typeface="Calibri" pitchFamily="34" charset="-120"/>
              </a:rPr>
              <a:t>State picture in prose · districts ranked</a:t>
            </a:r>
            <a:endParaRPr lang="en-US" sz="740" dirty="0"/>
          </a:p>
        </p:txBody>
      </p:sp>
      <p:sp>
        <p:nvSpPr>
          <p:cNvPr id="15" name="Shape 10"/>
          <p:cNvSpPr/>
          <p:nvPr/>
        </p:nvSpPr>
        <p:spPr>
          <a:xfrm>
            <a:off x="4690872" y="1207008"/>
            <a:ext cx="1924812" cy="1219904"/>
          </a:xfrm>
          <a:prstGeom prst="roundRect">
            <a:avLst>
              <a:gd name="adj" fmla="val 2998"/>
            </a:avLst>
          </a:prstGeom>
          <a:solidFill>
            <a:srgbClr val="FFFFFF"/>
          </a:solidFill>
          <a:ln w="9525">
            <a:solidFill>
              <a:srgbClr val="DCE3EC"/>
            </a:solidFill>
            <a:prstDash val="solid"/>
          </a:ln>
        </p:spPr>
        <p:txBody>
          <a:bodyPr/>
          <a:lstStyle/>
          <a:p>
            <a:endParaRPr lang="en-US"/>
          </a:p>
        </p:txBody>
      </p:sp>
      <p:pic>
        <p:nvPicPr>
          <p:cNvPr id="16" name="Image 3" descr="/private/tmp/claude-501/-Users-adarsh-Desktop-Projects-KadiLabs/1a0b3114-7a5c-4b08-a5d4-f9d8371eeea4/scratchpad/deck/../shots/out/graph.png"/>
          <p:cNvPicPr>
            <a:picLocks noChangeAspect="1"/>
          </p:cNvPicPr>
          <p:nvPr/>
        </p:nvPicPr>
        <p:blipFill>
          <a:blip r:embed="rId6"/>
          <a:stretch>
            <a:fillRect/>
          </a:stretch>
        </p:blipFill>
        <p:spPr>
          <a:xfrm>
            <a:off x="4709160" y="1225296"/>
            <a:ext cx="1888236" cy="1183328"/>
          </a:xfrm>
          <a:prstGeom prst="rect">
            <a:avLst/>
          </a:prstGeom>
        </p:spPr>
      </p:pic>
      <p:sp>
        <p:nvSpPr>
          <p:cNvPr id="17" name="Shape 11"/>
          <p:cNvSpPr/>
          <p:nvPr/>
        </p:nvSpPr>
        <p:spPr>
          <a:xfrm>
            <a:off x="4773168" y="2143448"/>
            <a:ext cx="1435608" cy="201168"/>
          </a:xfrm>
          <a:prstGeom prst="roundRect">
            <a:avLst>
              <a:gd name="adj" fmla="val 45455"/>
            </a:avLst>
          </a:prstGeom>
          <a:solidFill>
            <a:srgbClr val="0F2F44"/>
          </a:solidFill>
          <a:ln w="12700">
            <a:solidFill>
              <a:srgbClr val="0F2F44"/>
            </a:solidFill>
            <a:prstDash val="solid"/>
          </a:ln>
        </p:spPr>
        <p:txBody>
          <a:bodyPr/>
          <a:lstStyle/>
          <a:p>
            <a:endParaRPr lang="en-US"/>
          </a:p>
        </p:txBody>
      </p:sp>
      <p:sp>
        <p:nvSpPr>
          <p:cNvPr id="18" name="Text 12"/>
          <p:cNvSpPr txBox="1"/>
          <p:nvPr/>
        </p:nvSpPr>
        <p:spPr>
          <a:xfrm>
            <a:off x="4773168" y="2143448"/>
            <a:ext cx="1435608" cy="201168"/>
          </a:xfrm>
          <a:prstGeom prst="rect">
            <a:avLst/>
          </a:prstGeom>
          <a:noFill/>
          <a:ln/>
        </p:spPr>
        <p:txBody>
          <a:bodyPr wrap="square" lIns="0" tIns="0" rIns="0" bIns="0" rtlCol="0" anchor="ctr"/>
          <a:lstStyle/>
          <a:p>
            <a:pPr marL="0" indent="0" algn="ctr">
              <a:buNone/>
            </a:pPr>
            <a:r>
              <a:rPr lang="en-US" sz="760" b="1" dirty="0">
                <a:solidFill>
                  <a:srgbClr val="FFFFFF"/>
                </a:solidFill>
                <a:latin typeface="Calibri" pitchFamily="34" charset="0"/>
                <a:ea typeface="Calibri" pitchFamily="34" charset="-122"/>
                <a:cs typeface="Calibri" pitchFamily="34" charset="-120"/>
              </a:rPr>
              <a:t>Case-Linkage Graph</a:t>
            </a:r>
            <a:endParaRPr lang="en-US" sz="760" dirty="0"/>
          </a:p>
        </p:txBody>
      </p:sp>
      <p:sp>
        <p:nvSpPr>
          <p:cNvPr id="19" name="Text 13"/>
          <p:cNvSpPr txBox="1"/>
          <p:nvPr/>
        </p:nvSpPr>
        <p:spPr>
          <a:xfrm>
            <a:off x="4709160" y="2445200"/>
            <a:ext cx="1888236" cy="182880"/>
          </a:xfrm>
          <a:prstGeom prst="rect">
            <a:avLst/>
          </a:prstGeom>
          <a:noFill/>
          <a:ln/>
        </p:spPr>
        <p:txBody>
          <a:bodyPr wrap="square" lIns="0" tIns="0" rIns="0" bIns="0" rtlCol="0" anchor="t"/>
          <a:lstStyle/>
          <a:p>
            <a:pPr marL="0" indent="0" algn="l">
              <a:buNone/>
            </a:pPr>
            <a:r>
              <a:rPr lang="en-US" sz="740" dirty="0">
                <a:solidFill>
                  <a:srgbClr val="5B6B7C"/>
                </a:solidFill>
                <a:latin typeface="Calibri" pitchFamily="34" charset="0"/>
                <a:ea typeface="Calibri" pitchFamily="34" charset="-122"/>
                <a:cs typeface="Calibri" pitchFamily="34" charset="-120"/>
              </a:rPr>
              <a:t>Ego-network · 5 layouts · 6 link filters</a:t>
            </a:r>
            <a:endParaRPr lang="en-US" sz="740" dirty="0"/>
          </a:p>
        </p:txBody>
      </p:sp>
      <p:sp>
        <p:nvSpPr>
          <p:cNvPr id="20" name="Shape 14"/>
          <p:cNvSpPr/>
          <p:nvPr/>
        </p:nvSpPr>
        <p:spPr>
          <a:xfrm>
            <a:off x="6853428" y="1207008"/>
            <a:ext cx="1924812" cy="1219904"/>
          </a:xfrm>
          <a:prstGeom prst="roundRect">
            <a:avLst>
              <a:gd name="adj" fmla="val 2998"/>
            </a:avLst>
          </a:prstGeom>
          <a:solidFill>
            <a:srgbClr val="FFFFFF"/>
          </a:solidFill>
          <a:ln w="9525">
            <a:solidFill>
              <a:srgbClr val="DCE3EC"/>
            </a:solidFill>
            <a:prstDash val="solid"/>
          </a:ln>
        </p:spPr>
        <p:txBody>
          <a:bodyPr/>
          <a:lstStyle/>
          <a:p>
            <a:endParaRPr lang="en-US"/>
          </a:p>
        </p:txBody>
      </p:sp>
      <p:pic>
        <p:nvPicPr>
          <p:cNvPr id="21" name="Image 4" descr="/private/tmp/claude-501/-Users-adarsh-Desktop-Projects-KadiLabs/1a0b3114-7a5c-4b08-a5d4-f9d8371eeea4/scratchpad/deck/../shots/out/cases.png"/>
          <p:cNvPicPr>
            <a:picLocks noChangeAspect="1"/>
          </p:cNvPicPr>
          <p:nvPr/>
        </p:nvPicPr>
        <p:blipFill>
          <a:blip r:embed="rId7"/>
          <a:stretch>
            <a:fillRect/>
          </a:stretch>
        </p:blipFill>
        <p:spPr>
          <a:xfrm>
            <a:off x="6871716" y="1225296"/>
            <a:ext cx="1888236" cy="1183328"/>
          </a:xfrm>
          <a:prstGeom prst="rect">
            <a:avLst/>
          </a:prstGeom>
        </p:spPr>
      </p:pic>
      <p:sp>
        <p:nvSpPr>
          <p:cNvPr id="22" name="Shape 15"/>
          <p:cNvSpPr/>
          <p:nvPr/>
        </p:nvSpPr>
        <p:spPr>
          <a:xfrm>
            <a:off x="6935724" y="2143448"/>
            <a:ext cx="1092708" cy="201168"/>
          </a:xfrm>
          <a:prstGeom prst="roundRect">
            <a:avLst>
              <a:gd name="adj" fmla="val 45455"/>
            </a:avLst>
          </a:prstGeom>
          <a:solidFill>
            <a:srgbClr val="0F2F44"/>
          </a:solidFill>
          <a:ln w="12700">
            <a:solidFill>
              <a:srgbClr val="0F2F44"/>
            </a:solidFill>
            <a:prstDash val="solid"/>
          </a:ln>
        </p:spPr>
        <p:txBody>
          <a:bodyPr/>
          <a:lstStyle/>
          <a:p>
            <a:endParaRPr lang="en-US"/>
          </a:p>
        </p:txBody>
      </p:sp>
      <p:sp>
        <p:nvSpPr>
          <p:cNvPr id="23" name="Text 16"/>
          <p:cNvSpPr txBox="1"/>
          <p:nvPr/>
        </p:nvSpPr>
        <p:spPr>
          <a:xfrm>
            <a:off x="6935724" y="2143448"/>
            <a:ext cx="1092708" cy="201168"/>
          </a:xfrm>
          <a:prstGeom prst="rect">
            <a:avLst/>
          </a:prstGeom>
          <a:noFill/>
          <a:ln/>
        </p:spPr>
        <p:txBody>
          <a:bodyPr wrap="square" lIns="0" tIns="0" rIns="0" bIns="0" rtlCol="0" anchor="ctr"/>
          <a:lstStyle/>
          <a:p>
            <a:pPr marL="0" indent="0" algn="ctr">
              <a:buNone/>
            </a:pPr>
            <a:r>
              <a:rPr lang="en-US" sz="760" b="1" dirty="0">
                <a:solidFill>
                  <a:srgbClr val="FFFFFF"/>
                </a:solidFill>
                <a:latin typeface="Calibri" pitchFamily="34" charset="0"/>
                <a:ea typeface="Calibri" pitchFamily="34" charset="-122"/>
                <a:cs typeface="Calibri" pitchFamily="34" charset="-120"/>
              </a:rPr>
              <a:t>Case Register</a:t>
            </a:r>
            <a:endParaRPr lang="en-US" sz="760" dirty="0"/>
          </a:p>
        </p:txBody>
      </p:sp>
      <p:sp>
        <p:nvSpPr>
          <p:cNvPr id="24" name="Text 17"/>
          <p:cNvSpPr txBox="1"/>
          <p:nvPr/>
        </p:nvSpPr>
        <p:spPr>
          <a:xfrm>
            <a:off x="6871716" y="2445200"/>
            <a:ext cx="1888236" cy="182880"/>
          </a:xfrm>
          <a:prstGeom prst="rect">
            <a:avLst/>
          </a:prstGeom>
          <a:noFill/>
          <a:ln/>
        </p:spPr>
        <p:txBody>
          <a:bodyPr wrap="square" lIns="0" tIns="0" rIns="0" bIns="0" rtlCol="0" anchor="t"/>
          <a:lstStyle/>
          <a:p>
            <a:pPr marL="0" indent="0" algn="l">
              <a:buNone/>
            </a:pPr>
            <a:r>
              <a:rPr lang="en-US" sz="740" dirty="0">
                <a:solidFill>
                  <a:srgbClr val="5B6B7C"/>
                </a:solidFill>
                <a:latin typeface="Calibri" pitchFamily="34" charset="0"/>
                <a:ea typeface="Calibri" pitchFamily="34" charset="-122"/>
                <a:cs typeface="Calibri" pitchFamily="34" charset="-120"/>
              </a:rPr>
              <a:t>59,987 filed · 59,985 analysed</a:t>
            </a:r>
            <a:endParaRPr lang="en-US" sz="740" dirty="0"/>
          </a:p>
        </p:txBody>
      </p:sp>
      <p:sp>
        <p:nvSpPr>
          <p:cNvPr id="25" name="Shape 18"/>
          <p:cNvSpPr/>
          <p:nvPr/>
        </p:nvSpPr>
        <p:spPr>
          <a:xfrm>
            <a:off x="365760" y="2628080"/>
            <a:ext cx="1924812" cy="1219904"/>
          </a:xfrm>
          <a:prstGeom prst="roundRect">
            <a:avLst>
              <a:gd name="adj" fmla="val 2998"/>
            </a:avLst>
          </a:prstGeom>
          <a:solidFill>
            <a:srgbClr val="FFFFFF"/>
          </a:solidFill>
          <a:ln w="9525">
            <a:solidFill>
              <a:srgbClr val="DCE3EC"/>
            </a:solidFill>
            <a:prstDash val="solid"/>
          </a:ln>
        </p:spPr>
        <p:txBody>
          <a:bodyPr/>
          <a:lstStyle/>
          <a:p>
            <a:endParaRPr lang="en-US"/>
          </a:p>
        </p:txBody>
      </p:sp>
      <p:pic>
        <p:nvPicPr>
          <p:cNvPr id="26" name="Image 5" descr="/private/tmp/claude-501/-Users-adarsh-Desktop-Projects-KadiLabs/1a0b3114-7a5c-4b08-a5d4-f9d8371eeea4/scratchpad/deck/../shots/out/health.png"/>
          <p:cNvPicPr>
            <a:picLocks noChangeAspect="1"/>
          </p:cNvPicPr>
          <p:nvPr/>
        </p:nvPicPr>
        <p:blipFill>
          <a:blip r:embed="rId8"/>
          <a:stretch>
            <a:fillRect/>
          </a:stretch>
        </p:blipFill>
        <p:spPr>
          <a:xfrm>
            <a:off x="384048" y="2646368"/>
            <a:ext cx="1888236" cy="1183328"/>
          </a:xfrm>
          <a:prstGeom prst="rect">
            <a:avLst/>
          </a:prstGeom>
        </p:spPr>
      </p:pic>
      <p:sp>
        <p:nvSpPr>
          <p:cNvPr id="27" name="Shape 19"/>
          <p:cNvSpPr/>
          <p:nvPr/>
        </p:nvSpPr>
        <p:spPr>
          <a:xfrm>
            <a:off x="448056" y="3564519"/>
            <a:ext cx="1572768" cy="201168"/>
          </a:xfrm>
          <a:prstGeom prst="roundRect">
            <a:avLst>
              <a:gd name="adj" fmla="val 45455"/>
            </a:avLst>
          </a:prstGeom>
          <a:solidFill>
            <a:srgbClr val="0F2F44"/>
          </a:solidFill>
          <a:ln w="12700">
            <a:solidFill>
              <a:srgbClr val="0F2F44"/>
            </a:solidFill>
            <a:prstDash val="solid"/>
          </a:ln>
        </p:spPr>
        <p:txBody>
          <a:bodyPr/>
          <a:lstStyle/>
          <a:p>
            <a:endParaRPr lang="en-US"/>
          </a:p>
        </p:txBody>
      </p:sp>
      <p:sp>
        <p:nvSpPr>
          <p:cNvPr id="28" name="Text 20"/>
          <p:cNvSpPr txBox="1"/>
          <p:nvPr/>
        </p:nvSpPr>
        <p:spPr>
          <a:xfrm>
            <a:off x="448056" y="3564519"/>
            <a:ext cx="1572768" cy="201168"/>
          </a:xfrm>
          <a:prstGeom prst="rect">
            <a:avLst/>
          </a:prstGeom>
          <a:noFill/>
          <a:ln/>
        </p:spPr>
        <p:txBody>
          <a:bodyPr wrap="square" lIns="0" tIns="0" rIns="0" bIns="0" rtlCol="0" anchor="ctr"/>
          <a:lstStyle/>
          <a:p>
            <a:pPr marL="0" indent="0" algn="ctr">
              <a:buNone/>
            </a:pPr>
            <a:r>
              <a:rPr lang="en-US" sz="760" b="1" dirty="0">
                <a:solidFill>
                  <a:srgbClr val="FFFFFF"/>
                </a:solidFill>
                <a:latin typeface="Calibri" pitchFamily="34" charset="0"/>
                <a:ea typeface="Calibri" pitchFamily="34" charset="-122"/>
                <a:cs typeface="Calibri" pitchFamily="34" charset="-120"/>
              </a:rPr>
              <a:t>Investigation Health</a:t>
            </a:r>
            <a:endParaRPr lang="en-US" sz="760" dirty="0"/>
          </a:p>
        </p:txBody>
      </p:sp>
      <p:sp>
        <p:nvSpPr>
          <p:cNvPr id="29" name="Text 21"/>
          <p:cNvSpPr txBox="1"/>
          <p:nvPr/>
        </p:nvSpPr>
        <p:spPr>
          <a:xfrm>
            <a:off x="384048" y="3866271"/>
            <a:ext cx="1888236" cy="182880"/>
          </a:xfrm>
          <a:prstGeom prst="rect">
            <a:avLst/>
          </a:prstGeom>
          <a:noFill/>
          <a:ln/>
        </p:spPr>
        <p:txBody>
          <a:bodyPr wrap="square" lIns="0" tIns="0" rIns="0" bIns="0" rtlCol="0" anchor="t"/>
          <a:lstStyle/>
          <a:p>
            <a:pPr marL="0" indent="0" algn="l">
              <a:buNone/>
            </a:pPr>
            <a:r>
              <a:rPr lang="en-US" sz="740" dirty="0">
                <a:solidFill>
                  <a:srgbClr val="5B6B7C"/>
                </a:solidFill>
                <a:latin typeface="Calibri" pitchFamily="34" charset="0"/>
                <a:ea typeface="Calibri" pitchFamily="34" charset="-122"/>
                <a:cs typeface="Calibri" pitchFamily="34" charset="-120"/>
              </a:rPr>
              <a:t>26,168 flagged, each with a next action</a:t>
            </a:r>
            <a:endParaRPr lang="en-US" sz="740" dirty="0"/>
          </a:p>
        </p:txBody>
      </p:sp>
      <p:sp>
        <p:nvSpPr>
          <p:cNvPr id="30" name="Shape 22"/>
          <p:cNvSpPr/>
          <p:nvPr/>
        </p:nvSpPr>
        <p:spPr>
          <a:xfrm>
            <a:off x="2528316" y="2628080"/>
            <a:ext cx="1924812" cy="1219904"/>
          </a:xfrm>
          <a:prstGeom prst="roundRect">
            <a:avLst>
              <a:gd name="adj" fmla="val 2998"/>
            </a:avLst>
          </a:prstGeom>
          <a:solidFill>
            <a:srgbClr val="FFFFFF"/>
          </a:solidFill>
          <a:ln w="9525">
            <a:solidFill>
              <a:srgbClr val="DCE3EC"/>
            </a:solidFill>
            <a:prstDash val="solid"/>
          </a:ln>
        </p:spPr>
        <p:txBody>
          <a:bodyPr/>
          <a:lstStyle/>
          <a:p>
            <a:endParaRPr lang="en-US"/>
          </a:p>
        </p:txBody>
      </p:sp>
      <p:pic>
        <p:nvPicPr>
          <p:cNvPr id="31" name="Image 6" descr="/private/tmp/claude-501/-Users-adarsh-Desktop-Projects-KadiLabs/1a0b3114-7a5c-4b08-a5d4-f9d8371eeea4/scratchpad/deck/../shots/out/offenders.png"/>
          <p:cNvPicPr>
            <a:picLocks noChangeAspect="1"/>
          </p:cNvPicPr>
          <p:nvPr/>
        </p:nvPicPr>
        <p:blipFill>
          <a:blip r:embed="rId9"/>
          <a:stretch>
            <a:fillRect/>
          </a:stretch>
        </p:blipFill>
        <p:spPr>
          <a:xfrm>
            <a:off x="2546604" y="2646368"/>
            <a:ext cx="1888236" cy="1183328"/>
          </a:xfrm>
          <a:prstGeom prst="rect">
            <a:avLst/>
          </a:prstGeom>
        </p:spPr>
      </p:pic>
      <p:sp>
        <p:nvSpPr>
          <p:cNvPr id="32" name="Shape 23"/>
          <p:cNvSpPr/>
          <p:nvPr/>
        </p:nvSpPr>
        <p:spPr>
          <a:xfrm>
            <a:off x="2610612" y="3564519"/>
            <a:ext cx="1435608" cy="201168"/>
          </a:xfrm>
          <a:prstGeom prst="roundRect">
            <a:avLst>
              <a:gd name="adj" fmla="val 45455"/>
            </a:avLst>
          </a:prstGeom>
          <a:solidFill>
            <a:srgbClr val="0F2F44"/>
          </a:solidFill>
          <a:ln w="12700">
            <a:solidFill>
              <a:srgbClr val="0F2F44"/>
            </a:solidFill>
            <a:prstDash val="solid"/>
          </a:ln>
        </p:spPr>
        <p:txBody>
          <a:bodyPr/>
          <a:lstStyle/>
          <a:p>
            <a:endParaRPr lang="en-US"/>
          </a:p>
        </p:txBody>
      </p:sp>
      <p:sp>
        <p:nvSpPr>
          <p:cNvPr id="33" name="Text 24"/>
          <p:cNvSpPr txBox="1"/>
          <p:nvPr/>
        </p:nvSpPr>
        <p:spPr>
          <a:xfrm>
            <a:off x="2610612" y="3564519"/>
            <a:ext cx="1435608" cy="201168"/>
          </a:xfrm>
          <a:prstGeom prst="rect">
            <a:avLst/>
          </a:prstGeom>
          <a:noFill/>
          <a:ln/>
        </p:spPr>
        <p:txBody>
          <a:bodyPr wrap="square" lIns="0" tIns="0" rIns="0" bIns="0" rtlCol="0" anchor="ctr"/>
          <a:lstStyle/>
          <a:p>
            <a:pPr marL="0" indent="0" algn="ctr">
              <a:buNone/>
            </a:pPr>
            <a:r>
              <a:rPr lang="en-US" sz="760" b="1" dirty="0">
                <a:solidFill>
                  <a:srgbClr val="FFFFFF"/>
                </a:solidFill>
                <a:latin typeface="Calibri" pitchFamily="34" charset="0"/>
                <a:ea typeface="Calibri" pitchFamily="34" charset="-122"/>
                <a:cs typeface="Calibri" pitchFamily="34" charset="-120"/>
              </a:rPr>
              <a:t>Offender Watchlist</a:t>
            </a:r>
            <a:endParaRPr lang="en-US" sz="760" dirty="0"/>
          </a:p>
        </p:txBody>
      </p:sp>
      <p:sp>
        <p:nvSpPr>
          <p:cNvPr id="34" name="Text 25"/>
          <p:cNvSpPr txBox="1"/>
          <p:nvPr/>
        </p:nvSpPr>
        <p:spPr>
          <a:xfrm>
            <a:off x="2546604" y="3866271"/>
            <a:ext cx="1888236" cy="182880"/>
          </a:xfrm>
          <a:prstGeom prst="rect">
            <a:avLst/>
          </a:prstGeom>
          <a:noFill/>
          <a:ln/>
        </p:spPr>
        <p:txBody>
          <a:bodyPr wrap="square" lIns="0" tIns="0" rIns="0" bIns="0" rtlCol="0" anchor="t"/>
          <a:lstStyle/>
          <a:p>
            <a:pPr marL="0" indent="0" algn="l">
              <a:buNone/>
            </a:pPr>
            <a:r>
              <a:rPr lang="en-US" sz="740" dirty="0">
                <a:solidFill>
                  <a:srgbClr val="5B6B7C"/>
                </a:solidFill>
                <a:latin typeface="Calibri" pitchFamily="34" charset="0"/>
                <a:ea typeface="Calibri" pitchFamily="34" charset="-122"/>
                <a:cs typeface="Calibri" pitchFamily="34" charset="-120"/>
              </a:rPr>
              <a:t>578 identities · glass-box risk</a:t>
            </a:r>
            <a:endParaRPr lang="en-US" sz="740" dirty="0"/>
          </a:p>
        </p:txBody>
      </p:sp>
      <p:sp>
        <p:nvSpPr>
          <p:cNvPr id="35" name="Shape 26"/>
          <p:cNvSpPr/>
          <p:nvPr/>
        </p:nvSpPr>
        <p:spPr>
          <a:xfrm>
            <a:off x="4690872" y="2628080"/>
            <a:ext cx="1924812" cy="1219904"/>
          </a:xfrm>
          <a:prstGeom prst="roundRect">
            <a:avLst>
              <a:gd name="adj" fmla="val 2998"/>
            </a:avLst>
          </a:prstGeom>
          <a:solidFill>
            <a:srgbClr val="FFFFFF"/>
          </a:solidFill>
          <a:ln w="9525">
            <a:solidFill>
              <a:srgbClr val="DCE3EC"/>
            </a:solidFill>
            <a:prstDash val="solid"/>
          </a:ln>
        </p:spPr>
        <p:txBody>
          <a:bodyPr/>
          <a:lstStyle/>
          <a:p>
            <a:endParaRPr lang="en-US"/>
          </a:p>
        </p:txBody>
      </p:sp>
      <p:pic>
        <p:nvPicPr>
          <p:cNvPr id="36" name="Image 7" descr="/private/tmp/claude-501/-Users-adarsh-Desktop-Projects-KadiLabs/1a0b3114-7a5c-4b08-a5d4-f9d8371eeea4/scratchpad/deck/../shots/out/map-density.png"/>
          <p:cNvPicPr>
            <a:picLocks noChangeAspect="1"/>
          </p:cNvPicPr>
          <p:nvPr/>
        </p:nvPicPr>
        <p:blipFill>
          <a:blip r:embed="rId10"/>
          <a:stretch>
            <a:fillRect/>
          </a:stretch>
        </p:blipFill>
        <p:spPr>
          <a:xfrm>
            <a:off x="4709160" y="2646368"/>
            <a:ext cx="1888236" cy="1183328"/>
          </a:xfrm>
          <a:prstGeom prst="rect">
            <a:avLst/>
          </a:prstGeom>
        </p:spPr>
      </p:pic>
      <p:sp>
        <p:nvSpPr>
          <p:cNvPr id="37" name="Shape 27"/>
          <p:cNvSpPr/>
          <p:nvPr/>
        </p:nvSpPr>
        <p:spPr>
          <a:xfrm>
            <a:off x="4773168" y="3564519"/>
            <a:ext cx="1092708" cy="201168"/>
          </a:xfrm>
          <a:prstGeom prst="roundRect">
            <a:avLst>
              <a:gd name="adj" fmla="val 45455"/>
            </a:avLst>
          </a:prstGeom>
          <a:solidFill>
            <a:srgbClr val="0F2F44"/>
          </a:solidFill>
          <a:ln w="12700">
            <a:solidFill>
              <a:srgbClr val="0F2F44"/>
            </a:solidFill>
            <a:prstDash val="solid"/>
          </a:ln>
        </p:spPr>
        <p:txBody>
          <a:bodyPr/>
          <a:lstStyle/>
          <a:p>
            <a:endParaRPr lang="en-US"/>
          </a:p>
        </p:txBody>
      </p:sp>
      <p:sp>
        <p:nvSpPr>
          <p:cNvPr id="38" name="Text 28"/>
          <p:cNvSpPr txBox="1"/>
          <p:nvPr/>
        </p:nvSpPr>
        <p:spPr>
          <a:xfrm>
            <a:off x="4773168" y="3564519"/>
            <a:ext cx="1092708" cy="201168"/>
          </a:xfrm>
          <a:prstGeom prst="rect">
            <a:avLst/>
          </a:prstGeom>
          <a:noFill/>
          <a:ln/>
        </p:spPr>
        <p:txBody>
          <a:bodyPr wrap="square" lIns="0" tIns="0" rIns="0" bIns="0" rtlCol="0" anchor="ctr"/>
          <a:lstStyle/>
          <a:p>
            <a:pPr marL="0" indent="0" algn="ctr">
              <a:buNone/>
            </a:pPr>
            <a:r>
              <a:rPr lang="en-US" sz="760" b="1" dirty="0">
                <a:solidFill>
                  <a:srgbClr val="FFFFFF"/>
                </a:solidFill>
                <a:latin typeface="Calibri" pitchFamily="34" charset="0"/>
                <a:ea typeface="Calibri" pitchFamily="34" charset="-122"/>
                <a:cs typeface="Calibri" pitchFamily="34" charset="-120"/>
              </a:rPr>
              <a:t>Map — density</a:t>
            </a:r>
            <a:endParaRPr lang="en-US" sz="760" dirty="0"/>
          </a:p>
        </p:txBody>
      </p:sp>
      <p:sp>
        <p:nvSpPr>
          <p:cNvPr id="39" name="Text 29"/>
          <p:cNvSpPr txBox="1"/>
          <p:nvPr/>
        </p:nvSpPr>
        <p:spPr>
          <a:xfrm>
            <a:off x="4709160" y="3866271"/>
            <a:ext cx="1888236" cy="182880"/>
          </a:xfrm>
          <a:prstGeom prst="rect">
            <a:avLst/>
          </a:prstGeom>
          <a:noFill/>
          <a:ln/>
        </p:spPr>
        <p:txBody>
          <a:bodyPr wrap="square" lIns="0" tIns="0" rIns="0" bIns="0" rtlCol="0" anchor="t"/>
          <a:lstStyle/>
          <a:p>
            <a:pPr marL="0" indent="0" algn="l">
              <a:buNone/>
            </a:pPr>
            <a:r>
              <a:rPr lang="en-US" sz="740" dirty="0">
                <a:solidFill>
                  <a:srgbClr val="5B6B7C"/>
                </a:solidFill>
                <a:latin typeface="Calibri" pitchFamily="34" charset="0"/>
                <a:ea typeface="Calibri" pitchFamily="34" charset="-122"/>
                <a:cs typeface="Calibri" pitchFamily="34" charset="-120"/>
              </a:rPr>
              <a:t>Choropleth per district over satellite</a:t>
            </a:r>
            <a:endParaRPr lang="en-US" sz="740" dirty="0"/>
          </a:p>
        </p:txBody>
      </p:sp>
      <p:sp>
        <p:nvSpPr>
          <p:cNvPr id="40" name="Shape 30"/>
          <p:cNvSpPr/>
          <p:nvPr/>
        </p:nvSpPr>
        <p:spPr>
          <a:xfrm>
            <a:off x="6853428" y="2628080"/>
            <a:ext cx="1924812" cy="1219904"/>
          </a:xfrm>
          <a:prstGeom prst="roundRect">
            <a:avLst>
              <a:gd name="adj" fmla="val 2998"/>
            </a:avLst>
          </a:prstGeom>
          <a:solidFill>
            <a:srgbClr val="FFFFFF"/>
          </a:solidFill>
          <a:ln w="9525">
            <a:solidFill>
              <a:srgbClr val="DCE3EC"/>
            </a:solidFill>
            <a:prstDash val="solid"/>
          </a:ln>
        </p:spPr>
        <p:txBody>
          <a:bodyPr/>
          <a:lstStyle/>
          <a:p>
            <a:endParaRPr lang="en-US"/>
          </a:p>
        </p:txBody>
      </p:sp>
      <p:pic>
        <p:nvPicPr>
          <p:cNvPr id="41" name="Image 8" descr="/private/tmp/claude-501/-Users-adarsh-Desktop-Projects-KadiLabs/1a0b3114-7a5c-4b08-a5d4-f9d8371eeea4/scratchpad/deck/../shots/out/map-incidents.png"/>
          <p:cNvPicPr>
            <a:picLocks noChangeAspect="1"/>
          </p:cNvPicPr>
          <p:nvPr/>
        </p:nvPicPr>
        <p:blipFill>
          <a:blip r:embed="rId11"/>
          <a:stretch>
            <a:fillRect/>
          </a:stretch>
        </p:blipFill>
        <p:spPr>
          <a:xfrm>
            <a:off x="6871716" y="2646368"/>
            <a:ext cx="1888236" cy="1183328"/>
          </a:xfrm>
          <a:prstGeom prst="rect">
            <a:avLst/>
          </a:prstGeom>
        </p:spPr>
      </p:pic>
      <p:sp>
        <p:nvSpPr>
          <p:cNvPr id="42" name="Shape 31"/>
          <p:cNvSpPr/>
          <p:nvPr/>
        </p:nvSpPr>
        <p:spPr>
          <a:xfrm>
            <a:off x="6935724" y="3564519"/>
            <a:ext cx="1229868" cy="201168"/>
          </a:xfrm>
          <a:prstGeom prst="roundRect">
            <a:avLst>
              <a:gd name="adj" fmla="val 45455"/>
            </a:avLst>
          </a:prstGeom>
          <a:solidFill>
            <a:srgbClr val="0F2F44"/>
          </a:solidFill>
          <a:ln w="12700">
            <a:solidFill>
              <a:srgbClr val="0F2F44"/>
            </a:solidFill>
            <a:prstDash val="solid"/>
          </a:ln>
        </p:spPr>
        <p:txBody>
          <a:bodyPr/>
          <a:lstStyle/>
          <a:p>
            <a:endParaRPr lang="en-US"/>
          </a:p>
        </p:txBody>
      </p:sp>
      <p:sp>
        <p:nvSpPr>
          <p:cNvPr id="43" name="Text 32"/>
          <p:cNvSpPr txBox="1"/>
          <p:nvPr/>
        </p:nvSpPr>
        <p:spPr>
          <a:xfrm>
            <a:off x="6935724" y="3564519"/>
            <a:ext cx="1229868" cy="201168"/>
          </a:xfrm>
          <a:prstGeom prst="rect">
            <a:avLst/>
          </a:prstGeom>
          <a:noFill/>
          <a:ln/>
        </p:spPr>
        <p:txBody>
          <a:bodyPr wrap="square" lIns="0" tIns="0" rIns="0" bIns="0" rtlCol="0" anchor="ctr"/>
          <a:lstStyle/>
          <a:p>
            <a:pPr marL="0" indent="0" algn="ctr">
              <a:buNone/>
            </a:pPr>
            <a:r>
              <a:rPr lang="en-US" sz="760" b="1" dirty="0">
                <a:solidFill>
                  <a:srgbClr val="FFFFFF"/>
                </a:solidFill>
                <a:latin typeface="Calibri" pitchFamily="34" charset="0"/>
                <a:ea typeface="Calibri" pitchFamily="34" charset="-122"/>
                <a:cs typeface="Calibri" pitchFamily="34" charset="-120"/>
              </a:rPr>
              <a:t>Map — incidents</a:t>
            </a:r>
            <a:endParaRPr lang="en-US" sz="760" dirty="0"/>
          </a:p>
        </p:txBody>
      </p:sp>
      <p:sp>
        <p:nvSpPr>
          <p:cNvPr id="44" name="Text 33"/>
          <p:cNvSpPr txBox="1"/>
          <p:nvPr/>
        </p:nvSpPr>
        <p:spPr>
          <a:xfrm>
            <a:off x="6871716" y="3866271"/>
            <a:ext cx="1888236" cy="182880"/>
          </a:xfrm>
          <a:prstGeom prst="rect">
            <a:avLst/>
          </a:prstGeom>
          <a:noFill/>
          <a:ln/>
        </p:spPr>
        <p:txBody>
          <a:bodyPr wrap="square" lIns="0" tIns="0" rIns="0" bIns="0" rtlCol="0" anchor="t"/>
          <a:lstStyle/>
          <a:p>
            <a:pPr marL="0" indent="0" algn="l">
              <a:buNone/>
            </a:pPr>
            <a:r>
              <a:rPr lang="en-US" sz="740" dirty="0">
                <a:solidFill>
                  <a:srgbClr val="5B6B7C"/>
                </a:solidFill>
                <a:latin typeface="Calibri" pitchFamily="34" charset="0"/>
                <a:ea typeface="Calibri" pitchFamily="34" charset="-122"/>
                <a:cs typeface="Calibri" pitchFamily="34" charset="-120"/>
              </a:rPr>
              <a:t>9,000 plotted dots, coloured by crime head</a:t>
            </a:r>
            <a:endParaRPr lang="en-US" sz="740" dirty="0"/>
          </a:p>
        </p:txBody>
      </p:sp>
      <p:sp>
        <p:nvSpPr>
          <p:cNvPr id="45" name="Shape 34"/>
          <p:cNvSpPr/>
          <p:nvPr/>
        </p:nvSpPr>
        <p:spPr>
          <a:xfrm>
            <a:off x="384048" y="4169664"/>
            <a:ext cx="8375904" cy="603504"/>
          </a:xfrm>
          <a:prstGeom prst="roundRect">
            <a:avLst>
              <a:gd name="adj" fmla="val 9091"/>
            </a:avLst>
          </a:prstGeom>
          <a:solidFill>
            <a:srgbClr val="0F2F44"/>
          </a:solidFill>
          <a:ln w="9525">
            <a:solidFill>
              <a:srgbClr val="0F2F44"/>
            </a:solidFill>
            <a:prstDash val="solid"/>
          </a:ln>
        </p:spPr>
        <p:txBody>
          <a:bodyPr/>
          <a:lstStyle/>
          <a:p>
            <a:endParaRPr lang="en-US"/>
          </a:p>
        </p:txBody>
      </p:sp>
      <p:sp>
        <p:nvSpPr>
          <p:cNvPr id="46" name="Text 35"/>
          <p:cNvSpPr txBox="1"/>
          <p:nvPr/>
        </p:nvSpPr>
        <p:spPr>
          <a:xfrm>
            <a:off x="548640" y="4169664"/>
            <a:ext cx="8046720" cy="603504"/>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Every screen above is a live URL, not a mockup.  </a:t>
            </a:r>
            <a:r>
              <a:rPr lang="en-US" sz="1000" dirty="0">
                <a:solidFill>
                  <a:srgbClr val="C9D6E2"/>
                </a:solidFill>
                <a:latin typeface="Calibri" pitchFamily="34" charset="0"/>
                <a:ea typeface="Calibri" pitchFamily="34" charset="-122"/>
                <a:cs typeface="Calibri" pitchFamily="34" charset="-120"/>
              </a:rPr>
              <a:t>Sign in by rank at the deployed link — no password — and the same scope rules an officer would get are the ones you get. The other eleven screens are on the snapshots slide and in the repository.</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ivate/tmp/claude-501/-Users-adarsh-Desktop-Projects-KadiLabs/1a0b3114-7a5c-4b08-a5d4-f9d8371eeea4/scratchpad/deck/bg-content.png"/>
          <p:cNvPicPr>
            <a:picLocks noChangeAspect="1"/>
          </p:cNvPicPr>
          <p:nvPr/>
        </p:nvPicPr>
        <p:blipFill>
          <a:blip r:embed="rId3"/>
          <a:stretch>
            <a:fillRect/>
          </a:stretch>
        </p:blipFill>
        <p:spPr>
          <a:xfrm>
            <a:off x="0" y="0"/>
            <a:ext cx="9144000" cy="5143500"/>
          </a:xfrm>
          <a:prstGeom prst="rect">
            <a:avLst/>
          </a:prstGeom>
        </p:spPr>
      </p:pic>
      <p:sp>
        <p:nvSpPr>
          <p:cNvPr id="3" name="Text 0"/>
          <p:cNvSpPr txBox="1"/>
          <p:nvPr/>
        </p:nvSpPr>
        <p:spPr>
          <a:xfrm>
            <a:off x="384048" y="603504"/>
            <a:ext cx="8375904" cy="365760"/>
          </a:xfrm>
          <a:prstGeom prst="rect">
            <a:avLst/>
          </a:prstGeom>
          <a:noFill/>
          <a:ln/>
        </p:spPr>
        <p:txBody>
          <a:bodyPr wrap="square" lIns="0" tIns="0" rIns="0" bIns="0" rtlCol="0" anchor="t"/>
          <a:lstStyle/>
          <a:p>
            <a:pPr marL="0" indent="0">
              <a:buNone/>
            </a:pPr>
            <a:r>
              <a:rPr lang="en-US" sz="2100" b="1" dirty="0">
                <a:solidFill>
                  <a:srgbClr val="0F2F44"/>
                </a:solidFill>
                <a:latin typeface="Calibri" pitchFamily="34" charset="0"/>
                <a:ea typeface="Calibri" pitchFamily="34" charset="-122"/>
                <a:cs typeface="Calibri" pitchFamily="34" charset="-120"/>
              </a:rPr>
              <a:t>Architecture diagram of the proposed solution</a:t>
            </a:r>
            <a:endParaRPr lang="en-US" sz="2100" dirty="0"/>
          </a:p>
        </p:txBody>
      </p:sp>
      <p:sp>
        <p:nvSpPr>
          <p:cNvPr id="4" name="Text 1"/>
          <p:cNvSpPr txBox="1"/>
          <p:nvPr/>
        </p:nvSpPr>
        <p:spPr>
          <a:xfrm>
            <a:off x="384048" y="969264"/>
            <a:ext cx="8375904" cy="237744"/>
          </a:xfrm>
          <a:prstGeom prst="rect">
            <a:avLst/>
          </a:prstGeom>
          <a:noFill/>
          <a:ln/>
        </p:spPr>
        <p:txBody>
          <a:bodyPr wrap="square" lIns="0" tIns="0" rIns="0" bIns="0" rtlCol="0" anchor="t"/>
          <a:lstStyle/>
          <a:p>
            <a:pPr marL="0" indent="0">
              <a:buNone/>
            </a:pPr>
            <a:r>
              <a:rPr lang="en-US" sz="1050" dirty="0">
                <a:solidFill>
                  <a:srgbClr val="5B6B7C"/>
                </a:solidFill>
                <a:latin typeface="Calibri" pitchFamily="34" charset="0"/>
                <a:ea typeface="Calibri" pitchFamily="34" charset="-122"/>
                <a:cs typeface="Calibri" pitchFamily="34" charset="-120"/>
              </a:rPr>
              <a:t>Five tiers on Zoho Catalyst, drawn in the direction the data actually moves — the Job writes, the web tier reads</a:t>
            </a:r>
            <a:endParaRPr lang="en-US" sz="1050" dirty="0"/>
          </a:p>
        </p:txBody>
      </p:sp>
      <p:pic>
        <p:nvPicPr>
          <p:cNvPr id="5" name="Image 1" descr="/private/tmp/claude-501/-Users-adarsh-Desktop-Projects-KadiLabs/1a0b3114-7a5c-4b08-a5d4-f9d8371eeea4/scratchpad/deck/diagrams/arch.png"/>
          <p:cNvPicPr>
            <a:picLocks noChangeAspect="1"/>
          </p:cNvPicPr>
          <p:nvPr/>
        </p:nvPicPr>
        <p:blipFill>
          <a:blip r:embed="rId4"/>
          <a:stretch>
            <a:fillRect/>
          </a:stretch>
        </p:blipFill>
        <p:spPr>
          <a:xfrm>
            <a:off x="384048" y="1188720"/>
            <a:ext cx="8375904" cy="3083805"/>
          </a:xfrm>
          <a:prstGeom prst="rect">
            <a:avLst/>
          </a:prstGeom>
        </p:spPr>
      </p:pic>
      <p:sp>
        <p:nvSpPr>
          <p:cNvPr id="6" name="Shape 2"/>
          <p:cNvSpPr/>
          <p:nvPr/>
        </p:nvSpPr>
        <p:spPr>
          <a:xfrm>
            <a:off x="384048" y="4352544"/>
            <a:ext cx="4078224" cy="457200"/>
          </a:xfrm>
          <a:prstGeom prst="roundRect">
            <a:avLst>
              <a:gd name="adj" fmla="val 12000"/>
            </a:avLst>
          </a:prstGeom>
          <a:solidFill>
            <a:srgbClr val="0F2F44"/>
          </a:solidFill>
          <a:ln w="9525">
            <a:solidFill>
              <a:srgbClr val="0F2F44"/>
            </a:solidFill>
            <a:prstDash val="solid"/>
          </a:ln>
        </p:spPr>
        <p:txBody>
          <a:bodyPr/>
          <a:lstStyle/>
          <a:p>
            <a:endParaRPr lang="en-US"/>
          </a:p>
        </p:txBody>
      </p:sp>
      <p:sp>
        <p:nvSpPr>
          <p:cNvPr id="7" name="Text 3"/>
          <p:cNvSpPr txBox="1"/>
          <p:nvPr/>
        </p:nvSpPr>
        <p:spPr>
          <a:xfrm>
            <a:off x="512064" y="4352544"/>
            <a:ext cx="3822192" cy="4572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No heavy compute behind an HTTP request.  </a:t>
            </a:r>
            <a:r>
              <a:rPr lang="en-US" sz="1000" dirty="0">
                <a:solidFill>
                  <a:srgbClr val="C9D6E2"/>
                </a:solidFill>
                <a:latin typeface="Calibri" pitchFamily="34" charset="0"/>
                <a:ea typeface="Calibri" pitchFamily="34" charset="-122"/>
                <a:cs typeface="Calibri" pitchFamily="34" charset="-120"/>
              </a:rPr>
              <a:t>Functions and AppSail cap at 30 s; only Jobs get 15 minutes.</a:t>
            </a:r>
            <a:endParaRPr lang="en-US" sz="1000" dirty="0"/>
          </a:p>
        </p:txBody>
      </p:sp>
      <p:sp>
        <p:nvSpPr>
          <p:cNvPr id="8" name="Shape 4"/>
          <p:cNvSpPr/>
          <p:nvPr/>
        </p:nvSpPr>
        <p:spPr>
          <a:xfrm>
            <a:off x="4681728" y="4352544"/>
            <a:ext cx="4078224" cy="457200"/>
          </a:xfrm>
          <a:prstGeom prst="roundRect">
            <a:avLst>
              <a:gd name="adj" fmla="val 12000"/>
            </a:avLst>
          </a:prstGeom>
          <a:solidFill>
            <a:srgbClr val="E4F5F3"/>
          </a:solidFill>
          <a:ln w="9525">
            <a:solidFill>
              <a:srgbClr val="BFE4E0"/>
            </a:solidFill>
            <a:prstDash val="solid"/>
          </a:ln>
        </p:spPr>
        <p:txBody>
          <a:bodyPr/>
          <a:lstStyle/>
          <a:p>
            <a:endParaRPr lang="en-US"/>
          </a:p>
        </p:txBody>
      </p:sp>
      <p:sp>
        <p:nvSpPr>
          <p:cNvPr id="9" name="Text 5"/>
          <p:cNvSpPr txBox="1"/>
          <p:nvPr/>
        </p:nvSpPr>
        <p:spPr>
          <a:xfrm>
            <a:off x="4809744" y="4352544"/>
            <a:ext cx="3822192" cy="457200"/>
          </a:xfrm>
          <a:prstGeom prst="rect">
            <a:avLst/>
          </a:prstGeom>
          <a:noFill/>
          <a:ln/>
        </p:spPr>
        <p:txBody>
          <a:bodyPr wrap="square" lIns="0" tIns="0" rIns="0" bIns="0" rtlCol="0" anchor="ctr"/>
          <a:lstStyle/>
          <a:p>
            <a:pPr marL="0" indent="0">
              <a:buNone/>
            </a:pPr>
            <a:r>
              <a:rPr lang="en-US" sz="1000" b="1" dirty="0">
                <a:solidFill>
                  <a:srgbClr val="2FA8A0"/>
                </a:solidFill>
                <a:latin typeface="Calibri" pitchFamily="34" charset="0"/>
                <a:ea typeface="Calibri" pitchFamily="34" charset="-122"/>
                <a:cs typeface="Calibri" pitchFamily="34" charset="-120"/>
              </a:rPr>
              <a:t>The model never retrieves. It only phrases.  </a:t>
            </a:r>
            <a:r>
              <a:rPr lang="en-US" sz="1000" dirty="0">
                <a:solidFill>
                  <a:srgbClr val="5B6B7C"/>
                </a:solidFill>
                <a:latin typeface="Calibri" pitchFamily="34" charset="0"/>
                <a:ea typeface="Calibri" pitchFamily="34" charset="-122"/>
                <a:cs typeface="Calibri" pitchFamily="34" charset="-120"/>
              </a:rPr>
              <a:t>Facts are computed against the register before any LLM is called.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ivate/tmp/claude-501/-Users-adarsh-Desktop-Projects-KadiLabs/1a0b3114-7a5c-4b08-a5d4-f9d8371eeea4/scratchpad/deck/bg-content.png"/>
          <p:cNvPicPr>
            <a:picLocks noChangeAspect="1"/>
          </p:cNvPicPr>
          <p:nvPr/>
        </p:nvPicPr>
        <p:blipFill>
          <a:blip r:embed="rId3"/>
          <a:stretch>
            <a:fillRect/>
          </a:stretch>
        </p:blipFill>
        <p:spPr>
          <a:xfrm>
            <a:off x="0" y="0"/>
            <a:ext cx="9144000" cy="5143500"/>
          </a:xfrm>
          <a:prstGeom prst="rect">
            <a:avLst/>
          </a:prstGeom>
        </p:spPr>
      </p:pic>
      <p:sp>
        <p:nvSpPr>
          <p:cNvPr id="3" name="Text 0"/>
          <p:cNvSpPr txBox="1"/>
          <p:nvPr/>
        </p:nvSpPr>
        <p:spPr>
          <a:xfrm>
            <a:off x="384048" y="603504"/>
            <a:ext cx="8375904" cy="365760"/>
          </a:xfrm>
          <a:prstGeom prst="rect">
            <a:avLst/>
          </a:prstGeom>
          <a:noFill/>
          <a:ln/>
        </p:spPr>
        <p:txBody>
          <a:bodyPr wrap="square" lIns="0" tIns="0" rIns="0" bIns="0" rtlCol="0" anchor="t"/>
          <a:lstStyle/>
          <a:p>
            <a:pPr marL="0" indent="0">
              <a:buNone/>
            </a:pPr>
            <a:r>
              <a:rPr lang="en-US" sz="2100" b="1" dirty="0">
                <a:solidFill>
                  <a:srgbClr val="0F2F44"/>
                </a:solidFill>
                <a:latin typeface="Calibri" pitchFamily="34" charset="0"/>
                <a:ea typeface="Calibri" pitchFamily="34" charset="-122"/>
                <a:cs typeface="Calibri" pitchFamily="34" charset="-120"/>
              </a:rPr>
              <a:t>The Eight ML models that ship</a:t>
            </a:r>
            <a:endParaRPr lang="en-US" sz="2100" dirty="0"/>
          </a:p>
        </p:txBody>
      </p:sp>
      <p:sp>
        <p:nvSpPr>
          <p:cNvPr id="4" name="Text 1"/>
          <p:cNvSpPr txBox="1"/>
          <p:nvPr/>
        </p:nvSpPr>
        <p:spPr>
          <a:xfrm>
            <a:off x="384048" y="969264"/>
            <a:ext cx="8375904" cy="237744"/>
          </a:xfrm>
          <a:prstGeom prst="rect">
            <a:avLst/>
          </a:prstGeom>
          <a:noFill/>
          <a:ln/>
        </p:spPr>
        <p:txBody>
          <a:bodyPr wrap="square" lIns="0" tIns="0" rIns="0" bIns="0" rtlCol="0" anchor="t"/>
          <a:lstStyle/>
          <a:p>
            <a:pPr marL="0" indent="0">
              <a:buNone/>
            </a:pPr>
            <a:r>
              <a:rPr lang="en-US" sz="1050" dirty="0">
                <a:solidFill>
                  <a:srgbClr val="5B6B7C"/>
                </a:solidFill>
                <a:latin typeface="Calibri" pitchFamily="34" charset="0"/>
                <a:ea typeface="Calibri" pitchFamily="34" charset="-122"/>
                <a:cs typeface="Calibri" pitchFamily="34" charset="-120"/>
              </a:rPr>
              <a:t>Every one had to beat the rule a supervisor would use instead — twelve candidates did not, and were cut</a:t>
            </a:r>
            <a:endParaRPr lang="en-US" sz="1050" dirty="0"/>
          </a:p>
        </p:txBody>
      </p:sp>
      <p:sp>
        <p:nvSpPr>
          <p:cNvPr id="5" name="Shape 2"/>
          <p:cNvSpPr/>
          <p:nvPr/>
        </p:nvSpPr>
        <p:spPr>
          <a:xfrm>
            <a:off x="384048" y="1207008"/>
            <a:ext cx="5084064" cy="2889504"/>
          </a:xfrm>
          <a:prstGeom prst="roundRect">
            <a:avLst>
              <a:gd name="adj" fmla="val 1899"/>
            </a:avLst>
          </a:prstGeom>
          <a:solidFill>
            <a:srgbClr val="FFFFFF"/>
          </a:solidFill>
          <a:ln w="9525">
            <a:solidFill>
              <a:srgbClr val="DCE3EC"/>
            </a:solidFill>
            <a:prstDash val="solid"/>
          </a:ln>
        </p:spPr>
        <p:txBody>
          <a:bodyPr/>
          <a:lstStyle/>
          <a:p>
            <a:endParaRPr lang="en-US"/>
          </a:p>
        </p:txBody>
      </p:sp>
      <p:sp>
        <p:nvSpPr>
          <p:cNvPr id="6" name="Text 3"/>
          <p:cNvSpPr txBox="1"/>
          <p:nvPr/>
        </p:nvSpPr>
        <p:spPr>
          <a:xfrm>
            <a:off x="530352" y="1280160"/>
            <a:ext cx="4791456" cy="182880"/>
          </a:xfrm>
          <a:prstGeom prst="rect">
            <a:avLst/>
          </a:prstGeom>
          <a:noFill/>
          <a:ln/>
        </p:spPr>
        <p:txBody>
          <a:bodyPr wrap="square" lIns="0" tIns="0" rIns="0" bIns="0" rtlCol="0" anchor="ctr"/>
          <a:lstStyle/>
          <a:p>
            <a:pPr marL="0" indent="0">
              <a:buNone/>
            </a:pPr>
            <a:r>
              <a:rPr lang="en-US" sz="1050" b="1" dirty="0">
                <a:solidFill>
                  <a:srgbClr val="0F2F44"/>
                </a:solidFill>
                <a:latin typeface="Calibri" pitchFamily="34" charset="0"/>
                <a:ea typeface="Calibri" pitchFamily="34" charset="-122"/>
                <a:cs typeface="Calibri" pitchFamily="34" charset="-120"/>
              </a:rPr>
              <a:t>AUC on a time-ordered hold-out, against the rule each model has to beat</a:t>
            </a:r>
            <a:endParaRPr lang="en-US" sz="1050" dirty="0"/>
          </a:p>
        </p:txBody>
      </p:sp>
      <p:graphicFrame>
        <p:nvGraphicFramePr>
          <p:cNvPr id="7" name="Chart 0"/>
          <p:cNvGraphicFramePr/>
          <p:nvPr>
            <p:extLst>
              <p:ext uri="{D42A27DB-BD31-4B8C-83A1-F6EECF244321}">
                <p14:modId xmlns:p14="http://schemas.microsoft.com/office/powerpoint/2010/main" val="1115548290"/>
              </p:ext>
            </p:extLst>
          </p:nvPr>
        </p:nvGraphicFramePr>
        <p:xfrm>
          <a:off x="438912" y="1481328"/>
          <a:ext cx="4974336" cy="256032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4"/>
          <p:cNvSpPr/>
          <p:nvPr/>
        </p:nvSpPr>
        <p:spPr>
          <a:xfrm>
            <a:off x="5596128" y="1207008"/>
            <a:ext cx="3163824" cy="2889504"/>
          </a:xfrm>
          <a:prstGeom prst="roundRect">
            <a:avLst>
              <a:gd name="adj" fmla="val 1899"/>
            </a:avLst>
          </a:prstGeom>
          <a:solidFill>
            <a:srgbClr val="F0EBF8"/>
          </a:solidFill>
          <a:ln w="9525">
            <a:solidFill>
              <a:srgbClr val="D8CDEE"/>
            </a:solidFill>
            <a:prstDash val="solid"/>
          </a:ln>
        </p:spPr>
        <p:txBody>
          <a:bodyPr/>
          <a:lstStyle/>
          <a:p>
            <a:endParaRPr lang="en-US"/>
          </a:p>
        </p:txBody>
      </p:sp>
      <p:sp>
        <p:nvSpPr>
          <p:cNvPr id="9" name="Text 5"/>
          <p:cNvSpPr txBox="1"/>
          <p:nvPr/>
        </p:nvSpPr>
        <p:spPr>
          <a:xfrm>
            <a:off x="5724144" y="1280160"/>
            <a:ext cx="2907792" cy="201168"/>
          </a:xfrm>
          <a:prstGeom prst="rect">
            <a:avLst/>
          </a:prstGeom>
          <a:noFill/>
          <a:ln/>
        </p:spPr>
        <p:txBody>
          <a:bodyPr wrap="square" lIns="0" tIns="0" rIns="0" bIns="0" rtlCol="0" anchor="ctr"/>
          <a:lstStyle/>
          <a:p>
            <a:pPr marL="0" indent="0">
              <a:buNone/>
            </a:pPr>
            <a:r>
              <a:rPr lang="en-US" sz="1050" b="1" dirty="0">
                <a:solidFill>
                  <a:srgbClr val="6D4C9F"/>
                </a:solidFill>
                <a:latin typeface="Calibri" pitchFamily="34" charset="0"/>
                <a:ea typeface="Calibri" pitchFamily="34" charset="-122"/>
                <a:cs typeface="Calibri" pitchFamily="34" charset="-120"/>
              </a:rPr>
              <a:t>The rule that decided everything</a:t>
            </a:r>
            <a:endParaRPr lang="en-US" sz="1050" dirty="0"/>
          </a:p>
        </p:txBody>
      </p:sp>
      <p:sp>
        <p:nvSpPr>
          <p:cNvPr id="10" name="Text 6"/>
          <p:cNvSpPr txBox="1"/>
          <p:nvPr/>
        </p:nvSpPr>
        <p:spPr>
          <a:xfrm>
            <a:off x="5724144" y="1499616"/>
            <a:ext cx="2907792" cy="548640"/>
          </a:xfrm>
          <a:prstGeom prst="rect">
            <a:avLst/>
          </a:prstGeom>
          <a:noFill/>
          <a:ln/>
        </p:spPr>
        <p:txBody>
          <a:bodyPr wrap="square" lIns="0" tIns="0" rIns="0" bIns="0" rtlCol="0" anchor="t"/>
          <a:lstStyle/>
          <a:p>
            <a:pPr marL="0" indent="0">
              <a:lnSpc>
                <a:spcPct val="102000"/>
              </a:lnSpc>
              <a:buNone/>
            </a:pPr>
            <a:r>
              <a:rPr lang="en-US" sz="900" dirty="0">
                <a:solidFill>
                  <a:srgbClr val="5B6B7C"/>
                </a:solidFill>
                <a:latin typeface="Calibri" pitchFamily="34" charset="0"/>
                <a:ea typeface="Calibri" pitchFamily="34" charset="-122"/>
                <a:cs typeface="Calibri" pitchFamily="34" charset="-120"/>
              </a:rPr>
              <a:t>For every target there is an obvious heuristic — the most recent offender reoffends, the busiest station falls furthest behind. Each candidate was scored against that rule on the same hold-out.</a:t>
            </a:r>
            <a:endParaRPr lang="en-US" sz="900" dirty="0"/>
          </a:p>
        </p:txBody>
      </p:sp>
      <p:sp>
        <p:nvSpPr>
          <p:cNvPr id="11" name="Shape 7"/>
          <p:cNvSpPr/>
          <p:nvPr/>
        </p:nvSpPr>
        <p:spPr>
          <a:xfrm>
            <a:off x="5724144" y="2084832"/>
            <a:ext cx="2907792" cy="402336"/>
          </a:xfrm>
          <a:prstGeom prst="roundRect">
            <a:avLst>
              <a:gd name="adj" fmla="val 13636"/>
            </a:avLst>
          </a:prstGeom>
          <a:solidFill>
            <a:srgbClr val="FFFFFF"/>
          </a:solidFill>
          <a:ln w="9525">
            <a:solidFill>
              <a:srgbClr val="DCE3EC"/>
            </a:solidFill>
            <a:prstDash val="solid"/>
          </a:ln>
        </p:spPr>
        <p:txBody>
          <a:bodyPr/>
          <a:lstStyle/>
          <a:p>
            <a:endParaRPr lang="en-US"/>
          </a:p>
        </p:txBody>
      </p:sp>
      <p:sp>
        <p:nvSpPr>
          <p:cNvPr id="12" name="Text 8"/>
          <p:cNvSpPr txBox="1"/>
          <p:nvPr/>
        </p:nvSpPr>
        <p:spPr>
          <a:xfrm>
            <a:off x="5815584" y="2084832"/>
            <a:ext cx="2724912" cy="402336"/>
          </a:xfrm>
          <a:prstGeom prst="rect">
            <a:avLst/>
          </a:prstGeom>
          <a:noFill/>
          <a:ln/>
        </p:spPr>
        <p:txBody>
          <a:bodyPr wrap="square" lIns="0" tIns="0" rIns="0" bIns="0" rtlCol="0" anchor="ctr"/>
          <a:lstStyle/>
          <a:p>
            <a:pPr marL="0" indent="0" algn="ctr">
              <a:buNone/>
            </a:pPr>
            <a:r>
              <a:rPr lang="en-US" sz="1050" b="1" dirty="0">
                <a:solidFill>
                  <a:srgbClr val="0F2F44"/>
                </a:solidFill>
                <a:latin typeface="Calibri" pitchFamily="34" charset="0"/>
                <a:ea typeface="Calibri" pitchFamily="34" charset="-122"/>
                <a:cs typeface="Calibri" pitchFamily="34" charset="-120"/>
              </a:rPr>
              <a:t>A model that cannot beat the rule is not a model. It is overhead.</a:t>
            </a:r>
            <a:endParaRPr lang="en-US" sz="1050" dirty="0"/>
          </a:p>
        </p:txBody>
      </p:sp>
      <p:sp>
        <p:nvSpPr>
          <p:cNvPr id="13" name="Text 9"/>
          <p:cNvSpPr txBox="1"/>
          <p:nvPr/>
        </p:nvSpPr>
        <p:spPr>
          <a:xfrm>
            <a:off x="5724144" y="2578608"/>
            <a:ext cx="2907792" cy="182880"/>
          </a:xfrm>
          <a:prstGeom prst="rect">
            <a:avLst/>
          </a:prstGeom>
          <a:noFill/>
          <a:ln/>
        </p:spPr>
        <p:txBody>
          <a:bodyPr wrap="square" lIns="0" tIns="0" rIns="0" bIns="0" rtlCol="0" anchor="ctr"/>
          <a:lstStyle/>
          <a:p>
            <a:pPr marL="0" indent="0">
              <a:buNone/>
            </a:pPr>
            <a:r>
              <a:rPr lang="en-US" sz="1000" b="1" dirty="0">
                <a:solidFill>
                  <a:srgbClr val="6D4C9F"/>
                </a:solidFill>
                <a:latin typeface="Calibri" pitchFamily="34" charset="0"/>
                <a:ea typeface="Calibri" pitchFamily="34" charset="-122"/>
                <a:cs typeface="Calibri" pitchFamily="34" charset="-120"/>
              </a:rPr>
              <a:t>Five tests a candidate has to survive</a:t>
            </a:r>
            <a:endParaRPr lang="en-US" sz="1000" dirty="0"/>
          </a:p>
        </p:txBody>
      </p:sp>
      <p:sp>
        <p:nvSpPr>
          <p:cNvPr id="14" name="Text 10"/>
          <p:cNvSpPr txBox="1"/>
          <p:nvPr/>
        </p:nvSpPr>
        <p:spPr>
          <a:xfrm>
            <a:off x="5724144" y="2798064"/>
            <a:ext cx="2907792" cy="219456"/>
          </a:xfrm>
          <a:prstGeom prst="rect">
            <a:avLst/>
          </a:prstGeom>
          <a:noFill/>
          <a:ln/>
        </p:spPr>
        <p:txBody>
          <a:bodyPr wrap="square" lIns="0" tIns="0" rIns="0" bIns="0" rtlCol="0" anchor="ctr"/>
          <a:lstStyle/>
          <a:p>
            <a:pPr marL="0" indent="0">
              <a:buNone/>
            </a:pPr>
            <a:r>
              <a:rPr lang="en-US" sz="900" b="1" dirty="0">
                <a:solidFill>
                  <a:srgbClr val="1F2937"/>
                </a:solidFill>
                <a:latin typeface="Calibri" pitchFamily="34" charset="0"/>
                <a:ea typeface="Calibri" pitchFamily="34" charset="-122"/>
                <a:cs typeface="Calibri" pitchFamily="34" charset="-120"/>
              </a:rPr>
              <a:t>Beats the rule</a:t>
            </a:r>
            <a:r>
              <a:rPr lang="en-US" sz="900" dirty="0">
                <a:solidFill>
                  <a:srgbClr val="5B6B7C"/>
                </a:solidFill>
                <a:latin typeface="Calibri" pitchFamily="34" charset="0"/>
                <a:ea typeface="Calibri" pitchFamily="34" charset="-122"/>
                <a:cs typeface="Calibri" pitchFamily="34" charset="-120"/>
              </a:rPr>
              <a:t>  ·  overhead dressed as intelligence</a:t>
            </a:r>
            <a:endParaRPr lang="en-US" sz="900" dirty="0"/>
          </a:p>
        </p:txBody>
      </p:sp>
      <p:sp>
        <p:nvSpPr>
          <p:cNvPr id="15" name="Text 11"/>
          <p:cNvSpPr txBox="1"/>
          <p:nvPr/>
        </p:nvSpPr>
        <p:spPr>
          <a:xfrm>
            <a:off x="5724144" y="3035808"/>
            <a:ext cx="2907792" cy="219456"/>
          </a:xfrm>
          <a:prstGeom prst="rect">
            <a:avLst/>
          </a:prstGeom>
          <a:noFill/>
          <a:ln/>
        </p:spPr>
        <p:txBody>
          <a:bodyPr wrap="square" lIns="0" tIns="0" rIns="0" bIns="0" rtlCol="0" anchor="ctr"/>
          <a:lstStyle/>
          <a:p>
            <a:pPr marL="0" indent="0">
              <a:buNone/>
            </a:pPr>
            <a:r>
              <a:rPr lang="en-US" sz="900" b="1" dirty="0">
                <a:solidFill>
                  <a:srgbClr val="1F2937"/>
                </a:solidFill>
                <a:latin typeface="Calibri" pitchFamily="34" charset="0"/>
                <a:ea typeface="Calibri" pitchFamily="34" charset="-122"/>
                <a:cs typeface="Calibri" pitchFamily="34" charset="-120"/>
              </a:rPr>
              <a:t>Scale-free</a:t>
            </a:r>
            <a:r>
              <a:rPr lang="en-US" sz="900" dirty="0">
                <a:solidFill>
                  <a:srgbClr val="5B6B7C"/>
                </a:solidFill>
                <a:latin typeface="Calibri" pitchFamily="34" charset="0"/>
                <a:ea typeface="Calibri" pitchFamily="34" charset="-122"/>
                <a:cs typeface="Calibri" pitchFamily="34" charset="-120"/>
              </a:rPr>
              <a:t>  ·  has it only learned “big station is big”</a:t>
            </a:r>
            <a:endParaRPr lang="en-US" sz="900" dirty="0"/>
          </a:p>
        </p:txBody>
      </p:sp>
      <p:sp>
        <p:nvSpPr>
          <p:cNvPr id="16" name="Text 12"/>
          <p:cNvSpPr txBox="1"/>
          <p:nvPr/>
        </p:nvSpPr>
        <p:spPr>
          <a:xfrm>
            <a:off x="5724144" y="3273552"/>
            <a:ext cx="2907792" cy="219456"/>
          </a:xfrm>
          <a:prstGeom prst="rect">
            <a:avLst/>
          </a:prstGeom>
          <a:noFill/>
          <a:ln/>
        </p:spPr>
        <p:txBody>
          <a:bodyPr wrap="square" lIns="0" tIns="0" rIns="0" bIns="0" rtlCol="0" anchor="ctr"/>
          <a:lstStyle/>
          <a:p>
            <a:pPr marL="0" indent="0">
              <a:buNone/>
            </a:pPr>
            <a:r>
              <a:rPr lang="en-US" sz="900" b="1" dirty="0">
                <a:solidFill>
                  <a:srgbClr val="1F2937"/>
                </a:solidFill>
                <a:latin typeface="Calibri" pitchFamily="34" charset="0"/>
                <a:ea typeface="Calibri" pitchFamily="34" charset="-122"/>
                <a:cs typeface="Calibri" pitchFamily="34" charset="-120"/>
              </a:rPr>
              <a:t>Conditional</a:t>
            </a:r>
            <a:r>
              <a:rPr lang="en-US" sz="900" dirty="0">
                <a:solidFill>
                  <a:srgbClr val="5B6B7C"/>
                </a:solidFill>
                <a:latin typeface="Calibri" pitchFamily="34" charset="0"/>
                <a:ea typeface="Calibri" pitchFamily="34" charset="-122"/>
                <a:cs typeface="Calibri" pitchFamily="34" charset="-120"/>
              </a:rPr>
              <a:t>  ·  is one easy component carrying it</a:t>
            </a:r>
            <a:endParaRPr lang="en-US" sz="900" dirty="0"/>
          </a:p>
        </p:txBody>
      </p:sp>
      <p:sp>
        <p:nvSpPr>
          <p:cNvPr id="17" name="Text 13"/>
          <p:cNvSpPr txBox="1"/>
          <p:nvPr/>
        </p:nvSpPr>
        <p:spPr>
          <a:xfrm>
            <a:off x="5724144" y="3511296"/>
            <a:ext cx="2907792" cy="219456"/>
          </a:xfrm>
          <a:prstGeom prst="rect">
            <a:avLst/>
          </a:prstGeom>
          <a:noFill/>
          <a:ln/>
        </p:spPr>
        <p:txBody>
          <a:bodyPr wrap="square" lIns="0" tIns="0" rIns="0" bIns="0" rtlCol="0" anchor="ctr"/>
          <a:lstStyle/>
          <a:p>
            <a:pPr marL="0" indent="0">
              <a:buNone/>
            </a:pPr>
            <a:r>
              <a:rPr lang="en-US" sz="900" b="1" dirty="0">
                <a:solidFill>
                  <a:srgbClr val="1F2937"/>
                </a:solidFill>
                <a:latin typeface="Calibri" pitchFamily="34" charset="0"/>
                <a:ea typeface="Calibri" pitchFamily="34" charset="-122"/>
                <a:cs typeface="Calibri" pitchFamily="34" charset="-120"/>
              </a:rPr>
              <a:t>Poisson floor</a:t>
            </a:r>
            <a:r>
              <a:rPr lang="en-US" sz="900" dirty="0">
                <a:solidFill>
                  <a:srgbClr val="5B6B7C"/>
                </a:solidFill>
                <a:latin typeface="Calibri" pitchFamily="34" charset="0"/>
                <a:ea typeface="Calibri" pitchFamily="34" charset="-122"/>
                <a:cs typeface="Calibri" pitchFamily="34" charset="-120"/>
              </a:rPr>
              <a:t>  ·  is the spike just counting noise</a:t>
            </a:r>
            <a:endParaRPr lang="en-US" sz="900" dirty="0"/>
          </a:p>
        </p:txBody>
      </p:sp>
      <p:sp>
        <p:nvSpPr>
          <p:cNvPr id="18" name="Text 14"/>
          <p:cNvSpPr txBox="1"/>
          <p:nvPr/>
        </p:nvSpPr>
        <p:spPr>
          <a:xfrm>
            <a:off x="5724144" y="3749040"/>
            <a:ext cx="2907792" cy="219456"/>
          </a:xfrm>
          <a:prstGeom prst="rect">
            <a:avLst/>
          </a:prstGeom>
          <a:noFill/>
          <a:ln/>
        </p:spPr>
        <p:txBody>
          <a:bodyPr wrap="square" lIns="0" tIns="0" rIns="0" bIns="0" rtlCol="0" anchor="ctr"/>
          <a:lstStyle/>
          <a:p>
            <a:pPr marL="0" indent="0">
              <a:buNone/>
            </a:pPr>
            <a:r>
              <a:rPr lang="en-US" sz="900" b="1" dirty="0">
                <a:solidFill>
                  <a:srgbClr val="1F2937"/>
                </a:solidFill>
                <a:latin typeface="Calibri" pitchFamily="34" charset="0"/>
                <a:ea typeface="Calibri" pitchFamily="34" charset="-122"/>
                <a:cs typeface="Calibri" pitchFamily="34" charset="-120"/>
              </a:rPr>
              <a:t>Best-available baseline</a:t>
            </a:r>
            <a:r>
              <a:rPr lang="en-US" sz="900" dirty="0">
                <a:solidFill>
                  <a:srgbClr val="5B6B7C"/>
                </a:solidFill>
                <a:latin typeface="Calibri" pitchFamily="34" charset="0"/>
                <a:ea typeface="Calibri" pitchFamily="34" charset="-122"/>
                <a:cs typeface="Calibri" pitchFamily="34" charset="-120"/>
              </a:rPr>
              <a:t>  ·  was the rule chosen to flatter</a:t>
            </a:r>
            <a:endParaRPr lang="en-US" sz="900" dirty="0"/>
          </a:p>
        </p:txBody>
      </p:sp>
      <p:sp>
        <p:nvSpPr>
          <p:cNvPr id="19" name="Text 15"/>
          <p:cNvSpPr txBox="1"/>
          <p:nvPr/>
        </p:nvSpPr>
        <p:spPr>
          <a:xfrm>
            <a:off x="384048" y="4187952"/>
            <a:ext cx="8375904" cy="182880"/>
          </a:xfrm>
          <a:prstGeom prst="rect">
            <a:avLst/>
          </a:prstGeom>
          <a:noFill/>
          <a:ln/>
        </p:spPr>
        <p:txBody>
          <a:bodyPr wrap="square" lIns="0" tIns="0" rIns="0" bIns="0" rtlCol="0" anchor="ctr"/>
          <a:lstStyle/>
          <a:p>
            <a:pPr marL="0" indent="0">
              <a:buNone/>
            </a:pPr>
            <a:r>
              <a:rPr lang="en-US" sz="1100" b="1" dirty="0">
                <a:solidFill>
                  <a:srgbClr val="0F2F44"/>
                </a:solidFill>
                <a:latin typeface="Calibri" pitchFamily="34" charset="0"/>
                <a:ea typeface="Calibri" pitchFamily="34" charset="-122"/>
                <a:cs typeface="Calibri" pitchFamily="34" charset="-120"/>
              </a:rPr>
              <a:t>What each model answers</a:t>
            </a:r>
            <a:endParaRPr lang="en-US" sz="1100" dirty="0"/>
          </a:p>
        </p:txBody>
      </p:sp>
      <p:sp>
        <p:nvSpPr>
          <p:cNvPr id="20" name="Text 16"/>
          <p:cNvSpPr txBox="1"/>
          <p:nvPr/>
        </p:nvSpPr>
        <p:spPr>
          <a:xfrm>
            <a:off x="384048" y="4407408"/>
            <a:ext cx="2066544" cy="201168"/>
          </a:xfrm>
          <a:prstGeom prst="rect">
            <a:avLst/>
          </a:prstGeom>
          <a:noFill/>
          <a:ln/>
        </p:spPr>
        <p:txBody>
          <a:bodyPr wrap="square" lIns="0" tIns="0" rIns="0" bIns="0" rtlCol="0" anchor="ctr"/>
          <a:lstStyle/>
          <a:p>
            <a:pPr marL="0" indent="0">
              <a:buNone/>
            </a:pPr>
            <a:r>
              <a:rPr lang="en-US" sz="900" b="1" dirty="0">
                <a:solidFill>
                  <a:srgbClr val="1A6FC4"/>
                </a:solidFill>
                <a:latin typeface="Calibri" pitchFamily="34" charset="0"/>
                <a:ea typeface="Calibri" pitchFamily="34" charset="-122"/>
                <a:cs typeface="Calibri" pitchFamily="34" charset="-120"/>
              </a:rPr>
              <a:t>h90  </a:t>
            </a:r>
            <a:r>
              <a:rPr lang="en-US" sz="900" dirty="0">
                <a:solidFill>
                  <a:srgbClr val="5B6B7C"/>
                </a:solidFill>
                <a:latin typeface="Calibri" pitchFamily="34" charset="0"/>
                <a:ea typeface="Calibri" pitchFamily="34" charset="-122"/>
                <a:cs typeface="Calibri" pitchFamily="34" charset="-120"/>
              </a:rPr>
              <a:t>back on a new FIR within 90 days</a:t>
            </a:r>
            <a:endParaRPr lang="en-US" sz="900" dirty="0"/>
          </a:p>
        </p:txBody>
      </p:sp>
      <p:sp>
        <p:nvSpPr>
          <p:cNvPr id="21" name="Text 17"/>
          <p:cNvSpPr txBox="1"/>
          <p:nvPr/>
        </p:nvSpPr>
        <p:spPr>
          <a:xfrm>
            <a:off x="2458962" y="4407408"/>
            <a:ext cx="2066544" cy="201168"/>
          </a:xfrm>
          <a:prstGeom prst="rect">
            <a:avLst/>
          </a:prstGeom>
          <a:noFill/>
          <a:ln/>
        </p:spPr>
        <p:txBody>
          <a:bodyPr wrap="square" lIns="0" tIns="0" rIns="0" bIns="0" rtlCol="0" anchor="ctr"/>
          <a:lstStyle/>
          <a:p>
            <a:pPr marL="0" indent="0">
              <a:buNone/>
            </a:pPr>
            <a:r>
              <a:rPr lang="en-US" sz="900" b="1" dirty="0">
                <a:solidFill>
                  <a:srgbClr val="1A6FC4"/>
                </a:solidFill>
                <a:latin typeface="Calibri" pitchFamily="34" charset="0"/>
                <a:ea typeface="Calibri" pitchFamily="34" charset="-122"/>
                <a:cs typeface="Calibri" pitchFamily="34" charset="-120"/>
              </a:rPr>
              <a:t>h180  </a:t>
            </a:r>
            <a:r>
              <a:rPr lang="en-US" sz="900" dirty="0">
                <a:solidFill>
                  <a:srgbClr val="5B6B7C"/>
                </a:solidFill>
                <a:latin typeface="Calibri" pitchFamily="34" charset="0"/>
                <a:ea typeface="Calibri" pitchFamily="34" charset="-122"/>
                <a:cs typeface="Calibri" pitchFamily="34" charset="-120"/>
              </a:rPr>
              <a:t>within 180 days — the default</a:t>
            </a:r>
            <a:endParaRPr lang="en-US" sz="900" dirty="0"/>
          </a:p>
        </p:txBody>
      </p:sp>
      <p:sp>
        <p:nvSpPr>
          <p:cNvPr id="22" name="Text 18"/>
          <p:cNvSpPr txBox="1"/>
          <p:nvPr/>
        </p:nvSpPr>
        <p:spPr>
          <a:xfrm>
            <a:off x="4626864" y="4407408"/>
            <a:ext cx="2066544" cy="201168"/>
          </a:xfrm>
          <a:prstGeom prst="rect">
            <a:avLst/>
          </a:prstGeom>
          <a:noFill/>
          <a:ln/>
        </p:spPr>
        <p:txBody>
          <a:bodyPr wrap="square" lIns="0" tIns="0" rIns="0" bIns="0" rtlCol="0" anchor="ctr"/>
          <a:lstStyle/>
          <a:p>
            <a:pPr marL="0" indent="0">
              <a:buNone/>
            </a:pPr>
            <a:r>
              <a:rPr lang="en-US" sz="900" b="1" dirty="0">
                <a:solidFill>
                  <a:srgbClr val="1A6FC4"/>
                </a:solidFill>
                <a:latin typeface="Calibri" pitchFamily="34" charset="0"/>
                <a:ea typeface="Calibri" pitchFamily="34" charset="-122"/>
                <a:cs typeface="Calibri" pitchFamily="34" charset="-120"/>
              </a:rPr>
              <a:t>h365  </a:t>
            </a:r>
            <a:r>
              <a:rPr lang="en-US" sz="900" dirty="0">
                <a:solidFill>
                  <a:srgbClr val="5B6B7C"/>
                </a:solidFill>
                <a:latin typeface="Calibri" pitchFamily="34" charset="0"/>
                <a:ea typeface="Calibri" pitchFamily="34" charset="-122"/>
                <a:cs typeface="Calibri" pitchFamily="34" charset="-120"/>
              </a:rPr>
              <a:t>within a year</a:t>
            </a:r>
            <a:endParaRPr lang="en-US" sz="900" dirty="0"/>
          </a:p>
        </p:txBody>
      </p:sp>
      <p:sp>
        <p:nvSpPr>
          <p:cNvPr id="23" name="Text 19"/>
          <p:cNvSpPr txBox="1"/>
          <p:nvPr/>
        </p:nvSpPr>
        <p:spPr>
          <a:xfrm>
            <a:off x="6748272" y="4407408"/>
            <a:ext cx="2066544" cy="201168"/>
          </a:xfrm>
          <a:prstGeom prst="rect">
            <a:avLst/>
          </a:prstGeom>
          <a:noFill/>
          <a:ln/>
        </p:spPr>
        <p:txBody>
          <a:bodyPr wrap="square" lIns="0" tIns="0" rIns="0" bIns="0" rtlCol="0" anchor="ctr"/>
          <a:lstStyle/>
          <a:p>
            <a:pPr marL="0" indent="0">
              <a:buNone/>
            </a:pPr>
            <a:r>
              <a:rPr lang="en-US" sz="900" b="1" dirty="0">
                <a:solidFill>
                  <a:srgbClr val="1A6FC4"/>
                </a:solidFill>
                <a:latin typeface="Calibri" pitchFamily="34" charset="0"/>
                <a:ea typeface="Calibri" pitchFamily="34" charset="-122"/>
                <a:cs typeface="Calibri" pitchFamily="34" charset="-120"/>
              </a:rPr>
              <a:t>new365  </a:t>
            </a:r>
            <a:r>
              <a:rPr lang="en-US" sz="900" dirty="0">
                <a:solidFill>
                  <a:srgbClr val="5B6B7C"/>
                </a:solidFill>
                <a:latin typeface="Calibri" pitchFamily="34" charset="0"/>
                <a:ea typeface="Calibri" pitchFamily="34" charset="-122"/>
                <a:cs typeface="Calibri" pitchFamily="34" charset="-120"/>
              </a:rPr>
              <a:t>next FIR in a district never worked</a:t>
            </a:r>
            <a:endParaRPr lang="en-US" sz="900" dirty="0"/>
          </a:p>
        </p:txBody>
      </p:sp>
      <p:sp>
        <p:nvSpPr>
          <p:cNvPr id="24" name="Text 20"/>
          <p:cNvSpPr txBox="1"/>
          <p:nvPr/>
        </p:nvSpPr>
        <p:spPr>
          <a:xfrm>
            <a:off x="384048" y="4626864"/>
            <a:ext cx="2066544" cy="201168"/>
          </a:xfrm>
          <a:prstGeom prst="rect">
            <a:avLst/>
          </a:prstGeom>
          <a:noFill/>
          <a:ln/>
        </p:spPr>
        <p:txBody>
          <a:bodyPr wrap="square" lIns="0" tIns="0" rIns="0" bIns="0" rtlCol="0" anchor="ctr"/>
          <a:lstStyle/>
          <a:p>
            <a:pPr marL="0" indent="0">
              <a:buNone/>
            </a:pPr>
            <a:r>
              <a:rPr lang="en-US" sz="900" b="1" dirty="0">
                <a:solidFill>
                  <a:srgbClr val="1A6FC4"/>
                </a:solidFill>
                <a:latin typeface="Calibri" pitchFamily="34" charset="0"/>
                <a:ea typeface="Calibri" pitchFamily="34" charset="-122"/>
                <a:cs typeface="Calibri" pitchFamily="34" charset="-120"/>
              </a:rPr>
              <a:t>heinous365  </a:t>
            </a:r>
            <a:r>
              <a:rPr lang="en-US" sz="900" dirty="0">
                <a:solidFill>
                  <a:srgbClr val="5B6B7C"/>
                </a:solidFill>
                <a:latin typeface="Calibri" pitchFamily="34" charset="0"/>
                <a:ea typeface="Calibri" pitchFamily="34" charset="-122"/>
                <a:cs typeface="Calibri" pitchFamily="34" charset="-120"/>
              </a:rPr>
              <a:t>next FIR recorded Heinous</a:t>
            </a:r>
            <a:endParaRPr lang="en-US" sz="900" dirty="0"/>
          </a:p>
        </p:txBody>
      </p:sp>
      <p:sp>
        <p:nvSpPr>
          <p:cNvPr id="25" name="Text 21"/>
          <p:cNvSpPr txBox="1"/>
          <p:nvPr/>
        </p:nvSpPr>
        <p:spPr>
          <a:xfrm>
            <a:off x="2458962" y="4626864"/>
            <a:ext cx="2066544" cy="201168"/>
          </a:xfrm>
          <a:prstGeom prst="rect">
            <a:avLst/>
          </a:prstGeom>
          <a:noFill/>
          <a:ln/>
        </p:spPr>
        <p:txBody>
          <a:bodyPr wrap="square" lIns="0" tIns="0" rIns="0" bIns="0" rtlCol="0" anchor="ctr"/>
          <a:lstStyle/>
          <a:p>
            <a:pPr marL="0" indent="0">
              <a:buNone/>
            </a:pPr>
            <a:r>
              <a:rPr lang="en-US" sz="900" b="1" dirty="0">
                <a:solidFill>
                  <a:srgbClr val="1A6FC4"/>
                </a:solidFill>
                <a:latin typeface="Calibri" pitchFamily="34" charset="0"/>
                <a:ea typeface="Calibri" pitchFamily="34" charset="-122"/>
                <a:cs typeface="Calibri" pitchFamily="34" charset="-120"/>
              </a:rPr>
              <a:t>women365  </a:t>
            </a:r>
            <a:r>
              <a:rPr lang="en-US" sz="900" dirty="0">
                <a:solidFill>
                  <a:srgbClr val="5B6B7C"/>
                </a:solidFill>
                <a:latin typeface="Calibri" pitchFamily="34" charset="0"/>
                <a:ea typeface="Calibri" pitchFamily="34" charset="-122"/>
                <a:cs typeface="Calibri" pitchFamily="34" charset="-120"/>
              </a:rPr>
              <a:t>next FIR a crime against women</a:t>
            </a:r>
            <a:endParaRPr lang="en-US" sz="900" dirty="0"/>
          </a:p>
        </p:txBody>
      </p:sp>
      <p:sp>
        <p:nvSpPr>
          <p:cNvPr id="26" name="Text 22"/>
          <p:cNvSpPr txBox="1"/>
          <p:nvPr/>
        </p:nvSpPr>
        <p:spPr>
          <a:xfrm>
            <a:off x="4626864" y="4626863"/>
            <a:ext cx="2066544" cy="317095"/>
          </a:xfrm>
          <a:prstGeom prst="rect">
            <a:avLst/>
          </a:prstGeom>
          <a:noFill/>
          <a:ln/>
        </p:spPr>
        <p:txBody>
          <a:bodyPr wrap="square" lIns="0" tIns="0" rIns="0" bIns="0" rtlCol="0" anchor="ctr"/>
          <a:lstStyle/>
          <a:p>
            <a:pPr marL="0" indent="0">
              <a:buNone/>
            </a:pPr>
            <a:r>
              <a:rPr lang="en-US" sz="900" b="1" dirty="0">
                <a:solidFill>
                  <a:srgbClr val="1A6FC4"/>
                </a:solidFill>
                <a:latin typeface="Calibri" pitchFamily="34" charset="0"/>
                <a:ea typeface="Calibri" pitchFamily="34" charset="-122"/>
                <a:cs typeface="Calibri" pitchFamily="34" charset="-120"/>
              </a:rPr>
              <a:t>spike  </a:t>
            </a:r>
            <a:r>
              <a:rPr lang="en-US" sz="900" dirty="0">
                <a:solidFill>
                  <a:srgbClr val="5B6B7C"/>
                </a:solidFill>
                <a:latin typeface="Calibri" pitchFamily="34" charset="0"/>
                <a:ea typeface="Calibri" pitchFamily="34" charset="-122"/>
                <a:cs typeface="Calibri" pitchFamily="34" charset="-120"/>
              </a:rPr>
              <a:t>district × crime-head spike next 	month</a:t>
            </a:r>
            <a:endParaRPr lang="en-US" sz="900" dirty="0"/>
          </a:p>
        </p:txBody>
      </p:sp>
      <p:sp>
        <p:nvSpPr>
          <p:cNvPr id="27" name="Text 23"/>
          <p:cNvSpPr txBox="1"/>
          <p:nvPr/>
        </p:nvSpPr>
        <p:spPr>
          <a:xfrm>
            <a:off x="6748272" y="4626864"/>
            <a:ext cx="2066544" cy="292608"/>
          </a:xfrm>
          <a:prstGeom prst="rect">
            <a:avLst/>
          </a:prstGeom>
          <a:noFill/>
          <a:ln/>
        </p:spPr>
        <p:txBody>
          <a:bodyPr wrap="square" lIns="0" tIns="0" rIns="0" bIns="0" rtlCol="0" anchor="ctr"/>
          <a:lstStyle/>
          <a:p>
            <a:pPr marL="0" indent="0">
              <a:buNone/>
            </a:pPr>
            <a:r>
              <a:rPr lang="en-US" sz="900" b="1" dirty="0">
                <a:solidFill>
                  <a:srgbClr val="6D4C9F"/>
                </a:solidFill>
                <a:latin typeface="Calibri" pitchFamily="34" charset="0"/>
                <a:ea typeface="Calibri" pitchFamily="34" charset="-122"/>
                <a:cs typeface="Calibri" pitchFamily="34" charset="-120"/>
              </a:rPr>
              <a:t>pendency  </a:t>
            </a:r>
            <a:r>
              <a:rPr lang="en-US" sz="900" dirty="0">
                <a:solidFill>
                  <a:srgbClr val="5B6B7C"/>
                </a:solidFill>
                <a:latin typeface="Calibri" pitchFamily="34" charset="0"/>
                <a:ea typeface="Calibri" pitchFamily="34" charset="-122"/>
                <a:cs typeface="Calibri" pitchFamily="34" charset="-120"/>
              </a:rPr>
              <a:t>station pendency +20% in 3 	months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ivate/tmp/claude-501/-Users-adarsh-Desktop-Projects-KadiLabs/1a0b3114-7a5c-4b08-a5d4-f9d8371eeea4/scratchpad/deck/bg-content.png"/>
          <p:cNvPicPr>
            <a:picLocks noChangeAspect="1"/>
          </p:cNvPicPr>
          <p:nvPr/>
        </p:nvPicPr>
        <p:blipFill>
          <a:blip r:embed="rId3"/>
          <a:stretch>
            <a:fillRect/>
          </a:stretch>
        </p:blipFill>
        <p:spPr>
          <a:xfrm>
            <a:off x="0" y="0"/>
            <a:ext cx="9144000" cy="5143500"/>
          </a:xfrm>
          <a:prstGeom prst="rect">
            <a:avLst/>
          </a:prstGeom>
        </p:spPr>
      </p:pic>
      <p:sp>
        <p:nvSpPr>
          <p:cNvPr id="3" name="Text 0"/>
          <p:cNvSpPr txBox="1"/>
          <p:nvPr/>
        </p:nvSpPr>
        <p:spPr>
          <a:xfrm>
            <a:off x="384048" y="603504"/>
            <a:ext cx="8375904" cy="365760"/>
          </a:xfrm>
          <a:prstGeom prst="rect">
            <a:avLst/>
          </a:prstGeom>
          <a:noFill/>
          <a:ln/>
        </p:spPr>
        <p:txBody>
          <a:bodyPr wrap="square" lIns="0" tIns="0" rIns="0" bIns="0" rtlCol="0" anchor="t"/>
          <a:lstStyle/>
          <a:p>
            <a:pPr marL="0" indent="0">
              <a:buNone/>
            </a:pPr>
            <a:r>
              <a:rPr lang="en-US" sz="2100" b="1" dirty="0">
                <a:solidFill>
                  <a:srgbClr val="0F2F44"/>
                </a:solidFill>
                <a:latin typeface="Calibri" pitchFamily="34" charset="0"/>
                <a:ea typeface="Calibri" pitchFamily="34" charset="-122"/>
                <a:cs typeface="Calibri" pitchFamily="34" charset="-120"/>
              </a:rPr>
              <a:t>Prototype performance report / benchmarking</a:t>
            </a:r>
            <a:endParaRPr lang="en-US" sz="2100" dirty="0"/>
          </a:p>
        </p:txBody>
      </p:sp>
      <p:sp>
        <p:nvSpPr>
          <p:cNvPr id="4" name="Text 1"/>
          <p:cNvSpPr txBox="1"/>
          <p:nvPr/>
        </p:nvSpPr>
        <p:spPr>
          <a:xfrm>
            <a:off x="384048" y="969264"/>
            <a:ext cx="8375904" cy="237744"/>
          </a:xfrm>
          <a:prstGeom prst="rect">
            <a:avLst/>
          </a:prstGeom>
          <a:noFill/>
          <a:ln/>
        </p:spPr>
        <p:txBody>
          <a:bodyPr wrap="square" lIns="0" tIns="0" rIns="0" bIns="0" rtlCol="0" anchor="t"/>
          <a:lstStyle/>
          <a:p>
            <a:pPr marL="0" indent="0">
              <a:buNone/>
            </a:pPr>
            <a:r>
              <a:rPr lang="en-US" sz="1100" dirty="0">
                <a:solidFill>
                  <a:srgbClr val="5B6B7C"/>
                </a:solidFill>
                <a:latin typeface="Calibri" pitchFamily="34" charset="0"/>
                <a:ea typeface="Calibri" pitchFamily="34" charset="-122"/>
                <a:cs typeface="Calibri" pitchFamily="34" charset="-120"/>
              </a:rPr>
              <a:t>Measured on the deployed build — not estimated, and re-scored by the pipeline on every run</a:t>
            </a:r>
            <a:endParaRPr lang="en-US" sz="1100" dirty="0"/>
          </a:p>
        </p:txBody>
      </p:sp>
      <p:sp>
        <p:nvSpPr>
          <p:cNvPr id="5" name="Shape 2"/>
          <p:cNvSpPr/>
          <p:nvPr/>
        </p:nvSpPr>
        <p:spPr>
          <a:xfrm>
            <a:off x="384048" y="1207008"/>
            <a:ext cx="4078224" cy="2121408"/>
          </a:xfrm>
          <a:prstGeom prst="roundRect">
            <a:avLst>
              <a:gd name="adj" fmla="val 2586"/>
            </a:avLst>
          </a:prstGeom>
          <a:solidFill>
            <a:srgbClr val="FFFFFF"/>
          </a:solidFill>
          <a:ln w="9525">
            <a:solidFill>
              <a:srgbClr val="DCE3EC"/>
            </a:solidFill>
            <a:prstDash val="solid"/>
          </a:ln>
        </p:spPr>
        <p:txBody>
          <a:bodyPr/>
          <a:lstStyle/>
          <a:p>
            <a:endParaRPr lang="en-US"/>
          </a:p>
        </p:txBody>
      </p:sp>
      <p:sp>
        <p:nvSpPr>
          <p:cNvPr id="6" name="Text 3"/>
          <p:cNvSpPr txBox="1"/>
          <p:nvPr/>
        </p:nvSpPr>
        <p:spPr>
          <a:xfrm>
            <a:off x="530352" y="1280160"/>
            <a:ext cx="3785616" cy="182880"/>
          </a:xfrm>
          <a:prstGeom prst="rect">
            <a:avLst/>
          </a:prstGeom>
          <a:noFill/>
          <a:ln/>
        </p:spPr>
        <p:txBody>
          <a:bodyPr wrap="square" lIns="0" tIns="0" rIns="0" bIns="0" rtlCol="0" anchor="ctr"/>
          <a:lstStyle/>
          <a:p>
            <a:pPr marL="0" indent="0">
              <a:buNone/>
            </a:pPr>
            <a:r>
              <a:rPr lang="en-US" sz="900" b="1" dirty="0">
                <a:solidFill>
                  <a:srgbClr val="0F2F44"/>
                </a:solidFill>
                <a:latin typeface="Calibri" pitchFamily="34" charset="0"/>
                <a:ea typeface="Calibri" pitchFamily="34" charset="-122"/>
                <a:cs typeface="Calibri" pitchFamily="34" charset="-120"/>
              </a:rPr>
              <a:t>Ground-truth recovery seven patterns planted, then found again</a:t>
            </a:r>
            <a:endParaRPr lang="en-US" sz="900" dirty="0"/>
          </a:p>
        </p:txBody>
      </p:sp>
      <p:graphicFrame>
        <p:nvGraphicFramePr>
          <p:cNvPr id="7" name="Chart 0"/>
          <p:cNvGraphicFramePr/>
          <p:nvPr/>
        </p:nvGraphicFramePr>
        <p:xfrm>
          <a:off x="438912" y="1481328"/>
          <a:ext cx="3968496" cy="1792224"/>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4"/>
          <p:cNvSpPr/>
          <p:nvPr/>
        </p:nvSpPr>
        <p:spPr>
          <a:xfrm>
            <a:off x="4681728" y="1207008"/>
            <a:ext cx="4078224" cy="2121408"/>
          </a:xfrm>
          <a:prstGeom prst="roundRect">
            <a:avLst>
              <a:gd name="adj" fmla="val 2586"/>
            </a:avLst>
          </a:prstGeom>
          <a:solidFill>
            <a:srgbClr val="FFFFFF"/>
          </a:solidFill>
          <a:ln w="9525">
            <a:solidFill>
              <a:srgbClr val="DCE3EC"/>
            </a:solidFill>
            <a:prstDash val="solid"/>
          </a:ln>
        </p:spPr>
        <p:txBody>
          <a:bodyPr/>
          <a:lstStyle/>
          <a:p>
            <a:endParaRPr lang="en-US"/>
          </a:p>
        </p:txBody>
      </p:sp>
      <p:sp>
        <p:nvSpPr>
          <p:cNvPr id="9" name="Text 5"/>
          <p:cNvSpPr txBox="1"/>
          <p:nvPr/>
        </p:nvSpPr>
        <p:spPr>
          <a:xfrm>
            <a:off x="4828032" y="1280160"/>
            <a:ext cx="3785616" cy="182880"/>
          </a:xfrm>
          <a:prstGeom prst="rect">
            <a:avLst/>
          </a:prstGeom>
          <a:noFill/>
          <a:ln/>
        </p:spPr>
        <p:txBody>
          <a:bodyPr wrap="square" lIns="0" tIns="0" rIns="0" bIns="0" rtlCol="0" anchor="ctr"/>
          <a:lstStyle/>
          <a:p>
            <a:pPr marL="0" indent="0">
              <a:buNone/>
            </a:pPr>
            <a:r>
              <a:rPr lang="en-US" sz="900" b="1" dirty="0">
                <a:solidFill>
                  <a:srgbClr val="0F2F44"/>
                </a:solidFill>
                <a:latin typeface="Calibri" pitchFamily="34" charset="0"/>
                <a:ea typeface="Calibri" pitchFamily="34" charset="-122"/>
                <a:cs typeface="Calibri" pitchFamily="34" charset="-120"/>
              </a:rPr>
              <a:t>Memory, before and after the one change that mattered</a:t>
            </a:r>
            <a:endParaRPr lang="en-US" sz="900" dirty="0"/>
          </a:p>
        </p:txBody>
      </p:sp>
      <p:graphicFrame>
        <p:nvGraphicFramePr>
          <p:cNvPr id="10" name="Chart 1"/>
          <p:cNvGraphicFramePr/>
          <p:nvPr>
            <p:extLst>
              <p:ext uri="{D42A27DB-BD31-4B8C-83A1-F6EECF244321}">
                <p14:modId xmlns:p14="http://schemas.microsoft.com/office/powerpoint/2010/main" val="4122502773"/>
              </p:ext>
            </p:extLst>
          </p:nvPr>
        </p:nvGraphicFramePr>
        <p:xfrm>
          <a:off x="4736592" y="1481327"/>
          <a:ext cx="3968496" cy="1502097"/>
        </p:xfrm>
        <a:graphic>
          <a:graphicData uri="http://schemas.openxmlformats.org/drawingml/2006/chart">
            <c:chart xmlns:c="http://schemas.openxmlformats.org/drawingml/2006/chart" xmlns:r="http://schemas.openxmlformats.org/officeDocument/2006/relationships" r:id="rId5"/>
          </a:graphicData>
        </a:graphic>
      </p:graphicFrame>
      <p:sp>
        <p:nvSpPr>
          <p:cNvPr id="11" name="Text 6"/>
          <p:cNvSpPr txBox="1"/>
          <p:nvPr/>
        </p:nvSpPr>
        <p:spPr>
          <a:xfrm>
            <a:off x="4828032" y="2885474"/>
            <a:ext cx="3822192" cy="431782"/>
          </a:xfrm>
          <a:prstGeom prst="rect">
            <a:avLst/>
          </a:prstGeom>
          <a:noFill/>
          <a:ln/>
        </p:spPr>
        <p:txBody>
          <a:bodyPr wrap="square" lIns="0" tIns="0" rIns="0" bIns="0" rtlCol="0" anchor="t"/>
          <a:lstStyle/>
          <a:p>
            <a:pPr marL="0" indent="0">
              <a:lnSpc>
                <a:spcPct val="102000"/>
              </a:lnSpc>
              <a:buNone/>
            </a:pPr>
            <a:r>
              <a:rPr lang="en-US" sz="800" b="1" dirty="0">
                <a:solidFill>
                  <a:srgbClr val="0F2F44"/>
                </a:solidFill>
                <a:latin typeface="Calibri" pitchFamily="34" charset="0"/>
                <a:ea typeface="Calibri" pitchFamily="34" charset="-122"/>
                <a:cs typeface="Calibri" pitchFamily="34" charset="-120"/>
              </a:rPr>
              <a:t>Peak fell 1,770 → 738 MB  </a:t>
            </a:r>
            <a:r>
              <a:rPr lang="en-US" sz="800" dirty="0">
                <a:solidFill>
                  <a:srgbClr val="5B6B7C"/>
                </a:solidFill>
                <a:latin typeface="Calibri" pitchFamily="34" charset="0"/>
                <a:ea typeface="Calibri" pitchFamily="34" charset="-122"/>
                <a:cs typeface="Calibri" pitchFamily="34" charset="-120"/>
              </a:rPr>
              <a:t>by capping scikit-learn’s working_memory at 32 MB  byte-identical output, zero speed cost, and it is what brought the run inside the 512 MB Job budget.</a:t>
            </a:r>
            <a:endParaRPr lang="en-US" sz="800" dirty="0"/>
          </a:p>
        </p:txBody>
      </p:sp>
      <p:sp>
        <p:nvSpPr>
          <p:cNvPr id="12" name="Shape 7"/>
          <p:cNvSpPr/>
          <p:nvPr/>
        </p:nvSpPr>
        <p:spPr>
          <a:xfrm>
            <a:off x="384048" y="3438144"/>
            <a:ext cx="1133856" cy="603504"/>
          </a:xfrm>
          <a:prstGeom prst="roundRect">
            <a:avLst>
              <a:gd name="adj" fmla="val 9091"/>
            </a:avLst>
          </a:prstGeom>
          <a:solidFill>
            <a:srgbClr val="FFFFFF"/>
          </a:solidFill>
          <a:ln w="9525">
            <a:solidFill>
              <a:srgbClr val="DCE3EC"/>
            </a:solidFill>
            <a:prstDash val="solid"/>
          </a:ln>
        </p:spPr>
        <p:txBody>
          <a:bodyPr/>
          <a:lstStyle/>
          <a:p>
            <a:endParaRPr lang="en-US"/>
          </a:p>
        </p:txBody>
      </p:sp>
      <p:sp>
        <p:nvSpPr>
          <p:cNvPr id="13" name="Text 8"/>
          <p:cNvSpPr txBox="1"/>
          <p:nvPr/>
        </p:nvSpPr>
        <p:spPr>
          <a:xfrm>
            <a:off x="457200" y="3493008"/>
            <a:ext cx="987552" cy="237744"/>
          </a:xfrm>
          <a:prstGeom prst="rect">
            <a:avLst/>
          </a:prstGeom>
          <a:noFill/>
          <a:ln/>
        </p:spPr>
        <p:txBody>
          <a:bodyPr wrap="square" lIns="0" tIns="0" rIns="0" bIns="0" rtlCol="0" anchor="ctr"/>
          <a:lstStyle/>
          <a:p>
            <a:pPr marL="0" indent="0">
              <a:buNone/>
            </a:pPr>
            <a:r>
              <a:rPr lang="en-US" sz="1200" b="1" dirty="0">
                <a:solidFill>
                  <a:srgbClr val="0F2F44"/>
                </a:solidFill>
                <a:latin typeface="Calibri" pitchFamily="34" charset="0"/>
                <a:ea typeface="Calibri" pitchFamily="34" charset="-122"/>
                <a:cs typeface="Calibri" pitchFamily="34" charset="-120"/>
              </a:rPr>
              <a:t>24.6 s</a:t>
            </a:r>
            <a:endParaRPr lang="en-US" sz="1200" dirty="0"/>
          </a:p>
        </p:txBody>
      </p:sp>
      <p:sp>
        <p:nvSpPr>
          <p:cNvPr id="14" name="Text 9"/>
          <p:cNvSpPr txBox="1"/>
          <p:nvPr/>
        </p:nvSpPr>
        <p:spPr>
          <a:xfrm>
            <a:off x="457200" y="3730752"/>
            <a:ext cx="987552" cy="274320"/>
          </a:xfrm>
          <a:prstGeom prst="rect">
            <a:avLst/>
          </a:prstGeom>
          <a:noFill/>
          <a:ln/>
        </p:spPr>
        <p:txBody>
          <a:bodyPr wrap="square" lIns="0" tIns="0" rIns="0" bIns="0" rtlCol="0" anchor="t"/>
          <a:lstStyle/>
          <a:p>
            <a:pPr marL="0" indent="0">
              <a:lnSpc>
                <a:spcPct val="98000"/>
              </a:lnSpc>
              <a:buNone/>
            </a:pPr>
            <a:r>
              <a:rPr lang="en-US" sz="800" dirty="0">
                <a:solidFill>
                  <a:srgbClr val="5B6B7C"/>
                </a:solidFill>
                <a:latin typeface="Calibri" pitchFamily="34" charset="0"/>
                <a:ea typeface="Calibri" pitchFamily="34" charset="-122"/>
                <a:cs typeface="Calibri" pitchFamily="34" charset="-120"/>
              </a:rPr>
              <a:t>full pipeline · 59,985 FIRs</a:t>
            </a:r>
            <a:endParaRPr lang="en-US" sz="800" dirty="0"/>
          </a:p>
        </p:txBody>
      </p:sp>
      <p:sp>
        <p:nvSpPr>
          <p:cNvPr id="15" name="Shape 10"/>
          <p:cNvSpPr/>
          <p:nvPr/>
        </p:nvSpPr>
        <p:spPr>
          <a:xfrm>
            <a:off x="1591056" y="3438144"/>
            <a:ext cx="1133856" cy="603504"/>
          </a:xfrm>
          <a:prstGeom prst="roundRect">
            <a:avLst>
              <a:gd name="adj" fmla="val 9091"/>
            </a:avLst>
          </a:prstGeom>
          <a:solidFill>
            <a:srgbClr val="FFFFFF"/>
          </a:solidFill>
          <a:ln w="9525">
            <a:solidFill>
              <a:srgbClr val="DCE3EC"/>
            </a:solidFill>
            <a:prstDash val="solid"/>
          </a:ln>
        </p:spPr>
        <p:txBody>
          <a:bodyPr/>
          <a:lstStyle/>
          <a:p>
            <a:endParaRPr lang="en-US"/>
          </a:p>
        </p:txBody>
      </p:sp>
      <p:sp>
        <p:nvSpPr>
          <p:cNvPr id="16" name="Text 11"/>
          <p:cNvSpPr txBox="1"/>
          <p:nvPr/>
        </p:nvSpPr>
        <p:spPr>
          <a:xfrm>
            <a:off x="1664208" y="3493008"/>
            <a:ext cx="987552" cy="237744"/>
          </a:xfrm>
          <a:prstGeom prst="rect">
            <a:avLst/>
          </a:prstGeom>
          <a:noFill/>
          <a:ln/>
        </p:spPr>
        <p:txBody>
          <a:bodyPr wrap="square" lIns="0" tIns="0" rIns="0" bIns="0" rtlCol="0" anchor="ctr"/>
          <a:lstStyle/>
          <a:p>
            <a:pPr marL="0" indent="0">
              <a:buNone/>
            </a:pPr>
            <a:r>
              <a:rPr lang="en-US" sz="1200" b="1" dirty="0">
                <a:solidFill>
                  <a:srgbClr val="2FA8A0"/>
                </a:solidFill>
                <a:latin typeface="Calibri" pitchFamily="34" charset="0"/>
                <a:ea typeface="Calibri" pitchFamily="34" charset="-122"/>
                <a:cs typeface="Calibri" pitchFamily="34" charset="-120"/>
              </a:rPr>
              <a:t>135 ms</a:t>
            </a:r>
            <a:endParaRPr lang="en-US" sz="1200" dirty="0"/>
          </a:p>
        </p:txBody>
      </p:sp>
      <p:sp>
        <p:nvSpPr>
          <p:cNvPr id="17" name="Text 12"/>
          <p:cNvSpPr txBox="1"/>
          <p:nvPr/>
        </p:nvSpPr>
        <p:spPr>
          <a:xfrm>
            <a:off x="1664208" y="3730752"/>
            <a:ext cx="987552" cy="274320"/>
          </a:xfrm>
          <a:prstGeom prst="rect">
            <a:avLst/>
          </a:prstGeom>
          <a:noFill/>
          <a:ln/>
        </p:spPr>
        <p:txBody>
          <a:bodyPr wrap="square" lIns="0" tIns="0" rIns="0" bIns="0" rtlCol="0" anchor="t"/>
          <a:lstStyle/>
          <a:p>
            <a:pPr marL="0" indent="0">
              <a:lnSpc>
                <a:spcPct val="98000"/>
              </a:lnSpc>
              <a:buNone/>
            </a:pPr>
            <a:r>
              <a:rPr lang="en-US" sz="800" dirty="0">
                <a:solidFill>
                  <a:srgbClr val="5B6B7C"/>
                </a:solidFill>
                <a:latin typeface="Calibri" pitchFamily="34" charset="0"/>
                <a:ea typeface="Calibri" pitchFamily="34" charset="-122"/>
                <a:cs typeface="Calibri" pitchFamily="34" charset="-120"/>
              </a:rPr>
              <a:t>AppSail analytics</a:t>
            </a:r>
            <a:endParaRPr lang="en-US" sz="800" dirty="0"/>
          </a:p>
        </p:txBody>
      </p:sp>
      <p:sp>
        <p:nvSpPr>
          <p:cNvPr id="18" name="Shape 13"/>
          <p:cNvSpPr/>
          <p:nvPr/>
        </p:nvSpPr>
        <p:spPr>
          <a:xfrm>
            <a:off x="2798064" y="3438144"/>
            <a:ext cx="1133856" cy="603504"/>
          </a:xfrm>
          <a:prstGeom prst="roundRect">
            <a:avLst>
              <a:gd name="adj" fmla="val 9091"/>
            </a:avLst>
          </a:prstGeom>
          <a:solidFill>
            <a:srgbClr val="FFFFFF"/>
          </a:solidFill>
          <a:ln w="9525">
            <a:solidFill>
              <a:srgbClr val="DCE3EC"/>
            </a:solidFill>
            <a:prstDash val="solid"/>
          </a:ln>
        </p:spPr>
        <p:txBody>
          <a:bodyPr/>
          <a:lstStyle/>
          <a:p>
            <a:endParaRPr lang="en-US"/>
          </a:p>
        </p:txBody>
      </p:sp>
      <p:sp>
        <p:nvSpPr>
          <p:cNvPr id="19" name="Text 14"/>
          <p:cNvSpPr txBox="1"/>
          <p:nvPr/>
        </p:nvSpPr>
        <p:spPr>
          <a:xfrm>
            <a:off x="2871216" y="3493008"/>
            <a:ext cx="987552" cy="237744"/>
          </a:xfrm>
          <a:prstGeom prst="rect">
            <a:avLst/>
          </a:prstGeom>
          <a:noFill/>
          <a:ln/>
        </p:spPr>
        <p:txBody>
          <a:bodyPr wrap="square" lIns="0" tIns="0" rIns="0" bIns="0" rtlCol="0" anchor="ctr"/>
          <a:lstStyle/>
          <a:p>
            <a:pPr marL="0" indent="0">
              <a:buNone/>
            </a:pPr>
            <a:r>
              <a:rPr lang="en-US" sz="1200" b="1" dirty="0">
                <a:solidFill>
                  <a:srgbClr val="2FA8A0"/>
                </a:solidFill>
                <a:latin typeface="Calibri" pitchFamily="34" charset="0"/>
                <a:ea typeface="Calibri" pitchFamily="34" charset="-122"/>
                <a:cs typeface="Calibri" pitchFamily="34" charset="-120"/>
              </a:rPr>
              <a:t>&lt; 100 ms</a:t>
            </a:r>
            <a:endParaRPr lang="en-US" sz="1200" dirty="0"/>
          </a:p>
        </p:txBody>
      </p:sp>
      <p:sp>
        <p:nvSpPr>
          <p:cNvPr id="20" name="Text 15"/>
          <p:cNvSpPr txBox="1"/>
          <p:nvPr/>
        </p:nvSpPr>
        <p:spPr>
          <a:xfrm>
            <a:off x="2871216" y="3730752"/>
            <a:ext cx="987552" cy="274320"/>
          </a:xfrm>
          <a:prstGeom prst="rect">
            <a:avLst/>
          </a:prstGeom>
          <a:noFill/>
          <a:ln/>
        </p:spPr>
        <p:txBody>
          <a:bodyPr wrap="square" lIns="0" tIns="0" rIns="0" bIns="0" rtlCol="0" anchor="t"/>
          <a:lstStyle/>
          <a:p>
            <a:pPr marL="0" indent="0">
              <a:lnSpc>
                <a:spcPct val="98000"/>
              </a:lnSpc>
              <a:buNone/>
            </a:pPr>
            <a:r>
              <a:rPr lang="en-US" sz="800" dirty="0">
                <a:solidFill>
                  <a:srgbClr val="5B6B7C"/>
                </a:solidFill>
                <a:latin typeface="Calibri" pitchFamily="34" charset="0"/>
                <a:ea typeface="Calibri" pitchFamily="34" charset="-122"/>
                <a:cs typeface="Calibri" pitchFamily="34" charset="-120"/>
              </a:rPr>
              <a:t>typical API response</a:t>
            </a:r>
            <a:endParaRPr lang="en-US" sz="800" dirty="0"/>
          </a:p>
        </p:txBody>
      </p:sp>
      <p:sp>
        <p:nvSpPr>
          <p:cNvPr id="21" name="Shape 16"/>
          <p:cNvSpPr/>
          <p:nvPr/>
        </p:nvSpPr>
        <p:spPr>
          <a:xfrm>
            <a:off x="4005072" y="3438144"/>
            <a:ext cx="1133856" cy="603504"/>
          </a:xfrm>
          <a:prstGeom prst="roundRect">
            <a:avLst>
              <a:gd name="adj" fmla="val 9091"/>
            </a:avLst>
          </a:prstGeom>
          <a:solidFill>
            <a:srgbClr val="FFFFFF"/>
          </a:solidFill>
          <a:ln w="9525">
            <a:solidFill>
              <a:srgbClr val="DCE3EC"/>
            </a:solidFill>
            <a:prstDash val="solid"/>
          </a:ln>
        </p:spPr>
        <p:txBody>
          <a:bodyPr/>
          <a:lstStyle/>
          <a:p>
            <a:endParaRPr lang="en-US"/>
          </a:p>
        </p:txBody>
      </p:sp>
      <p:sp>
        <p:nvSpPr>
          <p:cNvPr id="22" name="Text 17"/>
          <p:cNvSpPr txBox="1"/>
          <p:nvPr/>
        </p:nvSpPr>
        <p:spPr>
          <a:xfrm>
            <a:off x="4078224" y="3493008"/>
            <a:ext cx="987552" cy="237744"/>
          </a:xfrm>
          <a:prstGeom prst="rect">
            <a:avLst/>
          </a:prstGeom>
          <a:noFill/>
          <a:ln/>
        </p:spPr>
        <p:txBody>
          <a:bodyPr wrap="square" lIns="0" tIns="0" rIns="0" bIns="0" rtlCol="0" anchor="ctr"/>
          <a:lstStyle/>
          <a:p>
            <a:pPr marL="0" indent="0">
              <a:buNone/>
            </a:pPr>
            <a:r>
              <a:rPr lang="en-US" sz="1200" b="1" dirty="0">
                <a:solidFill>
                  <a:srgbClr val="6D4C9F"/>
                </a:solidFill>
                <a:latin typeface="Calibri" pitchFamily="34" charset="0"/>
                <a:ea typeface="Calibri" pitchFamily="34" charset="-122"/>
                <a:cs typeface="Calibri" pitchFamily="34" charset="-120"/>
              </a:rPr>
              <a:t>7.8%</a:t>
            </a:r>
            <a:endParaRPr lang="en-US" sz="1200" dirty="0"/>
          </a:p>
        </p:txBody>
      </p:sp>
      <p:sp>
        <p:nvSpPr>
          <p:cNvPr id="23" name="Text 18"/>
          <p:cNvSpPr txBox="1"/>
          <p:nvPr/>
        </p:nvSpPr>
        <p:spPr>
          <a:xfrm>
            <a:off x="4078224" y="3730752"/>
            <a:ext cx="987552" cy="274320"/>
          </a:xfrm>
          <a:prstGeom prst="rect">
            <a:avLst/>
          </a:prstGeom>
          <a:noFill/>
          <a:ln/>
        </p:spPr>
        <p:txBody>
          <a:bodyPr wrap="square" lIns="0" tIns="0" rIns="0" bIns="0" rtlCol="0" anchor="t"/>
          <a:lstStyle/>
          <a:p>
            <a:pPr marL="0" indent="0">
              <a:lnSpc>
                <a:spcPct val="98000"/>
              </a:lnSpc>
              <a:buNone/>
            </a:pPr>
            <a:r>
              <a:rPr lang="en-US" sz="800" dirty="0">
                <a:solidFill>
                  <a:srgbClr val="5B6B7C"/>
                </a:solidFill>
                <a:latin typeface="Calibri" pitchFamily="34" charset="0"/>
                <a:ea typeface="Calibri" pitchFamily="34" charset="-122"/>
                <a:cs typeface="Calibri" pitchFamily="34" charset="-120"/>
              </a:rPr>
              <a:t>forecast MAPE, hold-out</a:t>
            </a:r>
            <a:endParaRPr lang="en-US" sz="800" dirty="0"/>
          </a:p>
        </p:txBody>
      </p:sp>
      <p:sp>
        <p:nvSpPr>
          <p:cNvPr id="24" name="Shape 19"/>
          <p:cNvSpPr/>
          <p:nvPr/>
        </p:nvSpPr>
        <p:spPr>
          <a:xfrm>
            <a:off x="5212080" y="3438144"/>
            <a:ext cx="1133856" cy="603504"/>
          </a:xfrm>
          <a:prstGeom prst="roundRect">
            <a:avLst>
              <a:gd name="adj" fmla="val 9091"/>
            </a:avLst>
          </a:prstGeom>
          <a:solidFill>
            <a:srgbClr val="FFFFFF"/>
          </a:solidFill>
          <a:ln w="9525">
            <a:solidFill>
              <a:srgbClr val="DCE3EC"/>
            </a:solidFill>
            <a:prstDash val="solid"/>
          </a:ln>
        </p:spPr>
        <p:txBody>
          <a:bodyPr/>
          <a:lstStyle/>
          <a:p>
            <a:endParaRPr lang="en-US"/>
          </a:p>
        </p:txBody>
      </p:sp>
      <p:sp>
        <p:nvSpPr>
          <p:cNvPr id="25" name="Text 20"/>
          <p:cNvSpPr txBox="1"/>
          <p:nvPr/>
        </p:nvSpPr>
        <p:spPr>
          <a:xfrm>
            <a:off x="5285232" y="3493008"/>
            <a:ext cx="987552" cy="237744"/>
          </a:xfrm>
          <a:prstGeom prst="rect">
            <a:avLst/>
          </a:prstGeom>
          <a:noFill/>
          <a:ln/>
        </p:spPr>
        <p:txBody>
          <a:bodyPr wrap="square" lIns="0" tIns="0" rIns="0" bIns="0" rtlCol="0" anchor="ctr"/>
          <a:lstStyle/>
          <a:p>
            <a:pPr marL="0" indent="0">
              <a:buNone/>
            </a:pPr>
            <a:r>
              <a:rPr lang="en-US" sz="1200" b="1" dirty="0">
                <a:solidFill>
                  <a:srgbClr val="1A6FC4"/>
                </a:solidFill>
                <a:latin typeface="Calibri" pitchFamily="34" charset="0"/>
                <a:ea typeface="Calibri" pitchFamily="34" charset="-122"/>
                <a:cs typeface="Calibri" pitchFamily="34" charset="-120"/>
              </a:rPr>
              <a:t>12.1 MB</a:t>
            </a:r>
            <a:endParaRPr lang="en-US" sz="1200" dirty="0"/>
          </a:p>
        </p:txBody>
      </p:sp>
      <p:sp>
        <p:nvSpPr>
          <p:cNvPr id="26" name="Text 21"/>
          <p:cNvSpPr txBox="1"/>
          <p:nvPr/>
        </p:nvSpPr>
        <p:spPr>
          <a:xfrm>
            <a:off x="5285232" y="3730752"/>
            <a:ext cx="987552" cy="274320"/>
          </a:xfrm>
          <a:prstGeom prst="rect">
            <a:avLst/>
          </a:prstGeom>
          <a:noFill/>
          <a:ln/>
        </p:spPr>
        <p:txBody>
          <a:bodyPr wrap="square" lIns="0" tIns="0" rIns="0" bIns="0" rtlCol="0" anchor="t"/>
          <a:lstStyle/>
          <a:p>
            <a:pPr marL="0" indent="0">
              <a:lnSpc>
                <a:spcPct val="98000"/>
              </a:lnSpc>
              <a:buNone/>
            </a:pPr>
            <a:r>
              <a:rPr lang="en-US" sz="800" dirty="0">
                <a:solidFill>
                  <a:srgbClr val="5B6B7C"/>
                </a:solidFill>
                <a:latin typeface="Calibri" pitchFamily="34" charset="0"/>
                <a:ea typeface="Calibri" pitchFamily="34" charset="-122"/>
                <a:cs typeface="Calibri" pitchFamily="34" charset="-120"/>
              </a:rPr>
              <a:t>graph payload, from 54.9</a:t>
            </a:r>
            <a:endParaRPr lang="en-US" sz="800" dirty="0"/>
          </a:p>
        </p:txBody>
      </p:sp>
      <p:sp>
        <p:nvSpPr>
          <p:cNvPr id="27" name="Shape 22"/>
          <p:cNvSpPr/>
          <p:nvPr/>
        </p:nvSpPr>
        <p:spPr>
          <a:xfrm>
            <a:off x="6419088" y="3438144"/>
            <a:ext cx="1133856" cy="603504"/>
          </a:xfrm>
          <a:prstGeom prst="roundRect">
            <a:avLst>
              <a:gd name="adj" fmla="val 9091"/>
            </a:avLst>
          </a:prstGeom>
          <a:solidFill>
            <a:srgbClr val="FFFFFF"/>
          </a:solidFill>
          <a:ln w="9525">
            <a:solidFill>
              <a:srgbClr val="DCE3EC"/>
            </a:solidFill>
            <a:prstDash val="solid"/>
          </a:ln>
        </p:spPr>
        <p:txBody>
          <a:bodyPr/>
          <a:lstStyle/>
          <a:p>
            <a:endParaRPr lang="en-US"/>
          </a:p>
        </p:txBody>
      </p:sp>
      <p:sp>
        <p:nvSpPr>
          <p:cNvPr id="28" name="Text 23"/>
          <p:cNvSpPr txBox="1"/>
          <p:nvPr/>
        </p:nvSpPr>
        <p:spPr>
          <a:xfrm>
            <a:off x="6492240" y="3493008"/>
            <a:ext cx="987552" cy="237744"/>
          </a:xfrm>
          <a:prstGeom prst="rect">
            <a:avLst/>
          </a:prstGeom>
          <a:noFill/>
          <a:ln/>
        </p:spPr>
        <p:txBody>
          <a:bodyPr wrap="square" lIns="0" tIns="0" rIns="0" bIns="0" rtlCol="0" anchor="ctr"/>
          <a:lstStyle/>
          <a:p>
            <a:pPr marL="0" indent="0">
              <a:buNone/>
            </a:pPr>
            <a:r>
              <a:rPr lang="en-US" sz="1200" b="1" dirty="0">
                <a:solidFill>
                  <a:srgbClr val="E8871E"/>
                </a:solidFill>
                <a:latin typeface="Calibri" pitchFamily="34" charset="0"/>
                <a:ea typeface="Calibri" pitchFamily="34" charset="-122"/>
                <a:cs typeface="Calibri" pitchFamily="34" charset="-120"/>
              </a:rPr>
              <a:t>99%</a:t>
            </a:r>
            <a:endParaRPr lang="en-US" sz="1200" dirty="0"/>
          </a:p>
        </p:txBody>
      </p:sp>
      <p:sp>
        <p:nvSpPr>
          <p:cNvPr id="29" name="Text 24"/>
          <p:cNvSpPr txBox="1"/>
          <p:nvPr/>
        </p:nvSpPr>
        <p:spPr>
          <a:xfrm>
            <a:off x="6492240" y="3730752"/>
            <a:ext cx="987552" cy="274320"/>
          </a:xfrm>
          <a:prstGeom prst="rect">
            <a:avLst/>
          </a:prstGeom>
          <a:noFill/>
          <a:ln/>
        </p:spPr>
        <p:txBody>
          <a:bodyPr wrap="square" lIns="0" tIns="0" rIns="0" bIns="0" rtlCol="0" anchor="t"/>
          <a:lstStyle/>
          <a:p>
            <a:pPr marL="0" indent="0">
              <a:lnSpc>
                <a:spcPct val="98000"/>
              </a:lnSpc>
              <a:buNone/>
            </a:pPr>
            <a:r>
              <a:rPr lang="en-US" sz="800" dirty="0">
                <a:solidFill>
                  <a:srgbClr val="5B6B7C"/>
                </a:solidFill>
                <a:latin typeface="Calibri" pitchFamily="34" charset="0"/>
                <a:ea typeface="Calibri" pitchFamily="34" charset="-122"/>
                <a:cs typeface="Calibri" pitchFamily="34" charset="-120"/>
              </a:rPr>
              <a:t>Zia OCR · 2.0 s</a:t>
            </a:r>
            <a:endParaRPr lang="en-US" sz="800" dirty="0"/>
          </a:p>
        </p:txBody>
      </p:sp>
      <p:sp>
        <p:nvSpPr>
          <p:cNvPr id="30" name="Shape 25"/>
          <p:cNvSpPr/>
          <p:nvPr/>
        </p:nvSpPr>
        <p:spPr>
          <a:xfrm>
            <a:off x="7626096" y="3438144"/>
            <a:ext cx="1133856" cy="603504"/>
          </a:xfrm>
          <a:prstGeom prst="roundRect">
            <a:avLst>
              <a:gd name="adj" fmla="val 9091"/>
            </a:avLst>
          </a:prstGeom>
          <a:solidFill>
            <a:srgbClr val="FFFFFF"/>
          </a:solidFill>
          <a:ln w="9525">
            <a:solidFill>
              <a:srgbClr val="DCE3EC"/>
            </a:solidFill>
            <a:prstDash val="solid"/>
          </a:ln>
        </p:spPr>
        <p:txBody>
          <a:bodyPr/>
          <a:lstStyle/>
          <a:p>
            <a:endParaRPr lang="en-US"/>
          </a:p>
        </p:txBody>
      </p:sp>
      <p:sp>
        <p:nvSpPr>
          <p:cNvPr id="31" name="Text 26"/>
          <p:cNvSpPr txBox="1"/>
          <p:nvPr/>
        </p:nvSpPr>
        <p:spPr>
          <a:xfrm>
            <a:off x="7699248" y="3493008"/>
            <a:ext cx="987552" cy="237744"/>
          </a:xfrm>
          <a:prstGeom prst="rect">
            <a:avLst/>
          </a:prstGeom>
          <a:noFill/>
          <a:ln/>
        </p:spPr>
        <p:txBody>
          <a:bodyPr wrap="square" lIns="0" tIns="0" rIns="0" bIns="0" rtlCol="0" anchor="ctr"/>
          <a:lstStyle/>
          <a:p>
            <a:pPr marL="0" indent="0">
              <a:buNone/>
            </a:pPr>
            <a:r>
              <a:rPr lang="en-US" sz="1200" b="1" dirty="0">
                <a:solidFill>
                  <a:srgbClr val="E8871E"/>
                </a:solidFill>
                <a:latin typeface="Calibri" pitchFamily="34" charset="0"/>
                <a:ea typeface="Calibri" pitchFamily="34" charset="-122"/>
                <a:cs typeface="Calibri" pitchFamily="34" charset="-120"/>
              </a:rPr>
              <a:t>127 ms</a:t>
            </a:r>
            <a:endParaRPr lang="en-US" sz="1200" dirty="0"/>
          </a:p>
        </p:txBody>
      </p:sp>
      <p:sp>
        <p:nvSpPr>
          <p:cNvPr id="32" name="Text 27"/>
          <p:cNvSpPr txBox="1"/>
          <p:nvPr/>
        </p:nvSpPr>
        <p:spPr>
          <a:xfrm>
            <a:off x="7699248" y="3730752"/>
            <a:ext cx="987552" cy="274320"/>
          </a:xfrm>
          <a:prstGeom prst="rect">
            <a:avLst/>
          </a:prstGeom>
          <a:noFill/>
          <a:ln/>
        </p:spPr>
        <p:txBody>
          <a:bodyPr wrap="square" lIns="0" tIns="0" rIns="0" bIns="0" rtlCol="0" anchor="t"/>
          <a:lstStyle/>
          <a:p>
            <a:pPr marL="0" indent="0">
              <a:lnSpc>
                <a:spcPct val="98000"/>
              </a:lnSpc>
              <a:buNone/>
            </a:pPr>
            <a:r>
              <a:rPr lang="en-US" sz="800" dirty="0">
                <a:solidFill>
                  <a:srgbClr val="5B6B7C"/>
                </a:solidFill>
                <a:latin typeface="Calibri" pitchFamily="34" charset="0"/>
                <a:ea typeface="Calibri" pitchFamily="34" charset="-122"/>
                <a:cs typeface="Calibri" pitchFamily="34" charset="-120"/>
              </a:rPr>
              <a:t>barcode · QR read</a:t>
            </a:r>
            <a:endParaRPr lang="en-US" sz="800" dirty="0"/>
          </a:p>
        </p:txBody>
      </p:sp>
      <p:sp>
        <p:nvSpPr>
          <p:cNvPr id="33" name="Shape 28"/>
          <p:cNvSpPr/>
          <p:nvPr/>
        </p:nvSpPr>
        <p:spPr>
          <a:xfrm>
            <a:off x="384048" y="4151376"/>
            <a:ext cx="8375904" cy="640080"/>
          </a:xfrm>
          <a:prstGeom prst="roundRect">
            <a:avLst>
              <a:gd name="adj" fmla="val 8571"/>
            </a:avLst>
          </a:prstGeom>
          <a:solidFill>
            <a:srgbClr val="E4F5F3"/>
          </a:solidFill>
          <a:ln w="9525">
            <a:solidFill>
              <a:srgbClr val="BFE4E0"/>
            </a:solidFill>
            <a:prstDash val="solid"/>
          </a:ln>
        </p:spPr>
        <p:txBody>
          <a:bodyPr/>
          <a:lstStyle/>
          <a:p>
            <a:endParaRPr lang="en-US"/>
          </a:p>
        </p:txBody>
      </p:sp>
      <p:sp>
        <p:nvSpPr>
          <p:cNvPr id="34" name="Text 29"/>
          <p:cNvSpPr txBox="1"/>
          <p:nvPr/>
        </p:nvSpPr>
        <p:spPr>
          <a:xfrm>
            <a:off x="512064" y="4151376"/>
            <a:ext cx="8119872" cy="640080"/>
          </a:xfrm>
          <a:prstGeom prst="rect">
            <a:avLst/>
          </a:prstGeom>
          <a:noFill/>
          <a:ln/>
        </p:spPr>
        <p:txBody>
          <a:bodyPr wrap="square" lIns="0" tIns="0" rIns="0" bIns="0" rtlCol="0" anchor="ctr"/>
          <a:lstStyle/>
          <a:p>
            <a:pPr marL="0" indent="0">
              <a:buNone/>
            </a:pPr>
            <a:r>
              <a:rPr lang="en-US" sz="850" b="1" dirty="0">
                <a:solidFill>
                  <a:srgbClr val="2FA8A0"/>
                </a:solidFill>
                <a:latin typeface="Calibri" pitchFamily="34" charset="0"/>
                <a:ea typeface="Calibri" pitchFamily="34" charset="-122"/>
                <a:cs typeface="Calibri" pitchFamily="34" charset="-120"/>
              </a:rPr>
              <a:t>103 automated tests · 83 Node + 20 Python · 228 commits over 49 days.  </a:t>
            </a:r>
            <a:r>
              <a:rPr lang="en-US" sz="850" dirty="0">
                <a:solidFill>
                  <a:srgbClr val="5B6B7C"/>
                </a:solidFill>
                <a:latin typeface="Calibri" pitchFamily="34" charset="0"/>
                <a:ea typeface="Calibri" pitchFamily="34" charset="-122"/>
                <a:cs typeface="Calibri" pitchFamily="34" charset="-120"/>
              </a:rPr>
              <a:t>They cover the response envelope, RBAC at all three tiers, the scope refusal in both directions, evidence filing and retention, and a set of structural invariants — audit labels, route ordering, ZCQL limits, build output. Plus the fairness invariant, which fails the build if a protected attribute reaches a model’s feature set. Seven patterns are planted by the generator at seed 2026 and re-scored on every run, so the recovery above is produced by the system rather than typed into this deck.</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ivate/tmp/claude-501/-Users-adarsh-Desktop-Projects-KadiLabs/1a0b3114-7a5c-4b08-a5d4-f9d8371eeea4/scratchpad/deck/bg-content.png"/>
          <p:cNvPicPr>
            <a:picLocks noChangeAspect="1"/>
          </p:cNvPicPr>
          <p:nvPr/>
        </p:nvPicPr>
        <p:blipFill>
          <a:blip r:embed="rId3"/>
          <a:stretch>
            <a:fillRect/>
          </a:stretch>
        </p:blipFill>
        <p:spPr>
          <a:xfrm>
            <a:off x="0" y="0"/>
            <a:ext cx="9144000" cy="5143500"/>
          </a:xfrm>
          <a:prstGeom prst="rect">
            <a:avLst/>
          </a:prstGeom>
        </p:spPr>
      </p:pic>
      <p:sp>
        <p:nvSpPr>
          <p:cNvPr id="3" name="Text 0"/>
          <p:cNvSpPr txBox="1"/>
          <p:nvPr/>
        </p:nvSpPr>
        <p:spPr>
          <a:xfrm>
            <a:off x="384048" y="603504"/>
            <a:ext cx="8375904" cy="365760"/>
          </a:xfrm>
          <a:prstGeom prst="rect">
            <a:avLst/>
          </a:prstGeom>
          <a:noFill/>
          <a:ln/>
        </p:spPr>
        <p:txBody>
          <a:bodyPr wrap="square" lIns="0" tIns="0" rIns="0" bIns="0" rtlCol="0" anchor="t"/>
          <a:lstStyle/>
          <a:p>
            <a:pPr marL="0" indent="0">
              <a:buNone/>
            </a:pPr>
            <a:r>
              <a:rPr lang="en-US" sz="2100" b="1" dirty="0">
                <a:solidFill>
                  <a:srgbClr val="0F2F44"/>
                </a:solidFill>
                <a:latin typeface="Calibri" pitchFamily="34" charset="0"/>
                <a:ea typeface="Calibri" pitchFamily="34" charset="-122"/>
                <a:cs typeface="Calibri" pitchFamily="34" charset="-120"/>
              </a:rPr>
              <a:t>Who sees what — the access model</a:t>
            </a:r>
            <a:endParaRPr lang="en-US" sz="2100" dirty="0"/>
          </a:p>
        </p:txBody>
      </p:sp>
      <p:sp>
        <p:nvSpPr>
          <p:cNvPr id="4" name="Text 1"/>
          <p:cNvSpPr txBox="1"/>
          <p:nvPr/>
        </p:nvSpPr>
        <p:spPr>
          <a:xfrm>
            <a:off x="384048" y="969264"/>
            <a:ext cx="8375904" cy="237744"/>
          </a:xfrm>
          <a:prstGeom prst="rect">
            <a:avLst/>
          </a:prstGeom>
          <a:noFill/>
          <a:ln/>
        </p:spPr>
        <p:txBody>
          <a:bodyPr wrap="square" lIns="0" tIns="0" rIns="0" bIns="0" rtlCol="0" anchor="t"/>
          <a:lstStyle/>
          <a:p>
            <a:pPr marL="0" indent="0">
              <a:buNone/>
            </a:pPr>
            <a:r>
              <a:rPr lang="en-US" sz="1050" dirty="0">
                <a:solidFill>
                  <a:srgbClr val="5B6B7C"/>
                </a:solidFill>
                <a:latin typeface="Calibri" pitchFamily="34" charset="0"/>
                <a:ea typeface="Calibri" pitchFamily="34" charset="-122"/>
                <a:cs typeface="Calibri" pitchFamily="34" charset="-120"/>
              </a:rPr>
              <a:t>Six ranks, one register. Scope is enforced on every read and every write, and every privileged access is logged</a:t>
            </a:r>
            <a:endParaRPr lang="en-US" sz="1050" dirty="0"/>
          </a:p>
        </p:txBody>
      </p:sp>
      <p:sp>
        <p:nvSpPr>
          <p:cNvPr id="5" name="Shape 2"/>
          <p:cNvSpPr/>
          <p:nvPr/>
        </p:nvSpPr>
        <p:spPr>
          <a:xfrm>
            <a:off x="384048" y="1207008"/>
            <a:ext cx="4078224" cy="1792224"/>
          </a:xfrm>
          <a:prstGeom prst="roundRect">
            <a:avLst>
              <a:gd name="adj" fmla="val 3061"/>
            </a:avLst>
          </a:prstGeom>
          <a:solidFill>
            <a:srgbClr val="FFFFFF"/>
          </a:solidFill>
          <a:ln w="9525">
            <a:solidFill>
              <a:srgbClr val="DCE3EC"/>
            </a:solidFill>
            <a:prstDash val="solid"/>
          </a:ln>
        </p:spPr>
        <p:txBody>
          <a:bodyPr/>
          <a:lstStyle/>
          <a:p>
            <a:endParaRPr lang="en-US"/>
          </a:p>
        </p:txBody>
      </p:sp>
      <p:sp>
        <p:nvSpPr>
          <p:cNvPr id="6" name="Text 3"/>
          <p:cNvSpPr txBox="1"/>
          <p:nvPr/>
        </p:nvSpPr>
        <p:spPr>
          <a:xfrm>
            <a:off x="530352" y="1280160"/>
            <a:ext cx="3785616" cy="182880"/>
          </a:xfrm>
          <a:prstGeom prst="rect">
            <a:avLst/>
          </a:prstGeom>
          <a:noFill/>
          <a:ln/>
        </p:spPr>
        <p:txBody>
          <a:bodyPr wrap="square" lIns="0" tIns="0" rIns="0" bIns="0" rtlCol="0" anchor="ctr"/>
          <a:lstStyle/>
          <a:p>
            <a:r>
              <a:rPr lang="en-US" sz="900" b="1" dirty="0">
                <a:solidFill>
                  <a:srgbClr val="0F2F44"/>
                </a:solidFill>
                <a:latin typeface="Calibri" pitchFamily="34" charset="0"/>
                <a:ea typeface="Calibri" pitchFamily="34" charset="-122"/>
                <a:cs typeface="Calibri" pitchFamily="34" charset="-120"/>
              </a:rPr>
              <a:t>Three tiers of scope, six+ ranks </a:t>
            </a:r>
            <a:endParaRPr lang="en-US" sz="900" dirty="0"/>
          </a:p>
        </p:txBody>
      </p:sp>
      <p:sp>
        <p:nvSpPr>
          <p:cNvPr id="7" name="Shape 4"/>
          <p:cNvSpPr/>
          <p:nvPr/>
        </p:nvSpPr>
        <p:spPr>
          <a:xfrm>
            <a:off x="457200" y="1472184"/>
            <a:ext cx="3931920" cy="210312"/>
          </a:xfrm>
          <a:prstGeom prst="rect">
            <a:avLst/>
          </a:prstGeom>
          <a:solidFill>
            <a:srgbClr val="F4F6F9"/>
          </a:solidFill>
          <a:ln w="12700">
            <a:solidFill>
              <a:srgbClr val="F4F6F9"/>
            </a:solidFill>
            <a:prstDash val="solid"/>
          </a:ln>
        </p:spPr>
        <p:txBody>
          <a:bodyPr/>
          <a:lstStyle/>
          <a:p>
            <a:endParaRPr lang="en-US"/>
          </a:p>
        </p:txBody>
      </p:sp>
      <p:sp>
        <p:nvSpPr>
          <p:cNvPr id="8" name="Text 5"/>
          <p:cNvSpPr txBox="1"/>
          <p:nvPr/>
        </p:nvSpPr>
        <p:spPr>
          <a:xfrm>
            <a:off x="530352" y="1481328"/>
            <a:ext cx="1920240" cy="192024"/>
          </a:xfrm>
          <a:prstGeom prst="rect">
            <a:avLst/>
          </a:prstGeom>
          <a:noFill/>
          <a:ln/>
        </p:spPr>
        <p:txBody>
          <a:bodyPr wrap="square" lIns="0" tIns="0" rIns="0" bIns="0" rtlCol="0" anchor="ctr"/>
          <a:lstStyle/>
          <a:p>
            <a:pPr marL="0" indent="0">
              <a:buNone/>
            </a:pPr>
            <a:r>
              <a:rPr lang="en-US" sz="760" b="1" dirty="0">
                <a:solidFill>
                  <a:srgbClr val="0F2F44"/>
                </a:solidFill>
                <a:latin typeface="Calibri" pitchFamily="34" charset="0"/>
                <a:ea typeface="Calibri" pitchFamily="34" charset="-122"/>
                <a:cs typeface="Calibri" pitchFamily="34" charset="-120"/>
              </a:rPr>
              <a:t>State DGP</a:t>
            </a:r>
            <a:endParaRPr lang="en-US" sz="760" dirty="0"/>
          </a:p>
        </p:txBody>
      </p:sp>
      <p:sp>
        <p:nvSpPr>
          <p:cNvPr id="9" name="Text 6"/>
          <p:cNvSpPr txBox="1"/>
          <p:nvPr/>
        </p:nvSpPr>
        <p:spPr>
          <a:xfrm>
            <a:off x="2487168" y="1481328"/>
            <a:ext cx="1847088" cy="192024"/>
          </a:xfrm>
          <a:prstGeom prst="rect">
            <a:avLst/>
          </a:prstGeom>
          <a:noFill/>
          <a:ln/>
        </p:spPr>
        <p:txBody>
          <a:bodyPr wrap="square" lIns="0" tIns="0" rIns="0" bIns="0" rtlCol="0" anchor="ctr"/>
          <a:lstStyle/>
          <a:p>
            <a:pPr marL="0" indent="0">
              <a:buNone/>
            </a:pPr>
            <a:r>
              <a:rPr lang="en-US" sz="740" dirty="0">
                <a:solidFill>
                  <a:srgbClr val="5B6B7C"/>
                </a:solidFill>
                <a:latin typeface="Calibri" pitchFamily="34" charset="0"/>
                <a:ea typeface="Calibri" pitchFamily="34" charset="-122"/>
                <a:cs typeface="Calibri" pitchFamily="34" charset="-120"/>
              </a:rPr>
              <a:t>all 31 districts</a:t>
            </a:r>
            <a:endParaRPr lang="en-US" sz="740" dirty="0"/>
          </a:p>
        </p:txBody>
      </p:sp>
      <p:sp>
        <p:nvSpPr>
          <p:cNvPr id="10" name="Text 7"/>
          <p:cNvSpPr txBox="1"/>
          <p:nvPr/>
        </p:nvSpPr>
        <p:spPr>
          <a:xfrm>
            <a:off x="530352" y="1700784"/>
            <a:ext cx="1920240" cy="192024"/>
          </a:xfrm>
          <a:prstGeom prst="rect">
            <a:avLst/>
          </a:prstGeom>
          <a:noFill/>
          <a:ln/>
        </p:spPr>
        <p:txBody>
          <a:bodyPr wrap="square" lIns="0" tIns="0" rIns="0" bIns="0" rtlCol="0" anchor="ctr"/>
          <a:lstStyle/>
          <a:p>
            <a:pPr marL="0" indent="0">
              <a:buNone/>
            </a:pPr>
            <a:r>
              <a:rPr lang="en-US" sz="760" b="1" dirty="0">
                <a:solidFill>
                  <a:srgbClr val="0F2F44"/>
                </a:solidFill>
                <a:latin typeface="Calibri" pitchFamily="34" charset="0"/>
                <a:ea typeface="Calibri" pitchFamily="34" charset="-122"/>
                <a:cs typeface="Calibri" pitchFamily="34" charset="-120"/>
              </a:rPr>
              <a:t>SCRB Analyst</a:t>
            </a:r>
            <a:endParaRPr lang="en-US" sz="760" dirty="0"/>
          </a:p>
        </p:txBody>
      </p:sp>
      <p:sp>
        <p:nvSpPr>
          <p:cNvPr id="11" name="Text 8"/>
          <p:cNvSpPr txBox="1"/>
          <p:nvPr/>
        </p:nvSpPr>
        <p:spPr>
          <a:xfrm>
            <a:off x="2487168" y="1700784"/>
            <a:ext cx="1847088" cy="192024"/>
          </a:xfrm>
          <a:prstGeom prst="rect">
            <a:avLst/>
          </a:prstGeom>
          <a:noFill/>
          <a:ln/>
        </p:spPr>
        <p:txBody>
          <a:bodyPr wrap="square" lIns="0" tIns="0" rIns="0" bIns="0" rtlCol="0" anchor="ctr"/>
          <a:lstStyle/>
          <a:p>
            <a:pPr marL="0" indent="0">
              <a:buNone/>
            </a:pPr>
            <a:r>
              <a:rPr lang="en-US" sz="740" dirty="0">
                <a:solidFill>
                  <a:srgbClr val="5B6B7C"/>
                </a:solidFill>
                <a:latin typeface="Calibri" pitchFamily="34" charset="0"/>
                <a:ea typeface="Calibri" pitchFamily="34" charset="-122"/>
                <a:cs typeface="Calibri" pitchFamily="34" charset="-120"/>
              </a:rPr>
              <a:t>all 31 districts</a:t>
            </a:r>
            <a:endParaRPr lang="en-US" sz="740" dirty="0"/>
          </a:p>
        </p:txBody>
      </p:sp>
      <p:sp>
        <p:nvSpPr>
          <p:cNvPr id="12" name="Shape 9"/>
          <p:cNvSpPr/>
          <p:nvPr/>
        </p:nvSpPr>
        <p:spPr>
          <a:xfrm>
            <a:off x="457200" y="1911096"/>
            <a:ext cx="3931920" cy="210312"/>
          </a:xfrm>
          <a:prstGeom prst="rect">
            <a:avLst/>
          </a:prstGeom>
          <a:solidFill>
            <a:srgbClr val="F4F6F9"/>
          </a:solidFill>
          <a:ln w="12700">
            <a:solidFill>
              <a:srgbClr val="F4F6F9"/>
            </a:solidFill>
            <a:prstDash val="solid"/>
          </a:ln>
        </p:spPr>
        <p:txBody>
          <a:bodyPr/>
          <a:lstStyle/>
          <a:p>
            <a:endParaRPr lang="en-US"/>
          </a:p>
        </p:txBody>
      </p:sp>
      <p:sp>
        <p:nvSpPr>
          <p:cNvPr id="13" name="Text 10"/>
          <p:cNvSpPr txBox="1"/>
          <p:nvPr/>
        </p:nvSpPr>
        <p:spPr>
          <a:xfrm>
            <a:off x="530352" y="1920240"/>
            <a:ext cx="1920240" cy="192024"/>
          </a:xfrm>
          <a:prstGeom prst="rect">
            <a:avLst/>
          </a:prstGeom>
          <a:noFill/>
          <a:ln/>
        </p:spPr>
        <p:txBody>
          <a:bodyPr wrap="square" lIns="0" tIns="0" rIns="0" bIns="0" rtlCol="0" anchor="ctr"/>
          <a:lstStyle/>
          <a:p>
            <a:pPr marL="0" indent="0">
              <a:buNone/>
            </a:pPr>
            <a:r>
              <a:rPr lang="en-US" sz="760" b="1" dirty="0">
                <a:solidFill>
                  <a:srgbClr val="0F2F44"/>
                </a:solidFill>
                <a:latin typeface="Calibri" pitchFamily="34" charset="0"/>
                <a:ea typeface="Calibri" pitchFamily="34" charset="-122"/>
                <a:cs typeface="Calibri" pitchFamily="34" charset="-120"/>
              </a:rPr>
              <a:t>Administrator</a:t>
            </a:r>
            <a:endParaRPr lang="en-US" sz="760" dirty="0"/>
          </a:p>
        </p:txBody>
      </p:sp>
      <p:sp>
        <p:nvSpPr>
          <p:cNvPr id="14" name="Text 11"/>
          <p:cNvSpPr txBox="1"/>
          <p:nvPr/>
        </p:nvSpPr>
        <p:spPr>
          <a:xfrm>
            <a:off x="2487168" y="1920240"/>
            <a:ext cx="1847088" cy="192024"/>
          </a:xfrm>
          <a:prstGeom prst="rect">
            <a:avLst/>
          </a:prstGeom>
          <a:noFill/>
          <a:ln/>
        </p:spPr>
        <p:txBody>
          <a:bodyPr wrap="square" lIns="0" tIns="0" rIns="0" bIns="0" rtlCol="0" anchor="ctr"/>
          <a:lstStyle/>
          <a:p>
            <a:pPr marL="0" indent="0">
              <a:buNone/>
            </a:pPr>
            <a:r>
              <a:rPr lang="en-US" sz="740" dirty="0">
                <a:solidFill>
                  <a:srgbClr val="5B6B7C"/>
                </a:solidFill>
                <a:latin typeface="Calibri" pitchFamily="34" charset="0"/>
                <a:ea typeface="Calibri" pitchFamily="34" charset="-122"/>
                <a:cs typeface="Calibri" pitchFamily="34" charset="-120"/>
              </a:rPr>
              <a:t>all 31, plus accounts</a:t>
            </a:r>
            <a:endParaRPr lang="en-US" sz="740" dirty="0"/>
          </a:p>
        </p:txBody>
      </p:sp>
      <p:sp>
        <p:nvSpPr>
          <p:cNvPr id="15" name="Text 12"/>
          <p:cNvSpPr txBox="1"/>
          <p:nvPr/>
        </p:nvSpPr>
        <p:spPr>
          <a:xfrm>
            <a:off x="530352" y="2139696"/>
            <a:ext cx="1920240" cy="192024"/>
          </a:xfrm>
          <a:prstGeom prst="rect">
            <a:avLst/>
          </a:prstGeom>
          <a:noFill/>
          <a:ln/>
        </p:spPr>
        <p:txBody>
          <a:bodyPr wrap="square" lIns="0" tIns="0" rIns="0" bIns="0" rtlCol="0" anchor="ctr"/>
          <a:lstStyle/>
          <a:p>
            <a:pPr marL="0" indent="0">
              <a:buNone/>
            </a:pPr>
            <a:r>
              <a:rPr lang="en-US" sz="760" b="1" dirty="0">
                <a:solidFill>
                  <a:srgbClr val="1A6FC4"/>
                </a:solidFill>
                <a:latin typeface="Calibri" pitchFamily="34" charset="0"/>
                <a:ea typeface="Calibri" pitchFamily="34" charset="-122"/>
                <a:cs typeface="Calibri" pitchFamily="34" charset="-120"/>
              </a:rPr>
              <a:t>SP · district</a:t>
            </a:r>
            <a:endParaRPr lang="en-US" sz="760" dirty="0"/>
          </a:p>
        </p:txBody>
      </p:sp>
      <p:sp>
        <p:nvSpPr>
          <p:cNvPr id="16" name="Text 13"/>
          <p:cNvSpPr txBox="1"/>
          <p:nvPr/>
        </p:nvSpPr>
        <p:spPr>
          <a:xfrm>
            <a:off x="2487168" y="2139696"/>
            <a:ext cx="1847088" cy="192024"/>
          </a:xfrm>
          <a:prstGeom prst="rect">
            <a:avLst/>
          </a:prstGeom>
          <a:noFill/>
          <a:ln/>
        </p:spPr>
        <p:txBody>
          <a:bodyPr wrap="square" lIns="0" tIns="0" rIns="0" bIns="0" rtlCol="0" anchor="ctr"/>
          <a:lstStyle/>
          <a:p>
            <a:pPr marL="0" indent="0">
              <a:buNone/>
            </a:pPr>
            <a:r>
              <a:rPr lang="en-US" sz="740" dirty="0">
                <a:solidFill>
                  <a:srgbClr val="5B6B7C"/>
                </a:solidFill>
                <a:latin typeface="Calibri" pitchFamily="34" charset="0"/>
                <a:ea typeface="Calibri" pitchFamily="34" charset="-122"/>
                <a:cs typeface="Calibri" pitchFamily="34" charset="-120"/>
              </a:rPr>
              <a:t>one district</a:t>
            </a:r>
            <a:endParaRPr lang="en-US" sz="740" dirty="0"/>
          </a:p>
        </p:txBody>
      </p:sp>
      <p:sp>
        <p:nvSpPr>
          <p:cNvPr id="17" name="Shape 14"/>
          <p:cNvSpPr/>
          <p:nvPr/>
        </p:nvSpPr>
        <p:spPr>
          <a:xfrm>
            <a:off x="457200" y="2350008"/>
            <a:ext cx="3931920" cy="210312"/>
          </a:xfrm>
          <a:prstGeom prst="rect">
            <a:avLst/>
          </a:prstGeom>
          <a:solidFill>
            <a:srgbClr val="F4F6F9"/>
          </a:solidFill>
          <a:ln w="12700">
            <a:solidFill>
              <a:srgbClr val="F4F6F9"/>
            </a:solidFill>
            <a:prstDash val="solid"/>
          </a:ln>
        </p:spPr>
        <p:txBody>
          <a:bodyPr/>
          <a:lstStyle/>
          <a:p>
            <a:endParaRPr lang="en-US"/>
          </a:p>
        </p:txBody>
      </p:sp>
      <p:sp>
        <p:nvSpPr>
          <p:cNvPr id="18" name="Text 15"/>
          <p:cNvSpPr txBox="1"/>
          <p:nvPr/>
        </p:nvSpPr>
        <p:spPr>
          <a:xfrm>
            <a:off x="530352" y="2359152"/>
            <a:ext cx="1920240" cy="192024"/>
          </a:xfrm>
          <a:prstGeom prst="rect">
            <a:avLst/>
          </a:prstGeom>
          <a:noFill/>
          <a:ln/>
        </p:spPr>
        <p:txBody>
          <a:bodyPr wrap="square" lIns="0" tIns="0" rIns="0" bIns="0" rtlCol="0" anchor="ctr"/>
          <a:lstStyle/>
          <a:p>
            <a:pPr marL="0" indent="0">
              <a:buNone/>
            </a:pPr>
            <a:r>
              <a:rPr lang="en-US" sz="760" b="1" dirty="0">
                <a:solidFill>
                  <a:srgbClr val="1A6FC4"/>
                </a:solidFill>
                <a:latin typeface="Calibri" pitchFamily="34" charset="0"/>
                <a:ea typeface="Calibri" pitchFamily="34" charset="-122"/>
                <a:cs typeface="Calibri" pitchFamily="34" charset="-120"/>
              </a:rPr>
              <a:t>DSP · sub-division</a:t>
            </a:r>
            <a:endParaRPr lang="en-US" sz="760" dirty="0"/>
          </a:p>
        </p:txBody>
      </p:sp>
      <p:sp>
        <p:nvSpPr>
          <p:cNvPr id="19" name="Text 16"/>
          <p:cNvSpPr txBox="1"/>
          <p:nvPr/>
        </p:nvSpPr>
        <p:spPr>
          <a:xfrm>
            <a:off x="2487168" y="2359152"/>
            <a:ext cx="1847088" cy="192024"/>
          </a:xfrm>
          <a:prstGeom prst="rect">
            <a:avLst/>
          </a:prstGeom>
          <a:noFill/>
          <a:ln/>
        </p:spPr>
        <p:txBody>
          <a:bodyPr wrap="square" lIns="0" tIns="0" rIns="0" bIns="0" rtlCol="0" anchor="ctr"/>
          <a:lstStyle/>
          <a:p>
            <a:pPr marL="0" indent="0">
              <a:buNone/>
            </a:pPr>
            <a:r>
              <a:rPr lang="en-US" sz="740" dirty="0">
                <a:solidFill>
                  <a:srgbClr val="5B6B7C"/>
                </a:solidFill>
                <a:latin typeface="Calibri" pitchFamily="34" charset="0"/>
                <a:ea typeface="Calibri" pitchFamily="34" charset="-122"/>
                <a:cs typeface="Calibri" pitchFamily="34" charset="-120"/>
              </a:rPr>
              <a:t>one sub-division</a:t>
            </a:r>
            <a:endParaRPr lang="en-US" sz="740" dirty="0"/>
          </a:p>
        </p:txBody>
      </p:sp>
      <p:sp>
        <p:nvSpPr>
          <p:cNvPr id="20" name="Text 17"/>
          <p:cNvSpPr txBox="1"/>
          <p:nvPr/>
        </p:nvSpPr>
        <p:spPr>
          <a:xfrm>
            <a:off x="530352" y="2578608"/>
            <a:ext cx="1920240" cy="192024"/>
          </a:xfrm>
          <a:prstGeom prst="rect">
            <a:avLst/>
          </a:prstGeom>
          <a:noFill/>
          <a:ln/>
        </p:spPr>
        <p:txBody>
          <a:bodyPr wrap="square" lIns="0" tIns="0" rIns="0" bIns="0" rtlCol="0" anchor="ctr"/>
          <a:lstStyle/>
          <a:p>
            <a:pPr marL="0" indent="0">
              <a:buNone/>
            </a:pPr>
            <a:r>
              <a:rPr lang="en-US" sz="760" b="1" dirty="0">
                <a:solidFill>
                  <a:srgbClr val="2FA8A0"/>
                </a:solidFill>
                <a:latin typeface="Calibri" pitchFamily="34" charset="0"/>
                <a:ea typeface="Calibri" pitchFamily="34" charset="-122"/>
                <a:cs typeface="Calibri" pitchFamily="34" charset="-120"/>
              </a:rPr>
              <a:t>SHO / SI · station</a:t>
            </a:r>
            <a:endParaRPr lang="en-US" sz="760" dirty="0"/>
          </a:p>
        </p:txBody>
      </p:sp>
      <p:sp>
        <p:nvSpPr>
          <p:cNvPr id="21" name="Text 18"/>
          <p:cNvSpPr txBox="1"/>
          <p:nvPr/>
        </p:nvSpPr>
        <p:spPr>
          <a:xfrm>
            <a:off x="2487168" y="2578608"/>
            <a:ext cx="1847088" cy="192024"/>
          </a:xfrm>
          <a:prstGeom prst="rect">
            <a:avLst/>
          </a:prstGeom>
          <a:noFill/>
          <a:ln/>
        </p:spPr>
        <p:txBody>
          <a:bodyPr wrap="square" lIns="0" tIns="0" rIns="0" bIns="0" rtlCol="0" anchor="ctr"/>
          <a:lstStyle/>
          <a:p>
            <a:pPr marL="0" indent="0">
              <a:buNone/>
            </a:pPr>
            <a:r>
              <a:rPr lang="en-US" sz="740" dirty="0">
                <a:solidFill>
                  <a:srgbClr val="5B6B7C"/>
                </a:solidFill>
                <a:latin typeface="Calibri" pitchFamily="34" charset="0"/>
                <a:ea typeface="Calibri" pitchFamily="34" charset="-122"/>
                <a:cs typeface="Calibri" pitchFamily="34" charset="-120"/>
              </a:rPr>
              <a:t>one station register</a:t>
            </a:r>
            <a:endParaRPr lang="en-US" sz="740" dirty="0"/>
          </a:p>
        </p:txBody>
      </p:sp>
      <p:sp>
        <p:nvSpPr>
          <p:cNvPr id="22" name="Text 19"/>
          <p:cNvSpPr txBox="1"/>
          <p:nvPr/>
        </p:nvSpPr>
        <p:spPr>
          <a:xfrm>
            <a:off x="530352" y="2779776"/>
            <a:ext cx="3785616" cy="182880"/>
          </a:xfrm>
          <a:prstGeom prst="rect">
            <a:avLst/>
          </a:prstGeom>
          <a:noFill/>
          <a:ln/>
        </p:spPr>
        <p:txBody>
          <a:bodyPr wrap="square" lIns="0" tIns="0" rIns="0" bIns="0" rtlCol="0" anchor="t"/>
          <a:lstStyle/>
          <a:p>
            <a:pPr marL="0" indent="0">
              <a:buNone/>
            </a:pPr>
            <a:r>
              <a:rPr lang="en-US" sz="700" i="1" dirty="0">
                <a:solidFill>
                  <a:srgbClr val="8A98A8"/>
                </a:solidFill>
                <a:latin typeface="Calibri" pitchFamily="34" charset="0"/>
                <a:ea typeface="Calibri" pitchFamily="34" charset="-122"/>
                <a:cs typeface="Calibri" pitchFamily="34" charset="-120"/>
              </a:rPr>
              <a:t>An account is pinned to its district and unit at sign-in; a query parameter cannot widen it.</a:t>
            </a:r>
            <a:endParaRPr lang="en-US" sz="700" dirty="0"/>
          </a:p>
        </p:txBody>
      </p:sp>
      <p:sp>
        <p:nvSpPr>
          <p:cNvPr id="23" name="Shape 20"/>
          <p:cNvSpPr/>
          <p:nvPr/>
        </p:nvSpPr>
        <p:spPr>
          <a:xfrm>
            <a:off x="4681728" y="1207008"/>
            <a:ext cx="4078224" cy="841248"/>
          </a:xfrm>
          <a:prstGeom prst="roundRect">
            <a:avLst>
              <a:gd name="adj" fmla="val 6522"/>
            </a:avLst>
          </a:prstGeom>
          <a:solidFill>
            <a:srgbClr val="FFFFFF"/>
          </a:solidFill>
          <a:ln w="9525">
            <a:solidFill>
              <a:srgbClr val="DCE3EC"/>
            </a:solidFill>
            <a:prstDash val="solid"/>
          </a:ln>
        </p:spPr>
        <p:txBody>
          <a:bodyPr/>
          <a:lstStyle/>
          <a:p>
            <a:endParaRPr lang="en-US"/>
          </a:p>
        </p:txBody>
      </p:sp>
      <p:sp>
        <p:nvSpPr>
          <p:cNvPr id="24" name="Text 21"/>
          <p:cNvSpPr txBox="1"/>
          <p:nvPr/>
        </p:nvSpPr>
        <p:spPr>
          <a:xfrm>
            <a:off x="4809744" y="1271016"/>
            <a:ext cx="3822192" cy="182880"/>
          </a:xfrm>
          <a:prstGeom prst="rect">
            <a:avLst/>
          </a:prstGeom>
          <a:noFill/>
          <a:ln/>
        </p:spPr>
        <p:txBody>
          <a:bodyPr wrap="square" lIns="0" tIns="0" rIns="0" bIns="0" rtlCol="0" anchor="ctr"/>
          <a:lstStyle/>
          <a:p>
            <a:pPr marL="0" indent="0">
              <a:buNone/>
            </a:pPr>
            <a:r>
              <a:rPr lang="en-US" sz="1000" b="1" dirty="0">
                <a:solidFill>
                  <a:srgbClr val="1A6FC4"/>
                </a:solidFill>
                <a:latin typeface="Calibri" pitchFamily="34" charset="0"/>
                <a:ea typeface="Calibri" pitchFamily="34" charset="-122"/>
                <a:cs typeface="Calibri" pitchFamily="34" charset="-120"/>
              </a:rPr>
              <a:t>Scope on the list AND the detail</a:t>
            </a:r>
            <a:endParaRPr lang="en-US" sz="1000" dirty="0"/>
          </a:p>
        </p:txBody>
      </p:sp>
      <p:sp>
        <p:nvSpPr>
          <p:cNvPr id="25" name="Text 22"/>
          <p:cNvSpPr txBox="1"/>
          <p:nvPr/>
        </p:nvSpPr>
        <p:spPr>
          <a:xfrm>
            <a:off x="4809744" y="1525032"/>
            <a:ext cx="3822192" cy="530352"/>
          </a:xfrm>
          <a:prstGeom prst="rect">
            <a:avLst/>
          </a:prstGeom>
          <a:noFill/>
          <a:ln/>
        </p:spPr>
        <p:txBody>
          <a:bodyPr wrap="square" lIns="0" tIns="0" rIns="0" bIns="0" rtlCol="0" anchor="t"/>
          <a:lstStyle/>
          <a:p>
            <a:pPr marL="0" indent="0">
              <a:lnSpc>
                <a:spcPct val="102000"/>
              </a:lnSpc>
              <a:buNone/>
            </a:pPr>
            <a:r>
              <a:rPr lang="en-US" sz="900" dirty="0">
                <a:solidFill>
                  <a:srgbClr val="5B6B7C"/>
                </a:solidFill>
                <a:latin typeface="Calibri" pitchFamily="34" charset="0"/>
                <a:ea typeface="Calibri" pitchFamily="34" charset="-122"/>
                <a:cs typeface="Calibri" pitchFamily="34" charset="-120"/>
              </a:rPr>
              <a:t>A station SI reading the register sees 276 cases. Opening a case in another district is refused — 59,709 of 59,709 out-of-scope cases, verified live. The rule used to exist only in a comment.</a:t>
            </a:r>
            <a:endParaRPr lang="en-US" sz="900" dirty="0"/>
          </a:p>
        </p:txBody>
      </p:sp>
      <p:sp>
        <p:nvSpPr>
          <p:cNvPr id="26" name="Shape 23"/>
          <p:cNvSpPr/>
          <p:nvPr/>
        </p:nvSpPr>
        <p:spPr>
          <a:xfrm>
            <a:off x="4681728" y="2157984"/>
            <a:ext cx="4078224" cy="841248"/>
          </a:xfrm>
          <a:prstGeom prst="roundRect">
            <a:avLst>
              <a:gd name="adj" fmla="val 6522"/>
            </a:avLst>
          </a:prstGeom>
          <a:solidFill>
            <a:srgbClr val="FFFFFF"/>
          </a:solidFill>
          <a:ln w="9525">
            <a:solidFill>
              <a:srgbClr val="DCE3EC"/>
            </a:solidFill>
            <a:prstDash val="solid"/>
          </a:ln>
        </p:spPr>
        <p:txBody>
          <a:bodyPr/>
          <a:lstStyle/>
          <a:p>
            <a:endParaRPr lang="en-US"/>
          </a:p>
        </p:txBody>
      </p:sp>
      <p:sp>
        <p:nvSpPr>
          <p:cNvPr id="27" name="Text 24"/>
          <p:cNvSpPr txBox="1"/>
          <p:nvPr/>
        </p:nvSpPr>
        <p:spPr>
          <a:xfrm>
            <a:off x="4809744" y="2221992"/>
            <a:ext cx="3822192" cy="182880"/>
          </a:xfrm>
          <a:prstGeom prst="rect">
            <a:avLst/>
          </a:prstGeom>
          <a:noFill/>
          <a:ln/>
        </p:spPr>
        <p:txBody>
          <a:bodyPr wrap="square" lIns="0" tIns="0" rIns="0" bIns="0" rtlCol="0" anchor="ctr"/>
          <a:lstStyle/>
          <a:p>
            <a:pPr marL="0" indent="0">
              <a:buNone/>
            </a:pPr>
            <a:r>
              <a:rPr lang="en-US" sz="1000" b="1" dirty="0">
                <a:solidFill>
                  <a:srgbClr val="2FA8A0"/>
                </a:solidFill>
                <a:latin typeface="Calibri" pitchFamily="34" charset="0"/>
                <a:ea typeface="Calibri" pitchFamily="34" charset="-122"/>
                <a:cs typeface="Calibri" pitchFamily="34" charset="-120"/>
              </a:rPr>
              <a:t>Linked is visible, contents are not</a:t>
            </a:r>
            <a:endParaRPr lang="en-US" sz="1000" dirty="0"/>
          </a:p>
        </p:txBody>
      </p:sp>
      <p:sp>
        <p:nvSpPr>
          <p:cNvPr id="28" name="Text 25"/>
          <p:cNvSpPr txBox="1"/>
          <p:nvPr/>
        </p:nvSpPr>
        <p:spPr>
          <a:xfrm>
            <a:off x="4809744" y="2460510"/>
            <a:ext cx="3822192" cy="530352"/>
          </a:xfrm>
          <a:prstGeom prst="rect">
            <a:avLst/>
          </a:prstGeom>
          <a:noFill/>
          <a:ln/>
        </p:spPr>
        <p:txBody>
          <a:bodyPr wrap="square" lIns="0" tIns="0" rIns="0" bIns="0" rtlCol="0" anchor="t"/>
          <a:lstStyle/>
          <a:p>
            <a:pPr marL="0" indent="0">
              <a:lnSpc>
                <a:spcPct val="102000"/>
              </a:lnSpc>
              <a:buNone/>
            </a:pPr>
            <a:r>
              <a:rPr lang="en-US" sz="900" dirty="0">
                <a:solidFill>
                  <a:srgbClr val="5B6B7C"/>
                </a:solidFill>
                <a:latin typeface="Calibri" pitchFamily="34" charset="0"/>
                <a:ea typeface="Calibri" pitchFamily="34" charset="-122"/>
                <a:cs typeface="Calibri" pitchFamily="34" charset="-120"/>
              </a:rPr>
              <a:t>A district officer sees that a case elsewhere is linked into their district — that is the product’s thesis. Reading the seizure memo filed against it is not, so evidence stays stricter than the case.</a:t>
            </a:r>
            <a:endParaRPr lang="en-US" sz="900" dirty="0"/>
          </a:p>
        </p:txBody>
      </p:sp>
      <p:sp>
        <p:nvSpPr>
          <p:cNvPr id="29" name="Shape 26"/>
          <p:cNvSpPr/>
          <p:nvPr/>
        </p:nvSpPr>
        <p:spPr>
          <a:xfrm>
            <a:off x="4681728" y="3108960"/>
            <a:ext cx="4078224" cy="859536"/>
          </a:xfrm>
          <a:prstGeom prst="roundRect">
            <a:avLst>
              <a:gd name="adj" fmla="val 6383"/>
            </a:avLst>
          </a:prstGeom>
          <a:solidFill>
            <a:srgbClr val="0F2F44"/>
          </a:solidFill>
          <a:ln w="9525">
            <a:solidFill>
              <a:srgbClr val="0F2F44"/>
            </a:solidFill>
            <a:prstDash val="solid"/>
          </a:ln>
        </p:spPr>
        <p:txBody>
          <a:bodyPr/>
          <a:lstStyle/>
          <a:p>
            <a:endParaRPr lang="en-US"/>
          </a:p>
        </p:txBody>
      </p:sp>
      <p:sp>
        <p:nvSpPr>
          <p:cNvPr id="30" name="Text 27"/>
          <p:cNvSpPr txBox="1"/>
          <p:nvPr/>
        </p:nvSpPr>
        <p:spPr>
          <a:xfrm>
            <a:off x="4809744" y="3172968"/>
            <a:ext cx="3822192" cy="1828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Every privileged read and write is logged</a:t>
            </a:r>
            <a:endParaRPr lang="en-US" sz="1000" dirty="0"/>
          </a:p>
        </p:txBody>
      </p:sp>
      <p:sp>
        <p:nvSpPr>
          <p:cNvPr id="31" name="Text 28"/>
          <p:cNvSpPr txBox="1"/>
          <p:nvPr/>
        </p:nvSpPr>
        <p:spPr>
          <a:xfrm>
            <a:off x="4809744" y="3364992"/>
            <a:ext cx="3822192" cy="329184"/>
          </a:xfrm>
          <a:prstGeom prst="rect">
            <a:avLst/>
          </a:prstGeom>
          <a:noFill/>
          <a:ln/>
        </p:spPr>
        <p:txBody>
          <a:bodyPr wrap="square" lIns="0" tIns="0" rIns="0" bIns="0" rtlCol="0" anchor="t"/>
          <a:lstStyle/>
          <a:p>
            <a:pPr marL="0" indent="0">
              <a:lnSpc>
                <a:spcPct val="102000"/>
              </a:lnSpc>
              <a:buNone/>
            </a:pPr>
            <a:r>
              <a:rPr lang="en-US" sz="850" dirty="0">
                <a:solidFill>
                  <a:srgbClr val="C9D6E2"/>
                </a:solidFill>
                <a:latin typeface="Calibri" pitchFamily="34" charset="0"/>
                <a:ea typeface="Calibri" pitchFamily="34" charset="-122"/>
                <a:cs typeface="Calibri" pitchFamily="34" charset="-120"/>
              </a:rPr>
              <a:t>Who, what, when, and a human-readable action — not a table of opaque codes. A record that can be read without a key is a record a supervisor will actually audit.</a:t>
            </a:r>
            <a:endParaRPr lang="en-US" sz="850" dirty="0"/>
          </a:p>
        </p:txBody>
      </p:sp>
      <p:sp>
        <p:nvSpPr>
          <p:cNvPr id="32" name="Text 29"/>
          <p:cNvSpPr txBox="1"/>
          <p:nvPr/>
        </p:nvSpPr>
        <p:spPr>
          <a:xfrm>
            <a:off x="4809744" y="3730752"/>
            <a:ext cx="1261872" cy="20116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36</a:t>
            </a:r>
            <a:r>
              <a:rPr lang="en-US" sz="1000" dirty="0">
                <a:solidFill>
                  <a:srgbClr val="9FB3C8"/>
                </a:solidFill>
                <a:latin typeface="Calibri" pitchFamily="34" charset="0"/>
                <a:ea typeface="Calibri" pitchFamily="34" charset="-122"/>
                <a:cs typeface="Calibri" pitchFamily="34" charset="-120"/>
              </a:rPr>
              <a:t>  accounts</a:t>
            </a:r>
            <a:endParaRPr lang="en-US" sz="1000" dirty="0"/>
          </a:p>
        </p:txBody>
      </p:sp>
      <p:sp>
        <p:nvSpPr>
          <p:cNvPr id="33" name="Text 30"/>
          <p:cNvSpPr txBox="1"/>
          <p:nvPr/>
        </p:nvSpPr>
        <p:spPr>
          <a:xfrm>
            <a:off x="5999706" y="3730752"/>
            <a:ext cx="1261872" cy="20116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3</a:t>
            </a:r>
            <a:r>
              <a:rPr lang="en-US" sz="1000" dirty="0">
                <a:solidFill>
                  <a:srgbClr val="9FB3C8"/>
                </a:solidFill>
                <a:latin typeface="Calibri" pitchFamily="34" charset="0"/>
                <a:ea typeface="Calibri" pitchFamily="34" charset="-122"/>
                <a:cs typeface="Calibri" pitchFamily="34" charset="-120"/>
              </a:rPr>
              <a:t>  scope tiers</a:t>
            </a:r>
            <a:endParaRPr lang="en-US" sz="1000" dirty="0"/>
          </a:p>
        </p:txBody>
      </p:sp>
      <p:sp>
        <p:nvSpPr>
          <p:cNvPr id="34" name="Text 31"/>
          <p:cNvSpPr txBox="1"/>
          <p:nvPr/>
        </p:nvSpPr>
        <p:spPr>
          <a:xfrm>
            <a:off x="7105973" y="3730752"/>
            <a:ext cx="1562539" cy="20116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100%</a:t>
            </a:r>
            <a:r>
              <a:rPr lang="en-US" sz="1000" dirty="0">
                <a:solidFill>
                  <a:srgbClr val="9FB3C8"/>
                </a:solidFill>
                <a:latin typeface="Calibri" pitchFamily="34" charset="0"/>
                <a:ea typeface="Calibri" pitchFamily="34" charset="-122"/>
                <a:cs typeface="Calibri" pitchFamily="34" charset="-120"/>
              </a:rPr>
              <a:t>  privileged calls logged</a:t>
            </a:r>
            <a:endParaRPr lang="en-US" sz="1000" dirty="0"/>
          </a:p>
        </p:txBody>
      </p:sp>
      <p:sp>
        <p:nvSpPr>
          <p:cNvPr id="35" name="Shape 32"/>
          <p:cNvSpPr/>
          <p:nvPr/>
        </p:nvSpPr>
        <p:spPr>
          <a:xfrm>
            <a:off x="384048" y="3108960"/>
            <a:ext cx="4078224" cy="859536"/>
          </a:xfrm>
          <a:prstGeom prst="roundRect">
            <a:avLst>
              <a:gd name="adj" fmla="val 6383"/>
            </a:avLst>
          </a:prstGeom>
          <a:solidFill>
            <a:srgbClr val="FDF1E4"/>
          </a:solidFill>
          <a:ln w="9525">
            <a:solidFill>
              <a:srgbClr val="F0D9BE"/>
            </a:solidFill>
            <a:prstDash val="solid"/>
          </a:ln>
        </p:spPr>
        <p:txBody>
          <a:bodyPr/>
          <a:lstStyle/>
          <a:p>
            <a:endParaRPr lang="en-US"/>
          </a:p>
        </p:txBody>
      </p:sp>
      <p:sp>
        <p:nvSpPr>
          <p:cNvPr id="36" name="Text 33"/>
          <p:cNvSpPr txBox="1"/>
          <p:nvPr/>
        </p:nvSpPr>
        <p:spPr>
          <a:xfrm>
            <a:off x="512064" y="3172968"/>
            <a:ext cx="3822192" cy="182880"/>
          </a:xfrm>
          <a:prstGeom prst="rect">
            <a:avLst/>
          </a:prstGeom>
          <a:noFill/>
          <a:ln/>
        </p:spPr>
        <p:txBody>
          <a:bodyPr wrap="square" lIns="0" tIns="0" rIns="0" bIns="0" rtlCol="0" anchor="ctr"/>
          <a:lstStyle/>
          <a:p>
            <a:pPr marL="0" indent="0">
              <a:buNone/>
            </a:pPr>
            <a:r>
              <a:rPr lang="en-US" sz="1000" b="1" dirty="0">
                <a:solidFill>
                  <a:srgbClr val="E8871E"/>
                </a:solidFill>
                <a:latin typeface="Calibri" pitchFamily="34" charset="0"/>
                <a:ea typeface="Calibri" pitchFamily="34" charset="-122"/>
                <a:cs typeface="Calibri" pitchFamily="34" charset="-120"/>
              </a:rPr>
              <a:t>The refusal is tested in both directions</a:t>
            </a:r>
            <a:endParaRPr lang="en-US" sz="1000" dirty="0"/>
          </a:p>
        </p:txBody>
      </p:sp>
      <p:sp>
        <p:nvSpPr>
          <p:cNvPr id="37" name="Text 34"/>
          <p:cNvSpPr txBox="1"/>
          <p:nvPr/>
        </p:nvSpPr>
        <p:spPr>
          <a:xfrm>
            <a:off x="512064" y="3364992"/>
            <a:ext cx="3822192" cy="347472"/>
          </a:xfrm>
          <a:prstGeom prst="rect">
            <a:avLst/>
          </a:prstGeom>
          <a:noFill/>
          <a:ln/>
        </p:spPr>
        <p:txBody>
          <a:bodyPr wrap="square" lIns="0" tIns="0" rIns="0" bIns="0" rtlCol="0" anchor="t"/>
          <a:lstStyle/>
          <a:p>
            <a:pPr marL="0" indent="0">
              <a:lnSpc>
                <a:spcPct val="102000"/>
              </a:lnSpc>
              <a:buNone/>
            </a:pPr>
            <a:r>
              <a:rPr lang="en-US" sz="850" dirty="0">
                <a:solidFill>
                  <a:srgbClr val="5B6B7C"/>
                </a:solidFill>
                <a:latin typeface="Calibri" pitchFamily="34" charset="0"/>
                <a:ea typeface="Calibri" pitchFamily="34" charset="-122"/>
                <a:cs typeface="Calibri" pitchFamily="34" charset="-120"/>
              </a:rPr>
              <a:t>Not only that an out-of-scope read is refused, but that an in-scope one still succeeds. A guard that refuses everything passes the first test and fails the job.</a:t>
            </a:r>
            <a:endParaRPr lang="en-US" sz="850" dirty="0"/>
          </a:p>
        </p:txBody>
      </p:sp>
      <p:sp>
        <p:nvSpPr>
          <p:cNvPr id="38" name="Text 35"/>
          <p:cNvSpPr txBox="1"/>
          <p:nvPr/>
        </p:nvSpPr>
        <p:spPr>
          <a:xfrm>
            <a:off x="512064" y="3694176"/>
            <a:ext cx="3822192" cy="237744"/>
          </a:xfrm>
          <a:prstGeom prst="rect">
            <a:avLst/>
          </a:prstGeom>
          <a:noFill/>
          <a:ln/>
        </p:spPr>
        <p:txBody>
          <a:bodyPr wrap="square" lIns="0" tIns="0" rIns="0" bIns="0" rtlCol="0" anchor="ctr"/>
          <a:lstStyle/>
          <a:p>
            <a:pPr marL="0" indent="0">
              <a:buNone/>
            </a:pPr>
            <a:r>
              <a:rPr lang="en-US" sz="800" dirty="0">
                <a:solidFill>
                  <a:srgbClr val="0F2F44"/>
                </a:solidFill>
                <a:latin typeface="Courier New" pitchFamily="34" charset="0"/>
                <a:ea typeface="Courier New" pitchFamily="34" charset="-122"/>
                <a:cs typeface="Courier New" pitchFamily="34" charset="-120"/>
              </a:rPr>
              <a:t>GET /cases/:id as SI —  before: 200 with named victims in 6 districts  ·  after: 0 allowed</a:t>
            </a:r>
            <a:endParaRPr lang="en-US" sz="800" dirty="0"/>
          </a:p>
        </p:txBody>
      </p:sp>
      <p:sp>
        <p:nvSpPr>
          <p:cNvPr id="39" name="Shape 36"/>
          <p:cNvSpPr/>
          <p:nvPr/>
        </p:nvSpPr>
        <p:spPr>
          <a:xfrm>
            <a:off x="384048" y="4078224"/>
            <a:ext cx="8375904" cy="713232"/>
          </a:xfrm>
          <a:prstGeom prst="roundRect">
            <a:avLst>
              <a:gd name="adj" fmla="val 7692"/>
            </a:avLst>
          </a:prstGeom>
          <a:solidFill>
            <a:srgbClr val="FFFFFF"/>
          </a:solidFill>
          <a:ln w="9525">
            <a:solidFill>
              <a:srgbClr val="DCE3EC"/>
            </a:solidFill>
            <a:prstDash val="solid"/>
          </a:ln>
        </p:spPr>
        <p:txBody>
          <a:bodyPr/>
          <a:lstStyle/>
          <a:p>
            <a:endParaRPr lang="en-US"/>
          </a:p>
        </p:txBody>
      </p:sp>
      <p:sp>
        <p:nvSpPr>
          <p:cNvPr id="40" name="Text 37"/>
          <p:cNvSpPr txBox="1"/>
          <p:nvPr/>
        </p:nvSpPr>
        <p:spPr>
          <a:xfrm>
            <a:off x="530352" y="4174236"/>
            <a:ext cx="8083296" cy="626364"/>
          </a:xfrm>
          <a:prstGeom prst="rect">
            <a:avLst/>
          </a:prstGeom>
          <a:noFill/>
          <a:ln/>
        </p:spPr>
        <p:txBody>
          <a:bodyPr wrap="square" lIns="0" tIns="0" rIns="0" bIns="0" rtlCol="0" anchor="t"/>
          <a:lstStyle/>
          <a:p>
            <a:pPr marL="0" indent="0">
              <a:lnSpc>
                <a:spcPct val="104000"/>
              </a:lnSpc>
              <a:buNone/>
            </a:pPr>
            <a:r>
              <a:rPr lang="en-US" sz="1000" b="1" dirty="0">
                <a:solidFill>
                  <a:srgbClr val="0F2F44"/>
                </a:solidFill>
                <a:latin typeface="Calibri" pitchFamily="34" charset="0"/>
                <a:ea typeface="Calibri" pitchFamily="34" charset="-122"/>
                <a:cs typeface="Calibri" pitchFamily="34" charset="-120"/>
              </a:rPr>
              <a:t>Why this belongs in a crime-analytics deck:  </a:t>
            </a:r>
            <a:r>
              <a:rPr lang="en-US" sz="900" dirty="0">
                <a:solidFill>
                  <a:srgbClr val="5B6B7C"/>
                </a:solidFill>
                <a:latin typeface="Calibri" pitchFamily="34" charset="0"/>
                <a:ea typeface="Calibri" pitchFamily="34" charset="-122"/>
                <a:cs typeface="Calibri" pitchFamily="34" charset="-120"/>
              </a:rPr>
              <a:t>A platform that joins every district’s register into one graph is, by construction, a platform that could show any officer anything. The scope model is the reason it does not. It was also the single worst defect found before submission case detail was unscoped while the list was scoped, so a station SI could open cases in every district sampled. Found by probing the deployment rather than by reading the code, and closed with a test in each direction</a:t>
            </a:r>
            <a:r>
              <a:rPr lang="en-US" sz="760" dirty="0">
                <a:solidFill>
                  <a:srgbClr val="5B6B7C"/>
                </a:solidFill>
                <a:latin typeface="Calibri" pitchFamily="34" charset="0"/>
                <a:ea typeface="Calibri" pitchFamily="34" charset="-122"/>
                <a:cs typeface="Calibri" pitchFamily="34" charset="-120"/>
              </a:rPr>
              <a:t>.</a:t>
            </a:r>
            <a:endParaRPr lang="en-US" sz="76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ivate/tmp/claude-501/-Users-adarsh-Desktop-Projects-KadiLabs/1a0b3114-7a5c-4b08-a5d4-f9d8371eeea4/scratchpad/deck/bg-content.png"/>
          <p:cNvPicPr>
            <a:picLocks noChangeAspect="1"/>
          </p:cNvPicPr>
          <p:nvPr/>
        </p:nvPicPr>
        <p:blipFill>
          <a:blip r:embed="rId3"/>
          <a:stretch>
            <a:fillRect/>
          </a:stretch>
        </p:blipFill>
        <p:spPr>
          <a:xfrm>
            <a:off x="0" y="0"/>
            <a:ext cx="9144000" cy="5143500"/>
          </a:xfrm>
          <a:prstGeom prst="rect">
            <a:avLst/>
          </a:prstGeom>
        </p:spPr>
      </p:pic>
      <p:sp>
        <p:nvSpPr>
          <p:cNvPr id="3" name="Text 0"/>
          <p:cNvSpPr txBox="1"/>
          <p:nvPr/>
        </p:nvSpPr>
        <p:spPr>
          <a:xfrm>
            <a:off x="384048" y="603504"/>
            <a:ext cx="8375904" cy="365760"/>
          </a:xfrm>
          <a:prstGeom prst="rect">
            <a:avLst/>
          </a:prstGeom>
          <a:noFill/>
          <a:ln/>
        </p:spPr>
        <p:txBody>
          <a:bodyPr wrap="square" lIns="0" tIns="0" rIns="0" bIns="0" rtlCol="0" anchor="t"/>
          <a:lstStyle/>
          <a:p>
            <a:pPr marL="0" indent="0">
              <a:buNone/>
            </a:pPr>
            <a:r>
              <a:rPr lang="en-US" sz="2100" b="1" dirty="0">
                <a:solidFill>
                  <a:srgbClr val="0F2F44"/>
                </a:solidFill>
                <a:latin typeface="Calibri" pitchFamily="34" charset="0"/>
                <a:ea typeface="Calibri" pitchFamily="34" charset="-122"/>
                <a:cs typeface="Calibri" pitchFamily="34" charset="-120"/>
              </a:rPr>
              <a:t>Technologies used in the solution</a:t>
            </a:r>
            <a:endParaRPr lang="en-US" sz="2100" dirty="0"/>
          </a:p>
        </p:txBody>
      </p:sp>
      <p:sp>
        <p:nvSpPr>
          <p:cNvPr id="4" name="Text 1"/>
          <p:cNvSpPr txBox="1"/>
          <p:nvPr/>
        </p:nvSpPr>
        <p:spPr>
          <a:xfrm>
            <a:off x="384048" y="969264"/>
            <a:ext cx="8375904" cy="237744"/>
          </a:xfrm>
          <a:prstGeom prst="rect">
            <a:avLst/>
          </a:prstGeom>
          <a:noFill/>
          <a:ln/>
        </p:spPr>
        <p:txBody>
          <a:bodyPr wrap="square" lIns="0" tIns="0" rIns="0" bIns="0" rtlCol="0" anchor="t"/>
          <a:lstStyle/>
          <a:p>
            <a:pPr marL="0" indent="0">
              <a:buNone/>
            </a:pPr>
            <a:r>
              <a:rPr lang="en-US" sz="1100" dirty="0">
                <a:solidFill>
                  <a:srgbClr val="5B6B7C"/>
                </a:solidFill>
                <a:latin typeface="Calibri" pitchFamily="34" charset="0"/>
                <a:ea typeface="Calibri" pitchFamily="34" charset="-122"/>
                <a:cs typeface="Calibri" pitchFamily="34" charset="-120"/>
              </a:rPr>
              <a:t>Each chosen for a constraint, not for the list</a:t>
            </a:r>
            <a:endParaRPr lang="en-US" sz="1100" dirty="0"/>
          </a:p>
        </p:txBody>
      </p:sp>
      <p:sp>
        <p:nvSpPr>
          <p:cNvPr id="5" name="Shape 2"/>
          <p:cNvSpPr/>
          <p:nvPr/>
        </p:nvSpPr>
        <p:spPr>
          <a:xfrm>
            <a:off x="384048" y="1261872"/>
            <a:ext cx="1956816" cy="2615184"/>
          </a:xfrm>
          <a:prstGeom prst="roundRect">
            <a:avLst>
              <a:gd name="adj" fmla="val 2804"/>
            </a:avLst>
          </a:prstGeom>
          <a:solidFill>
            <a:srgbClr val="EAF2FB"/>
          </a:solidFill>
          <a:ln w="9525">
            <a:solidFill>
              <a:srgbClr val="DCE3EC"/>
            </a:solidFill>
            <a:prstDash val="solid"/>
          </a:ln>
        </p:spPr>
        <p:txBody>
          <a:bodyPr/>
          <a:lstStyle/>
          <a:p>
            <a:endParaRPr lang="en-US"/>
          </a:p>
        </p:txBody>
      </p:sp>
      <p:sp>
        <p:nvSpPr>
          <p:cNvPr id="6" name="Text 3"/>
          <p:cNvSpPr txBox="1"/>
          <p:nvPr/>
        </p:nvSpPr>
        <p:spPr>
          <a:xfrm>
            <a:off x="484632" y="1325880"/>
            <a:ext cx="1755648" cy="201168"/>
          </a:xfrm>
          <a:prstGeom prst="rect">
            <a:avLst/>
          </a:prstGeom>
          <a:noFill/>
          <a:ln/>
        </p:spPr>
        <p:txBody>
          <a:bodyPr wrap="square" lIns="0" tIns="0" rIns="0" bIns="0" rtlCol="0" anchor="ctr"/>
          <a:lstStyle/>
          <a:p>
            <a:pPr marL="0" indent="0">
              <a:buNone/>
            </a:pPr>
            <a:r>
              <a:rPr lang="en-US" sz="1100" b="1" dirty="0">
                <a:solidFill>
                  <a:srgbClr val="1A6FC4"/>
                </a:solidFill>
                <a:latin typeface="Calibri" pitchFamily="34" charset="0"/>
                <a:ea typeface="Calibri" pitchFamily="34" charset="-122"/>
                <a:cs typeface="Calibri" pitchFamily="34" charset="-120"/>
              </a:rPr>
              <a:t>Frontend</a:t>
            </a:r>
            <a:endParaRPr lang="en-US" sz="1100" dirty="0"/>
          </a:p>
        </p:txBody>
      </p:sp>
      <p:sp>
        <p:nvSpPr>
          <p:cNvPr id="7" name="Text 4"/>
          <p:cNvSpPr txBox="1"/>
          <p:nvPr/>
        </p:nvSpPr>
        <p:spPr>
          <a:xfrm>
            <a:off x="502920" y="1581912"/>
            <a:ext cx="1837944" cy="1481328"/>
          </a:xfrm>
          <a:prstGeom prst="rect">
            <a:avLst/>
          </a:prstGeom>
          <a:noFill/>
          <a:ln/>
        </p:spPr>
        <p:txBody>
          <a:bodyPr wrap="square" lIns="0" tIns="0" rIns="0" bIns="0" rtlCol="0" anchor="t"/>
          <a:lstStyle/>
          <a:p>
            <a:pPr marL="127000" indent="-127000">
              <a:lnSpc>
                <a:spcPct val="98000"/>
              </a:lnSpc>
              <a:spcAft>
                <a:spcPts val="400"/>
              </a:spcAft>
              <a:buSzPct val="100000"/>
              <a:buChar char="•"/>
            </a:pPr>
            <a:r>
              <a:rPr lang="en-US" sz="800" dirty="0">
                <a:solidFill>
                  <a:srgbClr val="5B6B7C"/>
                </a:solidFill>
                <a:latin typeface="Calibri" pitchFamily="34" charset="0"/>
                <a:ea typeface="Calibri" pitchFamily="34" charset="-122"/>
                <a:cs typeface="Calibri" pitchFamily="34" charset="-120"/>
              </a:rPr>
              <a:t>React 18 · TypeScript · Vite</a:t>
            </a:r>
            <a:endParaRPr lang="en-US" sz="800" dirty="0"/>
          </a:p>
          <a:p>
            <a:pPr marL="127000" indent="-127000">
              <a:lnSpc>
                <a:spcPct val="98000"/>
              </a:lnSpc>
              <a:spcAft>
                <a:spcPts val="400"/>
              </a:spcAft>
              <a:buSzPct val="100000"/>
              <a:buChar char="•"/>
            </a:pPr>
            <a:r>
              <a:rPr lang="en-US" sz="800" dirty="0">
                <a:solidFill>
                  <a:srgbClr val="5B6B7C"/>
                </a:solidFill>
                <a:latin typeface="Calibri" pitchFamily="34" charset="0"/>
                <a:ea typeface="Calibri" pitchFamily="34" charset="-122"/>
                <a:cs typeface="Calibri" pitchFamily="34" charset="-120"/>
              </a:rPr>
              <a:t>Tailwind CSS</a:t>
            </a:r>
            <a:endParaRPr lang="en-US" sz="800" dirty="0"/>
          </a:p>
          <a:p>
            <a:pPr marL="127000" indent="-127000">
              <a:lnSpc>
                <a:spcPct val="98000"/>
              </a:lnSpc>
              <a:spcAft>
                <a:spcPts val="400"/>
              </a:spcAft>
              <a:buSzPct val="100000"/>
              <a:buChar char="•"/>
            </a:pPr>
            <a:r>
              <a:rPr lang="en-US" sz="800" dirty="0">
                <a:solidFill>
                  <a:srgbClr val="5B6B7C"/>
                </a:solidFill>
                <a:latin typeface="Calibri" pitchFamily="34" charset="0"/>
                <a:ea typeface="Calibri" pitchFamily="34" charset="-122"/>
                <a:cs typeface="Calibri" pitchFamily="34" charset="-120"/>
              </a:rPr>
              <a:t>Cytoscape.js + fcose — the graph canvas</a:t>
            </a:r>
            <a:endParaRPr lang="en-US" sz="800" dirty="0"/>
          </a:p>
          <a:p>
            <a:pPr marL="127000" indent="-127000">
              <a:lnSpc>
                <a:spcPct val="98000"/>
              </a:lnSpc>
              <a:spcAft>
                <a:spcPts val="400"/>
              </a:spcAft>
              <a:buSzPct val="100000"/>
              <a:buChar char="•"/>
            </a:pPr>
            <a:r>
              <a:rPr lang="en-US" sz="800" dirty="0">
                <a:solidFill>
                  <a:srgbClr val="5B6B7C"/>
                </a:solidFill>
                <a:latin typeface="Calibri" pitchFamily="34" charset="0"/>
                <a:ea typeface="Calibri" pitchFamily="34" charset="-122"/>
                <a:cs typeface="Calibri" pitchFamily="34" charset="-120"/>
              </a:rPr>
              <a:t>MapLibre GL — satellite and choropleth</a:t>
            </a:r>
            <a:endParaRPr lang="en-US" sz="800" dirty="0"/>
          </a:p>
          <a:p>
            <a:pPr marL="127000" indent="-127000">
              <a:lnSpc>
                <a:spcPct val="98000"/>
              </a:lnSpc>
              <a:spcAft>
                <a:spcPts val="400"/>
              </a:spcAft>
              <a:buSzPct val="100000"/>
              <a:buChar char="•"/>
            </a:pPr>
            <a:r>
              <a:rPr lang="en-US" sz="800" dirty="0">
                <a:solidFill>
                  <a:srgbClr val="5B6B7C"/>
                </a:solidFill>
                <a:latin typeface="Calibri" pitchFamily="34" charset="0"/>
                <a:ea typeface="Calibri" pitchFamily="34" charset="-122"/>
                <a:cs typeface="Calibri" pitchFamily="34" charset="-120"/>
              </a:rPr>
              <a:t>Recharts · Framer Motion</a:t>
            </a:r>
            <a:endParaRPr lang="en-US" sz="800" dirty="0"/>
          </a:p>
          <a:p>
            <a:pPr marL="127000" indent="-127000">
              <a:lnSpc>
                <a:spcPct val="98000"/>
              </a:lnSpc>
              <a:spcAft>
                <a:spcPts val="400"/>
              </a:spcAft>
              <a:buSzPct val="100000"/>
              <a:buChar char="•"/>
            </a:pPr>
            <a:r>
              <a:rPr lang="en-US" sz="800" dirty="0">
                <a:solidFill>
                  <a:srgbClr val="5B6B7C"/>
                </a:solidFill>
                <a:latin typeface="Calibri" pitchFamily="34" charset="0"/>
                <a:ea typeface="Calibri" pitchFamily="34" charset="-122"/>
                <a:cs typeface="Calibri" pitchFamily="34" charset="-120"/>
              </a:rPr>
              <a:t>TanStack Query</a:t>
            </a:r>
            <a:endParaRPr lang="en-US" sz="800" dirty="0"/>
          </a:p>
          <a:p>
            <a:pPr marL="127000" indent="-127000">
              <a:lnSpc>
                <a:spcPct val="98000"/>
              </a:lnSpc>
              <a:spcAft>
                <a:spcPts val="400"/>
              </a:spcAft>
              <a:buSzPct val="100000"/>
              <a:buChar char="•"/>
            </a:pPr>
            <a:r>
              <a:rPr lang="en-US" sz="800" dirty="0">
                <a:solidFill>
                  <a:srgbClr val="5B6B7C"/>
                </a:solidFill>
                <a:latin typeface="Calibri" pitchFamily="34" charset="0"/>
                <a:ea typeface="Calibri" pitchFamily="34" charset="-122"/>
                <a:cs typeface="Calibri" pitchFamily="34" charset="-120"/>
              </a:rPr>
              <a:t>pdf.js — lazy-loaded, multi-page evidence</a:t>
            </a:r>
            <a:endParaRPr lang="en-US" sz="800" dirty="0"/>
          </a:p>
        </p:txBody>
      </p:sp>
      <p:sp>
        <p:nvSpPr>
          <p:cNvPr id="8" name="Shape 5"/>
          <p:cNvSpPr/>
          <p:nvPr/>
        </p:nvSpPr>
        <p:spPr>
          <a:xfrm>
            <a:off x="484632" y="3108960"/>
            <a:ext cx="1755648" cy="658368"/>
          </a:xfrm>
          <a:prstGeom prst="roundRect">
            <a:avLst>
              <a:gd name="adj" fmla="val 8333"/>
            </a:avLst>
          </a:prstGeom>
          <a:solidFill>
            <a:srgbClr val="FFFFFF"/>
          </a:solidFill>
          <a:ln w="9525">
            <a:solidFill>
              <a:srgbClr val="DCE3EC"/>
            </a:solidFill>
            <a:prstDash val="solid"/>
          </a:ln>
        </p:spPr>
        <p:txBody>
          <a:bodyPr/>
          <a:lstStyle/>
          <a:p>
            <a:endParaRPr lang="en-US"/>
          </a:p>
        </p:txBody>
      </p:sp>
      <p:sp>
        <p:nvSpPr>
          <p:cNvPr id="9" name="Text 6"/>
          <p:cNvSpPr txBox="1"/>
          <p:nvPr/>
        </p:nvSpPr>
        <p:spPr>
          <a:xfrm>
            <a:off x="566928" y="3154680"/>
            <a:ext cx="1591056" cy="146304"/>
          </a:xfrm>
          <a:prstGeom prst="rect">
            <a:avLst/>
          </a:prstGeom>
          <a:noFill/>
          <a:ln/>
        </p:spPr>
        <p:txBody>
          <a:bodyPr wrap="square" lIns="0" tIns="0" rIns="0" bIns="0" rtlCol="0" anchor="ctr"/>
          <a:lstStyle/>
          <a:p>
            <a:pPr marL="0" indent="0">
              <a:buNone/>
            </a:pPr>
            <a:r>
              <a:rPr lang="en-US" sz="800" b="1" kern="0" spc="30" dirty="0">
                <a:solidFill>
                  <a:srgbClr val="1A6FC4"/>
                </a:solidFill>
                <a:latin typeface="Calibri" pitchFamily="34" charset="0"/>
                <a:ea typeface="Calibri" pitchFamily="34" charset="-122"/>
                <a:cs typeface="Calibri" pitchFamily="34" charset="-120"/>
              </a:rPr>
              <a:t>What forced it</a:t>
            </a:r>
            <a:endParaRPr lang="en-US" sz="800" dirty="0"/>
          </a:p>
        </p:txBody>
      </p:sp>
      <p:sp>
        <p:nvSpPr>
          <p:cNvPr id="10" name="Text 7"/>
          <p:cNvSpPr txBox="1"/>
          <p:nvPr/>
        </p:nvSpPr>
        <p:spPr>
          <a:xfrm>
            <a:off x="566928" y="3310128"/>
            <a:ext cx="1591056" cy="402336"/>
          </a:xfrm>
          <a:prstGeom prst="rect">
            <a:avLst/>
          </a:prstGeom>
          <a:noFill/>
          <a:ln/>
        </p:spPr>
        <p:txBody>
          <a:bodyPr wrap="square" lIns="0" tIns="0" rIns="0" bIns="0" rtlCol="0" anchor="t"/>
          <a:lstStyle/>
          <a:p>
            <a:pPr marL="0" indent="0">
              <a:lnSpc>
                <a:spcPct val="96000"/>
              </a:lnSpc>
              <a:buNone/>
            </a:pPr>
            <a:r>
              <a:rPr lang="en-US" sz="750" dirty="0">
                <a:solidFill>
                  <a:srgbClr val="5B6B7C"/>
                </a:solidFill>
                <a:latin typeface="Calibri" pitchFamily="34" charset="0"/>
                <a:ea typeface="Calibri" pitchFamily="34" charset="-122"/>
                <a:cs typeface="Calibri" pitchFamily="34" charset="-120"/>
              </a:rPr>
              <a:t>The graph had to stay interactive at five layouts and six link filters, with no round-trip per redraw.</a:t>
            </a:r>
            <a:endParaRPr lang="en-US" sz="750" dirty="0"/>
          </a:p>
        </p:txBody>
      </p:sp>
      <p:sp>
        <p:nvSpPr>
          <p:cNvPr id="11" name="Shape 8"/>
          <p:cNvSpPr/>
          <p:nvPr/>
        </p:nvSpPr>
        <p:spPr>
          <a:xfrm>
            <a:off x="2505456" y="1261872"/>
            <a:ext cx="1956816" cy="2615184"/>
          </a:xfrm>
          <a:prstGeom prst="roundRect">
            <a:avLst>
              <a:gd name="adj" fmla="val 2804"/>
            </a:avLst>
          </a:prstGeom>
          <a:solidFill>
            <a:srgbClr val="E4F5F3"/>
          </a:solidFill>
          <a:ln w="9525">
            <a:solidFill>
              <a:srgbClr val="DCE3EC"/>
            </a:solidFill>
            <a:prstDash val="solid"/>
          </a:ln>
        </p:spPr>
        <p:txBody>
          <a:bodyPr/>
          <a:lstStyle/>
          <a:p>
            <a:endParaRPr lang="en-US"/>
          </a:p>
        </p:txBody>
      </p:sp>
      <p:sp>
        <p:nvSpPr>
          <p:cNvPr id="12" name="Text 9"/>
          <p:cNvSpPr txBox="1"/>
          <p:nvPr/>
        </p:nvSpPr>
        <p:spPr>
          <a:xfrm>
            <a:off x="2606040" y="1325880"/>
            <a:ext cx="1755648" cy="201168"/>
          </a:xfrm>
          <a:prstGeom prst="rect">
            <a:avLst/>
          </a:prstGeom>
          <a:noFill/>
          <a:ln/>
        </p:spPr>
        <p:txBody>
          <a:bodyPr wrap="square" lIns="0" tIns="0" rIns="0" bIns="0" rtlCol="0" anchor="ctr"/>
          <a:lstStyle/>
          <a:p>
            <a:pPr marL="0" indent="0">
              <a:buNone/>
            </a:pPr>
            <a:r>
              <a:rPr lang="en-US" sz="1100" b="1" dirty="0">
                <a:solidFill>
                  <a:srgbClr val="2FA8A0"/>
                </a:solidFill>
                <a:latin typeface="Calibri" pitchFamily="34" charset="0"/>
                <a:ea typeface="Calibri" pitchFamily="34" charset="-122"/>
                <a:cs typeface="Calibri" pitchFamily="34" charset="-120"/>
              </a:rPr>
              <a:t>Backend &amp; API</a:t>
            </a:r>
            <a:endParaRPr lang="en-US" sz="1100" dirty="0"/>
          </a:p>
        </p:txBody>
      </p:sp>
      <p:sp>
        <p:nvSpPr>
          <p:cNvPr id="13" name="Text 10"/>
          <p:cNvSpPr txBox="1"/>
          <p:nvPr/>
        </p:nvSpPr>
        <p:spPr>
          <a:xfrm>
            <a:off x="2624328" y="1581912"/>
            <a:ext cx="1737360" cy="1481328"/>
          </a:xfrm>
          <a:prstGeom prst="rect">
            <a:avLst/>
          </a:prstGeom>
          <a:noFill/>
          <a:ln/>
        </p:spPr>
        <p:txBody>
          <a:bodyPr wrap="square" lIns="0" tIns="0" rIns="0" bIns="0" rtlCol="0" anchor="t"/>
          <a:lstStyle/>
          <a:p>
            <a:pPr marL="127000" indent="-127000">
              <a:lnSpc>
                <a:spcPct val="98000"/>
              </a:lnSpc>
              <a:spcAft>
                <a:spcPts val="400"/>
              </a:spcAft>
              <a:buSzPct val="100000"/>
              <a:buChar char="•"/>
            </a:pPr>
            <a:r>
              <a:rPr lang="en-US" sz="800" dirty="0">
                <a:solidFill>
                  <a:srgbClr val="5B6B7C"/>
                </a:solidFill>
                <a:latin typeface="Calibri" pitchFamily="34" charset="0"/>
                <a:ea typeface="Calibri" pitchFamily="34" charset="-122"/>
                <a:cs typeface="Calibri" pitchFamily="34" charset="-120"/>
              </a:rPr>
              <a:t>Node.js 20 · Catalyst Advanced I/O</a:t>
            </a:r>
            <a:endParaRPr lang="en-US" sz="800" dirty="0"/>
          </a:p>
          <a:p>
            <a:pPr marL="127000" indent="-127000">
              <a:lnSpc>
                <a:spcPct val="98000"/>
              </a:lnSpc>
              <a:spcAft>
                <a:spcPts val="400"/>
              </a:spcAft>
              <a:buSzPct val="100000"/>
              <a:buChar char="•"/>
            </a:pPr>
            <a:r>
              <a:rPr lang="en-US" sz="800" dirty="0">
                <a:solidFill>
                  <a:srgbClr val="5B6B7C"/>
                </a:solidFill>
                <a:latin typeface="Calibri" pitchFamily="34" charset="0"/>
                <a:ea typeface="Calibri" pitchFamily="34" charset="-122"/>
                <a:cs typeface="Calibri" pitchFamily="34" charset="-120"/>
              </a:rPr>
              <a:t>Express-compatible routing</a:t>
            </a:r>
            <a:endParaRPr lang="en-US" sz="800" dirty="0"/>
          </a:p>
          <a:p>
            <a:pPr marL="127000" indent="-127000">
              <a:lnSpc>
                <a:spcPct val="98000"/>
              </a:lnSpc>
              <a:spcAft>
                <a:spcPts val="400"/>
              </a:spcAft>
              <a:buSzPct val="100000"/>
              <a:buChar char="•"/>
            </a:pPr>
            <a:r>
              <a:rPr lang="en-US" sz="800" dirty="0">
                <a:solidFill>
                  <a:srgbClr val="5B6B7C"/>
                </a:solidFill>
                <a:latin typeface="Calibri" pitchFamily="34" charset="0"/>
                <a:ea typeface="Calibri" pitchFamily="34" charset="-122"/>
                <a:cs typeface="Calibri" pitchFamily="34" charset="-120"/>
              </a:rPr>
              <a:t>105 REST endpoints, enveloped</a:t>
            </a:r>
            <a:endParaRPr lang="en-US" sz="800" dirty="0"/>
          </a:p>
          <a:p>
            <a:pPr marL="127000" indent="-127000">
              <a:lnSpc>
                <a:spcPct val="98000"/>
              </a:lnSpc>
              <a:spcAft>
                <a:spcPts val="400"/>
              </a:spcAft>
              <a:buSzPct val="100000"/>
              <a:buChar char="•"/>
            </a:pPr>
            <a:r>
              <a:rPr lang="en-US" sz="800" dirty="0">
                <a:solidFill>
                  <a:srgbClr val="5B6B7C"/>
                </a:solidFill>
                <a:latin typeface="Calibri" pitchFamily="34" charset="0"/>
                <a:ea typeface="Calibri" pitchFamily="34" charset="-122"/>
                <a:cs typeface="Calibri" pitchFamily="34" charset="-120"/>
              </a:rPr>
              <a:t>RBAC scoping on every read and write</a:t>
            </a:r>
            <a:endParaRPr lang="en-US" sz="800" dirty="0"/>
          </a:p>
          <a:p>
            <a:pPr marL="127000" indent="-127000">
              <a:lnSpc>
                <a:spcPct val="98000"/>
              </a:lnSpc>
              <a:spcAft>
                <a:spcPts val="400"/>
              </a:spcAft>
              <a:buSzPct val="100000"/>
              <a:buChar char="•"/>
            </a:pPr>
            <a:r>
              <a:rPr lang="en-US" sz="800" dirty="0">
                <a:solidFill>
                  <a:srgbClr val="5B6B7C"/>
                </a:solidFill>
                <a:latin typeface="Calibri" pitchFamily="34" charset="0"/>
                <a:ea typeface="Calibri" pitchFamily="34" charset="-122"/>
                <a:cs typeface="Calibri" pitchFamily="34" charset="-120"/>
              </a:rPr>
              <a:t>Persisted audit trail</a:t>
            </a:r>
            <a:endParaRPr lang="en-US" sz="800" dirty="0"/>
          </a:p>
          <a:p>
            <a:pPr marL="127000" indent="-127000">
              <a:lnSpc>
                <a:spcPct val="98000"/>
              </a:lnSpc>
              <a:spcAft>
                <a:spcPts val="400"/>
              </a:spcAft>
              <a:buSzPct val="100000"/>
              <a:buChar char="•"/>
            </a:pPr>
            <a:r>
              <a:rPr lang="en-US" sz="800" dirty="0">
                <a:solidFill>
                  <a:srgbClr val="5B6B7C"/>
                </a:solidFill>
                <a:latin typeface="Calibri" pitchFamily="34" charset="0"/>
                <a:ea typeface="Calibri" pitchFamily="34" charset="-122"/>
                <a:cs typeface="Calibri" pitchFamily="34" charset="-120"/>
              </a:rPr>
              <a:t>Grounded intent engine</a:t>
            </a:r>
            <a:endParaRPr lang="en-US" sz="800" dirty="0"/>
          </a:p>
          <a:p>
            <a:pPr marL="127000" indent="-127000">
              <a:lnSpc>
                <a:spcPct val="98000"/>
              </a:lnSpc>
              <a:spcAft>
                <a:spcPts val="400"/>
              </a:spcAft>
              <a:buSzPct val="100000"/>
              <a:buChar char="•"/>
            </a:pPr>
            <a:r>
              <a:rPr lang="en-US" sz="800" dirty="0">
                <a:solidFill>
                  <a:srgbClr val="5B6B7C"/>
                </a:solidFill>
                <a:latin typeface="Calibri" pitchFamily="34" charset="0"/>
                <a:ea typeface="Calibri" pitchFamily="34" charset="-122"/>
                <a:cs typeface="Calibri" pitchFamily="34" charset="-120"/>
              </a:rPr>
              <a:t>Enveloped errors — never a bare 500</a:t>
            </a:r>
            <a:endParaRPr lang="en-US" sz="800" dirty="0"/>
          </a:p>
        </p:txBody>
      </p:sp>
      <p:sp>
        <p:nvSpPr>
          <p:cNvPr id="14" name="Shape 11"/>
          <p:cNvSpPr/>
          <p:nvPr/>
        </p:nvSpPr>
        <p:spPr>
          <a:xfrm>
            <a:off x="2606040" y="3108960"/>
            <a:ext cx="1755648" cy="658368"/>
          </a:xfrm>
          <a:prstGeom prst="roundRect">
            <a:avLst>
              <a:gd name="adj" fmla="val 8333"/>
            </a:avLst>
          </a:prstGeom>
          <a:solidFill>
            <a:srgbClr val="FFFFFF"/>
          </a:solidFill>
          <a:ln w="9525">
            <a:solidFill>
              <a:srgbClr val="DCE3EC"/>
            </a:solidFill>
            <a:prstDash val="solid"/>
          </a:ln>
        </p:spPr>
        <p:txBody>
          <a:bodyPr/>
          <a:lstStyle/>
          <a:p>
            <a:endParaRPr lang="en-US"/>
          </a:p>
        </p:txBody>
      </p:sp>
      <p:sp>
        <p:nvSpPr>
          <p:cNvPr id="15" name="Text 12"/>
          <p:cNvSpPr txBox="1"/>
          <p:nvPr/>
        </p:nvSpPr>
        <p:spPr>
          <a:xfrm>
            <a:off x="2688336" y="3154680"/>
            <a:ext cx="1591056" cy="146304"/>
          </a:xfrm>
          <a:prstGeom prst="rect">
            <a:avLst/>
          </a:prstGeom>
          <a:noFill/>
          <a:ln/>
        </p:spPr>
        <p:txBody>
          <a:bodyPr wrap="square" lIns="0" tIns="0" rIns="0" bIns="0" rtlCol="0" anchor="ctr"/>
          <a:lstStyle/>
          <a:p>
            <a:pPr marL="0" indent="0">
              <a:buNone/>
            </a:pPr>
            <a:r>
              <a:rPr lang="en-US" sz="800" b="1" kern="0" spc="30" dirty="0">
                <a:solidFill>
                  <a:srgbClr val="2FA8A0"/>
                </a:solidFill>
                <a:latin typeface="Calibri" pitchFamily="34" charset="0"/>
                <a:ea typeface="Calibri" pitchFamily="34" charset="-122"/>
                <a:cs typeface="Calibri" pitchFamily="34" charset="-120"/>
              </a:rPr>
              <a:t>What forced it</a:t>
            </a:r>
            <a:endParaRPr lang="en-US" sz="800" dirty="0"/>
          </a:p>
        </p:txBody>
      </p:sp>
      <p:sp>
        <p:nvSpPr>
          <p:cNvPr id="16" name="Text 13"/>
          <p:cNvSpPr txBox="1"/>
          <p:nvPr/>
        </p:nvSpPr>
        <p:spPr>
          <a:xfrm>
            <a:off x="2688336" y="3310128"/>
            <a:ext cx="1591056" cy="402336"/>
          </a:xfrm>
          <a:prstGeom prst="rect">
            <a:avLst/>
          </a:prstGeom>
          <a:noFill/>
          <a:ln/>
        </p:spPr>
        <p:txBody>
          <a:bodyPr wrap="square" lIns="0" tIns="0" rIns="0" bIns="0" rtlCol="0" anchor="t"/>
          <a:lstStyle/>
          <a:p>
            <a:pPr marL="0" indent="0">
              <a:lnSpc>
                <a:spcPct val="96000"/>
              </a:lnSpc>
              <a:buNone/>
            </a:pPr>
            <a:r>
              <a:rPr lang="en-US" sz="750" dirty="0">
                <a:solidFill>
                  <a:srgbClr val="5B6B7C"/>
                </a:solidFill>
                <a:latin typeface="Calibri" pitchFamily="34" charset="0"/>
                <a:ea typeface="Calibri" pitchFamily="34" charset="-122"/>
                <a:cs typeface="Calibri" pitchFamily="34" charset="-120"/>
              </a:rPr>
              <a:t>Advanced I/O takes an Express app unchanged, so the same 105 routes run locally and on Catalyst.</a:t>
            </a:r>
            <a:endParaRPr lang="en-US" sz="750" dirty="0"/>
          </a:p>
        </p:txBody>
      </p:sp>
      <p:sp>
        <p:nvSpPr>
          <p:cNvPr id="17" name="Shape 14"/>
          <p:cNvSpPr/>
          <p:nvPr/>
        </p:nvSpPr>
        <p:spPr>
          <a:xfrm>
            <a:off x="4626864" y="1261872"/>
            <a:ext cx="1956816" cy="2615184"/>
          </a:xfrm>
          <a:prstGeom prst="roundRect">
            <a:avLst>
              <a:gd name="adj" fmla="val 2804"/>
            </a:avLst>
          </a:prstGeom>
          <a:solidFill>
            <a:srgbClr val="F0EBF8"/>
          </a:solidFill>
          <a:ln w="9525">
            <a:solidFill>
              <a:srgbClr val="DCE3EC"/>
            </a:solidFill>
            <a:prstDash val="solid"/>
          </a:ln>
        </p:spPr>
        <p:txBody>
          <a:bodyPr/>
          <a:lstStyle/>
          <a:p>
            <a:endParaRPr lang="en-US"/>
          </a:p>
        </p:txBody>
      </p:sp>
      <p:sp>
        <p:nvSpPr>
          <p:cNvPr id="18" name="Text 15"/>
          <p:cNvSpPr txBox="1"/>
          <p:nvPr/>
        </p:nvSpPr>
        <p:spPr>
          <a:xfrm>
            <a:off x="4727448" y="1325880"/>
            <a:ext cx="1755648" cy="201168"/>
          </a:xfrm>
          <a:prstGeom prst="rect">
            <a:avLst/>
          </a:prstGeom>
          <a:noFill/>
          <a:ln/>
        </p:spPr>
        <p:txBody>
          <a:bodyPr wrap="square" lIns="0" tIns="0" rIns="0" bIns="0" rtlCol="0" anchor="ctr"/>
          <a:lstStyle/>
          <a:p>
            <a:pPr marL="0" indent="0">
              <a:buNone/>
            </a:pPr>
            <a:r>
              <a:rPr lang="en-US" sz="1100" b="1" dirty="0">
                <a:solidFill>
                  <a:srgbClr val="6D4C9F"/>
                </a:solidFill>
                <a:latin typeface="Calibri" pitchFamily="34" charset="0"/>
                <a:ea typeface="Calibri" pitchFamily="34" charset="-122"/>
                <a:cs typeface="Calibri" pitchFamily="34" charset="-120"/>
              </a:rPr>
              <a:t>Data &amp; ML</a:t>
            </a:r>
            <a:endParaRPr lang="en-US" sz="1100" dirty="0"/>
          </a:p>
        </p:txBody>
      </p:sp>
      <p:sp>
        <p:nvSpPr>
          <p:cNvPr id="19" name="Text 16"/>
          <p:cNvSpPr txBox="1"/>
          <p:nvPr/>
        </p:nvSpPr>
        <p:spPr>
          <a:xfrm>
            <a:off x="4745736" y="1581912"/>
            <a:ext cx="1737360" cy="1481328"/>
          </a:xfrm>
          <a:prstGeom prst="rect">
            <a:avLst/>
          </a:prstGeom>
          <a:noFill/>
          <a:ln/>
        </p:spPr>
        <p:txBody>
          <a:bodyPr wrap="square" lIns="0" tIns="0" rIns="0" bIns="0" rtlCol="0" anchor="t"/>
          <a:lstStyle/>
          <a:p>
            <a:pPr marL="127000" indent="-127000">
              <a:lnSpc>
                <a:spcPct val="98000"/>
              </a:lnSpc>
              <a:spcAft>
                <a:spcPts val="400"/>
              </a:spcAft>
              <a:buSzPct val="100000"/>
              <a:buChar char="•"/>
            </a:pPr>
            <a:r>
              <a:rPr lang="en-US" sz="800" dirty="0">
                <a:solidFill>
                  <a:srgbClr val="5B6B7C"/>
                </a:solidFill>
                <a:latin typeface="Calibri" pitchFamily="34" charset="0"/>
                <a:ea typeface="Calibri" pitchFamily="34" charset="-122"/>
                <a:cs typeface="Calibri" pitchFamily="34" charset="-120"/>
              </a:rPr>
              <a:t>Python 3.11 · pandas · NumPy · SciPy</a:t>
            </a:r>
            <a:endParaRPr lang="en-US" sz="800" dirty="0"/>
          </a:p>
          <a:p>
            <a:pPr marL="127000" indent="-127000">
              <a:lnSpc>
                <a:spcPct val="98000"/>
              </a:lnSpc>
              <a:spcAft>
                <a:spcPts val="400"/>
              </a:spcAft>
              <a:buSzPct val="100000"/>
              <a:buChar char="•"/>
            </a:pPr>
            <a:r>
              <a:rPr lang="en-US" sz="800" dirty="0">
                <a:solidFill>
                  <a:srgbClr val="5B6B7C"/>
                </a:solidFill>
                <a:latin typeface="Calibri" pitchFamily="34" charset="0"/>
                <a:ea typeface="Calibri" pitchFamily="34" charset="-122"/>
                <a:cs typeface="Calibri" pitchFamily="34" charset="-120"/>
              </a:rPr>
              <a:t>scikit-learn — TF-IDF, DBSCAN, NearestNeighbors</a:t>
            </a:r>
            <a:endParaRPr lang="en-US" sz="800" dirty="0"/>
          </a:p>
          <a:p>
            <a:pPr marL="127000" indent="-127000">
              <a:lnSpc>
                <a:spcPct val="98000"/>
              </a:lnSpc>
              <a:spcAft>
                <a:spcPts val="400"/>
              </a:spcAft>
              <a:buSzPct val="100000"/>
              <a:buChar char="•"/>
            </a:pPr>
            <a:r>
              <a:rPr lang="en-US" sz="800" dirty="0">
                <a:solidFill>
                  <a:srgbClr val="5B6B7C"/>
                </a:solidFill>
                <a:latin typeface="Calibri" pitchFamily="34" charset="0"/>
                <a:ea typeface="Calibri" pitchFamily="34" charset="-122"/>
                <a:cs typeface="Calibri" pitchFamily="34" charset="-120"/>
              </a:rPr>
              <a:t>networkx — Louvain communities</a:t>
            </a:r>
            <a:endParaRPr lang="en-US" sz="800" dirty="0"/>
          </a:p>
          <a:p>
            <a:pPr marL="127000" indent="-127000">
              <a:lnSpc>
                <a:spcPct val="98000"/>
              </a:lnSpc>
              <a:spcAft>
                <a:spcPts val="400"/>
              </a:spcAft>
              <a:buSzPct val="100000"/>
              <a:buChar char="•"/>
            </a:pPr>
            <a:r>
              <a:rPr lang="en-US" sz="800" dirty="0">
                <a:solidFill>
                  <a:srgbClr val="5B6B7C"/>
                </a:solidFill>
                <a:latin typeface="Calibri" pitchFamily="34" charset="0"/>
                <a:ea typeface="Calibri" pitchFamily="34" charset="-122"/>
                <a:cs typeface="Calibri" pitchFamily="34" charset="-120"/>
              </a:rPr>
              <a:t>RapidFuzz — rarity-weighted matching</a:t>
            </a:r>
            <a:endParaRPr lang="en-US" sz="800" dirty="0"/>
          </a:p>
          <a:p>
            <a:pPr marL="127000" indent="-127000">
              <a:lnSpc>
                <a:spcPct val="98000"/>
              </a:lnSpc>
              <a:spcAft>
                <a:spcPts val="400"/>
              </a:spcAft>
              <a:buSzPct val="100000"/>
              <a:buChar char="•"/>
            </a:pPr>
            <a:r>
              <a:rPr lang="en-US" sz="800" dirty="0">
                <a:solidFill>
                  <a:srgbClr val="5B6B7C"/>
                </a:solidFill>
                <a:latin typeface="Calibri" pitchFamily="34" charset="0"/>
                <a:ea typeface="Calibri" pitchFamily="34" charset="-122"/>
                <a:cs typeface="Calibri" pitchFamily="34" charset="-120"/>
              </a:rPr>
              <a:t>Shapely — district polygons</a:t>
            </a:r>
            <a:endParaRPr lang="en-US" sz="800" dirty="0"/>
          </a:p>
          <a:p>
            <a:pPr marL="127000" indent="-127000">
              <a:lnSpc>
                <a:spcPct val="98000"/>
              </a:lnSpc>
              <a:spcAft>
                <a:spcPts val="400"/>
              </a:spcAft>
              <a:buSzPct val="100000"/>
              <a:buChar char="•"/>
            </a:pPr>
            <a:r>
              <a:rPr lang="en-US" sz="800" dirty="0">
                <a:solidFill>
                  <a:srgbClr val="5B6B7C"/>
                </a:solidFill>
                <a:latin typeface="Calibri" pitchFamily="34" charset="0"/>
                <a:ea typeface="Calibri" pitchFamily="34" charset="-122"/>
                <a:cs typeface="Calibri" pitchFamily="34" charset="-120"/>
              </a:rPr>
              <a:t>QuickML — 8 tabular models</a:t>
            </a:r>
            <a:endParaRPr lang="en-US" sz="800" dirty="0"/>
          </a:p>
          <a:p>
            <a:pPr marL="127000" indent="-127000">
              <a:lnSpc>
                <a:spcPct val="98000"/>
              </a:lnSpc>
              <a:spcAft>
                <a:spcPts val="400"/>
              </a:spcAft>
              <a:buSzPct val="100000"/>
              <a:buChar char="•"/>
            </a:pPr>
            <a:r>
              <a:rPr lang="en-US" sz="800" dirty="0">
                <a:solidFill>
                  <a:srgbClr val="5B6B7C"/>
                </a:solidFill>
                <a:latin typeface="Calibri" pitchFamily="34" charset="0"/>
                <a:ea typeface="Calibri" pitchFamily="34" charset="-122"/>
                <a:cs typeface="Calibri" pitchFamily="34" charset="-120"/>
              </a:rPr>
              <a:t>statsmodels — trend and seasonality</a:t>
            </a:r>
            <a:endParaRPr lang="en-US" sz="800" dirty="0"/>
          </a:p>
        </p:txBody>
      </p:sp>
      <p:sp>
        <p:nvSpPr>
          <p:cNvPr id="20" name="Shape 17"/>
          <p:cNvSpPr/>
          <p:nvPr/>
        </p:nvSpPr>
        <p:spPr>
          <a:xfrm>
            <a:off x="4727448" y="3108960"/>
            <a:ext cx="1755648" cy="658368"/>
          </a:xfrm>
          <a:prstGeom prst="roundRect">
            <a:avLst>
              <a:gd name="adj" fmla="val 8333"/>
            </a:avLst>
          </a:prstGeom>
          <a:solidFill>
            <a:srgbClr val="FFFFFF"/>
          </a:solidFill>
          <a:ln w="9525">
            <a:solidFill>
              <a:srgbClr val="DCE3EC"/>
            </a:solidFill>
            <a:prstDash val="solid"/>
          </a:ln>
        </p:spPr>
        <p:txBody>
          <a:bodyPr/>
          <a:lstStyle/>
          <a:p>
            <a:endParaRPr lang="en-US"/>
          </a:p>
        </p:txBody>
      </p:sp>
      <p:sp>
        <p:nvSpPr>
          <p:cNvPr id="21" name="Text 18"/>
          <p:cNvSpPr txBox="1"/>
          <p:nvPr/>
        </p:nvSpPr>
        <p:spPr>
          <a:xfrm>
            <a:off x="4809744" y="3154680"/>
            <a:ext cx="1591056" cy="146304"/>
          </a:xfrm>
          <a:prstGeom prst="rect">
            <a:avLst/>
          </a:prstGeom>
          <a:noFill/>
          <a:ln/>
        </p:spPr>
        <p:txBody>
          <a:bodyPr wrap="square" lIns="0" tIns="0" rIns="0" bIns="0" rtlCol="0" anchor="ctr"/>
          <a:lstStyle/>
          <a:p>
            <a:pPr marL="0" indent="0">
              <a:buNone/>
            </a:pPr>
            <a:r>
              <a:rPr lang="en-US" sz="800" b="1" kern="0" spc="30" dirty="0">
                <a:solidFill>
                  <a:srgbClr val="6D4C9F"/>
                </a:solidFill>
                <a:latin typeface="Calibri" pitchFamily="34" charset="0"/>
                <a:ea typeface="Calibri" pitchFamily="34" charset="-122"/>
                <a:cs typeface="Calibri" pitchFamily="34" charset="-120"/>
              </a:rPr>
              <a:t>What forced it</a:t>
            </a:r>
            <a:endParaRPr lang="en-US" sz="800" dirty="0"/>
          </a:p>
        </p:txBody>
      </p:sp>
      <p:sp>
        <p:nvSpPr>
          <p:cNvPr id="22" name="Text 19"/>
          <p:cNvSpPr txBox="1"/>
          <p:nvPr/>
        </p:nvSpPr>
        <p:spPr>
          <a:xfrm>
            <a:off x="4809744" y="3310128"/>
            <a:ext cx="1591056" cy="402336"/>
          </a:xfrm>
          <a:prstGeom prst="rect">
            <a:avLst/>
          </a:prstGeom>
          <a:noFill/>
          <a:ln/>
        </p:spPr>
        <p:txBody>
          <a:bodyPr wrap="square" lIns="0" tIns="0" rIns="0" bIns="0" rtlCol="0" anchor="t"/>
          <a:lstStyle/>
          <a:p>
            <a:pPr marL="0" indent="0">
              <a:lnSpc>
                <a:spcPct val="96000"/>
              </a:lnSpc>
              <a:buNone/>
            </a:pPr>
            <a:r>
              <a:rPr lang="en-US" sz="750" dirty="0">
                <a:solidFill>
                  <a:srgbClr val="5B6B7C"/>
                </a:solidFill>
                <a:latin typeface="Calibri" pitchFamily="34" charset="0"/>
                <a:ea typeface="Calibri" pitchFamily="34" charset="-122"/>
                <a:cs typeface="Calibri" pitchFamily="34" charset="-120"/>
              </a:rPr>
              <a:t>All of it runs inside the nightly Job. Nothing on this list is called from an HTTP request.</a:t>
            </a:r>
            <a:endParaRPr lang="en-US" sz="750" dirty="0"/>
          </a:p>
        </p:txBody>
      </p:sp>
      <p:sp>
        <p:nvSpPr>
          <p:cNvPr id="23" name="Shape 20"/>
          <p:cNvSpPr/>
          <p:nvPr/>
        </p:nvSpPr>
        <p:spPr>
          <a:xfrm>
            <a:off x="6748272" y="1261872"/>
            <a:ext cx="1956816" cy="2615184"/>
          </a:xfrm>
          <a:prstGeom prst="roundRect">
            <a:avLst>
              <a:gd name="adj" fmla="val 2804"/>
            </a:avLst>
          </a:prstGeom>
          <a:solidFill>
            <a:srgbClr val="FDF1E4"/>
          </a:solidFill>
          <a:ln w="9525">
            <a:solidFill>
              <a:srgbClr val="DCE3EC"/>
            </a:solidFill>
            <a:prstDash val="solid"/>
          </a:ln>
        </p:spPr>
        <p:txBody>
          <a:bodyPr/>
          <a:lstStyle/>
          <a:p>
            <a:endParaRPr lang="en-US"/>
          </a:p>
        </p:txBody>
      </p:sp>
      <p:sp>
        <p:nvSpPr>
          <p:cNvPr id="24" name="Text 21"/>
          <p:cNvSpPr txBox="1"/>
          <p:nvPr/>
        </p:nvSpPr>
        <p:spPr>
          <a:xfrm>
            <a:off x="6848856" y="1325880"/>
            <a:ext cx="1755648" cy="201168"/>
          </a:xfrm>
          <a:prstGeom prst="rect">
            <a:avLst/>
          </a:prstGeom>
          <a:noFill/>
          <a:ln/>
        </p:spPr>
        <p:txBody>
          <a:bodyPr wrap="square" lIns="0" tIns="0" rIns="0" bIns="0" rtlCol="0" anchor="ctr"/>
          <a:lstStyle/>
          <a:p>
            <a:pPr marL="0" indent="0">
              <a:buNone/>
            </a:pPr>
            <a:r>
              <a:rPr lang="en-US" sz="1100" b="1" dirty="0">
                <a:solidFill>
                  <a:srgbClr val="E8871E"/>
                </a:solidFill>
                <a:latin typeface="Calibri" pitchFamily="34" charset="0"/>
                <a:ea typeface="Calibri" pitchFamily="34" charset="-122"/>
                <a:cs typeface="Calibri" pitchFamily="34" charset="-120"/>
              </a:rPr>
              <a:t>Platform &amp; quality</a:t>
            </a:r>
            <a:endParaRPr lang="en-US" sz="1100" dirty="0"/>
          </a:p>
        </p:txBody>
      </p:sp>
      <p:sp>
        <p:nvSpPr>
          <p:cNvPr id="25" name="Text 22"/>
          <p:cNvSpPr txBox="1"/>
          <p:nvPr/>
        </p:nvSpPr>
        <p:spPr>
          <a:xfrm>
            <a:off x="6867144" y="1581912"/>
            <a:ext cx="1737360" cy="1481328"/>
          </a:xfrm>
          <a:prstGeom prst="rect">
            <a:avLst/>
          </a:prstGeom>
          <a:noFill/>
          <a:ln/>
        </p:spPr>
        <p:txBody>
          <a:bodyPr wrap="square" lIns="0" tIns="0" rIns="0" bIns="0" rtlCol="0" anchor="t"/>
          <a:lstStyle/>
          <a:p>
            <a:pPr marL="127000" indent="-127000">
              <a:lnSpc>
                <a:spcPct val="98000"/>
              </a:lnSpc>
              <a:spcAft>
                <a:spcPts val="400"/>
              </a:spcAft>
              <a:buSzPct val="100000"/>
              <a:buChar char="•"/>
            </a:pPr>
            <a:r>
              <a:rPr lang="en-US" sz="800" dirty="0">
                <a:solidFill>
                  <a:srgbClr val="5B6B7C"/>
                </a:solidFill>
                <a:latin typeface="Calibri" pitchFamily="34" charset="0"/>
                <a:ea typeface="Calibri" pitchFamily="34" charset="-122"/>
                <a:cs typeface="Calibri" pitchFamily="34" charset="-120"/>
              </a:rPr>
              <a:t>Zoho Catalyst · CLI 1.27</a:t>
            </a:r>
            <a:endParaRPr lang="en-US" sz="800" dirty="0"/>
          </a:p>
          <a:p>
            <a:pPr marL="127000" indent="-127000">
              <a:lnSpc>
                <a:spcPct val="98000"/>
              </a:lnSpc>
              <a:spcAft>
                <a:spcPts val="400"/>
              </a:spcAft>
              <a:buSzPct val="100000"/>
              <a:buChar char="•"/>
            </a:pPr>
            <a:r>
              <a:rPr lang="en-US" sz="800" dirty="0">
                <a:solidFill>
                  <a:srgbClr val="5B6B7C"/>
                </a:solidFill>
                <a:latin typeface="Calibri" pitchFamily="34" charset="0"/>
                <a:ea typeface="Calibri" pitchFamily="34" charset="-122"/>
                <a:cs typeface="Calibri" pitchFamily="34" charset="-120"/>
              </a:rPr>
              <a:t>ZCQL over 19 Data Store tables</a:t>
            </a:r>
            <a:endParaRPr lang="en-US" sz="800" dirty="0"/>
          </a:p>
          <a:p>
            <a:pPr marL="127000" indent="-127000">
              <a:lnSpc>
                <a:spcPct val="98000"/>
              </a:lnSpc>
              <a:spcAft>
                <a:spcPts val="400"/>
              </a:spcAft>
              <a:buSzPct val="100000"/>
              <a:buChar char="•"/>
            </a:pPr>
            <a:r>
              <a:rPr lang="en-US" sz="800" dirty="0">
                <a:solidFill>
                  <a:srgbClr val="5B6B7C"/>
                </a:solidFill>
                <a:latin typeface="Calibri" pitchFamily="34" charset="0"/>
                <a:ea typeface="Calibri" pitchFamily="34" charset="-122"/>
                <a:cs typeface="Calibri" pitchFamily="34" charset="-120"/>
              </a:rPr>
              <a:t>Zia · QuickML · SmartBrowz</a:t>
            </a:r>
            <a:endParaRPr lang="en-US" sz="800" dirty="0"/>
          </a:p>
          <a:p>
            <a:pPr marL="127000" indent="-127000">
              <a:lnSpc>
                <a:spcPct val="98000"/>
              </a:lnSpc>
              <a:spcAft>
                <a:spcPts val="400"/>
              </a:spcAft>
              <a:buSzPct val="100000"/>
              <a:buChar char="•"/>
            </a:pPr>
            <a:r>
              <a:rPr lang="en-US" sz="800" dirty="0">
                <a:solidFill>
                  <a:srgbClr val="5B6B7C"/>
                </a:solidFill>
                <a:latin typeface="Calibri" pitchFamily="34" charset="0"/>
                <a:ea typeface="Calibri" pitchFamily="34" charset="-122"/>
                <a:cs typeface="Calibri" pitchFamily="34" charset="-120"/>
              </a:rPr>
              <a:t>node:test · pytest — 103 tests</a:t>
            </a:r>
            <a:endParaRPr lang="en-US" sz="800" dirty="0"/>
          </a:p>
          <a:p>
            <a:pPr marL="127000" indent="-127000">
              <a:lnSpc>
                <a:spcPct val="98000"/>
              </a:lnSpc>
              <a:spcAft>
                <a:spcPts val="400"/>
              </a:spcAft>
              <a:buSzPct val="100000"/>
              <a:buChar char="•"/>
            </a:pPr>
            <a:r>
              <a:rPr lang="en-US" sz="800" dirty="0">
                <a:solidFill>
                  <a:srgbClr val="5B6B7C"/>
                </a:solidFill>
                <a:latin typeface="Calibri" pitchFamily="34" charset="0"/>
                <a:ea typeface="Calibri" pitchFamily="34" charset="-122"/>
                <a:cs typeface="Calibri" pitchFamily="34" charset="-120"/>
              </a:rPr>
              <a:t>Fairness invariant in the build</a:t>
            </a:r>
            <a:endParaRPr lang="en-US" sz="800" dirty="0"/>
          </a:p>
          <a:p>
            <a:pPr marL="127000" indent="-127000">
              <a:lnSpc>
                <a:spcPct val="98000"/>
              </a:lnSpc>
              <a:spcAft>
                <a:spcPts val="400"/>
              </a:spcAft>
              <a:buSzPct val="100000"/>
              <a:buChar char="•"/>
            </a:pPr>
            <a:r>
              <a:rPr lang="en-US" sz="800" dirty="0">
                <a:solidFill>
                  <a:srgbClr val="5B6B7C"/>
                </a:solidFill>
                <a:latin typeface="Calibri" pitchFamily="34" charset="0"/>
                <a:ea typeface="Calibri" pitchFamily="34" charset="-122"/>
                <a:cs typeface="Calibri" pitchFamily="34" charset="-120"/>
              </a:rPr>
              <a:t>GitHub — 228 commits, full docs</a:t>
            </a:r>
            <a:endParaRPr lang="en-US" sz="800" dirty="0"/>
          </a:p>
          <a:p>
            <a:pPr marL="127000" indent="-127000">
              <a:lnSpc>
                <a:spcPct val="98000"/>
              </a:lnSpc>
              <a:spcAft>
                <a:spcPts val="400"/>
              </a:spcAft>
              <a:buSzPct val="100000"/>
              <a:buChar char="•"/>
            </a:pPr>
            <a:r>
              <a:rPr lang="en-US" sz="800" dirty="0">
                <a:solidFill>
                  <a:srgbClr val="5B6B7C"/>
                </a:solidFill>
                <a:latin typeface="Calibri" pitchFamily="34" charset="0"/>
                <a:ea typeface="Calibri" pitchFamily="34" charset="-122"/>
                <a:cs typeface="Calibri" pitchFamily="34" charset="-120"/>
              </a:rPr>
              <a:t>Puppeteer — screens captured live</a:t>
            </a:r>
            <a:endParaRPr lang="en-US" sz="800" dirty="0"/>
          </a:p>
        </p:txBody>
      </p:sp>
      <p:sp>
        <p:nvSpPr>
          <p:cNvPr id="26" name="Shape 23"/>
          <p:cNvSpPr/>
          <p:nvPr/>
        </p:nvSpPr>
        <p:spPr>
          <a:xfrm>
            <a:off x="6848856" y="3108960"/>
            <a:ext cx="1755648" cy="658368"/>
          </a:xfrm>
          <a:prstGeom prst="roundRect">
            <a:avLst>
              <a:gd name="adj" fmla="val 8333"/>
            </a:avLst>
          </a:prstGeom>
          <a:solidFill>
            <a:srgbClr val="FFFFFF"/>
          </a:solidFill>
          <a:ln w="9525">
            <a:solidFill>
              <a:srgbClr val="DCE3EC"/>
            </a:solidFill>
            <a:prstDash val="solid"/>
          </a:ln>
        </p:spPr>
        <p:txBody>
          <a:bodyPr/>
          <a:lstStyle/>
          <a:p>
            <a:endParaRPr lang="en-US"/>
          </a:p>
        </p:txBody>
      </p:sp>
      <p:sp>
        <p:nvSpPr>
          <p:cNvPr id="27" name="Text 24"/>
          <p:cNvSpPr txBox="1"/>
          <p:nvPr/>
        </p:nvSpPr>
        <p:spPr>
          <a:xfrm>
            <a:off x="6931152" y="3154680"/>
            <a:ext cx="1591056" cy="146304"/>
          </a:xfrm>
          <a:prstGeom prst="rect">
            <a:avLst/>
          </a:prstGeom>
          <a:noFill/>
          <a:ln/>
        </p:spPr>
        <p:txBody>
          <a:bodyPr wrap="square" lIns="0" tIns="0" rIns="0" bIns="0" rtlCol="0" anchor="ctr"/>
          <a:lstStyle/>
          <a:p>
            <a:pPr marL="0" indent="0">
              <a:buNone/>
            </a:pPr>
            <a:r>
              <a:rPr lang="en-US" sz="800" b="1" kern="0" spc="30" dirty="0">
                <a:solidFill>
                  <a:srgbClr val="E8871E"/>
                </a:solidFill>
                <a:latin typeface="Calibri" pitchFamily="34" charset="0"/>
                <a:ea typeface="Calibri" pitchFamily="34" charset="-122"/>
                <a:cs typeface="Calibri" pitchFamily="34" charset="-120"/>
              </a:rPr>
              <a:t>What forced it</a:t>
            </a:r>
            <a:endParaRPr lang="en-US" sz="800" dirty="0"/>
          </a:p>
        </p:txBody>
      </p:sp>
      <p:sp>
        <p:nvSpPr>
          <p:cNvPr id="28" name="Text 25"/>
          <p:cNvSpPr txBox="1"/>
          <p:nvPr/>
        </p:nvSpPr>
        <p:spPr>
          <a:xfrm>
            <a:off x="6931152" y="3310128"/>
            <a:ext cx="1591056" cy="402336"/>
          </a:xfrm>
          <a:prstGeom prst="rect">
            <a:avLst/>
          </a:prstGeom>
          <a:noFill/>
          <a:ln/>
        </p:spPr>
        <p:txBody>
          <a:bodyPr wrap="square" lIns="0" tIns="0" rIns="0" bIns="0" rtlCol="0" anchor="t"/>
          <a:lstStyle/>
          <a:p>
            <a:pPr marL="0" indent="0">
              <a:lnSpc>
                <a:spcPct val="96000"/>
              </a:lnSpc>
              <a:buNone/>
            </a:pPr>
            <a:r>
              <a:rPr lang="en-US" sz="750" dirty="0">
                <a:solidFill>
                  <a:srgbClr val="5B6B7C"/>
                </a:solidFill>
                <a:latin typeface="Calibri" pitchFamily="34" charset="0"/>
                <a:ea typeface="Calibri" pitchFamily="34" charset="-122"/>
                <a:cs typeface="Calibri" pitchFamily="34" charset="-120"/>
              </a:rPr>
              <a:t>The build fails if a protected attribute reaches a feature set. The claim is a test, not a sentence.</a:t>
            </a:r>
            <a:endParaRPr lang="en-US" sz="750" dirty="0"/>
          </a:p>
        </p:txBody>
      </p:sp>
      <p:sp>
        <p:nvSpPr>
          <p:cNvPr id="29" name="Shape 26"/>
          <p:cNvSpPr/>
          <p:nvPr/>
        </p:nvSpPr>
        <p:spPr>
          <a:xfrm>
            <a:off x="384048" y="4059936"/>
            <a:ext cx="8375904" cy="621792"/>
          </a:xfrm>
          <a:prstGeom prst="roundRect">
            <a:avLst>
              <a:gd name="adj" fmla="val 8824"/>
            </a:avLst>
          </a:prstGeom>
          <a:solidFill>
            <a:srgbClr val="0F2F44"/>
          </a:solidFill>
          <a:ln w="9525">
            <a:solidFill>
              <a:srgbClr val="0F2F44"/>
            </a:solidFill>
            <a:prstDash val="solid"/>
          </a:ln>
        </p:spPr>
        <p:txBody>
          <a:bodyPr/>
          <a:lstStyle/>
          <a:p>
            <a:endParaRPr lang="en-US"/>
          </a:p>
        </p:txBody>
      </p:sp>
      <p:sp>
        <p:nvSpPr>
          <p:cNvPr id="30" name="Text 27"/>
          <p:cNvSpPr txBox="1"/>
          <p:nvPr/>
        </p:nvSpPr>
        <p:spPr>
          <a:xfrm>
            <a:off x="548640" y="4059936"/>
            <a:ext cx="8046720" cy="621792"/>
          </a:xfrm>
          <a:prstGeom prst="rect">
            <a:avLst/>
          </a:prstGeom>
          <a:noFill/>
          <a:ln/>
        </p:spPr>
        <p:txBody>
          <a:bodyPr wrap="square" lIns="0" tIns="0" rIns="0" bIns="0" rtlCol="0" anchor="ctr"/>
          <a:lstStyle/>
          <a:p>
            <a:pPr marL="0" indent="0">
              <a:buNone/>
            </a:pPr>
            <a:r>
              <a:rPr lang="en-US" sz="1000" dirty="0">
                <a:solidFill>
                  <a:srgbClr val="C9D6E2"/>
                </a:solidFill>
                <a:latin typeface="Calibri" pitchFamily="34" charset="0"/>
                <a:ea typeface="Calibri" pitchFamily="34" charset="-122"/>
                <a:cs typeface="Calibri" pitchFamily="34" charset="-120"/>
              </a:rPr>
              <a:t>Nothing here is exotic — every choice traces to a Catalyst limit, the 30-second cap, the 512 MB Job budget, or the fairness rule. </a:t>
            </a:r>
            <a:r>
              <a:rPr lang="en-US" sz="1000" b="1" dirty="0">
                <a:solidFill>
                  <a:srgbClr val="FFFFFF"/>
                </a:solidFill>
                <a:latin typeface="Calibri" pitchFamily="34" charset="0"/>
                <a:ea typeface="Calibri" pitchFamily="34" charset="-122"/>
                <a:cs typeface="Calibri" pitchFamily="34" charset="-120"/>
              </a:rPr>
              <a:t>The stack is deliberately boring so the evidence can be interesting.</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ivate/tmp/claude-501/-Users-adarsh-Desktop-Projects-KadiLabs/1a0b3114-7a5c-4b08-a5d4-f9d8371eeea4/scratchpad/deck/bg-content.png"/>
          <p:cNvPicPr>
            <a:picLocks noChangeAspect="1"/>
          </p:cNvPicPr>
          <p:nvPr/>
        </p:nvPicPr>
        <p:blipFill>
          <a:blip r:embed="rId3"/>
          <a:stretch>
            <a:fillRect/>
          </a:stretch>
        </p:blipFill>
        <p:spPr>
          <a:xfrm>
            <a:off x="0" y="0"/>
            <a:ext cx="9144000" cy="5143500"/>
          </a:xfrm>
          <a:prstGeom prst="rect">
            <a:avLst/>
          </a:prstGeom>
        </p:spPr>
      </p:pic>
      <p:sp>
        <p:nvSpPr>
          <p:cNvPr id="3" name="Text 0"/>
          <p:cNvSpPr txBox="1"/>
          <p:nvPr/>
        </p:nvSpPr>
        <p:spPr>
          <a:xfrm>
            <a:off x="384048" y="603504"/>
            <a:ext cx="8375904" cy="365760"/>
          </a:xfrm>
          <a:prstGeom prst="rect">
            <a:avLst/>
          </a:prstGeom>
          <a:noFill/>
          <a:ln/>
        </p:spPr>
        <p:txBody>
          <a:bodyPr wrap="square" lIns="0" tIns="0" rIns="0" bIns="0" rtlCol="0" anchor="t"/>
          <a:lstStyle/>
          <a:p>
            <a:pPr marL="0" indent="0">
              <a:buNone/>
            </a:pPr>
            <a:r>
              <a:rPr lang="en-US" sz="2100" b="1" dirty="0">
                <a:solidFill>
                  <a:srgbClr val="0F2F44"/>
                </a:solidFill>
                <a:latin typeface="Calibri" pitchFamily="34" charset="0"/>
                <a:ea typeface="Calibri" pitchFamily="34" charset="-122"/>
                <a:cs typeface="Calibri" pitchFamily="34" charset="-120"/>
              </a:rPr>
              <a:t>Catalyst services used in the solution</a:t>
            </a:r>
            <a:endParaRPr lang="en-US" sz="2100" dirty="0"/>
          </a:p>
        </p:txBody>
      </p:sp>
      <p:sp>
        <p:nvSpPr>
          <p:cNvPr id="4" name="Text 1"/>
          <p:cNvSpPr txBox="1"/>
          <p:nvPr/>
        </p:nvSpPr>
        <p:spPr>
          <a:xfrm>
            <a:off x="384048" y="969264"/>
            <a:ext cx="8375904" cy="237744"/>
          </a:xfrm>
          <a:prstGeom prst="rect">
            <a:avLst/>
          </a:prstGeom>
          <a:noFill/>
          <a:ln/>
        </p:spPr>
        <p:txBody>
          <a:bodyPr wrap="square" lIns="0" tIns="0" rIns="0" bIns="0" rtlCol="0" anchor="t"/>
          <a:lstStyle/>
          <a:p>
            <a:pPr marL="0" indent="0">
              <a:buNone/>
            </a:pPr>
            <a:r>
              <a:rPr lang="en-US" sz="1100" dirty="0">
                <a:solidFill>
                  <a:srgbClr val="5B6B7C"/>
                </a:solidFill>
                <a:latin typeface="Calibri" pitchFamily="34" charset="0"/>
                <a:ea typeface="Calibri" pitchFamily="34" charset="-122"/>
                <a:cs typeface="Calibri" pitchFamily="34" charset="-120"/>
              </a:rPr>
              <a:t>Thirteen in use — and an honest account of what is not wired</a:t>
            </a:r>
            <a:endParaRPr lang="en-US" sz="1100" dirty="0"/>
          </a:p>
        </p:txBody>
      </p:sp>
      <p:sp>
        <p:nvSpPr>
          <p:cNvPr id="5" name="Shape 2"/>
          <p:cNvSpPr/>
          <p:nvPr/>
        </p:nvSpPr>
        <p:spPr>
          <a:xfrm>
            <a:off x="384048" y="1243584"/>
            <a:ext cx="4078224" cy="2395728"/>
          </a:xfrm>
          <a:prstGeom prst="roundRect">
            <a:avLst>
              <a:gd name="adj" fmla="val 2290"/>
            </a:avLst>
          </a:prstGeom>
          <a:solidFill>
            <a:srgbClr val="FFFFFF"/>
          </a:solidFill>
          <a:ln w="9525">
            <a:solidFill>
              <a:srgbClr val="DCE3EC"/>
            </a:solidFill>
            <a:prstDash val="solid"/>
          </a:ln>
        </p:spPr>
        <p:txBody>
          <a:bodyPr/>
          <a:lstStyle/>
          <a:p>
            <a:endParaRPr lang="en-US"/>
          </a:p>
        </p:txBody>
      </p:sp>
      <p:sp>
        <p:nvSpPr>
          <p:cNvPr id="6" name="Text 3"/>
          <p:cNvSpPr txBox="1"/>
          <p:nvPr/>
        </p:nvSpPr>
        <p:spPr>
          <a:xfrm>
            <a:off x="475488" y="1298448"/>
            <a:ext cx="1152144" cy="164592"/>
          </a:xfrm>
          <a:prstGeom prst="rect">
            <a:avLst/>
          </a:prstGeom>
          <a:noFill/>
          <a:ln/>
        </p:spPr>
        <p:txBody>
          <a:bodyPr wrap="square" lIns="0" tIns="0" rIns="0" bIns="0" rtlCol="0" anchor="ctr"/>
          <a:lstStyle/>
          <a:p>
            <a:pPr marL="0" indent="0">
              <a:buNone/>
            </a:pPr>
            <a:r>
              <a:rPr lang="en-US" sz="900" b="1" kern="0" spc="40" dirty="0">
                <a:solidFill>
                  <a:srgbClr val="8A98A8"/>
                </a:solidFill>
                <a:latin typeface="Calibri" pitchFamily="34" charset="0"/>
                <a:ea typeface="Calibri" pitchFamily="34" charset="-122"/>
                <a:cs typeface="Calibri" pitchFamily="34" charset="-120"/>
              </a:rPr>
              <a:t>SERVICE</a:t>
            </a:r>
            <a:endParaRPr lang="en-US" sz="900" dirty="0"/>
          </a:p>
        </p:txBody>
      </p:sp>
      <p:sp>
        <p:nvSpPr>
          <p:cNvPr id="7" name="Text 4"/>
          <p:cNvSpPr txBox="1"/>
          <p:nvPr/>
        </p:nvSpPr>
        <p:spPr>
          <a:xfrm>
            <a:off x="1627632" y="1298448"/>
            <a:ext cx="1335024" cy="164592"/>
          </a:xfrm>
          <a:prstGeom prst="rect">
            <a:avLst/>
          </a:prstGeom>
          <a:noFill/>
          <a:ln/>
        </p:spPr>
        <p:txBody>
          <a:bodyPr wrap="square" lIns="0" tIns="0" rIns="0" bIns="0" rtlCol="0" anchor="ctr"/>
          <a:lstStyle/>
          <a:p>
            <a:pPr marL="0" indent="0">
              <a:buNone/>
            </a:pPr>
            <a:r>
              <a:rPr lang="en-US" sz="900" b="1" kern="0" spc="40" dirty="0">
                <a:solidFill>
                  <a:srgbClr val="8A98A8"/>
                </a:solidFill>
                <a:latin typeface="Calibri" pitchFamily="34" charset="0"/>
                <a:ea typeface="Calibri" pitchFamily="34" charset="-122"/>
                <a:cs typeface="Calibri" pitchFamily="34" charset="-120"/>
              </a:rPr>
              <a:t>USED FOR</a:t>
            </a:r>
            <a:endParaRPr lang="en-US" sz="900" dirty="0"/>
          </a:p>
        </p:txBody>
      </p:sp>
      <p:sp>
        <p:nvSpPr>
          <p:cNvPr id="8" name="Text 5"/>
          <p:cNvSpPr txBox="1"/>
          <p:nvPr/>
        </p:nvSpPr>
        <p:spPr>
          <a:xfrm>
            <a:off x="2962656" y="1298448"/>
            <a:ext cx="1371600" cy="164592"/>
          </a:xfrm>
          <a:prstGeom prst="rect">
            <a:avLst/>
          </a:prstGeom>
          <a:noFill/>
          <a:ln/>
        </p:spPr>
        <p:txBody>
          <a:bodyPr wrap="square" lIns="0" tIns="0" rIns="0" bIns="0" rtlCol="0" anchor="ctr"/>
          <a:lstStyle/>
          <a:p>
            <a:pPr marL="0" indent="0">
              <a:buNone/>
            </a:pPr>
            <a:r>
              <a:rPr lang="en-US" sz="900" b="1" kern="0" spc="40" dirty="0">
                <a:solidFill>
                  <a:srgbClr val="8A98A8"/>
                </a:solidFill>
                <a:latin typeface="Calibri" pitchFamily="34" charset="0"/>
                <a:ea typeface="Calibri" pitchFamily="34" charset="-122"/>
                <a:cs typeface="Calibri" pitchFamily="34" charset="-120"/>
              </a:rPr>
              <a:t>WHY THIS SERVICE</a:t>
            </a:r>
            <a:endParaRPr lang="en-US" sz="900" dirty="0"/>
          </a:p>
        </p:txBody>
      </p:sp>
      <p:sp>
        <p:nvSpPr>
          <p:cNvPr id="9" name="Shape 6"/>
          <p:cNvSpPr/>
          <p:nvPr/>
        </p:nvSpPr>
        <p:spPr>
          <a:xfrm>
            <a:off x="438912" y="1481328"/>
            <a:ext cx="3968496" cy="338328"/>
          </a:xfrm>
          <a:prstGeom prst="rect">
            <a:avLst/>
          </a:prstGeom>
          <a:solidFill>
            <a:srgbClr val="F4F6F9"/>
          </a:solidFill>
          <a:ln w="12700">
            <a:solidFill>
              <a:srgbClr val="F4F6F9"/>
            </a:solidFill>
            <a:prstDash val="solid"/>
          </a:ln>
        </p:spPr>
        <p:txBody>
          <a:bodyPr/>
          <a:lstStyle/>
          <a:p>
            <a:endParaRPr lang="en-US"/>
          </a:p>
        </p:txBody>
      </p:sp>
      <p:sp>
        <p:nvSpPr>
          <p:cNvPr id="10" name="Text 7"/>
          <p:cNvSpPr txBox="1"/>
          <p:nvPr/>
        </p:nvSpPr>
        <p:spPr>
          <a:xfrm>
            <a:off x="475488" y="1517904"/>
            <a:ext cx="1078992" cy="292608"/>
          </a:xfrm>
          <a:prstGeom prst="rect">
            <a:avLst/>
          </a:prstGeom>
          <a:noFill/>
          <a:ln/>
        </p:spPr>
        <p:txBody>
          <a:bodyPr wrap="square" lIns="0" tIns="0" rIns="0" bIns="0" rtlCol="0" anchor="ctr"/>
          <a:lstStyle/>
          <a:p>
            <a:pPr marL="0" indent="0">
              <a:lnSpc>
                <a:spcPct val="93000"/>
              </a:lnSpc>
              <a:buNone/>
            </a:pPr>
            <a:r>
              <a:rPr lang="en-US" sz="860" b="1" dirty="0">
                <a:solidFill>
                  <a:srgbClr val="0F2F44"/>
                </a:solidFill>
                <a:latin typeface="Calibri" pitchFamily="34" charset="0"/>
                <a:ea typeface="Calibri" pitchFamily="34" charset="-122"/>
                <a:cs typeface="Calibri" pitchFamily="34" charset="-120"/>
              </a:rPr>
              <a:t>Web Client Hosting</a:t>
            </a:r>
            <a:endParaRPr lang="en-US" sz="860" dirty="0"/>
          </a:p>
        </p:txBody>
      </p:sp>
      <p:sp>
        <p:nvSpPr>
          <p:cNvPr id="11" name="Text 8"/>
          <p:cNvSpPr txBox="1"/>
          <p:nvPr/>
        </p:nvSpPr>
        <p:spPr>
          <a:xfrm>
            <a:off x="1627632" y="1517904"/>
            <a:ext cx="1261872"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Serves the SPA at /app</a:t>
            </a:r>
            <a:endParaRPr lang="en-US" sz="800" dirty="0"/>
          </a:p>
        </p:txBody>
      </p:sp>
      <p:sp>
        <p:nvSpPr>
          <p:cNvPr id="12" name="Text 9"/>
          <p:cNvSpPr txBox="1"/>
          <p:nvPr/>
        </p:nvSpPr>
        <p:spPr>
          <a:xfrm>
            <a:off x="2962656" y="1517904"/>
            <a:ext cx="1298448"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Same origin as the API</a:t>
            </a:r>
            <a:endParaRPr lang="en-US" sz="800" dirty="0"/>
          </a:p>
        </p:txBody>
      </p:sp>
      <p:sp>
        <p:nvSpPr>
          <p:cNvPr id="13" name="Text 10"/>
          <p:cNvSpPr txBox="1"/>
          <p:nvPr/>
        </p:nvSpPr>
        <p:spPr>
          <a:xfrm>
            <a:off x="475488" y="1869948"/>
            <a:ext cx="1078992" cy="292608"/>
          </a:xfrm>
          <a:prstGeom prst="rect">
            <a:avLst/>
          </a:prstGeom>
          <a:noFill/>
          <a:ln/>
        </p:spPr>
        <p:txBody>
          <a:bodyPr wrap="square" lIns="0" tIns="0" rIns="0" bIns="0" rtlCol="0" anchor="ctr"/>
          <a:lstStyle/>
          <a:p>
            <a:pPr marL="0" indent="0">
              <a:lnSpc>
                <a:spcPct val="93000"/>
              </a:lnSpc>
              <a:buNone/>
            </a:pPr>
            <a:r>
              <a:rPr lang="en-US" sz="860" b="1" dirty="0">
                <a:solidFill>
                  <a:srgbClr val="0F2F44"/>
                </a:solidFill>
                <a:latin typeface="Calibri" pitchFamily="34" charset="0"/>
                <a:ea typeface="Calibri" pitchFamily="34" charset="-122"/>
                <a:cs typeface="Calibri" pitchFamily="34" charset="-120"/>
              </a:rPr>
              <a:t>Serverless Functions</a:t>
            </a:r>
            <a:endParaRPr lang="en-US" sz="860" dirty="0"/>
          </a:p>
        </p:txBody>
      </p:sp>
      <p:sp>
        <p:nvSpPr>
          <p:cNvPr id="14" name="Text 11"/>
          <p:cNvSpPr txBox="1"/>
          <p:nvPr/>
        </p:nvSpPr>
        <p:spPr>
          <a:xfrm>
            <a:off x="1627632" y="1869948"/>
            <a:ext cx="1261872"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105-endpoint REST API</a:t>
            </a:r>
            <a:endParaRPr lang="en-US" sz="800" dirty="0"/>
          </a:p>
        </p:txBody>
      </p:sp>
      <p:sp>
        <p:nvSpPr>
          <p:cNvPr id="15" name="Text 12"/>
          <p:cNvSpPr txBox="1"/>
          <p:nvPr/>
        </p:nvSpPr>
        <p:spPr>
          <a:xfrm>
            <a:off x="2962656" y="1869948"/>
            <a:ext cx="1298448"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Advanced I/O takes an Express app</a:t>
            </a:r>
            <a:endParaRPr lang="en-US" sz="800" dirty="0"/>
          </a:p>
        </p:txBody>
      </p:sp>
      <p:sp>
        <p:nvSpPr>
          <p:cNvPr id="16" name="Shape 13"/>
          <p:cNvSpPr/>
          <p:nvPr/>
        </p:nvSpPr>
        <p:spPr>
          <a:xfrm>
            <a:off x="438912" y="2185416"/>
            <a:ext cx="3968496" cy="338328"/>
          </a:xfrm>
          <a:prstGeom prst="rect">
            <a:avLst/>
          </a:prstGeom>
          <a:solidFill>
            <a:srgbClr val="F4F6F9"/>
          </a:solidFill>
          <a:ln w="12700">
            <a:solidFill>
              <a:srgbClr val="F4F6F9"/>
            </a:solidFill>
            <a:prstDash val="solid"/>
          </a:ln>
        </p:spPr>
        <p:txBody>
          <a:bodyPr/>
          <a:lstStyle/>
          <a:p>
            <a:endParaRPr lang="en-US"/>
          </a:p>
        </p:txBody>
      </p:sp>
      <p:sp>
        <p:nvSpPr>
          <p:cNvPr id="17" name="Text 14"/>
          <p:cNvSpPr txBox="1"/>
          <p:nvPr/>
        </p:nvSpPr>
        <p:spPr>
          <a:xfrm>
            <a:off x="475488" y="2221992"/>
            <a:ext cx="1078992" cy="292608"/>
          </a:xfrm>
          <a:prstGeom prst="rect">
            <a:avLst/>
          </a:prstGeom>
          <a:noFill/>
          <a:ln/>
        </p:spPr>
        <p:txBody>
          <a:bodyPr wrap="square" lIns="0" tIns="0" rIns="0" bIns="0" rtlCol="0" anchor="ctr"/>
          <a:lstStyle/>
          <a:p>
            <a:pPr marL="0" indent="0">
              <a:lnSpc>
                <a:spcPct val="93000"/>
              </a:lnSpc>
              <a:buNone/>
            </a:pPr>
            <a:r>
              <a:rPr lang="en-US" sz="860" b="1" dirty="0">
                <a:solidFill>
                  <a:srgbClr val="0F2F44"/>
                </a:solidFill>
                <a:latin typeface="Calibri" pitchFamily="34" charset="0"/>
                <a:ea typeface="Calibri" pitchFamily="34" charset="-122"/>
                <a:cs typeface="Calibri" pitchFamily="34" charset="-120"/>
              </a:rPr>
              <a:t>Job Scheduling + Cron</a:t>
            </a:r>
            <a:endParaRPr lang="en-US" sz="860" dirty="0"/>
          </a:p>
        </p:txBody>
      </p:sp>
      <p:sp>
        <p:nvSpPr>
          <p:cNvPr id="18" name="Text 15"/>
          <p:cNvSpPr txBox="1"/>
          <p:nvPr/>
        </p:nvSpPr>
        <p:spPr>
          <a:xfrm>
            <a:off x="1627632" y="2221992"/>
            <a:ext cx="1261872"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Nightly pipeline, 02:00 IST</a:t>
            </a:r>
            <a:endParaRPr lang="en-US" sz="800" dirty="0"/>
          </a:p>
        </p:txBody>
      </p:sp>
      <p:sp>
        <p:nvSpPr>
          <p:cNvPr id="19" name="Text 16"/>
          <p:cNvSpPr txBox="1"/>
          <p:nvPr/>
        </p:nvSpPr>
        <p:spPr>
          <a:xfrm>
            <a:off x="2962656" y="2221992"/>
            <a:ext cx="1298448"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Only Jobs get 15 minutes  Functions cap at 30 s</a:t>
            </a:r>
            <a:endParaRPr lang="en-US" sz="800" dirty="0"/>
          </a:p>
        </p:txBody>
      </p:sp>
      <p:sp>
        <p:nvSpPr>
          <p:cNvPr id="20" name="Text 17"/>
          <p:cNvSpPr txBox="1"/>
          <p:nvPr/>
        </p:nvSpPr>
        <p:spPr>
          <a:xfrm>
            <a:off x="475488" y="2574036"/>
            <a:ext cx="1078992" cy="292608"/>
          </a:xfrm>
          <a:prstGeom prst="rect">
            <a:avLst/>
          </a:prstGeom>
          <a:noFill/>
          <a:ln/>
        </p:spPr>
        <p:txBody>
          <a:bodyPr wrap="square" lIns="0" tIns="0" rIns="0" bIns="0" rtlCol="0" anchor="ctr"/>
          <a:lstStyle/>
          <a:p>
            <a:pPr marL="0" indent="0">
              <a:lnSpc>
                <a:spcPct val="93000"/>
              </a:lnSpc>
              <a:buNone/>
            </a:pPr>
            <a:r>
              <a:rPr lang="en-US" sz="860" b="1" dirty="0">
                <a:solidFill>
                  <a:srgbClr val="0F2F44"/>
                </a:solidFill>
                <a:latin typeface="Calibri" pitchFamily="34" charset="0"/>
                <a:ea typeface="Calibri" pitchFamily="34" charset="-122"/>
                <a:cs typeface="Calibri" pitchFamily="34" charset="-120"/>
              </a:rPr>
              <a:t>AppSail</a:t>
            </a:r>
            <a:endParaRPr lang="en-US" sz="860" dirty="0"/>
          </a:p>
        </p:txBody>
      </p:sp>
      <p:sp>
        <p:nvSpPr>
          <p:cNvPr id="21" name="Text 18"/>
          <p:cNvSpPr txBox="1"/>
          <p:nvPr/>
        </p:nvSpPr>
        <p:spPr>
          <a:xfrm>
            <a:off x="1627632" y="2574036"/>
            <a:ext cx="1261872"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Python analytics service</a:t>
            </a:r>
            <a:endParaRPr lang="en-US" sz="800" dirty="0"/>
          </a:p>
        </p:txBody>
      </p:sp>
      <p:sp>
        <p:nvSpPr>
          <p:cNvPr id="22" name="Text 19"/>
          <p:cNvSpPr txBox="1"/>
          <p:nvPr/>
        </p:nvSpPr>
        <p:spPr>
          <a:xfrm>
            <a:off x="2962656" y="2574036"/>
            <a:ext cx="1298448"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Per-capita and forecast in ~135 ms, stdlib-only build</a:t>
            </a:r>
            <a:endParaRPr lang="en-US" sz="800" dirty="0"/>
          </a:p>
        </p:txBody>
      </p:sp>
      <p:sp>
        <p:nvSpPr>
          <p:cNvPr id="23" name="Shape 20"/>
          <p:cNvSpPr/>
          <p:nvPr/>
        </p:nvSpPr>
        <p:spPr>
          <a:xfrm>
            <a:off x="438912" y="2889504"/>
            <a:ext cx="3968496" cy="338328"/>
          </a:xfrm>
          <a:prstGeom prst="rect">
            <a:avLst/>
          </a:prstGeom>
          <a:solidFill>
            <a:srgbClr val="F4F6F9"/>
          </a:solidFill>
          <a:ln w="12700">
            <a:solidFill>
              <a:srgbClr val="F4F6F9"/>
            </a:solidFill>
            <a:prstDash val="solid"/>
          </a:ln>
        </p:spPr>
        <p:txBody>
          <a:bodyPr/>
          <a:lstStyle/>
          <a:p>
            <a:endParaRPr lang="en-US"/>
          </a:p>
        </p:txBody>
      </p:sp>
      <p:sp>
        <p:nvSpPr>
          <p:cNvPr id="24" name="Text 21"/>
          <p:cNvSpPr txBox="1"/>
          <p:nvPr/>
        </p:nvSpPr>
        <p:spPr>
          <a:xfrm>
            <a:off x="475488" y="2926080"/>
            <a:ext cx="1078992" cy="292608"/>
          </a:xfrm>
          <a:prstGeom prst="rect">
            <a:avLst/>
          </a:prstGeom>
          <a:noFill/>
          <a:ln/>
        </p:spPr>
        <p:txBody>
          <a:bodyPr wrap="square" lIns="0" tIns="0" rIns="0" bIns="0" rtlCol="0" anchor="ctr"/>
          <a:lstStyle/>
          <a:p>
            <a:pPr marL="0" indent="0">
              <a:lnSpc>
                <a:spcPct val="93000"/>
              </a:lnSpc>
              <a:buNone/>
            </a:pPr>
            <a:r>
              <a:rPr lang="en-US" sz="860" b="1" dirty="0">
                <a:solidFill>
                  <a:srgbClr val="0F2F44"/>
                </a:solidFill>
                <a:latin typeface="Calibri" pitchFamily="34" charset="0"/>
                <a:ea typeface="Calibri" pitchFamily="34" charset="-122"/>
                <a:cs typeface="Calibri" pitchFamily="34" charset="-120"/>
              </a:rPr>
              <a:t>Data Store</a:t>
            </a:r>
            <a:endParaRPr lang="en-US" sz="860" dirty="0"/>
          </a:p>
        </p:txBody>
      </p:sp>
      <p:sp>
        <p:nvSpPr>
          <p:cNvPr id="25" name="Text 22"/>
          <p:cNvSpPr txBox="1"/>
          <p:nvPr/>
        </p:nvSpPr>
        <p:spPr>
          <a:xfrm>
            <a:off x="1627632" y="2926080"/>
            <a:ext cx="1261872"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19 tables · 59,985 FIRs</a:t>
            </a:r>
            <a:endParaRPr lang="en-US" sz="800" dirty="0"/>
          </a:p>
        </p:txBody>
      </p:sp>
      <p:sp>
        <p:nvSpPr>
          <p:cNvPr id="26" name="Text 23"/>
          <p:cNvSpPr txBox="1"/>
          <p:nvPr/>
        </p:nvSpPr>
        <p:spPr>
          <a:xfrm>
            <a:off x="2962656" y="2926080"/>
            <a:ext cx="1298448"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The FIR schema is genuinely relational</a:t>
            </a:r>
            <a:endParaRPr lang="en-US" sz="800" dirty="0"/>
          </a:p>
        </p:txBody>
      </p:sp>
      <p:sp>
        <p:nvSpPr>
          <p:cNvPr id="27" name="Text 24"/>
          <p:cNvSpPr txBox="1"/>
          <p:nvPr/>
        </p:nvSpPr>
        <p:spPr>
          <a:xfrm>
            <a:off x="475488" y="3278124"/>
            <a:ext cx="1078992" cy="292608"/>
          </a:xfrm>
          <a:prstGeom prst="rect">
            <a:avLst/>
          </a:prstGeom>
          <a:noFill/>
          <a:ln/>
        </p:spPr>
        <p:txBody>
          <a:bodyPr wrap="square" lIns="0" tIns="0" rIns="0" bIns="0" rtlCol="0" anchor="ctr"/>
          <a:lstStyle/>
          <a:p>
            <a:pPr marL="0" indent="0">
              <a:lnSpc>
                <a:spcPct val="93000"/>
              </a:lnSpc>
              <a:buNone/>
            </a:pPr>
            <a:r>
              <a:rPr lang="en-US" sz="860" b="1" dirty="0">
                <a:solidFill>
                  <a:srgbClr val="0F2F44"/>
                </a:solidFill>
                <a:latin typeface="Calibri" pitchFamily="34" charset="0"/>
                <a:ea typeface="Calibri" pitchFamily="34" charset="-122"/>
                <a:cs typeface="Calibri" pitchFamily="34" charset="-120"/>
              </a:rPr>
              <a:t>File Store</a:t>
            </a:r>
            <a:endParaRPr lang="en-US" sz="860" dirty="0"/>
          </a:p>
        </p:txBody>
      </p:sp>
      <p:sp>
        <p:nvSpPr>
          <p:cNvPr id="28" name="Text 25"/>
          <p:cNvSpPr txBox="1"/>
          <p:nvPr/>
        </p:nvSpPr>
        <p:spPr>
          <a:xfrm>
            <a:off x="1627632" y="3278124"/>
            <a:ext cx="1261872"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Retained evidence pages</a:t>
            </a:r>
            <a:endParaRPr lang="en-US" sz="800" dirty="0"/>
          </a:p>
        </p:txBody>
      </p:sp>
      <p:sp>
        <p:nvSpPr>
          <p:cNvPr id="29" name="Text 26"/>
          <p:cNvSpPr txBox="1"/>
          <p:nvPr/>
        </p:nvSpPr>
        <p:spPr>
          <a:xfrm>
            <a:off x="2962656" y="3278124"/>
            <a:ext cx="1298448"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Opt-in; deleted with its reading</a:t>
            </a:r>
            <a:endParaRPr lang="en-US" sz="800" dirty="0"/>
          </a:p>
        </p:txBody>
      </p:sp>
      <p:sp>
        <p:nvSpPr>
          <p:cNvPr id="30" name="Shape 27"/>
          <p:cNvSpPr/>
          <p:nvPr/>
        </p:nvSpPr>
        <p:spPr>
          <a:xfrm>
            <a:off x="4681728" y="1243584"/>
            <a:ext cx="4078224" cy="2395728"/>
          </a:xfrm>
          <a:prstGeom prst="roundRect">
            <a:avLst>
              <a:gd name="adj" fmla="val 2290"/>
            </a:avLst>
          </a:prstGeom>
          <a:solidFill>
            <a:srgbClr val="FFFFFF"/>
          </a:solidFill>
          <a:ln w="9525">
            <a:solidFill>
              <a:srgbClr val="DCE3EC"/>
            </a:solidFill>
            <a:prstDash val="solid"/>
          </a:ln>
        </p:spPr>
        <p:txBody>
          <a:bodyPr/>
          <a:lstStyle/>
          <a:p>
            <a:endParaRPr lang="en-US"/>
          </a:p>
        </p:txBody>
      </p:sp>
      <p:sp>
        <p:nvSpPr>
          <p:cNvPr id="31" name="Text 28"/>
          <p:cNvSpPr txBox="1"/>
          <p:nvPr/>
        </p:nvSpPr>
        <p:spPr>
          <a:xfrm>
            <a:off x="4773168" y="1298448"/>
            <a:ext cx="1152144" cy="164592"/>
          </a:xfrm>
          <a:prstGeom prst="rect">
            <a:avLst/>
          </a:prstGeom>
          <a:noFill/>
          <a:ln/>
        </p:spPr>
        <p:txBody>
          <a:bodyPr wrap="square" lIns="0" tIns="0" rIns="0" bIns="0" rtlCol="0" anchor="ctr"/>
          <a:lstStyle/>
          <a:p>
            <a:pPr marL="0" indent="0">
              <a:buNone/>
            </a:pPr>
            <a:r>
              <a:rPr lang="en-US" sz="900" b="1" kern="0" spc="40" dirty="0">
                <a:solidFill>
                  <a:srgbClr val="8A98A8"/>
                </a:solidFill>
                <a:latin typeface="Calibri" pitchFamily="34" charset="0"/>
                <a:ea typeface="Calibri" pitchFamily="34" charset="-122"/>
                <a:cs typeface="Calibri" pitchFamily="34" charset="-120"/>
              </a:rPr>
              <a:t>SERVICE</a:t>
            </a:r>
            <a:endParaRPr lang="en-US" sz="900" dirty="0"/>
          </a:p>
        </p:txBody>
      </p:sp>
      <p:sp>
        <p:nvSpPr>
          <p:cNvPr id="32" name="Text 29"/>
          <p:cNvSpPr txBox="1"/>
          <p:nvPr/>
        </p:nvSpPr>
        <p:spPr>
          <a:xfrm>
            <a:off x="5925312" y="1298448"/>
            <a:ext cx="1335024" cy="164592"/>
          </a:xfrm>
          <a:prstGeom prst="rect">
            <a:avLst/>
          </a:prstGeom>
          <a:noFill/>
          <a:ln/>
        </p:spPr>
        <p:txBody>
          <a:bodyPr wrap="square" lIns="0" tIns="0" rIns="0" bIns="0" rtlCol="0" anchor="ctr"/>
          <a:lstStyle/>
          <a:p>
            <a:pPr marL="0" indent="0">
              <a:buNone/>
            </a:pPr>
            <a:r>
              <a:rPr lang="en-US" sz="900" b="1" kern="0" spc="40" dirty="0">
                <a:solidFill>
                  <a:srgbClr val="8A98A8"/>
                </a:solidFill>
                <a:latin typeface="Calibri" pitchFamily="34" charset="0"/>
                <a:ea typeface="Calibri" pitchFamily="34" charset="-122"/>
                <a:cs typeface="Calibri" pitchFamily="34" charset="-120"/>
              </a:rPr>
              <a:t>USED FOR</a:t>
            </a:r>
            <a:endParaRPr lang="en-US" sz="900" dirty="0"/>
          </a:p>
        </p:txBody>
      </p:sp>
      <p:sp>
        <p:nvSpPr>
          <p:cNvPr id="33" name="Text 30"/>
          <p:cNvSpPr txBox="1"/>
          <p:nvPr/>
        </p:nvSpPr>
        <p:spPr>
          <a:xfrm>
            <a:off x="7260336" y="1298448"/>
            <a:ext cx="1371600" cy="164592"/>
          </a:xfrm>
          <a:prstGeom prst="rect">
            <a:avLst/>
          </a:prstGeom>
          <a:noFill/>
          <a:ln/>
        </p:spPr>
        <p:txBody>
          <a:bodyPr wrap="square" lIns="0" tIns="0" rIns="0" bIns="0" rtlCol="0" anchor="ctr"/>
          <a:lstStyle/>
          <a:p>
            <a:pPr marL="0" indent="0">
              <a:buNone/>
            </a:pPr>
            <a:r>
              <a:rPr lang="en-US" sz="900" b="1" kern="0" spc="40" dirty="0">
                <a:solidFill>
                  <a:srgbClr val="8A98A8"/>
                </a:solidFill>
                <a:latin typeface="Calibri" pitchFamily="34" charset="0"/>
                <a:ea typeface="Calibri" pitchFamily="34" charset="-122"/>
                <a:cs typeface="Calibri" pitchFamily="34" charset="-120"/>
              </a:rPr>
              <a:t>WHY THIS SERVICE</a:t>
            </a:r>
            <a:endParaRPr lang="en-US" sz="900" dirty="0"/>
          </a:p>
        </p:txBody>
      </p:sp>
      <p:sp>
        <p:nvSpPr>
          <p:cNvPr id="34" name="Shape 31"/>
          <p:cNvSpPr/>
          <p:nvPr/>
        </p:nvSpPr>
        <p:spPr>
          <a:xfrm>
            <a:off x="4736592" y="1481328"/>
            <a:ext cx="3968496" cy="338328"/>
          </a:xfrm>
          <a:prstGeom prst="rect">
            <a:avLst/>
          </a:prstGeom>
          <a:solidFill>
            <a:srgbClr val="F4F6F9"/>
          </a:solidFill>
          <a:ln w="12700">
            <a:solidFill>
              <a:srgbClr val="F4F6F9"/>
            </a:solidFill>
            <a:prstDash val="solid"/>
          </a:ln>
        </p:spPr>
        <p:txBody>
          <a:bodyPr/>
          <a:lstStyle/>
          <a:p>
            <a:endParaRPr lang="en-US"/>
          </a:p>
        </p:txBody>
      </p:sp>
      <p:sp>
        <p:nvSpPr>
          <p:cNvPr id="35" name="Text 32"/>
          <p:cNvSpPr txBox="1"/>
          <p:nvPr/>
        </p:nvSpPr>
        <p:spPr>
          <a:xfrm>
            <a:off x="4773168" y="1517904"/>
            <a:ext cx="1078992" cy="292608"/>
          </a:xfrm>
          <a:prstGeom prst="rect">
            <a:avLst/>
          </a:prstGeom>
          <a:noFill/>
          <a:ln/>
        </p:spPr>
        <p:txBody>
          <a:bodyPr wrap="square" lIns="0" tIns="0" rIns="0" bIns="0" rtlCol="0" anchor="ctr"/>
          <a:lstStyle/>
          <a:p>
            <a:pPr marL="0" indent="0">
              <a:lnSpc>
                <a:spcPct val="93000"/>
              </a:lnSpc>
              <a:buNone/>
            </a:pPr>
            <a:r>
              <a:rPr lang="en-US" sz="860" b="1" dirty="0">
                <a:solidFill>
                  <a:srgbClr val="0F2F44"/>
                </a:solidFill>
                <a:latin typeface="Calibri" pitchFamily="34" charset="0"/>
                <a:ea typeface="Calibri" pitchFamily="34" charset="-122"/>
                <a:cs typeface="Calibri" pitchFamily="34" charset="-120"/>
              </a:rPr>
              <a:t>Stratus</a:t>
            </a:r>
            <a:endParaRPr lang="en-US" sz="860" dirty="0"/>
          </a:p>
        </p:txBody>
      </p:sp>
      <p:sp>
        <p:nvSpPr>
          <p:cNvPr id="36" name="Text 33"/>
          <p:cNvSpPr txBox="1"/>
          <p:nvPr/>
        </p:nvSpPr>
        <p:spPr>
          <a:xfrm>
            <a:off x="5925312" y="1517904"/>
            <a:ext cx="1261872"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Bulk-import objects</a:t>
            </a:r>
            <a:endParaRPr lang="en-US" sz="800" dirty="0"/>
          </a:p>
        </p:txBody>
      </p:sp>
      <p:sp>
        <p:nvSpPr>
          <p:cNvPr id="37" name="Text 34"/>
          <p:cNvSpPr txBox="1"/>
          <p:nvPr/>
        </p:nvSpPr>
        <p:spPr>
          <a:xfrm>
            <a:off x="7260336" y="1517904"/>
            <a:ext cx="1298448"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Bulk-write reads its source from a bucket</a:t>
            </a:r>
            <a:endParaRPr lang="en-US" sz="800" dirty="0"/>
          </a:p>
        </p:txBody>
      </p:sp>
      <p:sp>
        <p:nvSpPr>
          <p:cNvPr id="38" name="Text 35"/>
          <p:cNvSpPr txBox="1"/>
          <p:nvPr/>
        </p:nvSpPr>
        <p:spPr>
          <a:xfrm>
            <a:off x="4773168" y="1869948"/>
            <a:ext cx="1078992" cy="292608"/>
          </a:xfrm>
          <a:prstGeom prst="rect">
            <a:avLst/>
          </a:prstGeom>
          <a:noFill/>
          <a:ln/>
        </p:spPr>
        <p:txBody>
          <a:bodyPr wrap="square" lIns="0" tIns="0" rIns="0" bIns="0" rtlCol="0" anchor="ctr"/>
          <a:lstStyle/>
          <a:p>
            <a:pPr marL="0" indent="0">
              <a:lnSpc>
                <a:spcPct val="93000"/>
              </a:lnSpc>
              <a:buNone/>
            </a:pPr>
            <a:r>
              <a:rPr lang="en-US" sz="860" b="1" dirty="0">
                <a:solidFill>
                  <a:srgbClr val="0F2F44"/>
                </a:solidFill>
                <a:latin typeface="Calibri" pitchFamily="34" charset="0"/>
                <a:ea typeface="Calibri" pitchFamily="34" charset="-122"/>
                <a:cs typeface="Calibri" pitchFamily="34" charset="-120"/>
              </a:rPr>
              <a:t>Authentication</a:t>
            </a:r>
            <a:endParaRPr lang="en-US" sz="860" dirty="0"/>
          </a:p>
        </p:txBody>
      </p:sp>
      <p:sp>
        <p:nvSpPr>
          <p:cNvPr id="39" name="Text 36"/>
          <p:cNvSpPr txBox="1"/>
          <p:nvPr/>
        </p:nvSpPr>
        <p:spPr>
          <a:xfrm>
            <a:off x="5925312" y="1869948"/>
            <a:ext cx="1261872"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36 @ksp.gov.in accounts</a:t>
            </a:r>
            <a:endParaRPr lang="en-US" sz="800" dirty="0"/>
          </a:p>
        </p:txBody>
      </p:sp>
      <p:sp>
        <p:nvSpPr>
          <p:cNvPr id="40" name="Text 37"/>
          <p:cNvSpPr txBox="1"/>
          <p:nvPr/>
        </p:nvSpPr>
        <p:spPr>
          <a:xfrm>
            <a:off x="7260336" y="1869948"/>
            <a:ext cx="1298448"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An account is pinned to its district and unit</a:t>
            </a:r>
            <a:endParaRPr lang="en-US" sz="800" dirty="0"/>
          </a:p>
        </p:txBody>
      </p:sp>
      <p:sp>
        <p:nvSpPr>
          <p:cNvPr id="41" name="Shape 38"/>
          <p:cNvSpPr/>
          <p:nvPr/>
        </p:nvSpPr>
        <p:spPr>
          <a:xfrm>
            <a:off x="4736592" y="2185416"/>
            <a:ext cx="3968496" cy="338328"/>
          </a:xfrm>
          <a:prstGeom prst="rect">
            <a:avLst/>
          </a:prstGeom>
          <a:solidFill>
            <a:srgbClr val="F4F6F9"/>
          </a:solidFill>
          <a:ln w="12700">
            <a:solidFill>
              <a:srgbClr val="F4F6F9"/>
            </a:solidFill>
            <a:prstDash val="solid"/>
          </a:ln>
        </p:spPr>
        <p:txBody>
          <a:bodyPr/>
          <a:lstStyle/>
          <a:p>
            <a:endParaRPr lang="en-US"/>
          </a:p>
        </p:txBody>
      </p:sp>
      <p:sp>
        <p:nvSpPr>
          <p:cNvPr id="42" name="Text 39"/>
          <p:cNvSpPr txBox="1"/>
          <p:nvPr/>
        </p:nvSpPr>
        <p:spPr>
          <a:xfrm>
            <a:off x="4773168" y="2221992"/>
            <a:ext cx="1078992" cy="292608"/>
          </a:xfrm>
          <a:prstGeom prst="rect">
            <a:avLst/>
          </a:prstGeom>
          <a:noFill/>
          <a:ln/>
        </p:spPr>
        <p:txBody>
          <a:bodyPr wrap="square" lIns="0" tIns="0" rIns="0" bIns="0" rtlCol="0" anchor="ctr"/>
          <a:lstStyle/>
          <a:p>
            <a:pPr marL="0" indent="0">
              <a:lnSpc>
                <a:spcPct val="93000"/>
              </a:lnSpc>
              <a:buNone/>
            </a:pPr>
            <a:r>
              <a:rPr lang="en-US" sz="860" b="1" dirty="0">
                <a:solidFill>
                  <a:srgbClr val="0F2F44"/>
                </a:solidFill>
                <a:latin typeface="Calibri" pitchFamily="34" charset="0"/>
                <a:ea typeface="Calibri" pitchFamily="34" charset="-122"/>
                <a:cs typeface="Calibri" pitchFamily="34" charset="-120"/>
              </a:rPr>
              <a:t>Zia</a:t>
            </a:r>
            <a:endParaRPr lang="en-US" sz="860" dirty="0"/>
          </a:p>
        </p:txBody>
      </p:sp>
      <p:sp>
        <p:nvSpPr>
          <p:cNvPr id="43" name="Text 40"/>
          <p:cNvSpPr txBox="1"/>
          <p:nvPr/>
        </p:nvSpPr>
        <p:spPr>
          <a:xfrm>
            <a:off x="5925312" y="2221992"/>
            <a:ext cx="1261872"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OCR · barcode · translate · TTS · STT</a:t>
            </a:r>
            <a:endParaRPr lang="en-US" sz="800" dirty="0"/>
          </a:p>
        </p:txBody>
      </p:sp>
      <p:sp>
        <p:nvSpPr>
          <p:cNvPr id="44" name="Text 41"/>
          <p:cNvSpPr txBox="1"/>
          <p:nvPr/>
        </p:nvSpPr>
        <p:spPr>
          <a:xfrm>
            <a:off x="7260336" y="2221992"/>
            <a:ext cx="1298448"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Trained models — no training data of ours</a:t>
            </a:r>
            <a:endParaRPr lang="en-US" sz="800" dirty="0"/>
          </a:p>
        </p:txBody>
      </p:sp>
      <p:sp>
        <p:nvSpPr>
          <p:cNvPr id="45" name="Text 42"/>
          <p:cNvSpPr txBox="1"/>
          <p:nvPr/>
        </p:nvSpPr>
        <p:spPr>
          <a:xfrm>
            <a:off x="4773168" y="2574036"/>
            <a:ext cx="1078992" cy="292608"/>
          </a:xfrm>
          <a:prstGeom prst="rect">
            <a:avLst/>
          </a:prstGeom>
          <a:noFill/>
          <a:ln/>
        </p:spPr>
        <p:txBody>
          <a:bodyPr wrap="square" lIns="0" tIns="0" rIns="0" bIns="0" rtlCol="0" anchor="ctr"/>
          <a:lstStyle/>
          <a:p>
            <a:pPr marL="0" indent="0">
              <a:lnSpc>
                <a:spcPct val="93000"/>
              </a:lnSpc>
              <a:buNone/>
            </a:pPr>
            <a:r>
              <a:rPr lang="en-US" sz="860" b="1" dirty="0">
                <a:solidFill>
                  <a:srgbClr val="0F2F44"/>
                </a:solidFill>
                <a:latin typeface="Calibri" pitchFamily="34" charset="0"/>
                <a:ea typeface="Calibri" pitchFamily="34" charset="-122"/>
                <a:cs typeface="Calibri" pitchFamily="34" charset="-120"/>
              </a:rPr>
              <a:t>QuickML</a:t>
            </a:r>
            <a:endParaRPr lang="en-US" sz="860" dirty="0"/>
          </a:p>
        </p:txBody>
      </p:sp>
      <p:sp>
        <p:nvSpPr>
          <p:cNvPr id="46" name="Text 43"/>
          <p:cNvSpPr txBox="1"/>
          <p:nvPr/>
        </p:nvSpPr>
        <p:spPr>
          <a:xfrm>
            <a:off x="5925312" y="2574036"/>
            <a:ext cx="1261872"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GLM-4.7 · Qwen 3.6 · 8 tabular models</a:t>
            </a:r>
            <a:endParaRPr lang="en-US" sz="800" dirty="0"/>
          </a:p>
        </p:txBody>
      </p:sp>
      <p:sp>
        <p:nvSpPr>
          <p:cNvPr id="47" name="Text 44"/>
          <p:cNvSpPr txBox="1"/>
          <p:nvPr/>
        </p:nvSpPr>
        <p:spPr>
          <a:xfrm>
            <a:off x="7260336" y="2574036"/>
            <a:ext cx="1298448"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The only place a model runs at request time</a:t>
            </a:r>
            <a:endParaRPr lang="en-US" sz="800" dirty="0"/>
          </a:p>
        </p:txBody>
      </p:sp>
      <p:sp>
        <p:nvSpPr>
          <p:cNvPr id="48" name="Shape 45"/>
          <p:cNvSpPr/>
          <p:nvPr/>
        </p:nvSpPr>
        <p:spPr>
          <a:xfrm>
            <a:off x="4736592" y="2889504"/>
            <a:ext cx="3968496" cy="338328"/>
          </a:xfrm>
          <a:prstGeom prst="rect">
            <a:avLst/>
          </a:prstGeom>
          <a:solidFill>
            <a:srgbClr val="F4F6F9"/>
          </a:solidFill>
          <a:ln w="12700">
            <a:solidFill>
              <a:srgbClr val="F4F6F9"/>
            </a:solidFill>
            <a:prstDash val="solid"/>
          </a:ln>
        </p:spPr>
        <p:txBody>
          <a:bodyPr/>
          <a:lstStyle/>
          <a:p>
            <a:endParaRPr lang="en-US"/>
          </a:p>
        </p:txBody>
      </p:sp>
      <p:sp>
        <p:nvSpPr>
          <p:cNvPr id="49" name="Text 46"/>
          <p:cNvSpPr txBox="1"/>
          <p:nvPr/>
        </p:nvSpPr>
        <p:spPr>
          <a:xfrm>
            <a:off x="4773168" y="2926080"/>
            <a:ext cx="1078992" cy="292608"/>
          </a:xfrm>
          <a:prstGeom prst="rect">
            <a:avLst/>
          </a:prstGeom>
          <a:noFill/>
          <a:ln/>
        </p:spPr>
        <p:txBody>
          <a:bodyPr wrap="square" lIns="0" tIns="0" rIns="0" bIns="0" rtlCol="0" anchor="ctr"/>
          <a:lstStyle/>
          <a:p>
            <a:pPr marL="0" indent="0">
              <a:lnSpc>
                <a:spcPct val="93000"/>
              </a:lnSpc>
              <a:buNone/>
            </a:pPr>
            <a:r>
              <a:rPr lang="en-US" sz="860" b="1" dirty="0">
                <a:solidFill>
                  <a:srgbClr val="0F2F44"/>
                </a:solidFill>
                <a:latin typeface="Calibri" pitchFamily="34" charset="0"/>
                <a:ea typeface="Calibri" pitchFamily="34" charset="-122"/>
                <a:cs typeface="Calibri" pitchFamily="34" charset="-120"/>
              </a:rPr>
              <a:t>SmartBrowz</a:t>
            </a:r>
            <a:endParaRPr lang="en-US" sz="860" dirty="0"/>
          </a:p>
        </p:txBody>
      </p:sp>
      <p:sp>
        <p:nvSpPr>
          <p:cNvPr id="50" name="Text 47"/>
          <p:cNvSpPr txBox="1"/>
          <p:nvPr/>
        </p:nvSpPr>
        <p:spPr>
          <a:xfrm>
            <a:off x="5925312" y="2926080"/>
            <a:ext cx="1261872"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Briefing export</a:t>
            </a:r>
            <a:endParaRPr lang="en-US" sz="800" dirty="0"/>
          </a:p>
        </p:txBody>
      </p:sp>
      <p:sp>
        <p:nvSpPr>
          <p:cNvPr id="51" name="Text 48"/>
          <p:cNvSpPr txBox="1"/>
          <p:nvPr/>
        </p:nvSpPr>
        <p:spPr>
          <a:xfrm>
            <a:off x="7260336" y="2926080"/>
            <a:ext cx="1298448"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Renders the print-ready briefing</a:t>
            </a:r>
            <a:endParaRPr lang="en-US" sz="800" dirty="0"/>
          </a:p>
        </p:txBody>
      </p:sp>
      <p:sp>
        <p:nvSpPr>
          <p:cNvPr id="52" name="Text 49"/>
          <p:cNvSpPr txBox="1"/>
          <p:nvPr/>
        </p:nvSpPr>
        <p:spPr>
          <a:xfrm>
            <a:off x="4773168" y="3278124"/>
            <a:ext cx="1078992" cy="292608"/>
          </a:xfrm>
          <a:prstGeom prst="rect">
            <a:avLst/>
          </a:prstGeom>
          <a:noFill/>
          <a:ln/>
        </p:spPr>
        <p:txBody>
          <a:bodyPr wrap="square" lIns="0" tIns="0" rIns="0" bIns="0" rtlCol="0" anchor="ctr"/>
          <a:lstStyle/>
          <a:p>
            <a:pPr marL="0" indent="0">
              <a:lnSpc>
                <a:spcPct val="93000"/>
              </a:lnSpc>
              <a:buNone/>
            </a:pPr>
            <a:r>
              <a:rPr lang="en-US" sz="860" b="1" dirty="0">
                <a:solidFill>
                  <a:srgbClr val="0F2F44"/>
                </a:solidFill>
                <a:latin typeface="Calibri" pitchFamily="34" charset="0"/>
                <a:ea typeface="Calibri" pitchFamily="34" charset="-122"/>
                <a:cs typeface="Calibri" pitchFamily="34" charset="-120"/>
              </a:rPr>
              <a:t>Connections</a:t>
            </a:r>
            <a:endParaRPr lang="en-US" sz="860" dirty="0"/>
          </a:p>
        </p:txBody>
      </p:sp>
      <p:sp>
        <p:nvSpPr>
          <p:cNvPr id="53" name="Text 50"/>
          <p:cNvSpPr txBox="1"/>
          <p:nvPr/>
        </p:nvSpPr>
        <p:spPr>
          <a:xfrm>
            <a:off x="5925312" y="3278124"/>
            <a:ext cx="1261872"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OAuth for QuickML and Zia</a:t>
            </a:r>
            <a:endParaRPr lang="en-US" sz="800" dirty="0"/>
          </a:p>
        </p:txBody>
      </p:sp>
      <p:sp>
        <p:nvSpPr>
          <p:cNvPr id="54" name="Text 51"/>
          <p:cNvSpPr txBox="1"/>
          <p:nvPr/>
        </p:nvSpPr>
        <p:spPr>
          <a:xfrm>
            <a:off x="7260336" y="3278124"/>
            <a:ext cx="1298448"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Both reject anonymous calls</a:t>
            </a:r>
            <a:endParaRPr lang="en-US" sz="800" dirty="0"/>
          </a:p>
        </p:txBody>
      </p:sp>
      <p:sp>
        <p:nvSpPr>
          <p:cNvPr id="55" name="Text 52"/>
          <p:cNvSpPr txBox="1"/>
          <p:nvPr/>
        </p:nvSpPr>
        <p:spPr>
          <a:xfrm>
            <a:off x="384048" y="3712464"/>
            <a:ext cx="8375904" cy="201168"/>
          </a:xfrm>
          <a:prstGeom prst="rect">
            <a:avLst/>
          </a:prstGeom>
          <a:noFill/>
          <a:ln/>
        </p:spPr>
        <p:txBody>
          <a:bodyPr wrap="square" lIns="0" tIns="0" rIns="0" bIns="0" rtlCol="0" anchor="ctr"/>
          <a:lstStyle/>
          <a:p>
            <a:pPr marL="0" indent="0">
              <a:buNone/>
            </a:pPr>
            <a:r>
              <a:rPr lang="en-US" sz="1000" b="1" dirty="0">
                <a:solidFill>
                  <a:srgbClr val="0F2F44"/>
                </a:solidFill>
                <a:latin typeface="Calibri" pitchFamily="34" charset="0"/>
                <a:ea typeface="Calibri" pitchFamily="34" charset="-122"/>
                <a:cs typeface="Calibri" pitchFamily="34" charset="-120"/>
              </a:rPr>
              <a:t>Not wired </a:t>
            </a:r>
            <a:r>
              <a:rPr lang="en-US" sz="1000" dirty="0">
                <a:solidFill>
                  <a:srgbClr val="5B6B7C"/>
                </a:solidFill>
                <a:latin typeface="Calibri" pitchFamily="34" charset="0"/>
                <a:ea typeface="Calibri" pitchFamily="34" charset="-122"/>
                <a:cs typeface="Calibri" pitchFamily="34" charset="-120"/>
              </a:rPr>
              <a:t>— four services attempted, diagnosed and stated rather than quietly skipped</a:t>
            </a:r>
            <a:endParaRPr lang="en-US" sz="1000" dirty="0"/>
          </a:p>
        </p:txBody>
      </p:sp>
      <p:sp>
        <p:nvSpPr>
          <p:cNvPr id="56" name="Shape 53"/>
          <p:cNvSpPr/>
          <p:nvPr/>
        </p:nvSpPr>
        <p:spPr>
          <a:xfrm>
            <a:off x="384048" y="3950208"/>
            <a:ext cx="1956816" cy="859536"/>
          </a:xfrm>
          <a:prstGeom prst="roundRect">
            <a:avLst>
              <a:gd name="adj" fmla="val 6383"/>
            </a:avLst>
          </a:prstGeom>
          <a:solidFill>
            <a:srgbClr val="FDF1E4"/>
          </a:solidFill>
          <a:ln w="9525">
            <a:solidFill>
              <a:srgbClr val="F0D9BE"/>
            </a:solidFill>
            <a:prstDash val="solid"/>
          </a:ln>
        </p:spPr>
        <p:txBody>
          <a:bodyPr/>
          <a:lstStyle/>
          <a:p>
            <a:endParaRPr lang="en-US"/>
          </a:p>
        </p:txBody>
      </p:sp>
      <p:sp>
        <p:nvSpPr>
          <p:cNvPr id="57" name="Text 54"/>
          <p:cNvSpPr txBox="1"/>
          <p:nvPr/>
        </p:nvSpPr>
        <p:spPr>
          <a:xfrm>
            <a:off x="475488" y="3995928"/>
            <a:ext cx="1773936" cy="164592"/>
          </a:xfrm>
          <a:prstGeom prst="rect">
            <a:avLst/>
          </a:prstGeom>
          <a:noFill/>
          <a:ln/>
        </p:spPr>
        <p:txBody>
          <a:bodyPr wrap="square" lIns="0" tIns="0" rIns="0" bIns="0" rtlCol="0" anchor="ctr"/>
          <a:lstStyle/>
          <a:p>
            <a:pPr marL="0" indent="0">
              <a:buNone/>
            </a:pPr>
            <a:r>
              <a:rPr lang="en-US" sz="820" b="1" dirty="0">
                <a:solidFill>
                  <a:srgbClr val="0F2F44"/>
                </a:solidFill>
                <a:latin typeface="Calibri" pitchFamily="34" charset="0"/>
                <a:ea typeface="Calibri" pitchFamily="34" charset="-122"/>
                <a:cs typeface="Calibri" pitchFamily="34" charset="-120"/>
              </a:rPr>
              <a:t>Cache</a:t>
            </a:r>
            <a:endParaRPr lang="en-US" sz="820" dirty="0"/>
          </a:p>
        </p:txBody>
      </p:sp>
      <p:sp>
        <p:nvSpPr>
          <p:cNvPr id="58" name="Shape 55"/>
          <p:cNvSpPr/>
          <p:nvPr/>
        </p:nvSpPr>
        <p:spPr>
          <a:xfrm>
            <a:off x="475488" y="4178808"/>
            <a:ext cx="1391717" cy="173736"/>
          </a:xfrm>
          <a:prstGeom prst="roundRect">
            <a:avLst>
              <a:gd name="adj" fmla="val 47368"/>
            </a:avLst>
          </a:prstGeom>
          <a:solidFill>
            <a:srgbClr val="E8871E"/>
          </a:solidFill>
          <a:ln w="12700">
            <a:solidFill>
              <a:srgbClr val="E8871E"/>
            </a:solidFill>
            <a:prstDash val="solid"/>
          </a:ln>
        </p:spPr>
        <p:txBody>
          <a:bodyPr/>
          <a:lstStyle/>
          <a:p>
            <a:endParaRPr lang="en-US"/>
          </a:p>
        </p:txBody>
      </p:sp>
      <p:sp>
        <p:nvSpPr>
          <p:cNvPr id="59" name="Text 56"/>
          <p:cNvSpPr txBox="1"/>
          <p:nvPr/>
        </p:nvSpPr>
        <p:spPr>
          <a:xfrm>
            <a:off x="475488" y="4178808"/>
            <a:ext cx="1391717" cy="173736"/>
          </a:xfrm>
          <a:prstGeom prst="rect">
            <a:avLst/>
          </a:prstGeom>
          <a:noFill/>
          <a:ln/>
        </p:spPr>
        <p:txBody>
          <a:bodyPr wrap="square" lIns="0" tIns="0" rIns="0" bIns="0" rtlCol="0" anchor="ctr"/>
          <a:lstStyle/>
          <a:p>
            <a:pPr marL="0" indent="0" algn="ctr">
              <a:buNone/>
            </a:pPr>
            <a:r>
              <a:rPr lang="en-US" sz="620" b="1" dirty="0">
                <a:solidFill>
                  <a:srgbClr val="FFFFFF"/>
                </a:solidFill>
                <a:latin typeface="Calibri" pitchFamily="34" charset="0"/>
                <a:ea typeface="Calibri" pitchFamily="34" charset="-122"/>
                <a:cs typeface="Calibri" pitchFamily="34" charset="-120"/>
              </a:rPr>
              <a:t>401 PERMISSION_NEEDED</a:t>
            </a:r>
            <a:endParaRPr lang="en-US" sz="620" dirty="0"/>
          </a:p>
        </p:txBody>
      </p:sp>
      <p:sp>
        <p:nvSpPr>
          <p:cNvPr id="60" name="Text 57"/>
          <p:cNvSpPr txBox="1"/>
          <p:nvPr/>
        </p:nvSpPr>
        <p:spPr>
          <a:xfrm>
            <a:off x="475488" y="4389120"/>
            <a:ext cx="1773936" cy="384048"/>
          </a:xfrm>
          <a:prstGeom prst="rect">
            <a:avLst/>
          </a:prstGeom>
          <a:noFill/>
          <a:ln/>
        </p:spPr>
        <p:txBody>
          <a:bodyPr wrap="square" lIns="0" tIns="0" rIns="0" bIns="0" rtlCol="0" anchor="t"/>
          <a:lstStyle/>
          <a:p>
            <a:pPr marL="0" indent="0">
              <a:lnSpc>
                <a:spcPct val="95000"/>
              </a:lnSpc>
              <a:buNone/>
            </a:pPr>
            <a:r>
              <a:rPr lang="en-US" sz="650" dirty="0">
                <a:solidFill>
                  <a:srgbClr val="5B6B7C"/>
                </a:solidFill>
                <a:latin typeface="Calibri" pitchFamily="34" charset="0"/>
                <a:ea typeface="Calibri" pitchFamily="34" charset="-122"/>
                <a:cs typeface="Calibri" pitchFamily="34" charset="-120"/>
              </a:rPr>
              <a:t>Adapter written and segment provisioned; writes from a deployed function are refused. Zero user impact — the KPI query recomputes in ~1 ms.</a:t>
            </a:r>
            <a:endParaRPr lang="en-US" sz="650" dirty="0"/>
          </a:p>
        </p:txBody>
      </p:sp>
      <p:sp>
        <p:nvSpPr>
          <p:cNvPr id="61" name="Shape 58"/>
          <p:cNvSpPr/>
          <p:nvPr/>
        </p:nvSpPr>
        <p:spPr>
          <a:xfrm>
            <a:off x="2505456" y="3950208"/>
            <a:ext cx="1956816" cy="859536"/>
          </a:xfrm>
          <a:prstGeom prst="roundRect">
            <a:avLst>
              <a:gd name="adj" fmla="val 6383"/>
            </a:avLst>
          </a:prstGeom>
          <a:solidFill>
            <a:srgbClr val="FDF1E4"/>
          </a:solidFill>
          <a:ln w="9525">
            <a:solidFill>
              <a:srgbClr val="F0D9BE"/>
            </a:solidFill>
            <a:prstDash val="solid"/>
          </a:ln>
        </p:spPr>
        <p:txBody>
          <a:bodyPr/>
          <a:lstStyle/>
          <a:p>
            <a:endParaRPr lang="en-US"/>
          </a:p>
        </p:txBody>
      </p:sp>
      <p:sp>
        <p:nvSpPr>
          <p:cNvPr id="62" name="Text 59"/>
          <p:cNvSpPr txBox="1"/>
          <p:nvPr/>
        </p:nvSpPr>
        <p:spPr>
          <a:xfrm>
            <a:off x="2596896" y="3995928"/>
            <a:ext cx="1773936" cy="164592"/>
          </a:xfrm>
          <a:prstGeom prst="rect">
            <a:avLst/>
          </a:prstGeom>
          <a:noFill/>
          <a:ln/>
        </p:spPr>
        <p:txBody>
          <a:bodyPr wrap="square" lIns="0" tIns="0" rIns="0" bIns="0" rtlCol="0" anchor="ctr"/>
          <a:lstStyle/>
          <a:p>
            <a:pPr marL="0" indent="0">
              <a:buNone/>
            </a:pPr>
            <a:r>
              <a:rPr lang="en-US" sz="820" b="1" dirty="0">
                <a:solidFill>
                  <a:srgbClr val="0F2F44"/>
                </a:solidFill>
                <a:latin typeface="Calibri" pitchFamily="34" charset="0"/>
                <a:ea typeface="Calibri" pitchFamily="34" charset="-122"/>
                <a:cs typeface="Calibri" pitchFamily="34" charset="-120"/>
              </a:rPr>
              <a:t>Zia object / identity</a:t>
            </a:r>
            <a:endParaRPr lang="en-US" sz="820" dirty="0"/>
          </a:p>
        </p:txBody>
      </p:sp>
      <p:sp>
        <p:nvSpPr>
          <p:cNvPr id="63" name="Shape 60"/>
          <p:cNvSpPr/>
          <p:nvPr/>
        </p:nvSpPr>
        <p:spPr>
          <a:xfrm>
            <a:off x="2596896" y="4178808"/>
            <a:ext cx="1164946" cy="173736"/>
          </a:xfrm>
          <a:prstGeom prst="roundRect">
            <a:avLst>
              <a:gd name="adj" fmla="val 47368"/>
            </a:avLst>
          </a:prstGeom>
          <a:solidFill>
            <a:srgbClr val="E8871E"/>
          </a:solidFill>
          <a:ln w="12700">
            <a:solidFill>
              <a:srgbClr val="E8871E"/>
            </a:solidFill>
            <a:prstDash val="solid"/>
          </a:ln>
        </p:spPr>
        <p:txBody>
          <a:bodyPr/>
          <a:lstStyle/>
          <a:p>
            <a:endParaRPr lang="en-US"/>
          </a:p>
        </p:txBody>
      </p:sp>
      <p:sp>
        <p:nvSpPr>
          <p:cNvPr id="64" name="Text 61"/>
          <p:cNvSpPr txBox="1"/>
          <p:nvPr/>
        </p:nvSpPr>
        <p:spPr>
          <a:xfrm>
            <a:off x="2596896" y="4178808"/>
            <a:ext cx="1164946" cy="173736"/>
          </a:xfrm>
          <a:prstGeom prst="rect">
            <a:avLst/>
          </a:prstGeom>
          <a:noFill/>
          <a:ln/>
        </p:spPr>
        <p:txBody>
          <a:bodyPr wrap="square" lIns="0" tIns="0" rIns="0" bIns="0" rtlCol="0" anchor="ctr"/>
          <a:lstStyle/>
          <a:p>
            <a:pPr marL="0" indent="0" algn="ctr">
              <a:buNone/>
            </a:pPr>
            <a:r>
              <a:rPr lang="en-US" sz="620" b="1" dirty="0">
                <a:solidFill>
                  <a:srgbClr val="FFFFFF"/>
                </a:solidFill>
                <a:latin typeface="Calibri" pitchFamily="34" charset="0"/>
                <a:ea typeface="Calibri" pitchFamily="34" charset="-122"/>
                <a:cs typeface="Calibri" pitchFamily="34" charset="-120"/>
              </a:rPr>
              <a:t>404 on every path</a:t>
            </a:r>
            <a:endParaRPr lang="en-US" sz="620" dirty="0"/>
          </a:p>
        </p:txBody>
      </p:sp>
      <p:sp>
        <p:nvSpPr>
          <p:cNvPr id="65" name="Text 62"/>
          <p:cNvSpPr txBox="1"/>
          <p:nvPr/>
        </p:nvSpPr>
        <p:spPr>
          <a:xfrm>
            <a:off x="2596896" y="4389120"/>
            <a:ext cx="1773936" cy="384048"/>
          </a:xfrm>
          <a:prstGeom prst="rect">
            <a:avLst/>
          </a:prstGeom>
          <a:noFill/>
          <a:ln/>
        </p:spPr>
        <p:txBody>
          <a:bodyPr wrap="square" lIns="0" tIns="0" rIns="0" bIns="0" rtlCol="0" anchor="t"/>
          <a:lstStyle/>
          <a:p>
            <a:pPr marL="0" indent="0">
              <a:lnSpc>
                <a:spcPct val="95000"/>
              </a:lnSpc>
              <a:buNone/>
            </a:pPr>
            <a:r>
              <a:rPr lang="en-US" sz="650" dirty="0">
                <a:solidFill>
                  <a:srgbClr val="5B6B7C"/>
                </a:solidFill>
                <a:latin typeface="Calibri" pitchFamily="34" charset="0"/>
                <a:ea typeface="Calibri" pitchFamily="34" charset="-122"/>
                <a:cs typeface="Calibri" pitchFamily="34" charset="-120"/>
              </a:rPr>
              <a:t>Every REST path tried returns 404 on this project. The vision model covers the same ground and is used in its place.</a:t>
            </a:r>
            <a:endParaRPr lang="en-US" sz="650" dirty="0"/>
          </a:p>
        </p:txBody>
      </p:sp>
      <p:sp>
        <p:nvSpPr>
          <p:cNvPr id="66" name="Shape 63"/>
          <p:cNvSpPr/>
          <p:nvPr/>
        </p:nvSpPr>
        <p:spPr>
          <a:xfrm>
            <a:off x="4626864" y="3950208"/>
            <a:ext cx="1956816" cy="859536"/>
          </a:xfrm>
          <a:prstGeom prst="roundRect">
            <a:avLst>
              <a:gd name="adj" fmla="val 6383"/>
            </a:avLst>
          </a:prstGeom>
          <a:solidFill>
            <a:srgbClr val="FDF1E4"/>
          </a:solidFill>
          <a:ln w="9525">
            <a:solidFill>
              <a:srgbClr val="F0D9BE"/>
            </a:solidFill>
            <a:prstDash val="solid"/>
          </a:ln>
        </p:spPr>
        <p:txBody>
          <a:bodyPr/>
          <a:lstStyle/>
          <a:p>
            <a:endParaRPr lang="en-US"/>
          </a:p>
        </p:txBody>
      </p:sp>
      <p:sp>
        <p:nvSpPr>
          <p:cNvPr id="67" name="Text 64"/>
          <p:cNvSpPr txBox="1"/>
          <p:nvPr/>
        </p:nvSpPr>
        <p:spPr>
          <a:xfrm>
            <a:off x="4718304" y="3995928"/>
            <a:ext cx="1773936" cy="164592"/>
          </a:xfrm>
          <a:prstGeom prst="rect">
            <a:avLst/>
          </a:prstGeom>
          <a:noFill/>
          <a:ln/>
        </p:spPr>
        <p:txBody>
          <a:bodyPr wrap="square" lIns="0" tIns="0" rIns="0" bIns="0" rtlCol="0" anchor="ctr"/>
          <a:lstStyle/>
          <a:p>
            <a:pPr marL="0" indent="0">
              <a:buNone/>
            </a:pPr>
            <a:r>
              <a:rPr lang="en-US" sz="820" b="1" dirty="0">
                <a:solidFill>
                  <a:srgbClr val="0F2F44"/>
                </a:solidFill>
                <a:latin typeface="Calibri" pitchFamily="34" charset="0"/>
                <a:ea typeface="Calibri" pitchFamily="34" charset="-122"/>
                <a:cs typeface="Calibri" pitchFamily="34" charset="-120"/>
              </a:rPr>
              <a:t>Zia face detection</a:t>
            </a:r>
            <a:endParaRPr lang="en-US" sz="820" dirty="0"/>
          </a:p>
        </p:txBody>
      </p:sp>
      <p:sp>
        <p:nvSpPr>
          <p:cNvPr id="68" name="Shape 65"/>
          <p:cNvSpPr/>
          <p:nvPr/>
        </p:nvSpPr>
        <p:spPr>
          <a:xfrm>
            <a:off x="4718304" y="4178808"/>
            <a:ext cx="1164946" cy="173736"/>
          </a:xfrm>
          <a:prstGeom prst="roundRect">
            <a:avLst>
              <a:gd name="adj" fmla="val 47368"/>
            </a:avLst>
          </a:prstGeom>
          <a:solidFill>
            <a:srgbClr val="E8871E"/>
          </a:solidFill>
          <a:ln w="12700">
            <a:solidFill>
              <a:srgbClr val="E8871E"/>
            </a:solidFill>
            <a:prstDash val="solid"/>
          </a:ln>
        </p:spPr>
        <p:txBody>
          <a:bodyPr/>
          <a:lstStyle/>
          <a:p>
            <a:endParaRPr lang="en-US"/>
          </a:p>
        </p:txBody>
      </p:sp>
      <p:sp>
        <p:nvSpPr>
          <p:cNvPr id="69" name="Text 66"/>
          <p:cNvSpPr txBox="1"/>
          <p:nvPr/>
        </p:nvSpPr>
        <p:spPr>
          <a:xfrm>
            <a:off x="4718304" y="4178808"/>
            <a:ext cx="1164946" cy="173736"/>
          </a:xfrm>
          <a:prstGeom prst="rect">
            <a:avLst/>
          </a:prstGeom>
          <a:noFill/>
          <a:ln/>
        </p:spPr>
        <p:txBody>
          <a:bodyPr wrap="square" lIns="0" tIns="0" rIns="0" bIns="0" rtlCol="0" anchor="ctr"/>
          <a:lstStyle/>
          <a:p>
            <a:pPr marL="0" indent="0" algn="ctr">
              <a:buNone/>
            </a:pPr>
            <a:r>
              <a:rPr lang="en-US" sz="620" b="1" dirty="0">
                <a:solidFill>
                  <a:srgbClr val="FFFFFF"/>
                </a:solidFill>
                <a:latin typeface="Calibri" pitchFamily="34" charset="0"/>
                <a:ea typeface="Calibri" pitchFamily="34" charset="-122"/>
                <a:cs typeface="Calibri" pitchFamily="34" charset="-120"/>
              </a:rPr>
              <a:t>ZIA_ERROR, always</a:t>
            </a:r>
            <a:endParaRPr lang="en-US" sz="620" dirty="0"/>
          </a:p>
        </p:txBody>
      </p:sp>
      <p:sp>
        <p:nvSpPr>
          <p:cNvPr id="70" name="Text 67"/>
          <p:cNvSpPr txBox="1"/>
          <p:nvPr/>
        </p:nvSpPr>
        <p:spPr>
          <a:xfrm>
            <a:off x="4718304" y="4389120"/>
            <a:ext cx="1773936" cy="384048"/>
          </a:xfrm>
          <a:prstGeom prst="rect">
            <a:avLst/>
          </a:prstGeom>
          <a:noFill/>
          <a:ln/>
        </p:spPr>
        <p:txBody>
          <a:bodyPr wrap="square" lIns="0" tIns="0" rIns="0" bIns="0" rtlCol="0" anchor="t"/>
          <a:lstStyle/>
          <a:p>
            <a:pPr marL="0" indent="0">
              <a:lnSpc>
                <a:spcPct val="95000"/>
              </a:lnSpc>
              <a:buNone/>
            </a:pPr>
            <a:r>
              <a:rPr lang="en-US" sz="650" dirty="0">
                <a:solidFill>
                  <a:srgbClr val="5B6B7C"/>
                </a:solidFill>
                <a:latin typeface="Calibri" pitchFamily="34" charset="0"/>
                <a:ea typeface="Calibri" pitchFamily="34" charset="-122"/>
                <a:cs typeface="Calibri" pitchFamily="34" charset="-120"/>
              </a:rPr>
              <a:t>The endpoint exists and errors on every image tried, including one with a face. Left off rather than shipped as a control that fails.</a:t>
            </a:r>
            <a:endParaRPr lang="en-US" sz="650" dirty="0"/>
          </a:p>
        </p:txBody>
      </p:sp>
      <p:sp>
        <p:nvSpPr>
          <p:cNvPr id="71" name="Shape 68"/>
          <p:cNvSpPr/>
          <p:nvPr/>
        </p:nvSpPr>
        <p:spPr>
          <a:xfrm>
            <a:off x="6748272" y="3950208"/>
            <a:ext cx="1956816" cy="859536"/>
          </a:xfrm>
          <a:prstGeom prst="roundRect">
            <a:avLst>
              <a:gd name="adj" fmla="val 6383"/>
            </a:avLst>
          </a:prstGeom>
          <a:solidFill>
            <a:srgbClr val="FDF1E4"/>
          </a:solidFill>
          <a:ln w="9525">
            <a:solidFill>
              <a:srgbClr val="F0D9BE"/>
            </a:solidFill>
            <a:prstDash val="solid"/>
          </a:ln>
        </p:spPr>
        <p:txBody>
          <a:bodyPr/>
          <a:lstStyle/>
          <a:p>
            <a:endParaRPr lang="en-US"/>
          </a:p>
        </p:txBody>
      </p:sp>
      <p:sp>
        <p:nvSpPr>
          <p:cNvPr id="72" name="Text 69"/>
          <p:cNvSpPr txBox="1"/>
          <p:nvPr/>
        </p:nvSpPr>
        <p:spPr>
          <a:xfrm>
            <a:off x="6839712" y="3995928"/>
            <a:ext cx="1773936" cy="164592"/>
          </a:xfrm>
          <a:prstGeom prst="rect">
            <a:avLst/>
          </a:prstGeom>
          <a:noFill/>
          <a:ln/>
        </p:spPr>
        <p:txBody>
          <a:bodyPr wrap="square" lIns="0" tIns="0" rIns="0" bIns="0" rtlCol="0" anchor="ctr"/>
          <a:lstStyle/>
          <a:p>
            <a:pPr marL="0" indent="0">
              <a:buNone/>
            </a:pPr>
            <a:r>
              <a:rPr lang="en-US" sz="820" b="1" dirty="0">
                <a:solidFill>
                  <a:srgbClr val="0F2F44"/>
                </a:solidFill>
                <a:latin typeface="Calibri" pitchFamily="34" charset="0"/>
                <a:ea typeface="Calibri" pitchFamily="34" charset="-122"/>
                <a:cs typeface="Calibri" pitchFamily="34" charset="-120"/>
              </a:rPr>
              <a:t>NoSQL · API Gateway</a:t>
            </a:r>
            <a:endParaRPr lang="en-US" sz="820" dirty="0"/>
          </a:p>
        </p:txBody>
      </p:sp>
      <p:sp>
        <p:nvSpPr>
          <p:cNvPr id="73" name="Shape 70"/>
          <p:cNvSpPr/>
          <p:nvPr/>
        </p:nvSpPr>
        <p:spPr>
          <a:xfrm>
            <a:off x="6839712" y="4178808"/>
            <a:ext cx="1051560" cy="173736"/>
          </a:xfrm>
          <a:prstGeom prst="roundRect">
            <a:avLst>
              <a:gd name="adj" fmla="val 47368"/>
            </a:avLst>
          </a:prstGeom>
          <a:solidFill>
            <a:srgbClr val="E8871E"/>
          </a:solidFill>
          <a:ln w="12700">
            <a:solidFill>
              <a:srgbClr val="E8871E"/>
            </a:solidFill>
            <a:prstDash val="solid"/>
          </a:ln>
        </p:spPr>
        <p:txBody>
          <a:bodyPr/>
          <a:lstStyle/>
          <a:p>
            <a:endParaRPr lang="en-US"/>
          </a:p>
        </p:txBody>
      </p:sp>
      <p:sp>
        <p:nvSpPr>
          <p:cNvPr id="74" name="Text 71"/>
          <p:cNvSpPr txBox="1"/>
          <p:nvPr/>
        </p:nvSpPr>
        <p:spPr>
          <a:xfrm>
            <a:off x="6839712" y="4178808"/>
            <a:ext cx="1051560" cy="173736"/>
          </a:xfrm>
          <a:prstGeom prst="rect">
            <a:avLst/>
          </a:prstGeom>
          <a:noFill/>
          <a:ln/>
        </p:spPr>
        <p:txBody>
          <a:bodyPr wrap="square" lIns="0" tIns="0" rIns="0" bIns="0" rtlCol="0" anchor="ctr"/>
          <a:lstStyle/>
          <a:p>
            <a:pPr marL="0" indent="0" algn="ctr">
              <a:buNone/>
            </a:pPr>
            <a:r>
              <a:rPr lang="en-US" sz="620" b="1" dirty="0">
                <a:solidFill>
                  <a:srgbClr val="FFFFFF"/>
                </a:solidFill>
                <a:latin typeface="Calibri" pitchFamily="34" charset="0"/>
                <a:ea typeface="Calibri" pitchFamily="34" charset="-122"/>
                <a:cs typeface="Calibri" pitchFamily="34" charset="-120"/>
              </a:rPr>
              <a:t>not provisioned</a:t>
            </a:r>
            <a:endParaRPr lang="en-US" sz="620" dirty="0"/>
          </a:p>
        </p:txBody>
      </p:sp>
      <p:sp>
        <p:nvSpPr>
          <p:cNvPr id="75" name="Text 72"/>
          <p:cNvSpPr txBox="1"/>
          <p:nvPr/>
        </p:nvSpPr>
        <p:spPr>
          <a:xfrm>
            <a:off x="6839712" y="4389120"/>
            <a:ext cx="1773936" cy="384048"/>
          </a:xfrm>
          <a:prstGeom prst="rect">
            <a:avLst/>
          </a:prstGeom>
          <a:noFill/>
          <a:ln/>
        </p:spPr>
        <p:txBody>
          <a:bodyPr wrap="square" lIns="0" tIns="0" rIns="0" bIns="0" rtlCol="0" anchor="t"/>
          <a:lstStyle/>
          <a:p>
            <a:pPr marL="0" indent="0">
              <a:lnSpc>
                <a:spcPct val="95000"/>
              </a:lnSpc>
              <a:buNone/>
            </a:pPr>
            <a:r>
              <a:rPr lang="en-US" sz="650" dirty="0">
                <a:solidFill>
                  <a:srgbClr val="5B6B7C"/>
                </a:solidFill>
                <a:latin typeface="Calibri" pitchFamily="34" charset="0"/>
                <a:ea typeface="Calibri" pitchFamily="34" charset="-122"/>
                <a:cs typeface="Calibri" pitchFamily="34" charset="-120"/>
              </a:rPr>
              <a:t>The read-model ships in the bundle, so NoSQL was never needed. Gateway was enabled once and disabled: with no routes it intercepted all traffic.</a:t>
            </a:r>
            <a:endParaRPr lang="en-US" sz="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ivate/tmp/claude-501/-Users-adarsh-Desktop-Projects-KadiLabs/1a0b3114-7a5c-4b08-a5d4-f9d8371eeea4/scratchpad/deck/bg-content.png"/>
          <p:cNvPicPr>
            <a:picLocks noChangeAspect="1"/>
          </p:cNvPicPr>
          <p:nvPr/>
        </p:nvPicPr>
        <p:blipFill>
          <a:blip r:embed="rId3"/>
          <a:stretch>
            <a:fillRect/>
          </a:stretch>
        </p:blipFill>
        <p:spPr>
          <a:xfrm>
            <a:off x="0" y="0"/>
            <a:ext cx="9144000" cy="5143500"/>
          </a:xfrm>
          <a:prstGeom prst="rect">
            <a:avLst/>
          </a:prstGeom>
        </p:spPr>
      </p:pic>
      <p:sp>
        <p:nvSpPr>
          <p:cNvPr id="3" name="Text 0"/>
          <p:cNvSpPr txBox="1"/>
          <p:nvPr/>
        </p:nvSpPr>
        <p:spPr>
          <a:xfrm>
            <a:off x="384048" y="603504"/>
            <a:ext cx="8375904" cy="365760"/>
          </a:xfrm>
          <a:prstGeom prst="rect">
            <a:avLst/>
          </a:prstGeom>
          <a:noFill/>
          <a:ln/>
        </p:spPr>
        <p:txBody>
          <a:bodyPr wrap="square" lIns="0" tIns="0" rIns="0" bIns="0" rtlCol="0" anchor="t"/>
          <a:lstStyle/>
          <a:p>
            <a:pPr marL="0" indent="0">
              <a:buNone/>
            </a:pPr>
            <a:r>
              <a:rPr lang="en-US" sz="2100" b="1" dirty="0">
                <a:solidFill>
                  <a:srgbClr val="0F2F44"/>
                </a:solidFill>
                <a:latin typeface="Calibri" pitchFamily="34" charset="0"/>
                <a:ea typeface="Calibri" pitchFamily="34" charset="-122"/>
                <a:cs typeface="Calibri" pitchFamily="34" charset="-120"/>
              </a:rPr>
              <a:t>Estimated implementation cost</a:t>
            </a:r>
            <a:endParaRPr lang="en-US" sz="2100" dirty="0"/>
          </a:p>
        </p:txBody>
      </p:sp>
      <p:sp>
        <p:nvSpPr>
          <p:cNvPr id="4" name="Text 1"/>
          <p:cNvSpPr txBox="1"/>
          <p:nvPr/>
        </p:nvSpPr>
        <p:spPr>
          <a:xfrm>
            <a:off x="384048" y="969264"/>
            <a:ext cx="8375904" cy="237744"/>
          </a:xfrm>
          <a:prstGeom prst="rect">
            <a:avLst/>
          </a:prstGeom>
          <a:noFill/>
          <a:ln/>
        </p:spPr>
        <p:txBody>
          <a:bodyPr wrap="square" lIns="0" tIns="0" rIns="0" bIns="0" rtlCol="0" anchor="t"/>
          <a:lstStyle/>
          <a:p>
            <a:pPr marL="0" indent="0">
              <a:buNone/>
            </a:pPr>
            <a:r>
              <a:rPr lang="en-US" sz="1100" dirty="0">
                <a:solidFill>
                  <a:srgbClr val="5B6B7C"/>
                </a:solidFill>
                <a:latin typeface="Calibri" pitchFamily="34" charset="0"/>
                <a:ea typeface="Calibri" pitchFamily="34" charset="-122"/>
                <a:cs typeface="Calibri" pitchFamily="34" charset="-120"/>
              </a:rPr>
              <a:t>Free-tier today; the shape of a state-wide rollout</a:t>
            </a:r>
            <a:endParaRPr lang="en-US" sz="1100" dirty="0"/>
          </a:p>
        </p:txBody>
      </p:sp>
      <p:sp>
        <p:nvSpPr>
          <p:cNvPr id="5" name="Shape 2"/>
          <p:cNvSpPr/>
          <p:nvPr/>
        </p:nvSpPr>
        <p:spPr>
          <a:xfrm>
            <a:off x="384048" y="1261872"/>
            <a:ext cx="5760720" cy="2834640"/>
          </a:xfrm>
          <a:prstGeom prst="roundRect">
            <a:avLst>
              <a:gd name="adj" fmla="val 1935"/>
            </a:avLst>
          </a:prstGeom>
          <a:solidFill>
            <a:srgbClr val="FFFFFF"/>
          </a:solidFill>
          <a:ln w="9525">
            <a:solidFill>
              <a:srgbClr val="DCE3EC"/>
            </a:solidFill>
            <a:prstDash val="solid"/>
          </a:ln>
        </p:spPr>
        <p:txBody>
          <a:bodyPr/>
          <a:lstStyle/>
          <a:p>
            <a:endParaRPr lang="en-US"/>
          </a:p>
        </p:txBody>
      </p:sp>
      <p:sp>
        <p:nvSpPr>
          <p:cNvPr id="6" name="Text 3"/>
          <p:cNvSpPr txBox="1"/>
          <p:nvPr/>
        </p:nvSpPr>
        <p:spPr>
          <a:xfrm>
            <a:off x="475488" y="1316736"/>
            <a:ext cx="1389888" cy="164592"/>
          </a:xfrm>
          <a:prstGeom prst="rect">
            <a:avLst/>
          </a:prstGeom>
          <a:noFill/>
          <a:ln/>
        </p:spPr>
        <p:txBody>
          <a:bodyPr wrap="square" lIns="0" tIns="0" rIns="0" bIns="0" rtlCol="0" anchor="ctr"/>
          <a:lstStyle/>
          <a:p>
            <a:pPr marL="0" indent="0">
              <a:buNone/>
            </a:pPr>
            <a:r>
              <a:rPr lang="en-US" sz="1000" b="1" kern="0" spc="40" dirty="0">
                <a:solidFill>
                  <a:srgbClr val="8A98A8"/>
                </a:solidFill>
                <a:latin typeface="Calibri" pitchFamily="34" charset="0"/>
                <a:ea typeface="Calibri" pitchFamily="34" charset="-122"/>
                <a:cs typeface="Calibri" pitchFamily="34" charset="-120"/>
              </a:rPr>
              <a:t>SERVICE</a:t>
            </a:r>
            <a:endParaRPr lang="en-US" sz="1000" dirty="0"/>
          </a:p>
        </p:txBody>
      </p:sp>
      <p:sp>
        <p:nvSpPr>
          <p:cNvPr id="7" name="Text 4"/>
          <p:cNvSpPr txBox="1"/>
          <p:nvPr/>
        </p:nvSpPr>
        <p:spPr>
          <a:xfrm>
            <a:off x="1865376" y="1316736"/>
            <a:ext cx="1700784" cy="164592"/>
          </a:xfrm>
          <a:prstGeom prst="rect">
            <a:avLst/>
          </a:prstGeom>
          <a:noFill/>
          <a:ln/>
        </p:spPr>
        <p:txBody>
          <a:bodyPr wrap="square" lIns="0" tIns="0" rIns="0" bIns="0" rtlCol="0" anchor="ctr"/>
          <a:lstStyle/>
          <a:p>
            <a:pPr marL="0" indent="0">
              <a:buNone/>
            </a:pPr>
            <a:r>
              <a:rPr lang="en-US" sz="1000" b="1" kern="0" spc="40" dirty="0">
                <a:solidFill>
                  <a:srgbClr val="8A98A8"/>
                </a:solidFill>
                <a:latin typeface="Calibri" pitchFamily="34" charset="0"/>
                <a:ea typeface="Calibri" pitchFamily="34" charset="-122"/>
                <a:cs typeface="Calibri" pitchFamily="34" charset="-120"/>
              </a:rPr>
              <a:t>PROJECT USAGE</a:t>
            </a:r>
            <a:endParaRPr lang="en-US" sz="1000" dirty="0"/>
          </a:p>
        </p:txBody>
      </p:sp>
      <p:sp>
        <p:nvSpPr>
          <p:cNvPr id="8" name="Text 5"/>
          <p:cNvSpPr txBox="1"/>
          <p:nvPr/>
        </p:nvSpPr>
        <p:spPr>
          <a:xfrm>
            <a:off x="3566160" y="1316736"/>
            <a:ext cx="841248" cy="164592"/>
          </a:xfrm>
          <a:prstGeom prst="rect">
            <a:avLst/>
          </a:prstGeom>
          <a:noFill/>
          <a:ln/>
        </p:spPr>
        <p:txBody>
          <a:bodyPr wrap="square" lIns="0" tIns="0" rIns="0" bIns="0" rtlCol="0" anchor="ctr"/>
          <a:lstStyle/>
          <a:p>
            <a:pPr marL="0" indent="0">
              <a:buNone/>
            </a:pPr>
            <a:r>
              <a:rPr lang="en-US" sz="900" b="1" kern="0" spc="40" dirty="0">
                <a:solidFill>
                  <a:srgbClr val="8A98A8"/>
                </a:solidFill>
                <a:latin typeface="Calibri" pitchFamily="34" charset="0"/>
                <a:ea typeface="Calibri" pitchFamily="34" charset="-122"/>
                <a:cs typeface="Calibri" pitchFamily="34" charset="-120"/>
              </a:rPr>
              <a:t>COST TODAY</a:t>
            </a:r>
            <a:endParaRPr lang="en-US" sz="900" dirty="0"/>
          </a:p>
        </p:txBody>
      </p:sp>
      <p:sp>
        <p:nvSpPr>
          <p:cNvPr id="9" name="Text 6"/>
          <p:cNvSpPr txBox="1"/>
          <p:nvPr/>
        </p:nvSpPr>
        <p:spPr>
          <a:xfrm>
            <a:off x="4407408" y="1316736"/>
            <a:ext cx="1700784" cy="164592"/>
          </a:xfrm>
          <a:prstGeom prst="rect">
            <a:avLst/>
          </a:prstGeom>
          <a:noFill/>
          <a:ln/>
        </p:spPr>
        <p:txBody>
          <a:bodyPr wrap="square" lIns="0" tIns="0" rIns="0" bIns="0" rtlCol="0" anchor="ctr"/>
          <a:lstStyle/>
          <a:p>
            <a:pPr marL="0" indent="0">
              <a:buNone/>
            </a:pPr>
            <a:r>
              <a:rPr lang="en-US" sz="900" b="1" kern="0" spc="40" dirty="0">
                <a:solidFill>
                  <a:srgbClr val="8A98A8"/>
                </a:solidFill>
                <a:latin typeface="Calibri" pitchFamily="34" charset="0"/>
                <a:ea typeface="Calibri" pitchFamily="34" charset="-122"/>
                <a:cs typeface="Calibri" pitchFamily="34" charset="-120"/>
              </a:rPr>
              <a:t>AT PRODUCTION SCALE</a:t>
            </a:r>
            <a:endParaRPr lang="en-US" sz="900" dirty="0"/>
          </a:p>
        </p:txBody>
      </p:sp>
      <p:sp>
        <p:nvSpPr>
          <p:cNvPr id="10" name="Shape 7"/>
          <p:cNvSpPr/>
          <p:nvPr/>
        </p:nvSpPr>
        <p:spPr>
          <a:xfrm>
            <a:off x="438912" y="1499616"/>
            <a:ext cx="5650992" cy="338328"/>
          </a:xfrm>
          <a:prstGeom prst="rect">
            <a:avLst/>
          </a:prstGeom>
          <a:solidFill>
            <a:srgbClr val="F4F6F9"/>
          </a:solidFill>
          <a:ln w="12700">
            <a:solidFill>
              <a:srgbClr val="F4F6F9"/>
            </a:solidFill>
            <a:prstDash val="solid"/>
          </a:ln>
        </p:spPr>
        <p:txBody>
          <a:bodyPr/>
          <a:lstStyle/>
          <a:p>
            <a:endParaRPr lang="en-US" sz="800"/>
          </a:p>
        </p:txBody>
      </p:sp>
      <p:sp>
        <p:nvSpPr>
          <p:cNvPr id="11" name="Text 8"/>
          <p:cNvSpPr txBox="1"/>
          <p:nvPr/>
        </p:nvSpPr>
        <p:spPr>
          <a:xfrm>
            <a:off x="475488" y="1536192"/>
            <a:ext cx="1316736" cy="292608"/>
          </a:xfrm>
          <a:prstGeom prst="rect">
            <a:avLst/>
          </a:prstGeom>
          <a:noFill/>
          <a:ln/>
        </p:spPr>
        <p:txBody>
          <a:bodyPr wrap="square" lIns="0" tIns="0" rIns="0" bIns="0" rtlCol="0" anchor="ctr"/>
          <a:lstStyle/>
          <a:p>
            <a:pPr marL="0" indent="0">
              <a:lnSpc>
                <a:spcPct val="93000"/>
              </a:lnSpc>
              <a:buNone/>
            </a:pPr>
            <a:r>
              <a:rPr lang="en-US" sz="800" b="1" dirty="0">
                <a:solidFill>
                  <a:srgbClr val="0F2F44"/>
                </a:solidFill>
                <a:latin typeface="Calibri" pitchFamily="34" charset="0"/>
                <a:ea typeface="Calibri" pitchFamily="34" charset="-122"/>
                <a:cs typeface="Calibri" pitchFamily="34" charset="-120"/>
              </a:rPr>
              <a:t>Web Client Hosting</a:t>
            </a:r>
            <a:endParaRPr lang="en-US" sz="800" dirty="0"/>
          </a:p>
        </p:txBody>
      </p:sp>
      <p:sp>
        <p:nvSpPr>
          <p:cNvPr id="12" name="Text 9"/>
          <p:cNvSpPr txBox="1"/>
          <p:nvPr/>
        </p:nvSpPr>
        <p:spPr>
          <a:xfrm>
            <a:off x="1865376" y="1536192"/>
            <a:ext cx="1627632"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SPA + assets (~2 MB)</a:t>
            </a:r>
            <a:endParaRPr lang="en-US" sz="800" dirty="0"/>
          </a:p>
        </p:txBody>
      </p:sp>
      <p:sp>
        <p:nvSpPr>
          <p:cNvPr id="13" name="Text 10"/>
          <p:cNvSpPr txBox="1"/>
          <p:nvPr/>
        </p:nvSpPr>
        <p:spPr>
          <a:xfrm>
            <a:off x="3566160" y="1536192"/>
            <a:ext cx="768096" cy="292608"/>
          </a:xfrm>
          <a:prstGeom prst="rect">
            <a:avLst/>
          </a:prstGeom>
          <a:noFill/>
          <a:ln/>
        </p:spPr>
        <p:txBody>
          <a:bodyPr wrap="square" lIns="0" tIns="0" rIns="0" bIns="0" rtlCol="0" anchor="ctr"/>
          <a:lstStyle/>
          <a:p>
            <a:pPr marL="0" indent="0">
              <a:lnSpc>
                <a:spcPct val="93000"/>
              </a:lnSpc>
              <a:buNone/>
            </a:pPr>
            <a:r>
              <a:rPr lang="en-US" sz="800" dirty="0">
                <a:solidFill>
                  <a:srgbClr val="2FA8A0"/>
                </a:solidFill>
                <a:latin typeface="Calibri" pitchFamily="34" charset="0"/>
                <a:ea typeface="Calibri" pitchFamily="34" charset="-122"/>
                <a:cs typeface="Calibri" pitchFamily="34" charset="-120"/>
              </a:rPr>
              <a:t>Free tier</a:t>
            </a:r>
            <a:endParaRPr lang="en-US" sz="800" dirty="0"/>
          </a:p>
        </p:txBody>
      </p:sp>
      <p:sp>
        <p:nvSpPr>
          <p:cNvPr id="14" name="Text 11"/>
          <p:cNvSpPr txBox="1"/>
          <p:nvPr/>
        </p:nvSpPr>
        <p:spPr>
          <a:xfrm>
            <a:off x="4407408" y="1536192"/>
            <a:ext cx="1627632"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Static hosting, negligible at KSP scale</a:t>
            </a:r>
            <a:endParaRPr lang="en-US" sz="800" dirty="0"/>
          </a:p>
        </p:txBody>
      </p:sp>
      <p:sp>
        <p:nvSpPr>
          <p:cNvPr id="15" name="Text 12"/>
          <p:cNvSpPr txBox="1"/>
          <p:nvPr/>
        </p:nvSpPr>
        <p:spPr>
          <a:xfrm>
            <a:off x="475488" y="1888236"/>
            <a:ext cx="1316736" cy="292608"/>
          </a:xfrm>
          <a:prstGeom prst="rect">
            <a:avLst/>
          </a:prstGeom>
          <a:noFill/>
          <a:ln/>
        </p:spPr>
        <p:txBody>
          <a:bodyPr wrap="square" lIns="0" tIns="0" rIns="0" bIns="0" rtlCol="0" anchor="ctr"/>
          <a:lstStyle/>
          <a:p>
            <a:pPr marL="0" indent="0">
              <a:lnSpc>
                <a:spcPct val="93000"/>
              </a:lnSpc>
              <a:buNone/>
            </a:pPr>
            <a:r>
              <a:rPr lang="en-US" sz="800" b="1" dirty="0">
                <a:solidFill>
                  <a:srgbClr val="0F2F44"/>
                </a:solidFill>
                <a:latin typeface="Calibri" pitchFamily="34" charset="0"/>
                <a:ea typeface="Calibri" pitchFamily="34" charset="-122"/>
                <a:cs typeface="Calibri" pitchFamily="34" charset="-120"/>
              </a:rPr>
              <a:t>Serverless Functions</a:t>
            </a:r>
            <a:endParaRPr lang="en-US" sz="800" dirty="0"/>
          </a:p>
        </p:txBody>
      </p:sp>
      <p:sp>
        <p:nvSpPr>
          <p:cNvPr id="16" name="Text 13"/>
          <p:cNvSpPr txBox="1"/>
          <p:nvPr/>
        </p:nvSpPr>
        <p:spPr>
          <a:xfrm>
            <a:off x="1865376" y="1888236"/>
            <a:ext cx="1627632"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2 functions · 512 MB · ~450k invocations/mo</a:t>
            </a:r>
            <a:endParaRPr lang="en-US" sz="800" dirty="0"/>
          </a:p>
        </p:txBody>
      </p:sp>
      <p:sp>
        <p:nvSpPr>
          <p:cNvPr id="17" name="Text 14"/>
          <p:cNvSpPr txBox="1"/>
          <p:nvPr/>
        </p:nvSpPr>
        <p:spPr>
          <a:xfrm>
            <a:off x="3566160" y="1888236"/>
            <a:ext cx="768096" cy="292608"/>
          </a:xfrm>
          <a:prstGeom prst="rect">
            <a:avLst/>
          </a:prstGeom>
          <a:noFill/>
          <a:ln/>
        </p:spPr>
        <p:txBody>
          <a:bodyPr wrap="square" lIns="0" tIns="0" rIns="0" bIns="0" rtlCol="0" anchor="ctr"/>
          <a:lstStyle/>
          <a:p>
            <a:pPr marL="0" indent="0">
              <a:lnSpc>
                <a:spcPct val="93000"/>
              </a:lnSpc>
              <a:buNone/>
            </a:pPr>
            <a:r>
              <a:rPr lang="en-US" sz="800" dirty="0">
                <a:solidFill>
                  <a:srgbClr val="2FA8A0"/>
                </a:solidFill>
                <a:latin typeface="Calibri" pitchFamily="34" charset="0"/>
                <a:ea typeface="Calibri" pitchFamily="34" charset="-122"/>
                <a:cs typeface="Calibri" pitchFamily="34" charset="-120"/>
              </a:rPr>
              <a:t>Free tier</a:t>
            </a:r>
            <a:endParaRPr lang="en-US" sz="800" dirty="0"/>
          </a:p>
        </p:txBody>
      </p:sp>
      <p:sp>
        <p:nvSpPr>
          <p:cNvPr id="18" name="Text 15"/>
          <p:cNvSpPr txBox="1"/>
          <p:nvPr/>
        </p:nvSpPr>
        <p:spPr>
          <a:xfrm>
            <a:off x="4407408" y="1888236"/>
            <a:ext cx="1627632"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Scales on invocations; ~₹0.30 per 1k beyond free</a:t>
            </a:r>
            <a:endParaRPr lang="en-US" sz="800" dirty="0"/>
          </a:p>
        </p:txBody>
      </p:sp>
      <p:sp>
        <p:nvSpPr>
          <p:cNvPr id="19" name="Shape 16"/>
          <p:cNvSpPr/>
          <p:nvPr/>
        </p:nvSpPr>
        <p:spPr>
          <a:xfrm>
            <a:off x="438912" y="2203704"/>
            <a:ext cx="5650992" cy="338328"/>
          </a:xfrm>
          <a:prstGeom prst="rect">
            <a:avLst/>
          </a:prstGeom>
          <a:solidFill>
            <a:srgbClr val="F4F6F9"/>
          </a:solidFill>
          <a:ln w="12700">
            <a:solidFill>
              <a:srgbClr val="F4F6F9"/>
            </a:solidFill>
            <a:prstDash val="solid"/>
          </a:ln>
        </p:spPr>
        <p:txBody>
          <a:bodyPr/>
          <a:lstStyle/>
          <a:p>
            <a:endParaRPr lang="en-US" sz="800"/>
          </a:p>
        </p:txBody>
      </p:sp>
      <p:sp>
        <p:nvSpPr>
          <p:cNvPr id="20" name="Text 17"/>
          <p:cNvSpPr txBox="1"/>
          <p:nvPr/>
        </p:nvSpPr>
        <p:spPr>
          <a:xfrm>
            <a:off x="475488" y="2240280"/>
            <a:ext cx="1316736" cy="292608"/>
          </a:xfrm>
          <a:prstGeom prst="rect">
            <a:avLst/>
          </a:prstGeom>
          <a:noFill/>
          <a:ln/>
        </p:spPr>
        <p:txBody>
          <a:bodyPr wrap="square" lIns="0" tIns="0" rIns="0" bIns="0" rtlCol="0" anchor="ctr"/>
          <a:lstStyle/>
          <a:p>
            <a:pPr marL="0" indent="0">
              <a:lnSpc>
                <a:spcPct val="93000"/>
              </a:lnSpc>
              <a:buNone/>
            </a:pPr>
            <a:r>
              <a:rPr lang="en-US" sz="800" b="1" dirty="0">
                <a:solidFill>
                  <a:srgbClr val="0F2F44"/>
                </a:solidFill>
                <a:latin typeface="Calibri" pitchFamily="34" charset="0"/>
                <a:ea typeface="Calibri" pitchFamily="34" charset="-122"/>
                <a:cs typeface="Calibri" pitchFamily="34" charset="-120"/>
              </a:rPr>
              <a:t>AppSail</a:t>
            </a:r>
            <a:endParaRPr lang="en-US" sz="800" dirty="0"/>
          </a:p>
        </p:txBody>
      </p:sp>
      <p:sp>
        <p:nvSpPr>
          <p:cNvPr id="21" name="Text 18"/>
          <p:cNvSpPr txBox="1"/>
          <p:nvPr/>
        </p:nvSpPr>
        <p:spPr>
          <a:xfrm>
            <a:off x="1865376" y="2240280"/>
            <a:ext cx="1627632"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1 service · stdlib-only build</a:t>
            </a:r>
            <a:endParaRPr lang="en-US" sz="800" dirty="0"/>
          </a:p>
        </p:txBody>
      </p:sp>
      <p:sp>
        <p:nvSpPr>
          <p:cNvPr id="22" name="Text 19"/>
          <p:cNvSpPr txBox="1"/>
          <p:nvPr/>
        </p:nvSpPr>
        <p:spPr>
          <a:xfrm>
            <a:off x="3566160" y="2240280"/>
            <a:ext cx="768096" cy="292608"/>
          </a:xfrm>
          <a:prstGeom prst="rect">
            <a:avLst/>
          </a:prstGeom>
          <a:noFill/>
          <a:ln/>
        </p:spPr>
        <p:txBody>
          <a:bodyPr wrap="square" lIns="0" tIns="0" rIns="0" bIns="0" rtlCol="0" anchor="ctr"/>
          <a:lstStyle/>
          <a:p>
            <a:pPr marL="0" indent="0">
              <a:lnSpc>
                <a:spcPct val="93000"/>
              </a:lnSpc>
              <a:buNone/>
            </a:pPr>
            <a:r>
              <a:rPr lang="en-US" sz="800" dirty="0">
                <a:solidFill>
                  <a:srgbClr val="2FA8A0"/>
                </a:solidFill>
                <a:latin typeface="Calibri" pitchFamily="34" charset="0"/>
                <a:ea typeface="Calibri" pitchFamily="34" charset="-122"/>
                <a:cs typeface="Calibri" pitchFamily="34" charset="-120"/>
              </a:rPr>
              <a:t>Free tier</a:t>
            </a:r>
            <a:endParaRPr lang="en-US" sz="800" dirty="0"/>
          </a:p>
        </p:txBody>
      </p:sp>
      <p:sp>
        <p:nvSpPr>
          <p:cNvPr id="23" name="Text 20"/>
          <p:cNvSpPr txBox="1"/>
          <p:nvPr/>
        </p:nvSpPr>
        <p:spPr>
          <a:xfrm>
            <a:off x="4407408" y="2240280"/>
            <a:ext cx="1627632"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Analytics on demand · ~135 ms per call</a:t>
            </a:r>
            <a:endParaRPr lang="en-US" sz="800" dirty="0"/>
          </a:p>
        </p:txBody>
      </p:sp>
      <p:sp>
        <p:nvSpPr>
          <p:cNvPr id="24" name="Text 21"/>
          <p:cNvSpPr txBox="1"/>
          <p:nvPr/>
        </p:nvSpPr>
        <p:spPr>
          <a:xfrm>
            <a:off x="475488" y="2592324"/>
            <a:ext cx="1316736" cy="292608"/>
          </a:xfrm>
          <a:prstGeom prst="rect">
            <a:avLst/>
          </a:prstGeom>
          <a:noFill/>
          <a:ln/>
        </p:spPr>
        <p:txBody>
          <a:bodyPr wrap="square" lIns="0" tIns="0" rIns="0" bIns="0" rtlCol="0" anchor="ctr"/>
          <a:lstStyle/>
          <a:p>
            <a:pPr marL="0" indent="0">
              <a:lnSpc>
                <a:spcPct val="93000"/>
              </a:lnSpc>
              <a:buNone/>
            </a:pPr>
            <a:r>
              <a:rPr lang="en-US" sz="800" b="1" dirty="0">
                <a:solidFill>
                  <a:srgbClr val="0F2F44"/>
                </a:solidFill>
                <a:latin typeface="Calibri" pitchFamily="34" charset="0"/>
                <a:ea typeface="Calibri" pitchFamily="34" charset="-122"/>
                <a:cs typeface="Calibri" pitchFamily="34" charset="-120"/>
              </a:rPr>
              <a:t>Data Store</a:t>
            </a:r>
            <a:endParaRPr lang="en-US" sz="800" dirty="0"/>
          </a:p>
        </p:txBody>
      </p:sp>
      <p:sp>
        <p:nvSpPr>
          <p:cNvPr id="25" name="Text 22"/>
          <p:cNvSpPr txBox="1"/>
          <p:nvPr/>
        </p:nvSpPr>
        <p:spPr>
          <a:xfrm>
            <a:off x="1865376" y="2592324"/>
            <a:ext cx="1627632"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19 tables · 59,985 FIRs · ~180 MB</a:t>
            </a:r>
            <a:endParaRPr lang="en-US" sz="800" dirty="0"/>
          </a:p>
        </p:txBody>
      </p:sp>
      <p:sp>
        <p:nvSpPr>
          <p:cNvPr id="26" name="Text 23"/>
          <p:cNvSpPr txBox="1"/>
          <p:nvPr/>
        </p:nvSpPr>
        <p:spPr>
          <a:xfrm>
            <a:off x="3566160" y="2592324"/>
            <a:ext cx="768096" cy="292608"/>
          </a:xfrm>
          <a:prstGeom prst="rect">
            <a:avLst/>
          </a:prstGeom>
          <a:noFill/>
          <a:ln/>
        </p:spPr>
        <p:txBody>
          <a:bodyPr wrap="square" lIns="0" tIns="0" rIns="0" bIns="0" rtlCol="0" anchor="ctr"/>
          <a:lstStyle/>
          <a:p>
            <a:pPr marL="0" indent="0">
              <a:lnSpc>
                <a:spcPct val="93000"/>
              </a:lnSpc>
              <a:buNone/>
            </a:pPr>
            <a:r>
              <a:rPr lang="en-US" sz="800" dirty="0">
                <a:solidFill>
                  <a:srgbClr val="2FA8A0"/>
                </a:solidFill>
                <a:latin typeface="Calibri" pitchFamily="34" charset="0"/>
                <a:ea typeface="Calibri" pitchFamily="34" charset="-122"/>
                <a:cs typeface="Calibri" pitchFamily="34" charset="-120"/>
              </a:rPr>
              <a:t>Free tier</a:t>
            </a:r>
            <a:endParaRPr lang="en-US" sz="800" dirty="0"/>
          </a:p>
        </p:txBody>
      </p:sp>
      <p:sp>
        <p:nvSpPr>
          <p:cNvPr id="27" name="Text 24"/>
          <p:cNvSpPr txBox="1"/>
          <p:nvPr/>
        </p:nvSpPr>
        <p:spPr>
          <a:xfrm>
            <a:off x="4407408" y="2592324"/>
            <a:ext cx="1627632"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Real KSP volume ≈ 10 M FIRs — paid storage tier</a:t>
            </a:r>
            <a:endParaRPr lang="en-US" sz="800" dirty="0"/>
          </a:p>
        </p:txBody>
      </p:sp>
      <p:sp>
        <p:nvSpPr>
          <p:cNvPr id="28" name="Shape 25"/>
          <p:cNvSpPr/>
          <p:nvPr/>
        </p:nvSpPr>
        <p:spPr>
          <a:xfrm>
            <a:off x="438912" y="2907792"/>
            <a:ext cx="5650992" cy="338328"/>
          </a:xfrm>
          <a:prstGeom prst="rect">
            <a:avLst/>
          </a:prstGeom>
          <a:solidFill>
            <a:srgbClr val="F4F6F9"/>
          </a:solidFill>
          <a:ln w="12700">
            <a:solidFill>
              <a:srgbClr val="F4F6F9"/>
            </a:solidFill>
            <a:prstDash val="solid"/>
          </a:ln>
        </p:spPr>
        <p:txBody>
          <a:bodyPr/>
          <a:lstStyle/>
          <a:p>
            <a:endParaRPr lang="en-US" sz="800"/>
          </a:p>
        </p:txBody>
      </p:sp>
      <p:sp>
        <p:nvSpPr>
          <p:cNvPr id="29" name="Text 26"/>
          <p:cNvSpPr txBox="1"/>
          <p:nvPr/>
        </p:nvSpPr>
        <p:spPr>
          <a:xfrm>
            <a:off x="475488" y="2944368"/>
            <a:ext cx="1316736" cy="292608"/>
          </a:xfrm>
          <a:prstGeom prst="rect">
            <a:avLst/>
          </a:prstGeom>
          <a:noFill/>
          <a:ln/>
        </p:spPr>
        <p:txBody>
          <a:bodyPr wrap="square" lIns="0" tIns="0" rIns="0" bIns="0" rtlCol="0" anchor="ctr"/>
          <a:lstStyle/>
          <a:p>
            <a:pPr marL="0" indent="0">
              <a:lnSpc>
                <a:spcPct val="93000"/>
              </a:lnSpc>
              <a:buNone/>
            </a:pPr>
            <a:r>
              <a:rPr lang="en-US" sz="800" b="1" dirty="0">
                <a:solidFill>
                  <a:srgbClr val="0F2F44"/>
                </a:solidFill>
                <a:latin typeface="Calibri" pitchFamily="34" charset="0"/>
                <a:ea typeface="Calibri" pitchFamily="34" charset="-122"/>
                <a:cs typeface="Calibri" pitchFamily="34" charset="-120"/>
              </a:rPr>
              <a:t>Stratus + File Store</a:t>
            </a:r>
            <a:endParaRPr lang="en-US" sz="800" dirty="0"/>
          </a:p>
        </p:txBody>
      </p:sp>
      <p:sp>
        <p:nvSpPr>
          <p:cNvPr id="30" name="Text 27"/>
          <p:cNvSpPr txBox="1"/>
          <p:nvPr/>
        </p:nvSpPr>
        <p:spPr>
          <a:xfrm>
            <a:off x="1865376" y="2944368"/>
            <a:ext cx="1627632"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~8 MB import objects + retained pages</a:t>
            </a:r>
            <a:endParaRPr lang="en-US" sz="800" dirty="0"/>
          </a:p>
        </p:txBody>
      </p:sp>
      <p:sp>
        <p:nvSpPr>
          <p:cNvPr id="31" name="Text 28"/>
          <p:cNvSpPr txBox="1"/>
          <p:nvPr/>
        </p:nvSpPr>
        <p:spPr>
          <a:xfrm>
            <a:off x="3566160" y="2944368"/>
            <a:ext cx="768096" cy="292608"/>
          </a:xfrm>
          <a:prstGeom prst="rect">
            <a:avLst/>
          </a:prstGeom>
          <a:noFill/>
          <a:ln/>
        </p:spPr>
        <p:txBody>
          <a:bodyPr wrap="square" lIns="0" tIns="0" rIns="0" bIns="0" rtlCol="0" anchor="ctr"/>
          <a:lstStyle/>
          <a:p>
            <a:pPr marL="0" indent="0">
              <a:lnSpc>
                <a:spcPct val="93000"/>
              </a:lnSpc>
              <a:buNone/>
            </a:pPr>
            <a:r>
              <a:rPr lang="en-US" sz="800" dirty="0">
                <a:solidFill>
                  <a:srgbClr val="2FA8A0"/>
                </a:solidFill>
                <a:latin typeface="Calibri" pitchFamily="34" charset="0"/>
                <a:ea typeface="Calibri" pitchFamily="34" charset="-122"/>
                <a:cs typeface="Calibri" pitchFamily="34" charset="-120"/>
              </a:rPr>
              <a:t>Free tier</a:t>
            </a:r>
            <a:endParaRPr lang="en-US" sz="800" dirty="0"/>
          </a:p>
        </p:txBody>
      </p:sp>
      <p:sp>
        <p:nvSpPr>
          <p:cNvPr id="32" name="Text 29"/>
          <p:cNvSpPr txBox="1"/>
          <p:nvPr/>
        </p:nvSpPr>
        <p:spPr>
          <a:xfrm>
            <a:off x="4407408" y="2944368"/>
            <a:ext cx="1627632"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Grows with retained evidence, opt-in only</a:t>
            </a:r>
            <a:endParaRPr lang="en-US" sz="800" dirty="0"/>
          </a:p>
        </p:txBody>
      </p:sp>
      <p:sp>
        <p:nvSpPr>
          <p:cNvPr id="33" name="Text 30"/>
          <p:cNvSpPr txBox="1"/>
          <p:nvPr/>
        </p:nvSpPr>
        <p:spPr>
          <a:xfrm>
            <a:off x="475488" y="3296412"/>
            <a:ext cx="1316736" cy="292608"/>
          </a:xfrm>
          <a:prstGeom prst="rect">
            <a:avLst/>
          </a:prstGeom>
          <a:noFill/>
          <a:ln/>
        </p:spPr>
        <p:txBody>
          <a:bodyPr wrap="square" lIns="0" tIns="0" rIns="0" bIns="0" rtlCol="0" anchor="ctr"/>
          <a:lstStyle/>
          <a:p>
            <a:pPr marL="0" indent="0">
              <a:lnSpc>
                <a:spcPct val="93000"/>
              </a:lnSpc>
              <a:buNone/>
            </a:pPr>
            <a:r>
              <a:rPr lang="en-US" sz="800" b="1" dirty="0">
                <a:solidFill>
                  <a:srgbClr val="0F2F44"/>
                </a:solidFill>
                <a:latin typeface="Calibri" pitchFamily="34" charset="0"/>
                <a:ea typeface="Calibri" pitchFamily="34" charset="-122"/>
                <a:cs typeface="Calibri" pitchFamily="34" charset="-120"/>
              </a:rPr>
              <a:t>Job + Cron</a:t>
            </a:r>
            <a:endParaRPr lang="en-US" sz="800" dirty="0"/>
          </a:p>
        </p:txBody>
      </p:sp>
      <p:sp>
        <p:nvSpPr>
          <p:cNvPr id="34" name="Text 31"/>
          <p:cNvSpPr txBox="1"/>
          <p:nvPr/>
        </p:nvSpPr>
        <p:spPr>
          <a:xfrm>
            <a:off x="1865376" y="3296412"/>
            <a:ext cx="1627632"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1 nightly run · 24.6 s</a:t>
            </a:r>
            <a:endParaRPr lang="en-US" sz="800" dirty="0"/>
          </a:p>
        </p:txBody>
      </p:sp>
      <p:sp>
        <p:nvSpPr>
          <p:cNvPr id="35" name="Text 32"/>
          <p:cNvSpPr txBox="1"/>
          <p:nvPr/>
        </p:nvSpPr>
        <p:spPr>
          <a:xfrm>
            <a:off x="3566160" y="3296412"/>
            <a:ext cx="768096" cy="292608"/>
          </a:xfrm>
          <a:prstGeom prst="rect">
            <a:avLst/>
          </a:prstGeom>
          <a:noFill/>
          <a:ln/>
        </p:spPr>
        <p:txBody>
          <a:bodyPr wrap="square" lIns="0" tIns="0" rIns="0" bIns="0" rtlCol="0" anchor="ctr"/>
          <a:lstStyle/>
          <a:p>
            <a:pPr marL="0" indent="0">
              <a:lnSpc>
                <a:spcPct val="93000"/>
              </a:lnSpc>
              <a:buNone/>
            </a:pPr>
            <a:r>
              <a:rPr lang="en-US" sz="800" dirty="0">
                <a:solidFill>
                  <a:srgbClr val="2FA8A0"/>
                </a:solidFill>
                <a:latin typeface="Calibri" pitchFamily="34" charset="0"/>
                <a:ea typeface="Calibri" pitchFamily="34" charset="-122"/>
                <a:cs typeface="Calibri" pitchFamily="34" charset="-120"/>
              </a:rPr>
              <a:t>Free tier</a:t>
            </a:r>
            <a:endParaRPr lang="en-US" sz="800" dirty="0"/>
          </a:p>
        </p:txBody>
      </p:sp>
      <p:sp>
        <p:nvSpPr>
          <p:cNvPr id="36" name="Text 33"/>
          <p:cNvSpPr txBox="1"/>
          <p:nvPr/>
        </p:nvSpPr>
        <p:spPr>
          <a:xfrm>
            <a:off x="4407408" y="3296412"/>
            <a:ext cx="1627632"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One scheduled execution per day</a:t>
            </a:r>
            <a:endParaRPr lang="en-US" sz="800" dirty="0"/>
          </a:p>
        </p:txBody>
      </p:sp>
      <p:sp>
        <p:nvSpPr>
          <p:cNvPr id="37" name="Shape 34"/>
          <p:cNvSpPr/>
          <p:nvPr/>
        </p:nvSpPr>
        <p:spPr>
          <a:xfrm>
            <a:off x="438912" y="3611880"/>
            <a:ext cx="5650992" cy="338328"/>
          </a:xfrm>
          <a:prstGeom prst="rect">
            <a:avLst/>
          </a:prstGeom>
          <a:solidFill>
            <a:srgbClr val="F4F6F9"/>
          </a:solidFill>
          <a:ln w="12700">
            <a:solidFill>
              <a:srgbClr val="F4F6F9"/>
            </a:solidFill>
            <a:prstDash val="solid"/>
          </a:ln>
        </p:spPr>
        <p:txBody>
          <a:bodyPr/>
          <a:lstStyle/>
          <a:p>
            <a:endParaRPr lang="en-US" sz="800"/>
          </a:p>
        </p:txBody>
      </p:sp>
      <p:sp>
        <p:nvSpPr>
          <p:cNvPr id="38" name="Text 35"/>
          <p:cNvSpPr txBox="1"/>
          <p:nvPr/>
        </p:nvSpPr>
        <p:spPr>
          <a:xfrm>
            <a:off x="475488" y="3648456"/>
            <a:ext cx="1316736" cy="292608"/>
          </a:xfrm>
          <a:prstGeom prst="rect">
            <a:avLst/>
          </a:prstGeom>
          <a:noFill/>
          <a:ln/>
        </p:spPr>
        <p:txBody>
          <a:bodyPr wrap="square" lIns="0" tIns="0" rIns="0" bIns="0" rtlCol="0" anchor="ctr"/>
          <a:lstStyle/>
          <a:p>
            <a:pPr marL="0" indent="0">
              <a:lnSpc>
                <a:spcPct val="93000"/>
              </a:lnSpc>
              <a:buNone/>
            </a:pPr>
            <a:r>
              <a:rPr lang="en-US" sz="800" b="1" dirty="0">
                <a:solidFill>
                  <a:srgbClr val="0F2F44"/>
                </a:solidFill>
                <a:latin typeface="Calibri" pitchFamily="34" charset="0"/>
                <a:ea typeface="Calibri" pitchFamily="34" charset="-122"/>
                <a:cs typeface="Calibri" pitchFamily="34" charset="-120"/>
              </a:rPr>
              <a:t>Zia + QuickML</a:t>
            </a:r>
            <a:endParaRPr lang="en-US" sz="800" dirty="0"/>
          </a:p>
        </p:txBody>
      </p:sp>
      <p:sp>
        <p:nvSpPr>
          <p:cNvPr id="39" name="Text 36"/>
          <p:cNvSpPr txBox="1"/>
          <p:nvPr/>
        </p:nvSpPr>
        <p:spPr>
          <a:xfrm>
            <a:off x="1865376" y="3648456"/>
            <a:ext cx="1627632"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OCR, translate, TTS, STT, LLM, 8 models</a:t>
            </a:r>
            <a:endParaRPr lang="en-US" sz="800" dirty="0"/>
          </a:p>
        </p:txBody>
      </p:sp>
      <p:sp>
        <p:nvSpPr>
          <p:cNvPr id="40" name="Text 37"/>
          <p:cNvSpPr txBox="1"/>
          <p:nvPr/>
        </p:nvSpPr>
        <p:spPr>
          <a:xfrm>
            <a:off x="3566160" y="3648456"/>
            <a:ext cx="768096" cy="292608"/>
          </a:xfrm>
          <a:prstGeom prst="rect">
            <a:avLst/>
          </a:prstGeom>
          <a:noFill/>
          <a:ln/>
        </p:spPr>
        <p:txBody>
          <a:bodyPr wrap="square" lIns="0" tIns="0" rIns="0" bIns="0" rtlCol="0" anchor="ctr"/>
          <a:lstStyle/>
          <a:p>
            <a:pPr marL="0" indent="0">
              <a:lnSpc>
                <a:spcPct val="93000"/>
              </a:lnSpc>
              <a:buNone/>
            </a:pPr>
            <a:r>
              <a:rPr lang="en-US" sz="800" dirty="0">
                <a:solidFill>
                  <a:srgbClr val="2FA8A0"/>
                </a:solidFill>
                <a:latin typeface="Calibri" pitchFamily="34" charset="0"/>
                <a:ea typeface="Calibri" pitchFamily="34" charset="-122"/>
                <a:cs typeface="Calibri" pitchFamily="34" charset="-120"/>
              </a:rPr>
              <a:t>Consumption</a:t>
            </a:r>
            <a:endParaRPr lang="en-US" sz="800" dirty="0"/>
          </a:p>
        </p:txBody>
      </p:sp>
      <p:sp>
        <p:nvSpPr>
          <p:cNvPr id="41" name="Text 38"/>
          <p:cNvSpPr txBox="1"/>
          <p:nvPr/>
        </p:nvSpPr>
        <p:spPr>
          <a:xfrm>
            <a:off x="4407408" y="3648456"/>
            <a:ext cx="1627632" cy="292608"/>
          </a:xfrm>
          <a:prstGeom prst="rect">
            <a:avLst/>
          </a:prstGeom>
          <a:noFill/>
          <a:ln/>
        </p:spPr>
        <p:txBody>
          <a:bodyPr wrap="square" lIns="0" tIns="0" rIns="0" bIns="0" rtlCol="0" anchor="ctr"/>
          <a:lstStyle/>
          <a:p>
            <a:pPr marL="0" indent="0">
              <a:lnSpc>
                <a:spcPct val="93000"/>
              </a:lnSpc>
              <a:buNone/>
            </a:pPr>
            <a:r>
              <a:rPr lang="en-US" sz="800" dirty="0">
                <a:solidFill>
                  <a:srgbClr val="5B6B7C"/>
                </a:solidFill>
                <a:latin typeface="Calibri" pitchFamily="34" charset="0"/>
                <a:ea typeface="Calibri" pitchFamily="34" charset="-122"/>
                <a:cs typeface="Calibri" pitchFamily="34" charset="-120"/>
              </a:rPr>
              <a:t>Priced per call — the only usage-linked line</a:t>
            </a:r>
            <a:endParaRPr lang="en-US" sz="800" dirty="0"/>
          </a:p>
        </p:txBody>
      </p:sp>
      <p:sp>
        <p:nvSpPr>
          <p:cNvPr id="42" name="Shape 39"/>
          <p:cNvSpPr/>
          <p:nvPr/>
        </p:nvSpPr>
        <p:spPr>
          <a:xfrm>
            <a:off x="6345936" y="1261872"/>
            <a:ext cx="2414016" cy="1335024"/>
          </a:xfrm>
          <a:prstGeom prst="roundRect">
            <a:avLst>
              <a:gd name="adj" fmla="val 4110"/>
            </a:avLst>
          </a:prstGeom>
          <a:solidFill>
            <a:srgbClr val="0F2F44"/>
          </a:solidFill>
          <a:ln w="9525">
            <a:solidFill>
              <a:srgbClr val="0F2F44"/>
            </a:solidFill>
            <a:prstDash val="solid"/>
          </a:ln>
        </p:spPr>
        <p:txBody>
          <a:bodyPr/>
          <a:lstStyle/>
          <a:p>
            <a:endParaRPr lang="en-US"/>
          </a:p>
        </p:txBody>
      </p:sp>
      <p:sp>
        <p:nvSpPr>
          <p:cNvPr id="43" name="Text 40"/>
          <p:cNvSpPr txBox="1"/>
          <p:nvPr/>
        </p:nvSpPr>
        <p:spPr>
          <a:xfrm>
            <a:off x="6473952" y="1335024"/>
            <a:ext cx="2157984"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Rs 0 / month today</a:t>
            </a:r>
            <a:endParaRPr lang="en-US" sz="1500" dirty="0"/>
          </a:p>
        </p:txBody>
      </p:sp>
      <p:sp>
        <p:nvSpPr>
          <p:cNvPr id="44" name="Text 41"/>
          <p:cNvSpPr txBox="1"/>
          <p:nvPr/>
        </p:nvSpPr>
        <p:spPr>
          <a:xfrm>
            <a:off x="6473952" y="1627632"/>
            <a:ext cx="2157984" cy="566928"/>
          </a:xfrm>
          <a:prstGeom prst="rect">
            <a:avLst/>
          </a:prstGeom>
          <a:noFill/>
          <a:ln/>
        </p:spPr>
        <p:txBody>
          <a:bodyPr wrap="square" lIns="0" tIns="0" rIns="0" bIns="0" rtlCol="0" anchor="ctr"/>
          <a:lstStyle/>
          <a:p>
            <a:pPr marL="0" indent="0">
              <a:lnSpc>
                <a:spcPct val="100000"/>
              </a:lnSpc>
              <a:buNone/>
            </a:pPr>
            <a:r>
              <a:rPr lang="en-US" sz="900" dirty="0">
                <a:solidFill>
                  <a:srgbClr val="C9D6E2"/>
                </a:solidFill>
                <a:latin typeface="Calibri" pitchFamily="34" charset="0"/>
                <a:ea typeface="Calibri" pitchFamily="34" charset="-122"/>
                <a:cs typeface="Calibri" pitchFamily="34" charset="-120"/>
              </a:rPr>
              <a:t>The whole prototype fits inside the Catalyst free tier : 59,985 FIRs, the nightly pipeline, and every screen.</a:t>
            </a:r>
            <a:endParaRPr lang="en-US" sz="900" dirty="0"/>
          </a:p>
        </p:txBody>
      </p:sp>
      <p:sp>
        <p:nvSpPr>
          <p:cNvPr id="45" name="Text 42"/>
          <p:cNvSpPr txBox="1"/>
          <p:nvPr/>
        </p:nvSpPr>
        <p:spPr>
          <a:xfrm>
            <a:off x="6473952" y="2231136"/>
            <a:ext cx="2157984" cy="274320"/>
          </a:xfrm>
          <a:prstGeom prst="rect">
            <a:avLst/>
          </a:prstGeom>
          <a:noFill/>
          <a:ln/>
        </p:spPr>
        <p:txBody>
          <a:bodyPr wrap="square" lIns="0" tIns="0" rIns="0" bIns="0" rtlCol="0" anchor="ctr"/>
          <a:lstStyle/>
          <a:p>
            <a:pPr marL="0" indent="0">
              <a:buNone/>
            </a:pPr>
            <a:r>
              <a:rPr lang="en-US" sz="800" i="1" dirty="0">
                <a:solidFill>
                  <a:srgbClr val="9FB3C8"/>
                </a:solidFill>
                <a:latin typeface="Calibri" pitchFamily="34" charset="0"/>
                <a:ea typeface="Calibri" pitchFamily="34" charset="-122"/>
                <a:cs typeface="Calibri" pitchFamily="34" charset="-120"/>
              </a:rPr>
              <a:t>Only Zia and QuickML are usage-priced.</a:t>
            </a:r>
            <a:endParaRPr lang="en-US" sz="800" dirty="0"/>
          </a:p>
        </p:txBody>
      </p:sp>
      <p:sp>
        <p:nvSpPr>
          <p:cNvPr id="46" name="Shape 43"/>
          <p:cNvSpPr/>
          <p:nvPr/>
        </p:nvSpPr>
        <p:spPr>
          <a:xfrm>
            <a:off x="6345936" y="2670048"/>
            <a:ext cx="2414016" cy="1426464"/>
          </a:xfrm>
          <a:prstGeom prst="roundRect">
            <a:avLst>
              <a:gd name="adj" fmla="val 3846"/>
            </a:avLst>
          </a:prstGeom>
          <a:solidFill>
            <a:srgbClr val="EAF2FB"/>
          </a:solidFill>
          <a:ln w="9525">
            <a:solidFill>
              <a:srgbClr val="C3DAF2"/>
            </a:solidFill>
            <a:prstDash val="solid"/>
          </a:ln>
        </p:spPr>
        <p:txBody>
          <a:bodyPr/>
          <a:lstStyle/>
          <a:p>
            <a:endParaRPr lang="en-US"/>
          </a:p>
        </p:txBody>
      </p:sp>
      <p:sp>
        <p:nvSpPr>
          <p:cNvPr id="47" name="Text 44"/>
          <p:cNvSpPr txBox="1"/>
          <p:nvPr/>
        </p:nvSpPr>
        <p:spPr>
          <a:xfrm>
            <a:off x="6473952" y="2743200"/>
            <a:ext cx="2157984" cy="201168"/>
          </a:xfrm>
          <a:prstGeom prst="rect">
            <a:avLst/>
          </a:prstGeom>
          <a:noFill/>
          <a:ln/>
        </p:spPr>
        <p:txBody>
          <a:bodyPr wrap="square" lIns="0" tIns="0" rIns="0" bIns="0" rtlCol="0" anchor="ctr"/>
          <a:lstStyle/>
          <a:p>
            <a:pPr marL="0" indent="0">
              <a:buNone/>
            </a:pPr>
            <a:r>
              <a:rPr lang="en-US" sz="1000" b="1" dirty="0">
                <a:solidFill>
                  <a:srgbClr val="1A6FC4"/>
                </a:solidFill>
                <a:latin typeface="Calibri" pitchFamily="34" charset="0"/>
                <a:ea typeface="Calibri" pitchFamily="34" charset="-122"/>
                <a:cs typeface="Calibri" pitchFamily="34" charset="-120"/>
              </a:rPr>
              <a:t>At real KSP scale</a:t>
            </a:r>
            <a:endParaRPr lang="en-US" sz="1000" dirty="0"/>
          </a:p>
        </p:txBody>
      </p:sp>
      <p:sp>
        <p:nvSpPr>
          <p:cNvPr id="48" name="Text 45"/>
          <p:cNvSpPr txBox="1"/>
          <p:nvPr/>
        </p:nvSpPr>
        <p:spPr>
          <a:xfrm>
            <a:off x="6473952" y="2980944"/>
            <a:ext cx="2157984" cy="237744"/>
          </a:xfrm>
          <a:prstGeom prst="rect">
            <a:avLst/>
          </a:prstGeom>
          <a:noFill/>
          <a:ln/>
        </p:spPr>
        <p:txBody>
          <a:bodyPr wrap="square" lIns="0" tIns="0" rIns="0" bIns="0" rtlCol="0" anchor="ctr"/>
          <a:lstStyle/>
          <a:p>
            <a:pPr marL="0" indent="0">
              <a:buNone/>
            </a:pPr>
            <a:r>
              <a:rPr lang="en-US" sz="860" b="1" dirty="0">
                <a:solidFill>
                  <a:srgbClr val="0F2F44"/>
                </a:solidFill>
                <a:latin typeface="Calibri" pitchFamily="34" charset="0"/>
                <a:ea typeface="Calibri" pitchFamily="34" charset="-122"/>
                <a:cs typeface="Calibri" pitchFamily="34" charset="-120"/>
              </a:rPr>
              <a:t>~10 M</a:t>
            </a:r>
            <a:r>
              <a:rPr lang="en-US" sz="700" dirty="0">
                <a:solidFill>
                  <a:srgbClr val="5B6B7C"/>
                </a:solidFill>
                <a:latin typeface="Calibri" pitchFamily="34" charset="0"/>
                <a:ea typeface="Calibri" pitchFamily="34" charset="-122"/>
                <a:cs typeface="Calibri" pitchFamily="34" charset="-120"/>
              </a:rPr>
              <a:t>  </a:t>
            </a:r>
            <a:r>
              <a:rPr lang="en-US" sz="800" dirty="0">
                <a:solidFill>
                  <a:srgbClr val="5B6B7C"/>
                </a:solidFill>
                <a:latin typeface="Calibri" pitchFamily="34" charset="0"/>
                <a:ea typeface="Calibri" pitchFamily="34" charset="-122"/>
                <a:cs typeface="Calibri" pitchFamily="34" charset="-120"/>
              </a:rPr>
              <a:t>FIRs, against 59,985 here</a:t>
            </a:r>
            <a:endParaRPr lang="en-US" sz="800" dirty="0"/>
          </a:p>
        </p:txBody>
      </p:sp>
      <p:sp>
        <p:nvSpPr>
          <p:cNvPr id="49" name="Text 46"/>
          <p:cNvSpPr txBox="1"/>
          <p:nvPr/>
        </p:nvSpPr>
        <p:spPr>
          <a:xfrm>
            <a:off x="6473952" y="3246120"/>
            <a:ext cx="2157984" cy="237744"/>
          </a:xfrm>
          <a:prstGeom prst="rect">
            <a:avLst/>
          </a:prstGeom>
          <a:noFill/>
          <a:ln/>
        </p:spPr>
        <p:txBody>
          <a:bodyPr wrap="square" lIns="0" tIns="0" rIns="0" bIns="0" rtlCol="0" anchor="ctr"/>
          <a:lstStyle/>
          <a:p>
            <a:pPr marL="0" indent="0">
              <a:buNone/>
            </a:pPr>
            <a:r>
              <a:rPr lang="en-US" sz="860" b="1" dirty="0">
                <a:solidFill>
                  <a:srgbClr val="0F2F44"/>
                </a:solidFill>
                <a:latin typeface="Calibri" pitchFamily="34" charset="0"/>
                <a:ea typeface="Calibri" pitchFamily="34" charset="-122"/>
                <a:cs typeface="Calibri" pitchFamily="34" charset="-120"/>
              </a:rPr>
              <a:t>~167×</a:t>
            </a:r>
            <a:r>
              <a:rPr lang="en-US" sz="700" dirty="0">
                <a:solidFill>
                  <a:srgbClr val="5B6B7C"/>
                </a:solidFill>
                <a:latin typeface="Calibri" pitchFamily="34" charset="0"/>
                <a:ea typeface="Calibri" pitchFamily="34" charset="-122"/>
                <a:cs typeface="Calibri" pitchFamily="34" charset="-120"/>
              </a:rPr>
              <a:t>  </a:t>
            </a:r>
            <a:r>
              <a:rPr lang="en-US" sz="800" dirty="0">
                <a:solidFill>
                  <a:srgbClr val="5B6B7C"/>
                </a:solidFill>
                <a:latin typeface="Calibri" pitchFamily="34" charset="0"/>
                <a:ea typeface="Calibri" pitchFamily="34" charset="-122"/>
                <a:cs typeface="Calibri" pitchFamily="34" charset="-120"/>
              </a:rPr>
              <a:t>the corpus this runs on</a:t>
            </a:r>
            <a:endParaRPr lang="en-US" sz="800" dirty="0"/>
          </a:p>
        </p:txBody>
      </p:sp>
      <p:sp>
        <p:nvSpPr>
          <p:cNvPr id="50" name="Text 47"/>
          <p:cNvSpPr txBox="1"/>
          <p:nvPr/>
        </p:nvSpPr>
        <p:spPr>
          <a:xfrm>
            <a:off x="6473952" y="3511296"/>
            <a:ext cx="2157984" cy="237744"/>
          </a:xfrm>
          <a:prstGeom prst="rect">
            <a:avLst/>
          </a:prstGeom>
          <a:noFill/>
          <a:ln/>
        </p:spPr>
        <p:txBody>
          <a:bodyPr wrap="square" lIns="0" tIns="0" rIns="0" bIns="0" rtlCol="0" anchor="ctr"/>
          <a:lstStyle/>
          <a:p>
            <a:pPr marL="0" indent="0">
              <a:buNone/>
            </a:pPr>
            <a:r>
              <a:rPr lang="en-US" sz="860" b="1" dirty="0">
                <a:solidFill>
                  <a:srgbClr val="0F2F44"/>
                </a:solidFill>
                <a:latin typeface="Calibri" pitchFamily="34" charset="0"/>
                <a:ea typeface="Calibri" pitchFamily="34" charset="-122"/>
                <a:cs typeface="Calibri" pitchFamily="34" charset="-120"/>
              </a:rPr>
              <a:t>Nightly</a:t>
            </a:r>
            <a:r>
              <a:rPr lang="en-US" sz="700" dirty="0">
                <a:solidFill>
                  <a:srgbClr val="5B6B7C"/>
                </a:solidFill>
                <a:latin typeface="Calibri" pitchFamily="34" charset="0"/>
                <a:ea typeface="Calibri" pitchFamily="34" charset="-122"/>
                <a:cs typeface="Calibri" pitchFamily="34" charset="-120"/>
              </a:rPr>
              <a:t>  </a:t>
            </a:r>
            <a:r>
              <a:rPr lang="en-US" sz="800" dirty="0">
                <a:solidFill>
                  <a:srgbClr val="5B6B7C"/>
                </a:solidFill>
                <a:latin typeface="Calibri" pitchFamily="34" charset="0"/>
                <a:ea typeface="Calibri" pitchFamily="34" charset="-122"/>
                <a:cs typeface="Calibri" pitchFamily="34" charset="-120"/>
              </a:rPr>
              <a:t>still one Job  the pipeline is linear</a:t>
            </a:r>
            <a:endParaRPr lang="en-US" sz="800" dirty="0"/>
          </a:p>
        </p:txBody>
      </p:sp>
      <p:sp>
        <p:nvSpPr>
          <p:cNvPr id="51" name="Text 48"/>
          <p:cNvSpPr txBox="1"/>
          <p:nvPr/>
        </p:nvSpPr>
        <p:spPr>
          <a:xfrm>
            <a:off x="6473952" y="3776472"/>
            <a:ext cx="2157984" cy="237744"/>
          </a:xfrm>
          <a:prstGeom prst="rect">
            <a:avLst/>
          </a:prstGeom>
          <a:noFill/>
          <a:ln/>
        </p:spPr>
        <p:txBody>
          <a:bodyPr wrap="square" lIns="0" tIns="0" rIns="0" bIns="0" rtlCol="0" anchor="ctr"/>
          <a:lstStyle/>
          <a:p>
            <a:pPr marL="0" indent="0">
              <a:buNone/>
            </a:pPr>
            <a:r>
              <a:rPr lang="en-US" sz="860" b="1" dirty="0">
                <a:solidFill>
                  <a:srgbClr val="0F2F44"/>
                </a:solidFill>
                <a:latin typeface="Calibri" pitchFamily="34" charset="0"/>
                <a:ea typeface="Calibri" pitchFamily="34" charset="-122"/>
                <a:cs typeface="Calibri" pitchFamily="34" charset="-120"/>
              </a:rPr>
              <a:t>Storage</a:t>
            </a:r>
            <a:r>
              <a:rPr lang="en-US" sz="700" dirty="0">
                <a:solidFill>
                  <a:srgbClr val="5B6B7C"/>
                </a:solidFill>
                <a:latin typeface="Calibri" pitchFamily="34" charset="0"/>
                <a:ea typeface="Calibri" pitchFamily="34" charset="-122"/>
                <a:cs typeface="Calibri" pitchFamily="34" charset="-120"/>
              </a:rPr>
              <a:t>  </a:t>
            </a:r>
            <a:r>
              <a:rPr lang="en-US" sz="800" dirty="0">
                <a:solidFill>
                  <a:srgbClr val="5B6B7C"/>
                </a:solidFill>
                <a:latin typeface="Calibri" pitchFamily="34" charset="0"/>
                <a:ea typeface="Calibri" pitchFamily="34" charset="-122"/>
                <a:cs typeface="Calibri" pitchFamily="34" charset="-120"/>
              </a:rPr>
              <a:t>the only line that changes tier</a:t>
            </a:r>
            <a:endParaRPr lang="en-US" sz="800" dirty="0"/>
          </a:p>
        </p:txBody>
      </p:sp>
      <p:sp>
        <p:nvSpPr>
          <p:cNvPr id="52" name="Shape 49"/>
          <p:cNvSpPr/>
          <p:nvPr/>
        </p:nvSpPr>
        <p:spPr>
          <a:xfrm>
            <a:off x="384048" y="4206239"/>
            <a:ext cx="8375904" cy="574987"/>
          </a:xfrm>
          <a:prstGeom prst="roundRect">
            <a:avLst>
              <a:gd name="adj" fmla="val 10714"/>
            </a:avLst>
          </a:prstGeom>
          <a:solidFill>
            <a:srgbClr val="FDF1E4"/>
          </a:solidFill>
          <a:ln w="9525">
            <a:solidFill>
              <a:srgbClr val="F0D9BE"/>
            </a:solidFill>
            <a:prstDash val="solid"/>
          </a:ln>
        </p:spPr>
        <p:txBody>
          <a:bodyPr/>
          <a:lstStyle/>
          <a:p>
            <a:endParaRPr lang="en-US"/>
          </a:p>
        </p:txBody>
      </p:sp>
      <p:sp>
        <p:nvSpPr>
          <p:cNvPr id="53" name="Text 50"/>
          <p:cNvSpPr txBox="1"/>
          <p:nvPr/>
        </p:nvSpPr>
        <p:spPr>
          <a:xfrm>
            <a:off x="512064" y="4261104"/>
            <a:ext cx="8119872" cy="402336"/>
          </a:xfrm>
          <a:prstGeom prst="rect">
            <a:avLst/>
          </a:prstGeom>
          <a:noFill/>
          <a:ln/>
        </p:spPr>
        <p:txBody>
          <a:bodyPr wrap="square" lIns="0" tIns="0" rIns="0" bIns="0" rtlCol="0" anchor="t"/>
          <a:lstStyle/>
          <a:p>
            <a:pPr marL="0" indent="0">
              <a:lnSpc>
                <a:spcPct val="102000"/>
              </a:lnSpc>
              <a:buNone/>
            </a:pPr>
            <a:r>
              <a:rPr lang="en-US" sz="1000" b="1" dirty="0">
                <a:solidFill>
                  <a:srgbClr val="E8871E"/>
                </a:solidFill>
                <a:latin typeface="Calibri" pitchFamily="34" charset="0"/>
                <a:ea typeface="Calibri" pitchFamily="34" charset="-122"/>
                <a:cs typeface="Calibri" pitchFamily="34" charset="-120"/>
              </a:rPr>
              <a:t>What actually changes at 10 M FIRs.  </a:t>
            </a:r>
            <a:r>
              <a:rPr lang="en-US" sz="1000" dirty="0">
                <a:solidFill>
                  <a:srgbClr val="5B6B7C"/>
                </a:solidFill>
                <a:latin typeface="Calibri" pitchFamily="34" charset="0"/>
                <a:ea typeface="Calibri" pitchFamily="34" charset="-122"/>
                <a:cs typeface="Calibri" pitchFamily="34" charset="-120"/>
              </a:rPr>
              <a:t>One line: Data Store moves to a paid storage tier. The nightly Job stays one Job, the read-model stays one bundle, and the three request tiers keep the same shape the pipeline is linear in corpus size and already clears 59,985 FIRs in 24.6 s. There is no re-architecture priced into this table because none is needed.</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ivate/tmp/claude-501/-Users-adarsh-Desktop-Projects-KadiLabs/1a0b3114-7a5c-4b08-a5d4-f9d8371eeea4/scratchpad/deck/bg-content.png"/>
          <p:cNvPicPr>
            <a:picLocks noChangeAspect="1"/>
          </p:cNvPicPr>
          <p:nvPr/>
        </p:nvPicPr>
        <p:blipFill>
          <a:blip r:embed="rId3"/>
          <a:stretch>
            <a:fillRect/>
          </a:stretch>
        </p:blipFill>
        <p:spPr>
          <a:xfrm>
            <a:off x="0" y="0"/>
            <a:ext cx="9144000" cy="5143500"/>
          </a:xfrm>
          <a:prstGeom prst="rect">
            <a:avLst/>
          </a:prstGeom>
        </p:spPr>
      </p:pic>
      <p:sp>
        <p:nvSpPr>
          <p:cNvPr id="3" name="Text 0"/>
          <p:cNvSpPr txBox="1"/>
          <p:nvPr/>
        </p:nvSpPr>
        <p:spPr>
          <a:xfrm>
            <a:off x="384048" y="603504"/>
            <a:ext cx="8375904" cy="365760"/>
          </a:xfrm>
          <a:prstGeom prst="rect">
            <a:avLst/>
          </a:prstGeom>
          <a:noFill/>
          <a:ln/>
        </p:spPr>
        <p:txBody>
          <a:bodyPr wrap="square" lIns="0" tIns="0" rIns="0" bIns="0" rtlCol="0" anchor="t"/>
          <a:lstStyle/>
          <a:p>
            <a:pPr marL="0" indent="0">
              <a:buNone/>
            </a:pPr>
            <a:r>
              <a:rPr lang="en-US" sz="2100" b="1" dirty="0">
                <a:solidFill>
                  <a:srgbClr val="0F2F44"/>
                </a:solidFill>
                <a:latin typeface="Calibri" pitchFamily="34" charset="0"/>
                <a:ea typeface="Calibri" pitchFamily="34" charset="-122"/>
                <a:cs typeface="Calibri" pitchFamily="34" charset="-120"/>
              </a:rPr>
              <a:t>Snapshots of the prototype</a:t>
            </a:r>
            <a:endParaRPr lang="en-US" sz="2100" dirty="0"/>
          </a:p>
        </p:txBody>
      </p:sp>
      <p:sp>
        <p:nvSpPr>
          <p:cNvPr id="4" name="Text 1"/>
          <p:cNvSpPr txBox="1"/>
          <p:nvPr/>
        </p:nvSpPr>
        <p:spPr>
          <a:xfrm>
            <a:off x="384048" y="969264"/>
            <a:ext cx="8375904" cy="237744"/>
          </a:xfrm>
          <a:prstGeom prst="rect">
            <a:avLst/>
          </a:prstGeom>
          <a:noFill/>
          <a:ln/>
        </p:spPr>
        <p:txBody>
          <a:bodyPr wrap="square" lIns="0" tIns="0" rIns="0" bIns="0" rtlCol="0" anchor="t"/>
          <a:lstStyle/>
          <a:p>
            <a:pPr marL="0" indent="0">
              <a:buNone/>
            </a:pPr>
            <a:r>
              <a:rPr lang="en-US" sz="1100" dirty="0">
                <a:solidFill>
                  <a:srgbClr val="5B6B7C"/>
                </a:solidFill>
                <a:latin typeface="Calibri" pitchFamily="34" charset="0"/>
                <a:ea typeface="Calibri" pitchFamily="34" charset="-122"/>
                <a:cs typeface="Calibri" pitchFamily="34" charset="-120"/>
              </a:rPr>
              <a:t>The other six screens : Every one captured from the deployed Catalyst URL</a:t>
            </a:r>
            <a:endParaRPr lang="en-US" sz="1100" dirty="0"/>
          </a:p>
        </p:txBody>
      </p:sp>
      <p:sp>
        <p:nvSpPr>
          <p:cNvPr id="5" name="Shape 2"/>
          <p:cNvSpPr/>
          <p:nvPr/>
        </p:nvSpPr>
        <p:spPr>
          <a:xfrm>
            <a:off x="365760" y="1207008"/>
            <a:ext cx="2560320" cy="1618167"/>
          </a:xfrm>
          <a:prstGeom prst="roundRect">
            <a:avLst>
              <a:gd name="adj" fmla="val 2260"/>
            </a:avLst>
          </a:prstGeom>
          <a:solidFill>
            <a:srgbClr val="FFFFFF"/>
          </a:solidFill>
          <a:ln w="9525">
            <a:solidFill>
              <a:srgbClr val="DCE3EC"/>
            </a:solidFill>
            <a:prstDash val="solid"/>
          </a:ln>
        </p:spPr>
        <p:txBody>
          <a:bodyPr/>
          <a:lstStyle/>
          <a:p>
            <a:endParaRPr lang="en-US"/>
          </a:p>
        </p:txBody>
      </p:sp>
      <p:pic>
        <p:nvPicPr>
          <p:cNvPr id="6" name="Image 1" descr="/private/tmp/claude-501/-Users-adarsh-Desktop-Projects-KadiLabs/1a0b3114-7a5c-4b08-a5d4-f9d8371eeea4/scratchpad/deck/../shots/out/react.png"/>
          <p:cNvPicPr>
            <a:picLocks noChangeAspect="1"/>
          </p:cNvPicPr>
          <p:nvPr/>
        </p:nvPicPr>
        <p:blipFill>
          <a:blip r:embed="rId4"/>
          <a:stretch>
            <a:fillRect/>
          </a:stretch>
        </p:blipFill>
        <p:spPr>
          <a:xfrm>
            <a:off x="384048" y="1225296"/>
            <a:ext cx="2523744" cy="1581591"/>
          </a:xfrm>
          <a:prstGeom prst="rect">
            <a:avLst/>
          </a:prstGeom>
        </p:spPr>
      </p:pic>
      <p:sp>
        <p:nvSpPr>
          <p:cNvPr id="7" name="Shape 3"/>
          <p:cNvSpPr/>
          <p:nvPr/>
        </p:nvSpPr>
        <p:spPr>
          <a:xfrm>
            <a:off x="448056" y="2541711"/>
            <a:ext cx="1572768" cy="201168"/>
          </a:xfrm>
          <a:prstGeom prst="roundRect">
            <a:avLst>
              <a:gd name="adj" fmla="val 45455"/>
            </a:avLst>
          </a:prstGeom>
          <a:solidFill>
            <a:srgbClr val="0F2F44"/>
          </a:solidFill>
          <a:ln w="12700">
            <a:solidFill>
              <a:srgbClr val="0F2F44"/>
            </a:solidFill>
            <a:prstDash val="solid"/>
          </a:ln>
        </p:spPr>
        <p:txBody>
          <a:bodyPr/>
          <a:lstStyle/>
          <a:p>
            <a:endParaRPr lang="en-US"/>
          </a:p>
        </p:txBody>
      </p:sp>
      <p:sp>
        <p:nvSpPr>
          <p:cNvPr id="8" name="Text 4"/>
          <p:cNvSpPr txBox="1"/>
          <p:nvPr/>
        </p:nvSpPr>
        <p:spPr>
          <a:xfrm>
            <a:off x="448056" y="2541711"/>
            <a:ext cx="1572768" cy="201168"/>
          </a:xfrm>
          <a:prstGeom prst="rect">
            <a:avLst/>
          </a:prstGeom>
          <a:noFill/>
          <a:ln/>
        </p:spPr>
        <p:txBody>
          <a:bodyPr wrap="square" lIns="0" tIns="0" rIns="0" bIns="0" rtlCol="0" anchor="ctr"/>
          <a:lstStyle/>
          <a:p>
            <a:pPr marL="0" indent="0" algn="ctr">
              <a:buNone/>
            </a:pPr>
            <a:r>
              <a:rPr lang="en-US" sz="760" b="1" dirty="0">
                <a:solidFill>
                  <a:srgbClr val="FFFFFF"/>
                </a:solidFill>
                <a:latin typeface="Calibri" pitchFamily="34" charset="0"/>
                <a:ea typeface="Calibri" pitchFamily="34" charset="-122"/>
                <a:cs typeface="Calibri" pitchFamily="34" charset="-120"/>
              </a:rPr>
              <a:t>React — ranked queue</a:t>
            </a:r>
            <a:endParaRPr lang="en-US" sz="760" dirty="0"/>
          </a:p>
        </p:txBody>
      </p:sp>
      <p:sp>
        <p:nvSpPr>
          <p:cNvPr id="9" name="Text 5"/>
          <p:cNvSpPr txBox="1"/>
          <p:nvPr/>
        </p:nvSpPr>
        <p:spPr>
          <a:xfrm>
            <a:off x="384048" y="2843463"/>
            <a:ext cx="2523744" cy="182880"/>
          </a:xfrm>
          <a:prstGeom prst="rect">
            <a:avLst/>
          </a:prstGeom>
          <a:noFill/>
          <a:ln/>
        </p:spPr>
        <p:txBody>
          <a:bodyPr wrap="square" lIns="0" tIns="0" rIns="0" bIns="0" rtlCol="0" anchor="t"/>
          <a:lstStyle/>
          <a:p>
            <a:pPr marL="0" indent="0" algn="l">
              <a:buNone/>
            </a:pPr>
            <a:r>
              <a:rPr lang="en-US" sz="740" dirty="0">
                <a:solidFill>
                  <a:srgbClr val="5B6B7C"/>
                </a:solidFill>
                <a:latin typeface="Calibri" pitchFamily="34" charset="0"/>
                <a:ea typeface="Calibri" pitchFamily="34" charset="-122"/>
                <a:cs typeface="Calibri" pitchFamily="34" charset="-120"/>
              </a:rPr>
              <a:t>Failing cases, active offenders, pulsing stations</a:t>
            </a:r>
            <a:endParaRPr lang="en-US" sz="740" dirty="0"/>
          </a:p>
        </p:txBody>
      </p:sp>
      <p:sp>
        <p:nvSpPr>
          <p:cNvPr id="10" name="Shape 6"/>
          <p:cNvSpPr/>
          <p:nvPr/>
        </p:nvSpPr>
        <p:spPr>
          <a:xfrm>
            <a:off x="3291840" y="1207008"/>
            <a:ext cx="2560320" cy="1618167"/>
          </a:xfrm>
          <a:prstGeom prst="roundRect">
            <a:avLst>
              <a:gd name="adj" fmla="val 2260"/>
            </a:avLst>
          </a:prstGeom>
          <a:solidFill>
            <a:srgbClr val="FFFFFF"/>
          </a:solidFill>
          <a:ln w="9525">
            <a:solidFill>
              <a:srgbClr val="DCE3EC"/>
            </a:solidFill>
            <a:prstDash val="solid"/>
          </a:ln>
        </p:spPr>
        <p:txBody>
          <a:bodyPr/>
          <a:lstStyle/>
          <a:p>
            <a:endParaRPr lang="en-US"/>
          </a:p>
        </p:txBody>
      </p:sp>
      <p:pic>
        <p:nvPicPr>
          <p:cNvPr id="11" name="Image 2" descr="/private/tmp/claude-501/-Users-adarsh-Desktop-Projects-KadiLabs/1a0b3114-7a5c-4b08-a5d4-f9d8371eeea4/scratchpad/deck/../shots/out/forecast.png"/>
          <p:cNvPicPr>
            <a:picLocks noChangeAspect="1"/>
          </p:cNvPicPr>
          <p:nvPr/>
        </p:nvPicPr>
        <p:blipFill>
          <a:blip r:embed="rId5"/>
          <a:stretch>
            <a:fillRect/>
          </a:stretch>
        </p:blipFill>
        <p:spPr>
          <a:xfrm>
            <a:off x="3310128" y="1225296"/>
            <a:ext cx="2523744" cy="1581591"/>
          </a:xfrm>
          <a:prstGeom prst="rect">
            <a:avLst/>
          </a:prstGeom>
        </p:spPr>
      </p:pic>
      <p:sp>
        <p:nvSpPr>
          <p:cNvPr id="12" name="Shape 7"/>
          <p:cNvSpPr/>
          <p:nvPr/>
        </p:nvSpPr>
        <p:spPr>
          <a:xfrm>
            <a:off x="3374136" y="2541711"/>
            <a:ext cx="749808" cy="201168"/>
          </a:xfrm>
          <a:prstGeom prst="roundRect">
            <a:avLst>
              <a:gd name="adj" fmla="val 45455"/>
            </a:avLst>
          </a:prstGeom>
          <a:solidFill>
            <a:srgbClr val="0F2F44"/>
          </a:solidFill>
          <a:ln w="12700">
            <a:solidFill>
              <a:srgbClr val="0F2F44"/>
            </a:solidFill>
            <a:prstDash val="solid"/>
          </a:ln>
        </p:spPr>
        <p:txBody>
          <a:bodyPr/>
          <a:lstStyle/>
          <a:p>
            <a:endParaRPr lang="en-US"/>
          </a:p>
        </p:txBody>
      </p:sp>
      <p:sp>
        <p:nvSpPr>
          <p:cNvPr id="13" name="Text 8"/>
          <p:cNvSpPr txBox="1"/>
          <p:nvPr/>
        </p:nvSpPr>
        <p:spPr>
          <a:xfrm>
            <a:off x="3374136" y="2541711"/>
            <a:ext cx="749808" cy="201168"/>
          </a:xfrm>
          <a:prstGeom prst="rect">
            <a:avLst/>
          </a:prstGeom>
          <a:noFill/>
          <a:ln/>
        </p:spPr>
        <p:txBody>
          <a:bodyPr wrap="square" lIns="0" tIns="0" rIns="0" bIns="0" rtlCol="0" anchor="ctr"/>
          <a:lstStyle/>
          <a:p>
            <a:pPr marL="0" indent="0" algn="ctr">
              <a:buNone/>
            </a:pPr>
            <a:r>
              <a:rPr lang="en-US" sz="760" b="1" dirty="0">
                <a:solidFill>
                  <a:srgbClr val="FFFFFF"/>
                </a:solidFill>
                <a:latin typeface="Calibri" pitchFamily="34" charset="0"/>
                <a:ea typeface="Calibri" pitchFamily="34" charset="-122"/>
                <a:cs typeface="Calibri" pitchFamily="34" charset="-120"/>
              </a:rPr>
              <a:t>Forecast</a:t>
            </a:r>
            <a:endParaRPr lang="en-US" sz="760" dirty="0"/>
          </a:p>
        </p:txBody>
      </p:sp>
      <p:sp>
        <p:nvSpPr>
          <p:cNvPr id="14" name="Text 9"/>
          <p:cNvSpPr txBox="1"/>
          <p:nvPr/>
        </p:nvSpPr>
        <p:spPr>
          <a:xfrm>
            <a:off x="3310128" y="2843463"/>
            <a:ext cx="2523744" cy="182880"/>
          </a:xfrm>
          <a:prstGeom prst="rect">
            <a:avLst/>
          </a:prstGeom>
          <a:noFill/>
          <a:ln/>
        </p:spPr>
        <p:txBody>
          <a:bodyPr wrap="square" lIns="0" tIns="0" rIns="0" bIns="0" rtlCol="0" anchor="t"/>
          <a:lstStyle/>
          <a:p>
            <a:pPr marL="0" indent="0" algn="l">
              <a:buNone/>
            </a:pPr>
            <a:r>
              <a:rPr lang="en-US" sz="740" dirty="0">
                <a:solidFill>
                  <a:srgbClr val="5B6B7C"/>
                </a:solidFill>
                <a:latin typeface="Calibri" pitchFamily="34" charset="0"/>
                <a:ea typeface="Calibri" pitchFamily="34" charset="-122"/>
                <a:cs typeface="Calibri" pitchFamily="34" charset="-120"/>
              </a:rPr>
              <a:t>Statistical and ML forecaster, each with its error</a:t>
            </a:r>
            <a:endParaRPr lang="en-US" sz="740" dirty="0"/>
          </a:p>
        </p:txBody>
      </p:sp>
      <p:sp>
        <p:nvSpPr>
          <p:cNvPr id="15" name="Shape 10"/>
          <p:cNvSpPr/>
          <p:nvPr/>
        </p:nvSpPr>
        <p:spPr>
          <a:xfrm>
            <a:off x="6217920" y="1207008"/>
            <a:ext cx="2560320" cy="1618167"/>
          </a:xfrm>
          <a:prstGeom prst="roundRect">
            <a:avLst>
              <a:gd name="adj" fmla="val 2260"/>
            </a:avLst>
          </a:prstGeom>
          <a:solidFill>
            <a:srgbClr val="FFFFFF"/>
          </a:solidFill>
          <a:ln w="9525">
            <a:solidFill>
              <a:srgbClr val="DCE3EC"/>
            </a:solidFill>
            <a:prstDash val="solid"/>
          </a:ln>
        </p:spPr>
        <p:txBody>
          <a:bodyPr/>
          <a:lstStyle/>
          <a:p>
            <a:endParaRPr lang="en-US"/>
          </a:p>
        </p:txBody>
      </p:sp>
      <p:pic>
        <p:nvPicPr>
          <p:cNvPr id="16" name="Image 3" descr="/private/tmp/claude-501/-Users-adarsh-Desktop-Projects-KadiLabs/1a0b3114-7a5c-4b08-a5d4-f9d8371eeea4/scratchpad/deck/../shots/out/insights.png"/>
          <p:cNvPicPr>
            <a:picLocks noChangeAspect="1"/>
          </p:cNvPicPr>
          <p:nvPr/>
        </p:nvPicPr>
        <p:blipFill>
          <a:blip r:embed="rId6"/>
          <a:stretch>
            <a:fillRect/>
          </a:stretch>
        </p:blipFill>
        <p:spPr>
          <a:xfrm>
            <a:off x="6236208" y="1225296"/>
            <a:ext cx="2523744" cy="1581591"/>
          </a:xfrm>
          <a:prstGeom prst="rect">
            <a:avLst/>
          </a:prstGeom>
        </p:spPr>
      </p:pic>
      <p:sp>
        <p:nvSpPr>
          <p:cNvPr id="17" name="Shape 11"/>
          <p:cNvSpPr/>
          <p:nvPr/>
        </p:nvSpPr>
        <p:spPr>
          <a:xfrm>
            <a:off x="6300216" y="2541711"/>
            <a:ext cx="1778508" cy="201168"/>
          </a:xfrm>
          <a:prstGeom prst="roundRect">
            <a:avLst>
              <a:gd name="adj" fmla="val 45455"/>
            </a:avLst>
          </a:prstGeom>
          <a:solidFill>
            <a:srgbClr val="0F2F44"/>
          </a:solidFill>
          <a:ln w="12700">
            <a:solidFill>
              <a:srgbClr val="0F2F44"/>
            </a:solidFill>
            <a:prstDash val="solid"/>
          </a:ln>
        </p:spPr>
        <p:txBody>
          <a:bodyPr/>
          <a:lstStyle/>
          <a:p>
            <a:endParaRPr lang="en-US"/>
          </a:p>
        </p:txBody>
      </p:sp>
      <p:sp>
        <p:nvSpPr>
          <p:cNvPr id="18" name="Text 12"/>
          <p:cNvSpPr txBox="1"/>
          <p:nvPr/>
        </p:nvSpPr>
        <p:spPr>
          <a:xfrm>
            <a:off x="6300216" y="2541711"/>
            <a:ext cx="1778508" cy="201168"/>
          </a:xfrm>
          <a:prstGeom prst="rect">
            <a:avLst/>
          </a:prstGeom>
          <a:noFill/>
          <a:ln/>
        </p:spPr>
        <p:txBody>
          <a:bodyPr wrap="square" lIns="0" tIns="0" rIns="0" bIns="0" rtlCol="0" anchor="ctr"/>
          <a:lstStyle/>
          <a:p>
            <a:pPr marL="0" indent="0" algn="ctr">
              <a:buNone/>
            </a:pPr>
            <a:r>
              <a:rPr lang="en-US" sz="760" b="1" dirty="0">
                <a:solidFill>
                  <a:srgbClr val="FFFFFF"/>
                </a:solidFill>
                <a:latin typeface="Calibri" pitchFamily="34" charset="0"/>
                <a:ea typeface="Calibri" pitchFamily="34" charset="-122"/>
                <a:cs typeface="Calibri" pitchFamily="34" charset="-120"/>
              </a:rPr>
              <a:t>Socio-economic Insights</a:t>
            </a:r>
            <a:endParaRPr lang="en-US" sz="760" dirty="0"/>
          </a:p>
        </p:txBody>
      </p:sp>
      <p:sp>
        <p:nvSpPr>
          <p:cNvPr id="19" name="Text 13"/>
          <p:cNvSpPr txBox="1"/>
          <p:nvPr/>
        </p:nvSpPr>
        <p:spPr>
          <a:xfrm>
            <a:off x="6236208" y="2843463"/>
            <a:ext cx="2523744" cy="182880"/>
          </a:xfrm>
          <a:prstGeom prst="rect">
            <a:avLst/>
          </a:prstGeom>
          <a:noFill/>
          <a:ln/>
        </p:spPr>
        <p:txBody>
          <a:bodyPr wrap="square" lIns="0" tIns="0" rIns="0" bIns="0" rtlCol="0" anchor="t"/>
          <a:lstStyle/>
          <a:p>
            <a:pPr marL="0" indent="0" algn="l">
              <a:buNone/>
            </a:pPr>
            <a:r>
              <a:rPr lang="en-US" sz="740" dirty="0">
                <a:solidFill>
                  <a:srgbClr val="5B6B7C"/>
                </a:solidFill>
                <a:latin typeface="Calibri" pitchFamily="34" charset="0"/>
                <a:ea typeface="Calibri" pitchFamily="34" charset="-122"/>
                <a:cs typeface="Calibri" pitchFamily="34" charset="-120"/>
              </a:rPr>
              <a:t>Per-capita rates and rank shift, with p-values</a:t>
            </a:r>
            <a:endParaRPr lang="en-US" sz="740" dirty="0"/>
          </a:p>
        </p:txBody>
      </p:sp>
      <p:sp>
        <p:nvSpPr>
          <p:cNvPr id="20" name="Shape 14"/>
          <p:cNvSpPr/>
          <p:nvPr/>
        </p:nvSpPr>
        <p:spPr>
          <a:xfrm>
            <a:off x="365760" y="3026343"/>
            <a:ext cx="2560320" cy="1618167"/>
          </a:xfrm>
          <a:prstGeom prst="roundRect">
            <a:avLst>
              <a:gd name="adj" fmla="val 2260"/>
            </a:avLst>
          </a:prstGeom>
          <a:solidFill>
            <a:srgbClr val="FFFFFF"/>
          </a:solidFill>
          <a:ln w="9525">
            <a:solidFill>
              <a:srgbClr val="DCE3EC"/>
            </a:solidFill>
            <a:prstDash val="solid"/>
          </a:ln>
        </p:spPr>
        <p:txBody>
          <a:bodyPr/>
          <a:lstStyle/>
          <a:p>
            <a:endParaRPr lang="en-US"/>
          </a:p>
        </p:txBody>
      </p:sp>
      <p:pic>
        <p:nvPicPr>
          <p:cNvPr id="21" name="Image 4" descr="/private/tmp/claude-501/-Users-adarsh-Desktop-Projects-KadiLabs/1a0b3114-7a5c-4b08-a5d4-f9d8371eeea4/scratchpad/deck/../shots/out/evidence.png"/>
          <p:cNvPicPr>
            <a:picLocks noChangeAspect="1"/>
          </p:cNvPicPr>
          <p:nvPr/>
        </p:nvPicPr>
        <p:blipFill>
          <a:blip r:embed="rId7"/>
          <a:stretch>
            <a:fillRect/>
          </a:stretch>
        </p:blipFill>
        <p:spPr>
          <a:xfrm>
            <a:off x="384048" y="3044631"/>
            <a:ext cx="2523744" cy="1581591"/>
          </a:xfrm>
          <a:prstGeom prst="rect">
            <a:avLst/>
          </a:prstGeom>
        </p:spPr>
      </p:pic>
      <p:sp>
        <p:nvSpPr>
          <p:cNvPr id="22" name="Shape 15"/>
          <p:cNvSpPr/>
          <p:nvPr/>
        </p:nvSpPr>
        <p:spPr>
          <a:xfrm>
            <a:off x="448056" y="4361045"/>
            <a:ext cx="1298448" cy="201168"/>
          </a:xfrm>
          <a:prstGeom prst="roundRect">
            <a:avLst>
              <a:gd name="adj" fmla="val 45455"/>
            </a:avLst>
          </a:prstGeom>
          <a:solidFill>
            <a:srgbClr val="0F2F44"/>
          </a:solidFill>
          <a:ln w="12700">
            <a:solidFill>
              <a:srgbClr val="0F2F44"/>
            </a:solidFill>
            <a:prstDash val="solid"/>
          </a:ln>
        </p:spPr>
        <p:txBody>
          <a:bodyPr/>
          <a:lstStyle/>
          <a:p>
            <a:endParaRPr lang="en-US"/>
          </a:p>
        </p:txBody>
      </p:sp>
      <p:sp>
        <p:nvSpPr>
          <p:cNvPr id="23" name="Text 16"/>
          <p:cNvSpPr txBox="1"/>
          <p:nvPr/>
        </p:nvSpPr>
        <p:spPr>
          <a:xfrm>
            <a:off x="448056" y="4361045"/>
            <a:ext cx="1298448" cy="201168"/>
          </a:xfrm>
          <a:prstGeom prst="rect">
            <a:avLst/>
          </a:prstGeom>
          <a:noFill/>
          <a:ln/>
        </p:spPr>
        <p:txBody>
          <a:bodyPr wrap="square" lIns="0" tIns="0" rIns="0" bIns="0" rtlCol="0" anchor="ctr"/>
          <a:lstStyle/>
          <a:p>
            <a:pPr marL="0" indent="0" algn="ctr">
              <a:buNone/>
            </a:pPr>
            <a:r>
              <a:rPr lang="en-US" sz="760" b="1" dirty="0">
                <a:solidFill>
                  <a:srgbClr val="FFFFFF"/>
                </a:solidFill>
                <a:latin typeface="Calibri" pitchFamily="34" charset="0"/>
                <a:ea typeface="Calibri" pitchFamily="34" charset="-122"/>
                <a:cs typeface="Calibri" pitchFamily="34" charset="-120"/>
              </a:rPr>
              <a:t>Evidence Reading</a:t>
            </a:r>
            <a:endParaRPr lang="en-US" sz="760" dirty="0"/>
          </a:p>
        </p:txBody>
      </p:sp>
      <p:sp>
        <p:nvSpPr>
          <p:cNvPr id="24" name="Text 17"/>
          <p:cNvSpPr txBox="1"/>
          <p:nvPr/>
        </p:nvSpPr>
        <p:spPr>
          <a:xfrm>
            <a:off x="384048" y="4662797"/>
            <a:ext cx="2523744" cy="182880"/>
          </a:xfrm>
          <a:prstGeom prst="rect">
            <a:avLst/>
          </a:prstGeom>
          <a:noFill/>
          <a:ln/>
        </p:spPr>
        <p:txBody>
          <a:bodyPr wrap="square" lIns="0" tIns="0" rIns="0" bIns="0" rtlCol="0" anchor="t"/>
          <a:lstStyle/>
          <a:p>
            <a:pPr marL="0" indent="0" algn="l">
              <a:buNone/>
            </a:pPr>
            <a:r>
              <a:rPr lang="en-US" sz="740" dirty="0">
                <a:solidFill>
                  <a:srgbClr val="5B6B7C"/>
                </a:solidFill>
                <a:latin typeface="Calibri" pitchFamily="34" charset="0"/>
                <a:ea typeface="Calibri" pitchFamily="34" charset="-122"/>
                <a:cs typeface="Calibri" pitchFamily="34" charset="-120"/>
              </a:rPr>
              <a:t>OCR, barcode and vision — filed against the case</a:t>
            </a:r>
            <a:endParaRPr lang="en-US" sz="740" dirty="0"/>
          </a:p>
        </p:txBody>
      </p:sp>
      <p:sp>
        <p:nvSpPr>
          <p:cNvPr id="25" name="Shape 18"/>
          <p:cNvSpPr/>
          <p:nvPr/>
        </p:nvSpPr>
        <p:spPr>
          <a:xfrm>
            <a:off x="3291840" y="3026343"/>
            <a:ext cx="2560320" cy="1618167"/>
          </a:xfrm>
          <a:prstGeom prst="roundRect">
            <a:avLst>
              <a:gd name="adj" fmla="val 2260"/>
            </a:avLst>
          </a:prstGeom>
          <a:solidFill>
            <a:srgbClr val="FFFFFF"/>
          </a:solidFill>
          <a:ln w="9525">
            <a:solidFill>
              <a:srgbClr val="DCE3EC"/>
            </a:solidFill>
            <a:prstDash val="solid"/>
          </a:ln>
        </p:spPr>
        <p:txBody>
          <a:bodyPr/>
          <a:lstStyle/>
          <a:p>
            <a:endParaRPr lang="en-US"/>
          </a:p>
        </p:txBody>
      </p:sp>
      <p:pic>
        <p:nvPicPr>
          <p:cNvPr id="26" name="Image 5" descr="/private/tmp/claude-501/-Users-adarsh-Desktop-Projects-KadiLabs/1a0b3114-7a5c-4b08-a5d4-f9d8371eeea4/scratchpad/deck/../shots/out/assistant.png"/>
          <p:cNvPicPr>
            <a:picLocks noChangeAspect="1"/>
          </p:cNvPicPr>
          <p:nvPr/>
        </p:nvPicPr>
        <p:blipFill>
          <a:blip r:embed="rId8"/>
          <a:stretch>
            <a:fillRect/>
          </a:stretch>
        </p:blipFill>
        <p:spPr>
          <a:xfrm>
            <a:off x="3310128" y="3044631"/>
            <a:ext cx="2523744" cy="1581591"/>
          </a:xfrm>
          <a:prstGeom prst="rect">
            <a:avLst/>
          </a:prstGeom>
        </p:spPr>
      </p:pic>
      <p:sp>
        <p:nvSpPr>
          <p:cNvPr id="27" name="Shape 19"/>
          <p:cNvSpPr/>
          <p:nvPr/>
        </p:nvSpPr>
        <p:spPr>
          <a:xfrm>
            <a:off x="3374136" y="4361045"/>
            <a:ext cx="1504188" cy="201168"/>
          </a:xfrm>
          <a:prstGeom prst="roundRect">
            <a:avLst>
              <a:gd name="adj" fmla="val 45455"/>
            </a:avLst>
          </a:prstGeom>
          <a:solidFill>
            <a:srgbClr val="0F2F44"/>
          </a:solidFill>
          <a:ln w="12700">
            <a:solidFill>
              <a:srgbClr val="0F2F44"/>
            </a:solidFill>
            <a:prstDash val="solid"/>
          </a:ln>
        </p:spPr>
        <p:txBody>
          <a:bodyPr/>
          <a:lstStyle/>
          <a:p>
            <a:endParaRPr lang="en-US"/>
          </a:p>
        </p:txBody>
      </p:sp>
      <p:sp>
        <p:nvSpPr>
          <p:cNvPr id="28" name="Text 20"/>
          <p:cNvSpPr txBox="1"/>
          <p:nvPr/>
        </p:nvSpPr>
        <p:spPr>
          <a:xfrm>
            <a:off x="3374136" y="4361045"/>
            <a:ext cx="1504188" cy="201168"/>
          </a:xfrm>
          <a:prstGeom prst="rect">
            <a:avLst/>
          </a:prstGeom>
          <a:noFill/>
          <a:ln/>
        </p:spPr>
        <p:txBody>
          <a:bodyPr wrap="square" lIns="0" tIns="0" rIns="0" bIns="0" rtlCol="0" anchor="ctr"/>
          <a:lstStyle/>
          <a:p>
            <a:pPr marL="0" indent="0" algn="ctr">
              <a:buNone/>
            </a:pPr>
            <a:r>
              <a:rPr lang="en-US" sz="760" b="1" dirty="0">
                <a:solidFill>
                  <a:srgbClr val="FFFFFF"/>
                </a:solidFill>
                <a:latin typeface="Calibri" pitchFamily="34" charset="0"/>
                <a:ea typeface="Calibri" pitchFamily="34" charset="-122"/>
                <a:cs typeface="Calibri" pitchFamily="34" charset="-120"/>
              </a:rPr>
              <a:t>Bilingual Assistant</a:t>
            </a:r>
            <a:endParaRPr lang="en-US" sz="760" dirty="0"/>
          </a:p>
        </p:txBody>
      </p:sp>
      <p:sp>
        <p:nvSpPr>
          <p:cNvPr id="29" name="Text 21"/>
          <p:cNvSpPr txBox="1"/>
          <p:nvPr/>
        </p:nvSpPr>
        <p:spPr>
          <a:xfrm>
            <a:off x="3310128" y="4662797"/>
            <a:ext cx="2523744" cy="182880"/>
          </a:xfrm>
          <a:prstGeom prst="rect">
            <a:avLst/>
          </a:prstGeom>
          <a:noFill/>
          <a:ln/>
        </p:spPr>
        <p:txBody>
          <a:bodyPr wrap="square" lIns="0" tIns="0" rIns="0" bIns="0" rtlCol="0" anchor="t"/>
          <a:lstStyle/>
          <a:p>
            <a:pPr marL="0" indent="0" algn="l">
              <a:buNone/>
            </a:pPr>
            <a:r>
              <a:rPr lang="en-US" sz="740" dirty="0">
                <a:solidFill>
                  <a:srgbClr val="5B6B7C"/>
                </a:solidFill>
                <a:latin typeface="Calibri" pitchFamily="34" charset="0"/>
                <a:ea typeface="Calibri" pitchFamily="34" charset="-122"/>
                <a:cs typeface="Calibri" pitchFamily="34" charset="-120"/>
              </a:rPr>
              <a:t>Four kinds of answer, each badged with its source</a:t>
            </a:r>
            <a:endParaRPr lang="en-US" sz="740" dirty="0"/>
          </a:p>
        </p:txBody>
      </p:sp>
      <p:sp>
        <p:nvSpPr>
          <p:cNvPr id="30" name="Shape 22"/>
          <p:cNvSpPr/>
          <p:nvPr/>
        </p:nvSpPr>
        <p:spPr>
          <a:xfrm>
            <a:off x="6217920" y="3026343"/>
            <a:ext cx="2560320" cy="1618167"/>
          </a:xfrm>
          <a:prstGeom prst="roundRect">
            <a:avLst>
              <a:gd name="adj" fmla="val 2260"/>
            </a:avLst>
          </a:prstGeom>
          <a:solidFill>
            <a:srgbClr val="FFFFFF"/>
          </a:solidFill>
          <a:ln w="9525">
            <a:solidFill>
              <a:srgbClr val="DCE3EC"/>
            </a:solidFill>
            <a:prstDash val="solid"/>
          </a:ln>
        </p:spPr>
        <p:txBody>
          <a:bodyPr/>
          <a:lstStyle/>
          <a:p>
            <a:endParaRPr lang="en-US"/>
          </a:p>
        </p:txBody>
      </p:sp>
      <p:pic>
        <p:nvPicPr>
          <p:cNvPr id="31" name="Image 6" descr="/private/tmp/claude-501/-Users-adarsh-Desktop-Projects-KadiLabs/1a0b3114-7a5c-4b08-a5d4-f9d8371eeea4/scratchpad/deck/../shots/out/audit.png"/>
          <p:cNvPicPr>
            <a:picLocks noChangeAspect="1"/>
          </p:cNvPicPr>
          <p:nvPr/>
        </p:nvPicPr>
        <p:blipFill>
          <a:blip r:embed="rId9"/>
          <a:stretch>
            <a:fillRect/>
          </a:stretch>
        </p:blipFill>
        <p:spPr>
          <a:xfrm>
            <a:off x="6236208" y="3044631"/>
            <a:ext cx="2523744" cy="1581591"/>
          </a:xfrm>
          <a:prstGeom prst="rect">
            <a:avLst/>
          </a:prstGeom>
        </p:spPr>
      </p:pic>
      <p:sp>
        <p:nvSpPr>
          <p:cNvPr id="32" name="Shape 23"/>
          <p:cNvSpPr/>
          <p:nvPr/>
        </p:nvSpPr>
        <p:spPr>
          <a:xfrm>
            <a:off x="6300216" y="4361045"/>
            <a:ext cx="955548" cy="201168"/>
          </a:xfrm>
          <a:prstGeom prst="roundRect">
            <a:avLst>
              <a:gd name="adj" fmla="val 45455"/>
            </a:avLst>
          </a:prstGeom>
          <a:solidFill>
            <a:srgbClr val="0F2F44"/>
          </a:solidFill>
          <a:ln w="12700">
            <a:solidFill>
              <a:srgbClr val="0F2F44"/>
            </a:solidFill>
            <a:prstDash val="solid"/>
          </a:ln>
        </p:spPr>
        <p:txBody>
          <a:bodyPr/>
          <a:lstStyle/>
          <a:p>
            <a:endParaRPr lang="en-US"/>
          </a:p>
        </p:txBody>
      </p:sp>
      <p:sp>
        <p:nvSpPr>
          <p:cNvPr id="33" name="Text 24"/>
          <p:cNvSpPr txBox="1"/>
          <p:nvPr/>
        </p:nvSpPr>
        <p:spPr>
          <a:xfrm>
            <a:off x="6300216" y="4361045"/>
            <a:ext cx="955548" cy="201168"/>
          </a:xfrm>
          <a:prstGeom prst="rect">
            <a:avLst/>
          </a:prstGeom>
          <a:noFill/>
          <a:ln/>
        </p:spPr>
        <p:txBody>
          <a:bodyPr wrap="square" lIns="0" tIns="0" rIns="0" bIns="0" rtlCol="0" anchor="ctr"/>
          <a:lstStyle/>
          <a:p>
            <a:pPr marL="0" indent="0" algn="ctr">
              <a:buNone/>
            </a:pPr>
            <a:r>
              <a:rPr lang="en-US" sz="760" b="1" dirty="0">
                <a:solidFill>
                  <a:srgbClr val="FFFFFF"/>
                </a:solidFill>
                <a:latin typeface="Calibri" pitchFamily="34" charset="0"/>
                <a:ea typeface="Calibri" pitchFamily="34" charset="-122"/>
                <a:cs typeface="Calibri" pitchFamily="34" charset="-120"/>
              </a:rPr>
              <a:t>Audit Trail</a:t>
            </a:r>
            <a:endParaRPr lang="en-US" sz="760" dirty="0"/>
          </a:p>
        </p:txBody>
      </p:sp>
      <p:sp>
        <p:nvSpPr>
          <p:cNvPr id="34" name="Text 25"/>
          <p:cNvSpPr txBox="1"/>
          <p:nvPr/>
        </p:nvSpPr>
        <p:spPr>
          <a:xfrm>
            <a:off x="6236208" y="4662797"/>
            <a:ext cx="2523744" cy="182880"/>
          </a:xfrm>
          <a:prstGeom prst="rect">
            <a:avLst/>
          </a:prstGeom>
          <a:noFill/>
          <a:ln/>
        </p:spPr>
        <p:txBody>
          <a:bodyPr wrap="square" lIns="0" tIns="0" rIns="0" bIns="0" rtlCol="0" anchor="t"/>
          <a:lstStyle/>
          <a:p>
            <a:pPr marL="0" indent="0" algn="l">
              <a:buNone/>
            </a:pPr>
            <a:r>
              <a:rPr lang="en-US" sz="740" dirty="0">
                <a:solidFill>
                  <a:srgbClr val="5B6B7C"/>
                </a:solidFill>
                <a:latin typeface="Calibri" pitchFamily="34" charset="0"/>
                <a:ea typeface="Calibri" pitchFamily="34" charset="-122"/>
                <a:cs typeface="Calibri" pitchFamily="34" charset="-120"/>
              </a:rPr>
              <a:t>Every privileged read and write, in plain language</a:t>
            </a:r>
            <a:endParaRPr lang="en-US" sz="74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ivate/tmp/claude-501/-Users-adarsh-Desktop-Projects-KadiLabs/1a0b3114-7a5c-4b08-a5d4-f9d8371eeea4/scratchpad/deck/bg-content.png"/>
          <p:cNvPicPr>
            <a:picLocks noChangeAspect="1"/>
          </p:cNvPicPr>
          <p:nvPr/>
        </p:nvPicPr>
        <p:blipFill>
          <a:blip r:embed="rId3"/>
          <a:stretch>
            <a:fillRect/>
          </a:stretch>
        </p:blipFill>
        <p:spPr>
          <a:xfrm>
            <a:off x="0" y="0"/>
            <a:ext cx="9144000" cy="5143500"/>
          </a:xfrm>
          <a:prstGeom prst="rect">
            <a:avLst/>
          </a:prstGeom>
        </p:spPr>
      </p:pic>
      <p:sp>
        <p:nvSpPr>
          <p:cNvPr id="3" name="Text 0"/>
          <p:cNvSpPr txBox="1"/>
          <p:nvPr/>
        </p:nvSpPr>
        <p:spPr>
          <a:xfrm>
            <a:off x="384048" y="603504"/>
            <a:ext cx="8375904" cy="365760"/>
          </a:xfrm>
          <a:prstGeom prst="rect">
            <a:avLst/>
          </a:prstGeom>
          <a:noFill/>
          <a:ln/>
        </p:spPr>
        <p:txBody>
          <a:bodyPr wrap="square" lIns="0" tIns="0" rIns="0" bIns="0" rtlCol="0" anchor="t"/>
          <a:lstStyle/>
          <a:p>
            <a:pPr marL="0" indent="0">
              <a:buNone/>
            </a:pPr>
            <a:r>
              <a:rPr lang="en-US" sz="2100" b="1" dirty="0">
                <a:solidFill>
                  <a:srgbClr val="0F2F44"/>
                </a:solidFill>
                <a:latin typeface="Calibri" pitchFamily="34" charset="0"/>
                <a:ea typeface="Calibri" pitchFamily="34" charset="-122"/>
                <a:cs typeface="Calibri" pitchFamily="34" charset="-120"/>
              </a:rPr>
              <a:t>Links</a:t>
            </a:r>
            <a:endParaRPr lang="en-US" sz="2100" dirty="0"/>
          </a:p>
        </p:txBody>
      </p:sp>
      <p:sp>
        <p:nvSpPr>
          <p:cNvPr id="4" name="Text 1"/>
          <p:cNvSpPr txBox="1"/>
          <p:nvPr/>
        </p:nvSpPr>
        <p:spPr>
          <a:xfrm>
            <a:off x="384048" y="969264"/>
            <a:ext cx="8375904" cy="237744"/>
          </a:xfrm>
          <a:prstGeom prst="rect">
            <a:avLst/>
          </a:prstGeom>
          <a:noFill/>
          <a:ln/>
        </p:spPr>
        <p:txBody>
          <a:bodyPr wrap="square" lIns="0" tIns="0" rIns="0" bIns="0" rtlCol="0" anchor="t"/>
          <a:lstStyle/>
          <a:p>
            <a:pPr marL="0" indent="0">
              <a:buNone/>
            </a:pPr>
            <a:r>
              <a:rPr lang="en-US" sz="1100" dirty="0">
                <a:solidFill>
                  <a:srgbClr val="5B6B7C"/>
                </a:solidFill>
                <a:latin typeface="Calibri" pitchFamily="34" charset="0"/>
                <a:ea typeface="Calibri" pitchFamily="34" charset="-122"/>
                <a:cs typeface="Calibri" pitchFamily="34" charset="-120"/>
              </a:rPr>
              <a:t>Everything is publicly accessible and independently verifiable</a:t>
            </a:r>
            <a:endParaRPr lang="en-US" sz="1100" dirty="0"/>
          </a:p>
        </p:txBody>
      </p:sp>
      <p:sp>
        <p:nvSpPr>
          <p:cNvPr id="5" name="Shape 2"/>
          <p:cNvSpPr/>
          <p:nvPr/>
        </p:nvSpPr>
        <p:spPr>
          <a:xfrm>
            <a:off x="384048" y="1207008"/>
            <a:ext cx="8375904" cy="585216"/>
          </a:xfrm>
          <a:prstGeom prst="roundRect">
            <a:avLst>
              <a:gd name="adj" fmla="val 9375"/>
            </a:avLst>
          </a:prstGeom>
          <a:solidFill>
            <a:srgbClr val="FFFFFF"/>
          </a:solidFill>
          <a:ln w="9525">
            <a:solidFill>
              <a:srgbClr val="DCE3EC"/>
            </a:solidFill>
            <a:prstDash val="solid"/>
          </a:ln>
        </p:spPr>
        <p:txBody>
          <a:bodyPr/>
          <a:lstStyle/>
          <a:p>
            <a:endParaRPr lang="en-US"/>
          </a:p>
        </p:txBody>
      </p:sp>
      <p:sp>
        <p:nvSpPr>
          <p:cNvPr id="6" name="Shape 3"/>
          <p:cNvSpPr/>
          <p:nvPr/>
        </p:nvSpPr>
        <p:spPr>
          <a:xfrm>
            <a:off x="512064" y="1412748"/>
            <a:ext cx="658368" cy="173736"/>
          </a:xfrm>
          <a:prstGeom prst="roundRect">
            <a:avLst>
              <a:gd name="adj" fmla="val 47368"/>
            </a:avLst>
          </a:prstGeom>
          <a:solidFill>
            <a:srgbClr val="1A6FC4"/>
          </a:solidFill>
          <a:ln w="12700">
            <a:solidFill>
              <a:srgbClr val="1A6FC4"/>
            </a:solidFill>
            <a:prstDash val="solid"/>
          </a:ln>
        </p:spPr>
        <p:txBody>
          <a:bodyPr/>
          <a:lstStyle/>
          <a:p>
            <a:endParaRPr lang="en-US"/>
          </a:p>
        </p:txBody>
      </p:sp>
      <p:sp>
        <p:nvSpPr>
          <p:cNvPr id="7" name="Text 4"/>
          <p:cNvSpPr txBox="1"/>
          <p:nvPr/>
        </p:nvSpPr>
        <p:spPr>
          <a:xfrm>
            <a:off x="512064" y="1412748"/>
            <a:ext cx="658368" cy="173736"/>
          </a:xfrm>
          <a:prstGeom prst="rect">
            <a:avLst/>
          </a:prstGeom>
          <a:noFill/>
          <a:ln/>
        </p:spPr>
        <p:txBody>
          <a:bodyPr wrap="square" lIns="0" tIns="0" rIns="0" bIns="0" rtlCol="0" anchor="ctr"/>
          <a:lstStyle/>
          <a:p>
            <a:pPr marL="0" indent="0" algn="ctr">
              <a:buNone/>
            </a:pPr>
            <a:r>
              <a:rPr lang="en-US" sz="680" b="1" dirty="0">
                <a:solidFill>
                  <a:srgbClr val="FFFFFF"/>
                </a:solidFill>
                <a:latin typeface="Calibri" pitchFamily="34" charset="0"/>
                <a:ea typeface="Calibri" pitchFamily="34" charset="-122"/>
                <a:cs typeface="Calibri" pitchFamily="34" charset="-120"/>
              </a:rPr>
              <a:t>LIVE APP</a:t>
            </a:r>
            <a:endParaRPr lang="en-US" sz="680" dirty="0"/>
          </a:p>
        </p:txBody>
      </p:sp>
      <p:sp>
        <p:nvSpPr>
          <p:cNvPr id="8" name="Text 5"/>
          <p:cNvSpPr txBox="1"/>
          <p:nvPr/>
        </p:nvSpPr>
        <p:spPr>
          <a:xfrm>
            <a:off x="1280160" y="1252728"/>
            <a:ext cx="2834640" cy="256032"/>
          </a:xfrm>
          <a:prstGeom prst="rect">
            <a:avLst/>
          </a:prstGeom>
          <a:noFill/>
          <a:ln/>
        </p:spPr>
        <p:txBody>
          <a:bodyPr wrap="square" lIns="0" tIns="0" rIns="0" bIns="0" rtlCol="0" anchor="ctr"/>
          <a:lstStyle/>
          <a:p>
            <a:pPr marL="0" indent="0">
              <a:buNone/>
            </a:pPr>
            <a:r>
              <a:rPr lang="en-US" sz="1300" b="1" dirty="0">
                <a:solidFill>
                  <a:srgbClr val="0F2F44"/>
                </a:solidFill>
                <a:latin typeface="Calibri" pitchFamily="34" charset="0"/>
                <a:ea typeface="Calibri" pitchFamily="34" charset="-122"/>
                <a:cs typeface="Calibri" pitchFamily="34" charset="-120"/>
              </a:rPr>
              <a:t>Deployed solution — Catalyst</a:t>
            </a:r>
            <a:endParaRPr lang="en-US" sz="1300" dirty="0"/>
          </a:p>
        </p:txBody>
      </p:sp>
      <p:sp>
        <p:nvSpPr>
          <p:cNvPr id="9" name="Text 6"/>
          <p:cNvSpPr txBox="1"/>
          <p:nvPr/>
        </p:nvSpPr>
        <p:spPr>
          <a:xfrm>
            <a:off x="1280160" y="1517904"/>
            <a:ext cx="2926080" cy="219456"/>
          </a:xfrm>
          <a:prstGeom prst="rect">
            <a:avLst/>
          </a:prstGeom>
          <a:noFill/>
          <a:ln/>
        </p:spPr>
        <p:txBody>
          <a:bodyPr wrap="square" lIns="0" tIns="0" rIns="0" bIns="0" rtlCol="0" anchor="t"/>
          <a:lstStyle/>
          <a:p>
            <a:pPr marL="0" indent="0">
              <a:buNone/>
            </a:pPr>
            <a:r>
              <a:rPr lang="en-US" sz="800" dirty="0">
                <a:solidFill>
                  <a:srgbClr val="5B6B7C"/>
                </a:solidFill>
                <a:latin typeface="Calibri" pitchFamily="34" charset="0"/>
                <a:ea typeface="Calibri" pitchFamily="34" charset="-122"/>
                <a:cs typeface="Calibri" pitchFamily="34" charset="-120"/>
              </a:rPr>
              <a:t>Web Client Hosting · sign in by rank, no password needed</a:t>
            </a:r>
            <a:endParaRPr lang="en-US" sz="800" dirty="0"/>
          </a:p>
        </p:txBody>
      </p:sp>
      <p:sp>
        <p:nvSpPr>
          <p:cNvPr id="10" name="Text 7"/>
          <p:cNvSpPr txBox="1"/>
          <p:nvPr/>
        </p:nvSpPr>
        <p:spPr>
          <a:xfrm>
            <a:off x="4261104" y="1280160"/>
            <a:ext cx="4297680" cy="438912"/>
          </a:xfrm>
          <a:prstGeom prst="rect">
            <a:avLst/>
          </a:prstGeom>
          <a:noFill/>
          <a:ln/>
        </p:spPr>
        <p:txBody>
          <a:bodyPr wrap="square" lIns="0" tIns="0" rIns="0" bIns="0" rtlCol="0" anchor="ctr"/>
          <a:lstStyle/>
          <a:p>
            <a:pPr marL="0" indent="0">
              <a:buNone/>
            </a:pPr>
            <a:r>
              <a:rPr lang="en-US" sz="1000" u="sng" dirty="0">
                <a:solidFill>
                  <a:srgbClr val="1A6FC4"/>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https://kadilabs-60078029367.development.catalystserverless.in/app/</a:t>
            </a:r>
            <a:endParaRPr lang="en-US" sz="1000" dirty="0"/>
          </a:p>
        </p:txBody>
      </p:sp>
      <p:sp>
        <p:nvSpPr>
          <p:cNvPr id="11" name="Shape 8"/>
          <p:cNvSpPr/>
          <p:nvPr/>
        </p:nvSpPr>
        <p:spPr>
          <a:xfrm>
            <a:off x="384048" y="1865376"/>
            <a:ext cx="8375904" cy="585216"/>
          </a:xfrm>
          <a:prstGeom prst="roundRect">
            <a:avLst>
              <a:gd name="adj" fmla="val 9375"/>
            </a:avLst>
          </a:prstGeom>
          <a:solidFill>
            <a:srgbClr val="FFFFFF"/>
          </a:solidFill>
          <a:ln w="9525">
            <a:solidFill>
              <a:srgbClr val="DCE3EC"/>
            </a:solidFill>
            <a:prstDash val="solid"/>
          </a:ln>
        </p:spPr>
        <p:txBody>
          <a:bodyPr/>
          <a:lstStyle/>
          <a:p>
            <a:endParaRPr lang="en-US"/>
          </a:p>
        </p:txBody>
      </p:sp>
      <p:sp>
        <p:nvSpPr>
          <p:cNvPr id="12" name="Shape 9"/>
          <p:cNvSpPr/>
          <p:nvPr/>
        </p:nvSpPr>
        <p:spPr>
          <a:xfrm>
            <a:off x="512064" y="2071116"/>
            <a:ext cx="658368" cy="173736"/>
          </a:xfrm>
          <a:prstGeom prst="roundRect">
            <a:avLst>
              <a:gd name="adj" fmla="val 47368"/>
            </a:avLst>
          </a:prstGeom>
          <a:solidFill>
            <a:srgbClr val="E8871E"/>
          </a:solidFill>
          <a:ln w="12700">
            <a:solidFill>
              <a:srgbClr val="E8871E"/>
            </a:solidFill>
            <a:prstDash val="solid"/>
          </a:ln>
        </p:spPr>
        <p:txBody>
          <a:bodyPr/>
          <a:lstStyle/>
          <a:p>
            <a:endParaRPr lang="en-US"/>
          </a:p>
        </p:txBody>
      </p:sp>
      <p:sp>
        <p:nvSpPr>
          <p:cNvPr id="13" name="Text 10"/>
          <p:cNvSpPr txBox="1"/>
          <p:nvPr/>
        </p:nvSpPr>
        <p:spPr>
          <a:xfrm>
            <a:off x="512064" y="2071116"/>
            <a:ext cx="658368" cy="173736"/>
          </a:xfrm>
          <a:prstGeom prst="rect">
            <a:avLst/>
          </a:prstGeom>
          <a:noFill/>
          <a:ln/>
        </p:spPr>
        <p:txBody>
          <a:bodyPr wrap="square" lIns="0" tIns="0" rIns="0" bIns="0" rtlCol="0" anchor="ctr"/>
          <a:lstStyle/>
          <a:p>
            <a:pPr marL="0" indent="0" algn="ctr">
              <a:buNone/>
            </a:pPr>
            <a:r>
              <a:rPr lang="en-US" sz="680" b="1" dirty="0">
                <a:solidFill>
                  <a:srgbClr val="FFFFFF"/>
                </a:solidFill>
                <a:latin typeface="Calibri" pitchFamily="34" charset="0"/>
                <a:ea typeface="Calibri" pitchFamily="34" charset="-122"/>
                <a:cs typeface="Calibri" pitchFamily="34" charset="-120"/>
              </a:rPr>
              <a:t>VIDEO</a:t>
            </a:r>
            <a:endParaRPr lang="en-US" sz="680" dirty="0"/>
          </a:p>
        </p:txBody>
      </p:sp>
      <p:sp>
        <p:nvSpPr>
          <p:cNvPr id="14" name="Text 11"/>
          <p:cNvSpPr txBox="1"/>
          <p:nvPr/>
        </p:nvSpPr>
        <p:spPr>
          <a:xfrm>
            <a:off x="1280160" y="1911096"/>
            <a:ext cx="2834640" cy="256032"/>
          </a:xfrm>
          <a:prstGeom prst="rect">
            <a:avLst/>
          </a:prstGeom>
          <a:noFill/>
          <a:ln/>
        </p:spPr>
        <p:txBody>
          <a:bodyPr wrap="square" lIns="0" tIns="0" rIns="0" bIns="0" rtlCol="0" anchor="ctr"/>
          <a:lstStyle/>
          <a:p>
            <a:pPr marL="0" indent="0">
              <a:buNone/>
            </a:pPr>
            <a:r>
              <a:rPr lang="en-US" sz="1300" b="1" dirty="0">
                <a:solidFill>
                  <a:srgbClr val="0F2F44"/>
                </a:solidFill>
                <a:latin typeface="Calibri" pitchFamily="34" charset="0"/>
                <a:ea typeface="Calibri" pitchFamily="34" charset="-122"/>
                <a:cs typeface="Calibri" pitchFamily="34" charset="-120"/>
              </a:rPr>
              <a:t>Demo video</a:t>
            </a:r>
            <a:endParaRPr lang="en-US" sz="1300" dirty="0"/>
          </a:p>
        </p:txBody>
      </p:sp>
      <p:sp>
        <p:nvSpPr>
          <p:cNvPr id="15" name="Text 12"/>
          <p:cNvSpPr txBox="1"/>
          <p:nvPr/>
        </p:nvSpPr>
        <p:spPr>
          <a:xfrm>
            <a:off x="1280160" y="2176272"/>
            <a:ext cx="2926080" cy="219456"/>
          </a:xfrm>
          <a:prstGeom prst="rect">
            <a:avLst/>
          </a:prstGeom>
          <a:noFill/>
          <a:ln/>
        </p:spPr>
        <p:txBody>
          <a:bodyPr wrap="square" lIns="0" tIns="0" rIns="0" bIns="0" rtlCol="0" anchor="t"/>
          <a:lstStyle/>
          <a:p>
            <a:pPr marL="0" indent="0">
              <a:buNone/>
            </a:pPr>
            <a:r>
              <a:rPr lang="en-US" sz="800" dirty="0">
                <a:solidFill>
                  <a:srgbClr val="5B6B7C"/>
                </a:solidFill>
                <a:latin typeface="Calibri" pitchFamily="34" charset="0"/>
                <a:ea typeface="Calibri" pitchFamily="34" charset="-122"/>
                <a:cs typeface="Calibri" pitchFamily="34" charset="-120"/>
              </a:rPr>
              <a:t>Problem overview · working prototype · key workflows</a:t>
            </a:r>
            <a:endParaRPr lang="en-US" sz="800" dirty="0"/>
          </a:p>
        </p:txBody>
      </p:sp>
      <p:sp>
        <p:nvSpPr>
          <p:cNvPr id="16" name="Text 13"/>
          <p:cNvSpPr txBox="1"/>
          <p:nvPr/>
        </p:nvSpPr>
        <p:spPr>
          <a:xfrm>
            <a:off x="4261104" y="1938528"/>
            <a:ext cx="4297680" cy="438912"/>
          </a:xfrm>
          <a:prstGeom prst="rect">
            <a:avLst/>
          </a:prstGeom>
          <a:noFill/>
          <a:ln/>
        </p:spPr>
        <p:txBody>
          <a:bodyPr wrap="square" lIns="0" tIns="0" rIns="0" bIns="0" rtlCol="0" anchor="ctr"/>
          <a:lstStyle/>
          <a:p>
            <a:pPr marL="0" indent="0">
              <a:buNone/>
            </a:pPr>
            <a:r>
              <a:rPr lang="en-US" sz="820" u="sng" dirty="0">
                <a:solidFill>
                  <a:srgbClr val="1A6FC4"/>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https://drive.google.com/drive/folders/1WY3KHg1WOEnSNTBXGmTtH2ZoJM1y4cLJ?usp=sharing</a:t>
            </a:r>
            <a:endParaRPr lang="en-US" sz="820" dirty="0"/>
          </a:p>
        </p:txBody>
      </p:sp>
      <p:sp>
        <p:nvSpPr>
          <p:cNvPr id="17" name="Shape 14"/>
          <p:cNvSpPr/>
          <p:nvPr/>
        </p:nvSpPr>
        <p:spPr>
          <a:xfrm>
            <a:off x="384048" y="2523744"/>
            <a:ext cx="8375904" cy="585216"/>
          </a:xfrm>
          <a:prstGeom prst="roundRect">
            <a:avLst>
              <a:gd name="adj" fmla="val 9375"/>
            </a:avLst>
          </a:prstGeom>
          <a:solidFill>
            <a:srgbClr val="FFFFFF"/>
          </a:solidFill>
          <a:ln w="9525">
            <a:solidFill>
              <a:srgbClr val="DCE3EC"/>
            </a:solidFill>
            <a:prstDash val="solid"/>
          </a:ln>
        </p:spPr>
        <p:txBody>
          <a:bodyPr/>
          <a:lstStyle/>
          <a:p>
            <a:endParaRPr lang="en-US"/>
          </a:p>
        </p:txBody>
      </p:sp>
      <p:sp>
        <p:nvSpPr>
          <p:cNvPr id="18" name="Shape 15"/>
          <p:cNvSpPr/>
          <p:nvPr/>
        </p:nvSpPr>
        <p:spPr>
          <a:xfrm>
            <a:off x="512064" y="2729484"/>
            <a:ext cx="658368" cy="173736"/>
          </a:xfrm>
          <a:prstGeom prst="roundRect">
            <a:avLst>
              <a:gd name="adj" fmla="val 47368"/>
            </a:avLst>
          </a:prstGeom>
          <a:solidFill>
            <a:srgbClr val="0F2F44"/>
          </a:solidFill>
          <a:ln w="12700">
            <a:solidFill>
              <a:srgbClr val="0F2F44"/>
            </a:solidFill>
            <a:prstDash val="solid"/>
          </a:ln>
        </p:spPr>
        <p:txBody>
          <a:bodyPr/>
          <a:lstStyle/>
          <a:p>
            <a:endParaRPr lang="en-US"/>
          </a:p>
        </p:txBody>
      </p:sp>
      <p:sp>
        <p:nvSpPr>
          <p:cNvPr id="19" name="Text 16"/>
          <p:cNvSpPr txBox="1"/>
          <p:nvPr/>
        </p:nvSpPr>
        <p:spPr>
          <a:xfrm>
            <a:off x="512064" y="2729484"/>
            <a:ext cx="658368" cy="173736"/>
          </a:xfrm>
          <a:prstGeom prst="rect">
            <a:avLst/>
          </a:prstGeom>
          <a:noFill/>
          <a:ln/>
        </p:spPr>
        <p:txBody>
          <a:bodyPr wrap="square" lIns="0" tIns="0" rIns="0" bIns="0" rtlCol="0" anchor="ctr"/>
          <a:lstStyle/>
          <a:p>
            <a:pPr marL="0" indent="0" algn="ctr">
              <a:buNone/>
            </a:pPr>
            <a:r>
              <a:rPr lang="en-US" sz="680" b="1" dirty="0">
                <a:solidFill>
                  <a:srgbClr val="FFFFFF"/>
                </a:solidFill>
                <a:latin typeface="Calibri" pitchFamily="34" charset="0"/>
                <a:ea typeface="Calibri" pitchFamily="34" charset="-122"/>
                <a:cs typeface="Calibri" pitchFamily="34" charset="-120"/>
              </a:rPr>
              <a:t>SOURCE</a:t>
            </a:r>
            <a:endParaRPr lang="en-US" sz="680" dirty="0"/>
          </a:p>
        </p:txBody>
      </p:sp>
      <p:sp>
        <p:nvSpPr>
          <p:cNvPr id="20" name="Text 17"/>
          <p:cNvSpPr txBox="1"/>
          <p:nvPr/>
        </p:nvSpPr>
        <p:spPr>
          <a:xfrm>
            <a:off x="1280160" y="2569464"/>
            <a:ext cx="2834640" cy="256032"/>
          </a:xfrm>
          <a:prstGeom prst="rect">
            <a:avLst/>
          </a:prstGeom>
          <a:noFill/>
          <a:ln/>
        </p:spPr>
        <p:txBody>
          <a:bodyPr wrap="square" lIns="0" tIns="0" rIns="0" bIns="0" rtlCol="0" anchor="ctr"/>
          <a:lstStyle/>
          <a:p>
            <a:pPr marL="0" indent="0">
              <a:buNone/>
            </a:pPr>
            <a:r>
              <a:rPr lang="en-US" sz="1300" b="1" dirty="0">
                <a:solidFill>
                  <a:srgbClr val="0F2F44"/>
                </a:solidFill>
                <a:latin typeface="Calibri" pitchFamily="34" charset="0"/>
                <a:ea typeface="Calibri" pitchFamily="34" charset="-122"/>
                <a:cs typeface="Calibri" pitchFamily="34" charset="-120"/>
              </a:rPr>
              <a:t>GitHub repository</a:t>
            </a:r>
            <a:endParaRPr lang="en-US" sz="1300" dirty="0"/>
          </a:p>
        </p:txBody>
      </p:sp>
      <p:sp>
        <p:nvSpPr>
          <p:cNvPr id="21" name="Text 18"/>
          <p:cNvSpPr txBox="1"/>
          <p:nvPr/>
        </p:nvSpPr>
        <p:spPr>
          <a:xfrm>
            <a:off x="1280160" y="2834640"/>
            <a:ext cx="2926080" cy="219456"/>
          </a:xfrm>
          <a:prstGeom prst="rect">
            <a:avLst/>
          </a:prstGeom>
          <a:noFill/>
          <a:ln/>
        </p:spPr>
        <p:txBody>
          <a:bodyPr wrap="square" lIns="0" tIns="0" rIns="0" bIns="0" rtlCol="0" anchor="t"/>
          <a:lstStyle/>
          <a:p>
            <a:pPr marL="0" indent="0">
              <a:buNone/>
            </a:pPr>
            <a:r>
              <a:rPr lang="en-US" sz="800" dirty="0">
                <a:solidFill>
                  <a:srgbClr val="5B6B7C"/>
                </a:solidFill>
                <a:latin typeface="Calibri" pitchFamily="34" charset="0"/>
                <a:ea typeface="Calibri" pitchFamily="34" charset="-122"/>
                <a:cs typeface="Calibri" pitchFamily="34" charset="-120"/>
              </a:rPr>
              <a:t>228 commits over 49 days · full source, README, docs</a:t>
            </a:r>
            <a:endParaRPr lang="en-US" sz="800" dirty="0"/>
          </a:p>
        </p:txBody>
      </p:sp>
      <p:sp>
        <p:nvSpPr>
          <p:cNvPr id="22" name="Text 19"/>
          <p:cNvSpPr txBox="1"/>
          <p:nvPr/>
        </p:nvSpPr>
        <p:spPr>
          <a:xfrm>
            <a:off x="4261104" y="2596896"/>
            <a:ext cx="4297680" cy="438912"/>
          </a:xfrm>
          <a:prstGeom prst="rect">
            <a:avLst/>
          </a:prstGeom>
          <a:noFill/>
          <a:ln/>
        </p:spPr>
        <p:txBody>
          <a:bodyPr wrap="square" lIns="0" tIns="0" rIns="0" bIns="0" rtlCol="0" anchor="ctr"/>
          <a:lstStyle/>
          <a:p>
            <a:pPr marL="0" indent="0">
              <a:buNone/>
            </a:pPr>
            <a:r>
              <a:rPr lang="en-US" sz="1100" u="sng" dirty="0">
                <a:solidFill>
                  <a:srgbClr val="1A6FC4"/>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https://github.com/adarshcod30/Kadi</a:t>
            </a:r>
            <a:endParaRPr lang="en-US" sz="1100" dirty="0"/>
          </a:p>
        </p:txBody>
      </p:sp>
      <p:sp>
        <p:nvSpPr>
          <p:cNvPr id="23" name="Shape 20"/>
          <p:cNvSpPr/>
          <p:nvPr/>
        </p:nvSpPr>
        <p:spPr>
          <a:xfrm>
            <a:off x="384048" y="3182112"/>
            <a:ext cx="8375904" cy="585216"/>
          </a:xfrm>
          <a:prstGeom prst="roundRect">
            <a:avLst>
              <a:gd name="adj" fmla="val 9375"/>
            </a:avLst>
          </a:prstGeom>
          <a:solidFill>
            <a:srgbClr val="FFFFFF"/>
          </a:solidFill>
          <a:ln w="9525">
            <a:solidFill>
              <a:srgbClr val="DCE3EC"/>
            </a:solidFill>
            <a:prstDash val="solid"/>
          </a:ln>
        </p:spPr>
        <p:txBody>
          <a:bodyPr/>
          <a:lstStyle/>
          <a:p>
            <a:endParaRPr lang="en-US"/>
          </a:p>
        </p:txBody>
      </p:sp>
      <p:sp>
        <p:nvSpPr>
          <p:cNvPr id="24" name="Shape 21"/>
          <p:cNvSpPr/>
          <p:nvPr/>
        </p:nvSpPr>
        <p:spPr>
          <a:xfrm>
            <a:off x="512064" y="3387852"/>
            <a:ext cx="658368" cy="173736"/>
          </a:xfrm>
          <a:prstGeom prst="roundRect">
            <a:avLst>
              <a:gd name="adj" fmla="val 47368"/>
            </a:avLst>
          </a:prstGeom>
          <a:solidFill>
            <a:srgbClr val="2FA8A0"/>
          </a:solidFill>
          <a:ln w="12700">
            <a:solidFill>
              <a:srgbClr val="2FA8A0"/>
            </a:solidFill>
            <a:prstDash val="solid"/>
          </a:ln>
        </p:spPr>
        <p:txBody>
          <a:bodyPr/>
          <a:lstStyle/>
          <a:p>
            <a:endParaRPr lang="en-US"/>
          </a:p>
        </p:txBody>
      </p:sp>
      <p:sp>
        <p:nvSpPr>
          <p:cNvPr id="25" name="Text 22"/>
          <p:cNvSpPr txBox="1"/>
          <p:nvPr/>
        </p:nvSpPr>
        <p:spPr>
          <a:xfrm>
            <a:off x="512064" y="3387852"/>
            <a:ext cx="658368" cy="173736"/>
          </a:xfrm>
          <a:prstGeom prst="rect">
            <a:avLst/>
          </a:prstGeom>
          <a:noFill/>
          <a:ln/>
        </p:spPr>
        <p:txBody>
          <a:bodyPr wrap="square" lIns="0" tIns="0" rIns="0" bIns="0" rtlCol="0" anchor="ctr"/>
          <a:lstStyle/>
          <a:p>
            <a:pPr marL="0" indent="0" algn="ctr">
              <a:buNone/>
            </a:pPr>
            <a:r>
              <a:rPr lang="en-US" sz="680" b="1" dirty="0">
                <a:solidFill>
                  <a:srgbClr val="FFFFFF"/>
                </a:solidFill>
                <a:latin typeface="Calibri" pitchFamily="34" charset="0"/>
                <a:ea typeface="Calibri" pitchFamily="34" charset="-122"/>
                <a:cs typeface="Calibri" pitchFamily="34" charset="-120"/>
              </a:rPr>
              <a:t>LIVE API</a:t>
            </a:r>
            <a:endParaRPr lang="en-US" sz="680" dirty="0"/>
          </a:p>
        </p:txBody>
      </p:sp>
      <p:sp>
        <p:nvSpPr>
          <p:cNvPr id="26" name="Text 23"/>
          <p:cNvSpPr txBox="1"/>
          <p:nvPr/>
        </p:nvSpPr>
        <p:spPr>
          <a:xfrm>
            <a:off x="1280160" y="3227832"/>
            <a:ext cx="2834640" cy="256032"/>
          </a:xfrm>
          <a:prstGeom prst="rect">
            <a:avLst/>
          </a:prstGeom>
          <a:noFill/>
          <a:ln/>
        </p:spPr>
        <p:txBody>
          <a:bodyPr wrap="square" lIns="0" tIns="0" rIns="0" bIns="0" rtlCol="0" anchor="ctr"/>
          <a:lstStyle/>
          <a:p>
            <a:pPr marL="0" indent="0">
              <a:buNone/>
            </a:pPr>
            <a:r>
              <a:rPr lang="en-US" sz="1300" b="1" dirty="0">
                <a:solidFill>
                  <a:srgbClr val="0F2F44"/>
                </a:solidFill>
                <a:latin typeface="Calibri" pitchFamily="34" charset="0"/>
                <a:ea typeface="Calibri" pitchFamily="34" charset="-122"/>
                <a:cs typeface="Calibri" pitchFamily="34" charset="-120"/>
              </a:rPr>
              <a:t>AppSail analytics service</a:t>
            </a:r>
            <a:endParaRPr lang="en-US" sz="1300" dirty="0"/>
          </a:p>
        </p:txBody>
      </p:sp>
      <p:sp>
        <p:nvSpPr>
          <p:cNvPr id="27" name="Text 24"/>
          <p:cNvSpPr txBox="1"/>
          <p:nvPr/>
        </p:nvSpPr>
        <p:spPr>
          <a:xfrm>
            <a:off x="1280160" y="3493008"/>
            <a:ext cx="2926080" cy="219456"/>
          </a:xfrm>
          <a:prstGeom prst="rect">
            <a:avLst/>
          </a:prstGeom>
          <a:noFill/>
          <a:ln/>
        </p:spPr>
        <p:txBody>
          <a:bodyPr wrap="square" lIns="0" tIns="0" rIns="0" bIns="0" rtlCol="0" anchor="t"/>
          <a:lstStyle/>
          <a:p>
            <a:pPr marL="0" indent="0">
              <a:buNone/>
            </a:pPr>
            <a:r>
              <a:rPr lang="en-US" sz="800" dirty="0">
                <a:solidFill>
                  <a:srgbClr val="5B6B7C"/>
                </a:solidFill>
                <a:latin typeface="Calibri" pitchFamily="34" charset="0"/>
                <a:ea typeface="Calibri" pitchFamily="34" charset="-122"/>
                <a:cs typeface="Calibri" pitchFamily="34" charset="-120"/>
              </a:rPr>
              <a:t>Live JSON — per-capita rates and correlations</a:t>
            </a:r>
            <a:endParaRPr lang="en-US" sz="800" dirty="0"/>
          </a:p>
        </p:txBody>
      </p:sp>
      <p:sp>
        <p:nvSpPr>
          <p:cNvPr id="28" name="Text 25"/>
          <p:cNvSpPr txBox="1"/>
          <p:nvPr/>
        </p:nvSpPr>
        <p:spPr>
          <a:xfrm>
            <a:off x="4261104" y="3255264"/>
            <a:ext cx="4297680" cy="438912"/>
          </a:xfrm>
          <a:prstGeom prst="rect">
            <a:avLst/>
          </a:prstGeom>
          <a:noFill/>
          <a:ln/>
        </p:spPr>
        <p:txBody>
          <a:bodyPr wrap="square" lIns="0" tIns="0" rIns="0" bIns="0" rtlCol="0" anchor="ctr"/>
          <a:lstStyle/>
          <a:p>
            <a:pPr marL="0" indent="0">
              <a:buNone/>
            </a:pPr>
            <a:r>
              <a:rPr lang="en-US" sz="900" u="sng" dirty="0">
                <a:solidFill>
                  <a:srgbClr val="1A6FC4"/>
                </a:solidFill>
                <a:latin typeface="Calibri" pitchFamily="34" charset="0"/>
                <a:ea typeface="Calibri" pitchFamily="34" charset="-122"/>
                <a:cs typeface="Calibri" pitchFamily="34" charset="-120"/>
                <a:hlinkClick r:id="rId7">
                  <a:extLst>
                    <a:ext uri="{A12FA001-AC4F-418D-AE19-62706E023703}">
                      <ahyp:hlinkClr xmlns:ahyp="http://schemas.microsoft.com/office/drawing/2018/hyperlinkcolor" val="tx"/>
                    </a:ext>
                  </a:extLst>
                </a:hlinkClick>
              </a:rPr>
              <a:t>https://kadi-appsail-50043957273.development.catalystappsail.in/analytics/socio</a:t>
            </a:r>
            <a:endParaRPr lang="en-US" sz="900" dirty="0"/>
          </a:p>
        </p:txBody>
      </p:sp>
      <p:sp>
        <p:nvSpPr>
          <p:cNvPr id="29" name="Shape 26"/>
          <p:cNvSpPr/>
          <p:nvPr/>
        </p:nvSpPr>
        <p:spPr>
          <a:xfrm>
            <a:off x="384048" y="3877056"/>
            <a:ext cx="4956048" cy="914400"/>
          </a:xfrm>
          <a:prstGeom prst="roundRect">
            <a:avLst>
              <a:gd name="adj" fmla="val 6000"/>
            </a:avLst>
          </a:prstGeom>
          <a:solidFill>
            <a:srgbClr val="FFFFFF"/>
          </a:solidFill>
          <a:ln w="9525">
            <a:solidFill>
              <a:srgbClr val="DCE3EC"/>
            </a:solidFill>
            <a:prstDash val="solid"/>
          </a:ln>
        </p:spPr>
        <p:txBody>
          <a:bodyPr/>
          <a:lstStyle/>
          <a:p>
            <a:endParaRPr lang="en-US"/>
          </a:p>
        </p:txBody>
      </p:sp>
      <p:sp>
        <p:nvSpPr>
          <p:cNvPr id="30" name="Text 27"/>
          <p:cNvSpPr txBox="1"/>
          <p:nvPr/>
        </p:nvSpPr>
        <p:spPr>
          <a:xfrm>
            <a:off x="530352" y="3931920"/>
            <a:ext cx="4663440" cy="219456"/>
          </a:xfrm>
          <a:prstGeom prst="rect">
            <a:avLst/>
          </a:prstGeom>
          <a:noFill/>
          <a:ln/>
        </p:spPr>
        <p:txBody>
          <a:bodyPr wrap="square" lIns="0" tIns="0" rIns="0" bIns="0" rtlCol="0" anchor="ctr"/>
          <a:lstStyle/>
          <a:p>
            <a:pPr marL="0" indent="0">
              <a:buNone/>
            </a:pPr>
            <a:r>
              <a:rPr lang="en-US" sz="1100" b="1" dirty="0">
                <a:solidFill>
                  <a:srgbClr val="0F2F44"/>
                </a:solidFill>
                <a:latin typeface="Calibri" pitchFamily="34" charset="0"/>
                <a:ea typeface="Calibri" pitchFamily="34" charset="-122"/>
                <a:cs typeface="Calibri" pitchFamily="34" charset="-120"/>
              </a:rPr>
              <a:t>Verify the whole claim in five minutes</a:t>
            </a:r>
            <a:endParaRPr lang="en-US" sz="1100" dirty="0"/>
          </a:p>
        </p:txBody>
      </p:sp>
      <p:sp>
        <p:nvSpPr>
          <p:cNvPr id="31" name="Shape 28"/>
          <p:cNvSpPr/>
          <p:nvPr/>
        </p:nvSpPr>
        <p:spPr>
          <a:xfrm>
            <a:off x="530352" y="4206240"/>
            <a:ext cx="201168" cy="201168"/>
          </a:xfrm>
          <a:prstGeom prst="ellipse">
            <a:avLst/>
          </a:prstGeom>
          <a:solidFill>
            <a:srgbClr val="1A6FC4"/>
          </a:solidFill>
          <a:ln w="12700">
            <a:solidFill>
              <a:srgbClr val="1A6FC4"/>
            </a:solidFill>
            <a:prstDash val="solid"/>
          </a:ln>
        </p:spPr>
        <p:txBody>
          <a:bodyPr/>
          <a:lstStyle/>
          <a:p>
            <a:endParaRPr lang="en-US"/>
          </a:p>
        </p:txBody>
      </p:sp>
      <p:sp>
        <p:nvSpPr>
          <p:cNvPr id="32" name="Text 29"/>
          <p:cNvSpPr txBox="1"/>
          <p:nvPr/>
        </p:nvSpPr>
        <p:spPr>
          <a:xfrm>
            <a:off x="530352" y="4206240"/>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33" name="Text 30"/>
          <p:cNvSpPr txBox="1"/>
          <p:nvPr/>
        </p:nvSpPr>
        <p:spPr>
          <a:xfrm>
            <a:off x="786384" y="4187952"/>
            <a:ext cx="1298448" cy="219456"/>
          </a:xfrm>
          <a:prstGeom prst="rect">
            <a:avLst/>
          </a:prstGeom>
          <a:noFill/>
          <a:ln/>
        </p:spPr>
        <p:txBody>
          <a:bodyPr wrap="square" lIns="0" tIns="0" rIns="0" bIns="0" rtlCol="0" anchor="ctr"/>
          <a:lstStyle/>
          <a:p>
            <a:pPr marL="0" indent="0">
              <a:buNone/>
            </a:pPr>
            <a:r>
              <a:rPr lang="en-US" sz="800" b="1" dirty="0">
                <a:solidFill>
                  <a:srgbClr val="0F2F44"/>
                </a:solidFill>
                <a:latin typeface="Calibri" pitchFamily="34" charset="0"/>
                <a:ea typeface="Calibri" pitchFamily="34" charset="-122"/>
                <a:cs typeface="Calibri" pitchFamily="34" charset="-120"/>
              </a:rPr>
              <a:t>Sign in as State DGP</a:t>
            </a:r>
            <a:endParaRPr lang="en-US" sz="800" dirty="0"/>
          </a:p>
        </p:txBody>
      </p:sp>
      <p:sp>
        <p:nvSpPr>
          <p:cNvPr id="34" name="Text 31"/>
          <p:cNvSpPr txBox="1"/>
          <p:nvPr/>
        </p:nvSpPr>
        <p:spPr>
          <a:xfrm>
            <a:off x="786384" y="4407408"/>
            <a:ext cx="1298448" cy="292608"/>
          </a:xfrm>
          <a:prstGeom prst="rect">
            <a:avLst/>
          </a:prstGeom>
          <a:noFill/>
          <a:ln/>
        </p:spPr>
        <p:txBody>
          <a:bodyPr wrap="square" lIns="0" tIns="0" rIns="0" bIns="0" rtlCol="0" anchor="t"/>
          <a:lstStyle/>
          <a:p>
            <a:pPr marL="0" indent="0">
              <a:lnSpc>
                <a:spcPct val="98000"/>
              </a:lnSpc>
              <a:buNone/>
            </a:pPr>
            <a:r>
              <a:rPr lang="en-US" sz="700" dirty="0">
                <a:solidFill>
                  <a:srgbClr val="5B6B7C"/>
                </a:solidFill>
                <a:latin typeface="Calibri" pitchFamily="34" charset="0"/>
                <a:ea typeface="Calibri" pitchFamily="34" charset="-122"/>
                <a:cs typeface="Calibri" pitchFamily="34" charset="-120"/>
              </a:rPr>
              <a:t>no password — pick the rank</a:t>
            </a:r>
            <a:endParaRPr lang="en-US" sz="700" dirty="0"/>
          </a:p>
        </p:txBody>
      </p:sp>
      <p:sp>
        <p:nvSpPr>
          <p:cNvPr id="35" name="Shape 32"/>
          <p:cNvSpPr/>
          <p:nvPr/>
        </p:nvSpPr>
        <p:spPr>
          <a:xfrm>
            <a:off x="2139696" y="4206240"/>
            <a:ext cx="201168" cy="201168"/>
          </a:xfrm>
          <a:prstGeom prst="ellipse">
            <a:avLst/>
          </a:prstGeom>
          <a:solidFill>
            <a:srgbClr val="2FA8A0"/>
          </a:solidFill>
          <a:ln w="12700">
            <a:solidFill>
              <a:srgbClr val="2FA8A0"/>
            </a:solidFill>
            <a:prstDash val="solid"/>
          </a:ln>
        </p:spPr>
        <p:txBody>
          <a:bodyPr/>
          <a:lstStyle/>
          <a:p>
            <a:endParaRPr lang="en-US"/>
          </a:p>
        </p:txBody>
      </p:sp>
      <p:sp>
        <p:nvSpPr>
          <p:cNvPr id="36" name="Text 33"/>
          <p:cNvSpPr txBox="1"/>
          <p:nvPr/>
        </p:nvSpPr>
        <p:spPr>
          <a:xfrm>
            <a:off x="2139696" y="4206240"/>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37" name="Text 34"/>
          <p:cNvSpPr txBox="1"/>
          <p:nvPr/>
        </p:nvSpPr>
        <p:spPr>
          <a:xfrm>
            <a:off x="2395728" y="4187952"/>
            <a:ext cx="1298448" cy="219456"/>
          </a:xfrm>
          <a:prstGeom prst="rect">
            <a:avLst/>
          </a:prstGeom>
          <a:noFill/>
          <a:ln/>
        </p:spPr>
        <p:txBody>
          <a:bodyPr wrap="square" lIns="0" tIns="0" rIns="0" bIns="0" rtlCol="0" anchor="ctr"/>
          <a:lstStyle/>
          <a:p>
            <a:pPr marL="0" indent="0">
              <a:buNone/>
            </a:pPr>
            <a:r>
              <a:rPr lang="en-US" sz="800" b="1" dirty="0">
                <a:solidFill>
                  <a:srgbClr val="0F2F44"/>
                </a:solidFill>
                <a:latin typeface="Calibri" pitchFamily="34" charset="0"/>
                <a:ea typeface="Calibri" pitchFamily="34" charset="-122"/>
                <a:cs typeface="Calibri" pitchFamily="34" charset="-120"/>
              </a:rPr>
              <a:t>Open a case on the Graph</a:t>
            </a:r>
            <a:endParaRPr lang="en-US" sz="800" dirty="0"/>
          </a:p>
        </p:txBody>
      </p:sp>
      <p:sp>
        <p:nvSpPr>
          <p:cNvPr id="38" name="Text 35"/>
          <p:cNvSpPr txBox="1"/>
          <p:nvPr/>
        </p:nvSpPr>
        <p:spPr>
          <a:xfrm>
            <a:off x="2395728" y="4407408"/>
            <a:ext cx="1298448" cy="292608"/>
          </a:xfrm>
          <a:prstGeom prst="rect">
            <a:avLst/>
          </a:prstGeom>
          <a:noFill/>
          <a:ln/>
        </p:spPr>
        <p:txBody>
          <a:bodyPr wrap="square" lIns="0" tIns="0" rIns="0" bIns="0" rtlCol="0" anchor="t"/>
          <a:lstStyle/>
          <a:p>
            <a:pPr marL="0" indent="0">
              <a:lnSpc>
                <a:spcPct val="98000"/>
              </a:lnSpc>
              <a:buNone/>
            </a:pPr>
            <a:r>
              <a:rPr lang="en-US" sz="700" dirty="0">
                <a:solidFill>
                  <a:srgbClr val="5B6B7C"/>
                </a:solidFill>
                <a:latin typeface="Calibri" pitchFamily="34" charset="0"/>
                <a:ea typeface="Calibri" pitchFamily="34" charset="-122"/>
                <a:cs typeface="Calibri" pitchFamily="34" charset="-120"/>
              </a:rPr>
              <a:t>click an edge; it names what matched</a:t>
            </a:r>
            <a:endParaRPr lang="en-US" sz="700" dirty="0"/>
          </a:p>
        </p:txBody>
      </p:sp>
      <p:sp>
        <p:nvSpPr>
          <p:cNvPr id="39" name="Shape 36"/>
          <p:cNvSpPr/>
          <p:nvPr/>
        </p:nvSpPr>
        <p:spPr>
          <a:xfrm>
            <a:off x="3749040" y="4206240"/>
            <a:ext cx="201168" cy="201168"/>
          </a:xfrm>
          <a:prstGeom prst="ellipse">
            <a:avLst/>
          </a:prstGeom>
          <a:solidFill>
            <a:srgbClr val="E8871E"/>
          </a:solidFill>
          <a:ln w="12700">
            <a:solidFill>
              <a:srgbClr val="E8871E"/>
            </a:solidFill>
            <a:prstDash val="solid"/>
          </a:ln>
        </p:spPr>
        <p:txBody>
          <a:bodyPr/>
          <a:lstStyle/>
          <a:p>
            <a:endParaRPr lang="en-US"/>
          </a:p>
        </p:txBody>
      </p:sp>
      <p:sp>
        <p:nvSpPr>
          <p:cNvPr id="40" name="Text 37"/>
          <p:cNvSpPr txBox="1"/>
          <p:nvPr/>
        </p:nvSpPr>
        <p:spPr>
          <a:xfrm>
            <a:off x="3749040" y="4206240"/>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41" name="Text 38"/>
          <p:cNvSpPr txBox="1"/>
          <p:nvPr/>
        </p:nvSpPr>
        <p:spPr>
          <a:xfrm>
            <a:off x="4005072" y="4187952"/>
            <a:ext cx="1298448" cy="219456"/>
          </a:xfrm>
          <a:prstGeom prst="rect">
            <a:avLst/>
          </a:prstGeom>
          <a:noFill/>
          <a:ln/>
        </p:spPr>
        <p:txBody>
          <a:bodyPr wrap="square" lIns="0" tIns="0" rIns="0" bIns="0" rtlCol="0" anchor="ctr"/>
          <a:lstStyle/>
          <a:p>
            <a:pPr marL="0" indent="0">
              <a:buNone/>
            </a:pPr>
            <a:r>
              <a:rPr lang="en-US" sz="800" b="1" dirty="0">
                <a:solidFill>
                  <a:srgbClr val="0F2F44"/>
                </a:solidFill>
                <a:latin typeface="Calibri" pitchFamily="34" charset="0"/>
                <a:ea typeface="Calibri" pitchFamily="34" charset="-122"/>
                <a:cs typeface="Calibri" pitchFamily="34" charset="-120"/>
              </a:rPr>
              <a:t>Sign back in as a station SI</a:t>
            </a:r>
            <a:endParaRPr lang="en-US" sz="800" dirty="0"/>
          </a:p>
        </p:txBody>
      </p:sp>
      <p:sp>
        <p:nvSpPr>
          <p:cNvPr id="42" name="Text 39"/>
          <p:cNvSpPr txBox="1"/>
          <p:nvPr/>
        </p:nvSpPr>
        <p:spPr>
          <a:xfrm>
            <a:off x="4005072" y="4407408"/>
            <a:ext cx="1298448" cy="292608"/>
          </a:xfrm>
          <a:prstGeom prst="rect">
            <a:avLst/>
          </a:prstGeom>
          <a:noFill/>
          <a:ln/>
        </p:spPr>
        <p:txBody>
          <a:bodyPr wrap="square" lIns="0" tIns="0" rIns="0" bIns="0" rtlCol="0" anchor="t"/>
          <a:lstStyle/>
          <a:p>
            <a:pPr marL="0" indent="0">
              <a:lnSpc>
                <a:spcPct val="98000"/>
              </a:lnSpc>
              <a:buNone/>
            </a:pPr>
            <a:r>
              <a:rPr lang="en-US" sz="700" dirty="0">
                <a:solidFill>
                  <a:srgbClr val="5B6B7C"/>
                </a:solidFill>
                <a:latin typeface="Calibri" pitchFamily="34" charset="0"/>
                <a:ea typeface="Calibri" pitchFamily="34" charset="-122"/>
                <a:cs typeface="Calibri" pitchFamily="34" charset="-120"/>
              </a:rPr>
              <a:t>the same case is now refused</a:t>
            </a:r>
            <a:endParaRPr lang="en-US" sz="700" dirty="0"/>
          </a:p>
        </p:txBody>
      </p:sp>
      <p:sp>
        <p:nvSpPr>
          <p:cNvPr id="43" name="Shape 40"/>
          <p:cNvSpPr/>
          <p:nvPr/>
        </p:nvSpPr>
        <p:spPr>
          <a:xfrm>
            <a:off x="5559552" y="3877056"/>
            <a:ext cx="3200400" cy="914400"/>
          </a:xfrm>
          <a:prstGeom prst="roundRect">
            <a:avLst>
              <a:gd name="adj" fmla="val 6000"/>
            </a:avLst>
          </a:prstGeom>
          <a:solidFill>
            <a:srgbClr val="E4F5F3"/>
          </a:solidFill>
          <a:ln w="9525">
            <a:solidFill>
              <a:srgbClr val="BFE4E0"/>
            </a:solidFill>
            <a:prstDash val="solid"/>
          </a:ln>
        </p:spPr>
        <p:txBody>
          <a:bodyPr/>
          <a:lstStyle/>
          <a:p>
            <a:endParaRPr lang="en-US"/>
          </a:p>
        </p:txBody>
      </p:sp>
      <p:sp>
        <p:nvSpPr>
          <p:cNvPr id="44" name="Text 41"/>
          <p:cNvSpPr txBox="1"/>
          <p:nvPr/>
        </p:nvSpPr>
        <p:spPr>
          <a:xfrm>
            <a:off x="5687568" y="3931920"/>
            <a:ext cx="2944368" cy="201168"/>
          </a:xfrm>
          <a:prstGeom prst="rect">
            <a:avLst/>
          </a:prstGeom>
          <a:noFill/>
          <a:ln/>
        </p:spPr>
        <p:txBody>
          <a:bodyPr wrap="square" lIns="0" tIns="0" rIns="0" bIns="0" rtlCol="0" anchor="ctr"/>
          <a:lstStyle/>
          <a:p>
            <a:pPr marL="0" indent="0">
              <a:buNone/>
            </a:pPr>
            <a:r>
              <a:rPr lang="en-US" sz="1000" b="1" dirty="0">
                <a:solidFill>
                  <a:srgbClr val="2FA8A0"/>
                </a:solidFill>
                <a:latin typeface="Calibri" pitchFamily="34" charset="0"/>
                <a:ea typeface="Calibri" pitchFamily="34" charset="-122"/>
                <a:cs typeface="Calibri" pitchFamily="34" charset="-120"/>
              </a:rPr>
              <a:t>Built in the open, entirely on Catalyst</a:t>
            </a:r>
            <a:endParaRPr lang="en-US" sz="1000" dirty="0"/>
          </a:p>
        </p:txBody>
      </p:sp>
      <p:sp>
        <p:nvSpPr>
          <p:cNvPr id="45" name="Text 42"/>
          <p:cNvSpPr txBox="1"/>
          <p:nvPr/>
        </p:nvSpPr>
        <p:spPr>
          <a:xfrm>
            <a:off x="5687568" y="4151376"/>
            <a:ext cx="713232" cy="237744"/>
          </a:xfrm>
          <a:prstGeom prst="rect">
            <a:avLst/>
          </a:prstGeom>
          <a:noFill/>
          <a:ln/>
        </p:spPr>
        <p:txBody>
          <a:bodyPr wrap="square" lIns="0" tIns="0" rIns="0" bIns="0" rtlCol="0" anchor="ctr"/>
          <a:lstStyle/>
          <a:p>
            <a:pPr marL="0" indent="0">
              <a:buNone/>
            </a:pPr>
            <a:r>
              <a:rPr lang="en-US" sz="1150" b="1" dirty="0">
                <a:solidFill>
                  <a:srgbClr val="0F2F44"/>
                </a:solidFill>
                <a:latin typeface="Calibri" pitchFamily="34" charset="0"/>
                <a:ea typeface="Calibri" pitchFamily="34" charset="-122"/>
                <a:cs typeface="Calibri" pitchFamily="34" charset="-120"/>
              </a:rPr>
              <a:t>228</a:t>
            </a:r>
            <a:endParaRPr lang="en-US" sz="1150" dirty="0"/>
          </a:p>
        </p:txBody>
      </p:sp>
      <p:sp>
        <p:nvSpPr>
          <p:cNvPr id="46" name="Text 43"/>
          <p:cNvSpPr txBox="1"/>
          <p:nvPr/>
        </p:nvSpPr>
        <p:spPr>
          <a:xfrm>
            <a:off x="5687568" y="4379976"/>
            <a:ext cx="713232" cy="182880"/>
          </a:xfrm>
          <a:prstGeom prst="rect">
            <a:avLst/>
          </a:prstGeom>
          <a:noFill/>
          <a:ln/>
        </p:spPr>
        <p:txBody>
          <a:bodyPr wrap="square" lIns="0" tIns="0" rIns="0" bIns="0" rtlCol="0" anchor="t"/>
          <a:lstStyle/>
          <a:p>
            <a:pPr marL="0" indent="0">
              <a:buNone/>
            </a:pPr>
            <a:r>
              <a:rPr lang="en-US" sz="680" dirty="0">
                <a:solidFill>
                  <a:srgbClr val="5B6B7C"/>
                </a:solidFill>
                <a:latin typeface="Calibri" pitchFamily="34" charset="0"/>
                <a:ea typeface="Calibri" pitchFamily="34" charset="-122"/>
                <a:cs typeface="Calibri" pitchFamily="34" charset="-120"/>
              </a:rPr>
              <a:t>commits</a:t>
            </a:r>
            <a:endParaRPr lang="en-US" sz="680" dirty="0"/>
          </a:p>
        </p:txBody>
      </p:sp>
      <p:sp>
        <p:nvSpPr>
          <p:cNvPr id="47" name="Text 44"/>
          <p:cNvSpPr txBox="1"/>
          <p:nvPr/>
        </p:nvSpPr>
        <p:spPr>
          <a:xfrm>
            <a:off x="6437376" y="4151376"/>
            <a:ext cx="713232" cy="237744"/>
          </a:xfrm>
          <a:prstGeom prst="rect">
            <a:avLst/>
          </a:prstGeom>
          <a:noFill/>
          <a:ln/>
        </p:spPr>
        <p:txBody>
          <a:bodyPr wrap="square" lIns="0" tIns="0" rIns="0" bIns="0" rtlCol="0" anchor="ctr"/>
          <a:lstStyle/>
          <a:p>
            <a:pPr marL="0" indent="0">
              <a:buNone/>
            </a:pPr>
            <a:r>
              <a:rPr lang="en-US" sz="1150" b="1" dirty="0">
                <a:solidFill>
                  <a:srgbClr val="0F2F44"/>
                </a:solidFill>
                <a:latin typeface="Calibri" pitchFamily="34" charset="0"/>
                <a:ea typeface="Calibri" pitchFamily="34" charset="-122"/>
                <a:cs typeface="Calibri" pitchFamily="34" charset="-120"/>
              </a:rPr>
              <a:t>49</a:t>
            </a:r>
            <a:endParaRPr lang="en-US" sz="1150" dirty="0"/>
          </a:p>
        </p:txBody>
      </p:sp>
      <p:sp>
        <p:nvSpPr>
          <p:cNvPr id="48" name="Text 45"/>
          <p:cNvSpPr txBox="1"/>
          <p:nvPr/>
        </p:nvSpPr>
        <p:spPr>
          <a:xfrm>
            <a:off x="6437376" y="4379976"/>
            <a:ext cx="713232" cy="182880"/>
          </a:xfrm>
          <a:prstGeom prst="rect">
            <a:avLst/>
          </a:prstGeom>
          <a:noFill/>
          <a:ln/>
        </p:spPr>
        <p:txBody>
          <a:bodyPr wrap="square" lIns="0" tIns="0" rIns="0" bIns="0" rtlCol="0" anchor="t"/>
          <a:lstStyle/>
          <a:p>
            <a:pPr marL="0" indent="0">
              <a:buNone/>
            </a:pPr>
            <a:r>
              <a:rPr lang="en-US" sz="680" dirty="0">
                <a:solidFill>
                  <a:srgbClr val="5B6B7C"/>
                </a:solidFill>
                <a:latin typeface="Calibri" pitchFamily="34" charset="0"/>
                <a:ea typeface="Calibri" pitchFamily="34" charset="-122"/>
                <a:cs typeface="Calibri" pitchFamily="34" charset="-120"/>
              </a:rPr>
              <a:t>days</a:t>
            </a:r>
            <a:endParaRPr lang="en-US" sz="680" dirty="0"/>
          </a:p>
        </p:txBody>
      </p:sp>
      <p:sp>
        <p:nvSpPr>
          <p:cNvPr id="49" name="Text 46"/>
          <p:cNvSpPr txBox="1"/>
          <p:nvPr/>
        </p:nvSpPr>
        <p:spPr>
          <a:xfrm>
            <a:off x="7187184" y="4151376"/>
            <a:ext cx="713232" cy="237744"/>
          </a:xfrm>
          <a:prstGeom prst="rect">
            <a:avLst/>
          </a:prstGeom>
          <a:noFill/>
          <a:ln/>
        </p:spPr>
        <p:txBody>
          <a:bodyPr wrap="square" lIns="0" tIns="0" rIns="0" bIns="0" rtlCol="0" anchor="ctr"/>
          <a:lstStyle/>
          <a:p>
            <a:pPr marL="0" indent="0">
              <a:buNone/>
            </a:pPr>
            <a:r>
              <a:rPr lang="en-US" sz="1150" b="1" dirty="0">
                <a:solidFill>
                  <a:srgbClr val="0F2F44"/>
                </a:solidFill>
                <a:latin typeface="Calibri" pitchFamily="34" charset="0"/>
                <a:ea typeface="Calibri" pitchFamily="34" charset="-122"/>
                <a:cs typeface="Calibri" pitchFamily="34" charset="-120"/>
              </a:rPr>
              <a:t>103</a:t>
            </a:r>
            <a:endParaRPr lang="en-US" sz="1150" dirty="0"/>
          </a:p>
        </p:txBody>
      </p:sp>
      <p:sp>
        <p:nvSpPr>
          <p:cNvPr id="50" name="Text 47"/>
          <p:cNvSpPr txBox="1"/>
          <p:nvPr/>
        </p:nvSpPr>
        <p:spPr>
          <a:xfrm>
            <a:off x="7187184" y="4379976"/>
            <a:ext cx="713232" cy="182880"/>
          </a:xfrm>
          <a:prstGeom prst="rect">
            <a:avLst/>
          </a:prstGeom>
          <a:noFill/>
          <a:ln/>
        </p:spPr>
        <p:txBody>
          <a:bodyPr wrap="square" lIns="0" tIns="0" rIns="0" bIns="0" rtlCol="0" anchor="t"/>
          <a:lstStyle/>
          <a:p>
            <a:pPr marL="0" indent="0">
              <a:buNone/>
            </a:pPr>
            <a:r>
              <a:rPr lang="en-US" sz="680" dirty="0">
                <a:solidFill>
                  <a:srgbClr val="5B6B7C"/>
                </a:solidFill>
                <a:latin typeface="Calibri" pitchFamily="34" charset="0"/>
                <a:ea typeface="Calibri" pitchFamily="34" charset="-122"/>
                <a:cs typeface="Calibri" pitchFamily="34" charset="-120"/>
              </a:rPr>
              <a:t>tests</a:t>
            </a:r>
            <a:endParaRPr lang="en-US" sz="680" dirty="0"/>
          </a:p>
        </p:txBody>
      </p:sp>
      <p:sp>
        <p:nvSpPr>
          <p:cNvPr id="51" name="Text 48"/>
          <p:cNvSpPr txBox="1"/>
          <p:nvPr/>
        </p:nvSpPr>
        <p:spPr>
          <a:xfrm>
            <a:off x="7936992" y="4151376"/>
            <a:ext cx="713232" cy="237744"/>
          </a:xfrm>
          <a:prstGeom prst="rect">
            <a:avLst/>
          </a:prstGeom>
          <a:noFill/>
          <a:ln/>
        </p:spPr>
        <p:txBody>
          <a:bodyPr wrap="square" lIns="0" tIns="0" rIns="0" bIns="0" rtlCol="0" anchor="ctr"/>
          <a:lstStyle/>
          <a:p>
            <a:pPr marL="0" indent="0">
              <a:buNone/>
            </a:pPr>
            <a:r>
              <a:rPr lang="en-US" sz="1150" b="1" dirty="0">
                <a:solidFill>
                  <a:srgbClr val="0F2F44"/>
                </a:solidFill>
                <a:latin typeface="Calibri" pitchFamily="34" charset="0"/>
                <a:ea typeface="Calibri" pitchFamily="34" charset="-122"/>
                <a:cs typeface="Calibri" pitchFamily="34" charset="-120"/>
              </a:rPr>
              <a:t>16</a:t>
            </a:r>
            <a:endParaRPr lang="en-US" sz="1150" dirty="0"/>
          </a:p>
        </p:txBody>
      </p:sp>
      <p:sp>
        <p:nvSpPr>
          <p:cNvPr id="52" name="Text 49"/>
          <p:cNvSpPr txBox="1"/>
          <p:nvPr/>
        </p:nvSpPr>
        <p:spPr>
          <a:xfrm>
            <a:off x="7936992" y="4379976"/>
            <a:ext cx="713232" cy="182880"/>
          </a:xfrm>
          <a:prstGeom prst="rect">
            <a:avLst/>
          </a:prstGeom>
          <a:noFill/>
          <a:ln/>
        </p:spPr>
        <p:txBody>
          <a:bodyPr wrap="square" lIns="0" tIns="0" rIns="0" bIns="0" rtlCol="0" anchor="t"/>
          <a:lstStyle/>
          <a:p>
            <a:pPr marL="0" indent="0">
              <a:buNone/>
            </a:pPr>
            <a:r>
              <a:rPr lang="en-US" sz="680" dirty="0">
                <a:solidFill>
                  <a:srgbClr val="5B6B7C"/>
                </a:solidFill>
                <a:latin typeface="Calibri" pitchFamily="34" charset="0"/>
                <a:ea typeface="Calibri" pitchFamily="34" charset="-122"/>
                <a:cs typeface="Calibri" pitchFamily="34" charset="-120"/>
              </a:rPr>
              <a:t>docs</a:t>
            </a:r>
            <a:endParaRPr lang="en-US" sz="680" dirty="0"/>
          </a:p>
        </p:txBody>
      </p:sp>
      <p:sp>
        <p:nvSpPr>
          <p:cNvPr id="53" name="Text 50"/>
          <p:cNvSpPr txBox="1"/>
          <p:nvPr/>
        </p:nvSpPr>
        <p:spPr>
          <a:xfrm>
            <a:off x="5687568" y="4548753"/>
            <a:ext cx="2944368" cy="201168"/>
          </a:xfrm>
          <a:prstGeom prst="rect">
            <a:avLst/>
          </a:prstGeom>
          <a:noFill/>
          <a:ln/>
        </p:spPr>
        <p:txBody>
          <a:bodyPr wrap="square" lIns="0" tIns="0" rIns="0" bIns="0" rtlCol="0" anchor="t"/>
          <a:lstStyle/>
          <a:p>
            <a:pPr marL="0" indent="0">
              <a:lnSpc>
                <a:spcPct val="100000"/>
              </a:lnSpc>
              <a:buNone/>
            </a:pPr>
            <a:r>
              <a:rPr lang="en-US" sz="800" dirty="0">
                <a:solidFill>
                  <a:srgbClr val="5B6B7C"/>
                </a:solidFill>
                <a:latin typeface="Calibri" pitchFamily="34" charset="0"/>
                <a:ea typeface="Calibri" pitchFamily="34" charset="-122"/>
                <a:cs typeface="Calibri" pitchFamily="34" charset="-120"/>
              </a:rPr>
              <a:t>Client, API, Python analytics, nightly job, database and file storage are all Catalyst services.</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ivate/tmp/claude-501/-Users-adarsh-Desktop-Projects-KadiLabs/1a0b3114-7a5c-4b08-a5d4-f9d8371eeea4/scratchpad/deck/bg-content.png"/>
          <p:cNvPicPr>
            <a:picLocks noChangeAspect="1"/>
          </p:cNvPicPr>
          <p:nvPr/>
        </p:nvPicPr>
        <p:blipFill>
          <a:blip r:embed="rId3"/>
          <a:stretch>
            <a:fillRect/>
          </a:stretch>
        </p:blipFill>
        <p:spPr>
          <a:xfrm>
            <a:off x="0" y="0"/>
            <a:ext cx="9144000" cy="5143500"/>
          </a:xfrm>
          <a:prstGeom prst="rect">
            <a:avLst/>
          </a:prstGeom>
        </p:spPr>
      </p:pic>
      <p:sp>
        <p:nvSpPr>
          <p:cNvPr id="3" name="Text 0"/>
          <p:cNvSpPr txBox="1"/>
          <p:nvPr/>
        </p:nvSpPr>
        <p:spPr>
          <a:xfrm>
            <a:off x="384048" y="603504"/>
            <a:ext cx="8375904" cy="365760"/>
          </a:xfrm>
          <a:prstGeom prst="rect">
            <a:avLst/>
          </a:prstGeom>
          <a:noFill/>
          <a:ln/>
        </p:spPr>
        <p:txBody>
          <a:bodyPr wrap="square" lIns="0" tIns="0" rIns="0" bIns="0" rtlCol="0" anchor="t"/>
          <a:lstStyle/>
          <a:p>
            <a:pPr marL="0" indent="0">
              <a:buNone/>
            </a:pPr>
            <a:r>
              <a:rPr lang="en-US" sz="2100" b="1" dirty="0">
                <a:solidFill>
                  <a:srgbClr val="0F2F44"/>
                </a:solidFill>
                <a:latin typeface="Calibri" pitchFamily="34" charset="0"/>
                <a:ea typeface="Calibri" pitchFamily="34" charset="-122"/>
                <a:cs typeface="Calibri" pitchFamily="34" charset="-120"/>
              </a:rPr>
              <a:t>Additional details &amp; future development</a:t>
            </a:r>
            <a:endParaRPr lang="en-US" sz="2100" dirty="0"/>
          </a:p>
        </p:txBody>
      </p:sp>
      <p:sp>
        <p:nvSpPr>
          <p:cNvPr id="4" name="Text 1"/>
          <p:cNvSpPr txBox="1"/>
          <p:nvPr/>
        </p:nvSpPr>
        <p:spPr>
          <a:xfrm>
            <a:off x="384048" y="969264"/>
            <a:ext cx="8375904" cy="237744"/>
          </a:xfrm>
          <a:prstGeom prst="rect">
            <a:avLst/>
          </a:prstGeom>
          <a:noFill/>
          <a:ln/>
        </p:spPr>
        <p:txBody>
          <a:bodyPr wrap="square" lIns="0" tIns="0" rIns="0" bIns="0" rtlCol="0" anchor="t"/>
          <a:lstStyle/>
          <a:p>
            <a:pPr marL="0" indent="0">
              <a:buNone/>
            </a:pPr>
            <a:r>
              <a:rPr lang="en-US" sz="1100" dirty="0">
                <a:solidFill>
                  <a:srgbClr val="5B6B7C"/>
                </a:solidFill>
                <a:latin typeface="Calibri" pitchFamily="34" charset="0"/>
                <a:ea typeface="Calibri" pitchFamily="34" charset="-122"/>
                <a:cs typeface="Calibri" pitchFamily="34" charset="-120"/>
              </a:rPr>
              <a:t>Six items, in priority order — each one a swap behind an interface that already exists</a:t>
            </a:r>
            <a:endParaRPr lang="en-US" sz="1100" dirty="0"/>
          </a:p>
        </p:txBody>
      </p:sp>
      <p:sp>
        <p:nvSpPr>
          <p:cNvPr id="5" name="Shape 2"/>
          <p:cNvSpPr/>
          <p:nvPr/>
        </p:nvSpPr>
        <p:spPr>
          <a:xfrm>
            <a:off x="384048" y="1207008"/>
            <a:ext cx="2688336" cy="987552"/>
          </a:xfrm>
          <a:prstGeom prst="roundRect">
            <a:avLst>
              <a:gd name="adj" fmla="val 5556"/>
            </a:avLst>
          </a:prstGeom>
          <a:solidFill>
            <a:srgbClr val="FFFFFF"/>
          </a:solidFill>
          <a:ln w="9525">
            <a:solidFill>
              <a:srgbClr val="DCE3EC"/>
            </a:solidFill>
            <a:prstDash val="solid"/>
          </a:ln>
        </p:spPr>
        <p:txBody>
          <a:bodyPr/>
          <a:lstStyle/>
          <a:p>
            <a:endParaRPr lang="en-US"/>
          </a:p>
        </p:txBody>
      </p:sp>
      <p:sp>
        <p:nvSpPr>
          <p:cNvPr id="6" name="Shape 3"/>
          <p:cNvSpPr/>
          <p:nvPr/>
        </p:nvSpPr>
        <p:spPr>
          <a:xfrm>
            <a:off x="493776" y="1298448"/>
            <a:ext cx="237744" cy="237744"/>
          </a:xfrm>
          <a:prstGeom prst="ellipse">
            <a:avLst/>
          </a:prstGeom>
          <a:solidFill>
            <a:srgbClr val="1A6FC4"/>
          </a:solidFill>
          <a:ln w="12700">
            <a:solidFill>
              <a:srgbClr val="1A6FC4"/>
            </a:solidFill>
            <a:prstDash val="solid"/>
          </a:ln>
        </p:spPr>
        <p:txBody>
          <a:bodyPr/>
          <a:lstStyle/>
          <a:p>
            <a:endParaRPr lang="en-US"/>
          </a:p>
        </p:txBody>
      </p:sp>
      <p:sp>
        <p:nvSpPr>
          <p:cNvPr id="7" name="Text 4"/>
          <p:cNvSpPr txBox="1"/>
          <p:nvPr/>
        </p:nvSpPr>
        <p:spPr>
          <a:xfrm>
            <a:off x="493776" y="1298448"/>
            <a:ext cx="237744"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1</a:t>
            </a:r>
            <a:endParaRPr lang="en-US" sz="950" dirty="0"/>
          </a:p>
        </p:txBody>
      </p:sp>
      <p:sp>
        <p:nvSpPr>
          <p:cNvPr id="8" name="Text 5"/>
          <p:cNvSpPr txBox="1"/>
          <p:nvPr/>
        </p:nvSpPr>
        <p:spPr>
          <a:xfrm>
            <a:off x="804672" y="1289304"/>
            <a:ext cx="1517904" cy="256032"/>
          </a:xfrm>
          <a:prstGeom prst="rect">
            <a:avLst/>
          </a:prstGeom>
          <a:noFill/>
          <a:ln/>
        </p:spPr>
        <p:txBody>
          <a:bodyPr wrap="square" lIns="0" tIns="0" rIns="0" bIns="0" rtlCol="0" anchor="ctr"/>
          <a:lstStyle/>
          <a:p>
            <a:pPr marL="0" indent="0">
              <a:lnSpc>
                <a:spcPct val="95000"/>
              </a:lnSpc>
              <a:buNone/>
            </a:pPr>
            <a:r>
              <a:rPr lang="en-US" sz="860" b="1" dirty="0">
                <a:solidFill>
                  <a:srgbClr val="0F2F44"/>
                </a:solidFill>
                <a:latin typeface="Calibri" pitchFamily="34" charset="0"/>
                <a:ea typeface="Calibri" pitchFamily="34" charset="-122"/>
                <a:cs typeface="Calibri" pitchFamily="34" charset="-120"/>
              </a:rPr>
              <a:t>Read the register from Data Store</a:t>
            </a:r>
            <a:endParaRPr lang="en-US" sz="860" dirty="0"/>
          </a:p>
        </p:txBody>
      </p:sp>
      <p:sp>
        <p:nvSpPr>
          <p:cNvPr id="9" name="Shape 6"/>
          <p:cNvSpPr/>
          <p:nvPr/>
        </p:nvSpPr>
        <p:spPr>
          <a:xfrm>
            <a:off x="2340864" y="1335024"/>
            <a:ext cx="621792" cy="173736"/>
          </a:xfrm>
          <a:prstGeom prst="roundRect">
            <a:avLst>
              <a:gd name="adj" fmla="val 47368"/>
            </a:avLst>
          </a:prstGeom>
          <a:solidFill>
            <a:srgbClr val="1A6FC4"/>
          </a:solidFill>
          <a:ln w="12700">
            <a:solidFill>
              <a:srgbClr val="1A6FC4"/>
            </a:solidFill>
            <a:prstDash val="solid"/>
          </a:ln>
        </p:spPr>
        <p:txBody>
          <a:bodyPr/>
          <a:lstStyle/>
          <a:p>
            <a:endParaRPr lang="en-US"/>
          </a:p>
        </p:txBody>
      </p:sp>
      <p:sp>
        <p:nvSpPr>
          <p:cNvPr id="10" name="Text 7"/>
          <p:cNvSpPr txBox="1"/>
          <p:nvPr/>
        </p:nvSpPr>
        <p:spPr>
          <a:xfrm>
            <a:off x="2340864" y="1335024"/>
            <a:ext cx="621792" cy="173736"/>
          </a:xfrm>
          <a:prstGeom prst="rect">
            <a:avLst/>
          </a:prstGeom>
          <a:noFill/>
          <a:ln/>
        </p:spPr>
        <p:txBody>
          <a:bodyPr wrap="square" lIns="0" tIns="0" rIns="0" bIns="0" rtlCol="0" anchor="ctr"/>
          <a:lstStyle/>
          <a:p>
            <a:pPr marL="0" indent="0" algn="ctr">
              <a:buNone/>
            </a:pPr>
            <a:r>
              <a:rPr lang="en-US" sz="590" b="1" dirty="0">
                <a:solidFill>
                  <a:srgbClr val="FFFFFF"/>
                </a:solidFill>
                <a:latin typeface="Calibri" pitchFamily="34" charset="0"/>
                <a:ea typeface="Calibri" pitchFamily="34" charset="-122"/>
                <a:cs typeface="Calibri" pitchFamily="34" charset="-120"/>
              </a:rPr>
              <a:t>NEXT</a:t>
            </a:r>
            <a:endParaRPr lang="en-US" sz="590" dirty="0"/>
          </a:p>
        </p:txBody>
      </p:sp>
      <p:sp>
        <p:nvSpPr>
          <p:cNvPr id="11" name="Text 8"/>
          <p:cNvSpPr txBox="1"/>
          <p:nvPr/>
        </p:nvSpPr>
        <p:spPr>
          <a:xfrm>
            <a:off x="493776" y="1591056"/>
            <a:ext cx="2468880" cy="548640"/>
          </a:xfrm>
          <a:prstGeom prst="rect">
            <a:avLst/>
          </a:prstGeom>
          <a:noFill/>
          <a:ln/>
        </p:spPr>
        <p:txBody>
          <a:bodyPr wrap="square" lIns="0" tIns="0" rIns="0" bIns="0" rtlCol="0" anchor="t"/>
          <a:lstStyle/>
          <a:p>
            <a:pPr marL="0" indent="0">
              <a:lnSpc>
                <a:spcPct val="102000"/>
              </a:lnSpc>
              <a:buNone/>
            </a:pPr>
            <a:r>
              <a:rPr lang="en-US" sz="720" dirty="0">
                <a:solidFill>
                  <a:srgbClr val="5B6B7C"/>
                </a:solidFill>
                <a:latin typeface="Calibri" pitchFamily="34" charset="0"/>
                <a:ea typeface="Calibri" pitchFamily="34" charset="-122"/>
                <a:cs typeface="Calibri" pitchFamily="34" charset="-120"/>
              </a:rPr>
              <a:t>The 59,985 FIRs are already in Data Store and queryable via ZCQL — ?source=datastore proves it live. The default path serves a precomputed bundle for sub-100 ms response; swapping it sits behind the existing store interface.</a:t>
            </a:r>
            <a:endParaRPr lang="en-US" sz="720" dirty="0"/>
          </a:p>
        </p:txBody>
      </p:sp>
      <p:sp>
        <p:nvSpPr>
          <p:cNvPr id="12" name="Shape 9"/>
          <p:cNvSpPr/>
          <p:nvPr/>
        </p:nvSpPr>
        <p:spPr>
          <a:xfrm>
            <a:off x="3209544" y="1207008"/>
            <a:ext cx="2688336" cy="987552"/>
          </a:xfrm>
          <a:prstGeom prst="roundRect">
            <a:avLst>
              <a:gd name="adj" fmla="val 5556"/>
            </a:avLst>
          </a:prstGeom>
          <a:solidFill>
            <a:srgbClr val="FFFFFF"/>
          </a:solidFill>
          <a:ln w="9525">
            <a:solidFill>
              <a:srgbClr val="DCE3EC"/>
            </a:solidFill>
            <a:prstDash val="solid"/>
          </a:ln>
        </p:spPr>
        <p:txBody>
          <a:bodyPr/>
          <a:lstStyle/>
          <a:p>
            <a:endParaRPr lang="en-US"/>
          </a:p>
        </p:txBody>
      </p:sp>
      <p:sp>
        <p:nvSpPr>
          <p:cNvPr id="13" name="Shape 10"/>
          <p:cNvSpPr/>
          <p:nvPr/>
        </p:nvSpPr>
        <p:spPr>
          <a:xfrm>
            <a:off x="3319272" y="1298448"/>
            <a:ext cx="237744" cy="237744"/>
          </a:xfrm>
          <a:prstGeom prst="ellipse">
            <a:avLst/>
          </a:prstGeom>
          <a:solidFill>
            <a:srgbClr val="2FA8A0"/>
          </a:solidFill>
          <a:ln w="12700">
            <a:solidFill>
              <a:srgbClr val="2FA8A0"/>
            </a:solidFill>
            <a:prstDash val="solid"/>
          </a:ln>
        </p:spPr>
        <p:txBody>
          <a:bodyPr/>
          <a:lstStyle/>
          <a:p>
            <a:endParaRPr lang="en-US"/>
          </a:p>
        </p:txBody>
      </p:sp>
      <p:sp>
        <p:nvSpPr>
          <p:cNvPr id="14" name="Text 11"/>
          <p:cNvSpPr txBox="1"/>
          <p:nvPr/>
        </p:nvSpPr>
        <p:spPr>
          <a:xfrm>
            <a:off x="3319272" y="1298448"/>
            <a:ext cx="237744"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2</a:t>
            </a:r>
            <a:endParaRPr lang="en-US" sz="950" dirty="0"/>
          </a:p>
        </p:txBody>
      </p:sp>
      <p:sp>
        <p:nvSpPr>
          <p:cNvPr id="15" name="Text 12"/>
          <p:cNvSpPr txBox="1"/>
          <p:nvPr/>
        </p:nvSpPr>
        <p:spPr>
          <a:xfrm>
            <a:off x="3630168" y="1289304"/>
            <a:ext cx="1517904" cy="256032"/>
          </a:xfrm>
          <a:prstGeom prst="rect">
            <a:avLst/>
          </a:prstGeom>
          <a:noFill/>
          <a:ln/>
        </p:spPr>
        <p:txBody>
          <a:bodyPr wrap="square" lIns="0" tIns="0" rIns="0" bIns="0" rtlCol="0" anchor="ctr"/>
          <a:lstStyle/>
          <a:p>
            <a:pPr marL="0" indent="0">
              <a:lnSpc>
                <a:spcPct val="95000"/>
              </a:lnSpc>
              <a:buNone/>
            </a:pPr>
            <a:r>
              <a:rPr lang="en-US" sz="860" b="1" dirty="0">
                <a:solidFill>
                  <a:srgbClr val="0F2F44"/>
                </a:solidFill>
                <a:latin typeface="Calibri" pitchFamily="34" charset="0"/>
                <a:ea typeface="Calibri" pitchFamily="34" charset="-122"/>
                <a:cs typeface="Calibri" pitchFamily="34" charset="-120"/>
              </a:rPr>
              <a:t>Native-speaker Kannada review</a:t>
            </a:r>
            <a:endParaRPr lang="en-US" sz="860" dirty="0"/>
          </a:p>
        </p:txBody>
      </p:sp>
      <p:sp>
        <p:nvSpPr>
          <p:cNvPr id="16" name="Shape 13"/>
          <p:cNvSpPr/>
          <p:nvPr/>
        </p:nvSpPr>
        <p:spPr>
          <a:xfrm>
            <a:off x="5166360" y="1335024"/>
            <a:ext cx="621792" cy="173736"/>
          </a:xfrm>
          <a:prstGeom prst="roundRect">
            <a:avLst>
              <a:gd name="adj" fmla="val 47368"/>
            </a:avLst>
          </a:prstGeom>
          <a:solidFill>
            <a:srgbClr val="2FA8A0"/>
          </a:solidFill>
          <a:ln w="12700">
            <a:solidFill>
              <a:srgbClr val="2FA8A0"/>
            </a:solidFill>
            <a:prstDash val="solid"/>
          </a:ln>
        </p:spPr>
        <p:txBody>
          <a:bodyPr/>
          <a:lstStyle/>
          <a:p>
            <a:endParaRPr lang="en-US"/>
          </a:p>
        </p:txBody>
      </p:sp>
      <p:sp>
        <p:nvSpPr>
          <p:cNvPr id="17" name="Text 14"/>
          <p:cNvSpPr txBox="1"/>
          <p:nvPr/>
        </p:nvSpPr>
        <p:spPr>
          <a:xfrm>
            <a:off x="5166360" y="1335024"/>
            <a:ext cx="621792" cy="173736"/>
          </a:xfrm>
          <a:prstGeom prst="rect">
            <a:avLst/>
          </a:prstGeom>
          <a:noFill/>
          <a:ln/>
        </p:spPr>
        <p:txBody>
          <a:bodyPr wrap="square" lIns="0" tIns="0" rIns="0" bIns="0" rtlCol="0" anchor="ctr"/>
          <a:lstStyle/>
          <a:p>
            <a:pPr marL="0" indent="0" algn="ctr">
              <a:buNone/>
            </a:pPr>
            <a:r>
              <a:rPr lang="en-US" sz="590" b="1" dirty="0">
                <a:solidFill>
                  <a:srgbClr val="FFFFFF"/>
                </a:solidFill>
                <a:latin typeface="Calibri" pitchFamily="34" charset="0"/>
                <a:ea typeface="Calibri" pitchFamily="34" charset="-122"/>
                <a:cs typeface="Calibri" pitchFamily="34" charset="-120"/>
              </a:rPr>
              <a:t>READY</a:t>
            </a:r>
            <a:endParaRPr lang="en-US" sz="590" dirty="0"/>
          </a:p>
        </p:txBody>
      </p:sp>
      <p:sp>
        <p:nvSpPr>
          <p:cNvPr id="18" name="Text 15"/>
          <p:cNvSpPr txBox="1"/>
          <p:nvPr/>
        </p:nvSpPr>
        <p:spPr>
          <a:xfrm>
            <a:off x="3319272" y="1591056"/>
            <a:ext cx="2468880" cy="548640"/>
          </a:xfrm>
          <a:prstGeom prst="rect">
            <a:avLst/>
          </a:prstGeom>
          <a:noFill/>
          <a:ln/>
        </p:spPr>
        <p:txBody>
          <a:bodyPr wrap="square" lIns="0" tIns="0" rIns="0" bIns="0" rtlCol="0" anchor="t"/>
          <a:lstStyle/>
          <a:p>
            <a:pPr marL="0" indent="0">
              <a:lnSpc>
                <a:spcPct val="102000"/>
              </a:lnSpc>
              <a:buNone/>
            </a:pPr>
            <a:r>
              <a:rPr lang="en-US" sz="720" dirty="0">
                <a:solidFill>
                  <a:srgbClr val="5B6B7C"/>
                </a:solidFill>
                <a:latin typeface="Calibri" pitchFamily="34" charset="0"/>
                <a:ea typeface="Calibri" pitchFamily="34" charset="-122"/>
                <a:cs typeface="Calibri" pitchFamily="34" charset="-120"/>
              </a:rPr>
              <a:t>The instrument exists and is live: any officer can correct a string in ten seconds and it applies for everyone, attributed and reversible. What remains is the review itself, not the tooling.</a:t>
            </a:r>
            <a:endParaRPr lang="en-US" sz="720" dirty="0"/>
          </a:p>
        </p:txBody>
      </p:sp>
      <p:sp>
        <p:nvSpPr>
          <p:cNvPr id="19" name="Shape 16"/>
          <p:cNvSpPr/>
          <p:nvPr/>
        </p:nvSpPr>
        <p:spPr>
          <a:xfrm>
            <a:off x="6035040" y="1207008"/>
            <a:ext cx="2688336" cy="987552"/>
          </a:xfrm>
          <a:prstGeom prst="roundRect">
            <a:avLst>
              <a:gd name="adj" fmla="val 5556"/>
            </a:avLst>
          </a:prstGeom>
          <a:solidFill>
            <a:srgbClr val="FFFFFF"/>
          </a:solidFill>
          <a:ln w="9525">
            <a:solidFill>
              <a:srgbClr val="DCE3EC"/>
            </a:solidFill>
            <a:prstDash val="solid"/>
          </a:ln>
        </p:spPr>
        <p:txBody>
          <a:bodyPr/>
          <a:lstStyle/>
          <a:p>
            <a:endParaRPr lang="en-US"/>
          </a:p>
        </p:txBody>
      </p:sp>
      <p:sp>
        <p:nvSpPr>
          <p:cNvPr id="20" name="Shape 17"/>
          <p:cNvSpPr/>
          <p:nvPr/>
        </p:nvSpPr>
        <p:spPr>
          <a:xfrm>
            <a:off x="6144768" y="1298448"/>
            <a:ext cx="237744" cy="237744"/>
          </a:xfrm>
          <a:prstGeom prst="ellipse">
            <a:avLst/>
          </a:prstGeom>
          <a:solidFill>
            <a:srgbClr val="6D4C9F"/>
          </a:solidFill>
          <a:ln w="12700">
            <a:solidFill>
              <a:srgbClr val="6D4C9F"/>
            </a:solidFill>
            <a:prstDash val="solid"/>
          </a:ln>
        </p:spPr>
        <p:txBody>
          <a:bodyPr/>
          <a:lstStyle/>
          <a:p>
            <a:endParaRPr lang="en-US"/>
          </a:p>
        </p:txBody>
      </p:sp>
      <p:sp>
        <p:nvSpPr>
          <p:cNvPr id="21" name="Text 18"/>
          <p:cNvSpPr txBox="1"/>
          <p:nvPr/>
        </p:nvSpPr>
        <p:spPr>
          <a:xfrm>
            <a:off x="6144768" y="1298448"/>
            <a:ext cx="237744"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3</a:t>
            </a:r>
            <a:endParaRPr lang="en-US" sz="950" dirty="0"/>
          </a:p>
        </p:txBody>
      </p:sp>
      <p:sp>
        <p:nvSpPr>
          <p:cNvPr id="22" name="Text 19"/>
          <p:cNvSpPr txBox="1"/>
          <p:nvPr/>
        </p:nvSpPr>
        <p:spPr>
          <a:xfrm>
            <a:off x="6455664" y="1289304"/>
            <a:ext cx="1517904" cy="256032"/>
          </a:xfrm>
          <a:prstGeom prst="rect">
            <a:avLst/>
          </a:prstGeom>
          <a:noFill/>
          <a:ln/>
        </p:spPr>
        <p:txBody>
          <a:bodyPr wrap="square" lIns="0" tIns="0" rIns="0" bIns="0" rtlCol="0" anchor="ctr"/>
          <a:lstStyle/>
          <a:p>
            <a:pPr marL="0" indent="0">
              <a:lnSpc>
                <a:spcPct val="95000"/>
              </a:lnSpc>
              <a:buNone/>
            </a:pPr>
            <a:r>
              <a:rPr lang="en-US" sz="860" b="1" dirty="0">
                <a:solidFill>
                  <a:srgbClr val="0F2F44"/>
                </a:solidFill>
                <a:latin typeface="Calibri" pitchFamily="34" charset="0"/>
                <a:ea typeface="Calibri" pitchFamily="34" charset="-122"/>
                <a:cs typeface="Calibri" pitchFamily="34" charset="-120"/>
              </a:rPr>
              <a:t>Incremental recompute on insert</a:t>
            </a:r>
            <a:endParaRPr lang="en-US" sz="860" dirty="0"/>
          </a:p>
        </p:txBody>
      </p:sp>
      <p:sp>
        <p:nvSpPr>
          <p:cNvPr id="23" name="Shape 20"/>
          <p:cNvSpPr/>
          <p:nvPr/>
        </p:nvSpPr>
        <p:spPr>
          <a:xfrm>
            <a:off x="7991856" y="1335024"/>
            <a:ext cx="621792" cy="173736"/>
          </a:xfrm>
          <a:prstGeom prst="roundRect">
            <a:avLst>
              <a:gd name="adj" fmla="val 47368"/>
            </a:avLst>
          </a:prstGeom>
          <a:solidFill>
            <a:srgbClr val="6D4C9F"/>
          </a:solidFill>
          <a:ln w="12700">
            <a:solidFill>
              <a:srgbClr val="6D4C9F"/>
            </a:solidFill>
            <a:prstDash val="solid"/>
          </a:ln>
        </p:spPr>
        <p:txBody>
          <a:bodyPr/>
          <a:lstStyle/>
          <a:p>
            <a:endParaRPr lang="en-US"/>
          </a:p>
        </p:txBody>
      </p:sp>
      <p:sp>
        <p:nvSpPr>
          <p:cNvPr id="24" name="Text 21"/>
          <p:cNvSpPr txBox="1"/>
          <p:nvPr/>
        </p:nvSpPr>
        <p:spPr>
          <a:xfrm>
            <a:off x="7991856" y="1335024"/>
            <a:ext cx="621792" cy="173736"/>
          </a:xfrm>
          <a:prstGeom prst="rect">
            <a:avLst/>
          </a:prstGeom>
          <a:noFill/>
          <a:ln/>
        </p:spPr>
        <p:txBody>
          <a:bodyPr wrap="square" lIns="0" tIns="0" rIns="0" bIns="0" rtlCol="0" anchor="ctr"/>
          <a:lstStyle/>
          <a:p>
            <a:pPr marL="0" indent="0" algn="ctr">
              <a:buNone/>
            </a:pPr>
            <a:r>
              <a:rPr lang="en-US" sz="590" b="1" dirty="0">
                <a:solidFill>
                  <a:srgbClr val="FFFFFF"/>
                </a:solidFill>
                <a:latin typeface="Calibri" pitchFamily="34" charset="0"/>
                <a:ea typeface="Calibri" pitchFamily="34" charset="-122"/>
                <a:cs typeface="Calibri" pitchFamily="34" charset="-120"/>
              </a:rPr>
              <a:t>DESIGNED</a:t>
            </a:r>
            <a:endParaRPr lang="en-US" sz="590" dirty="0"/>
          </a:p>
        </p:txBody>
      </p:sp>
      <p:sp>
        <p:nvSpPr>
          <p:cNvPr id="25" name="Text 22"/>
          <p:cNvSpPr txBox="1"/>
          <p:nvPr/>
        </p:nvSpPr>
        <p:spPr>
          <a:xfrm>
            <a:off x="6144768" y="1591056"/>
            <a:ext cx="2468880" cy="548640"/>
          </a:xfrm>
          <a:prstGeom prst="rect">
            <a:avLst/>
          </a:prstGeom>
          <a:noFill/>
          <a:ln/>
        </p:spPr>
        <p:txBody>
          <a:bodyPr wrap="square" lIns="0" tIns="0" rIns="0" bIns="0" rtlCol="0" anchor="t"/>
          <a:lstStyle/>
          <a:p>
            <a:pPr marL="0" indent="0">
              <a:lnSpc>
                <a:spcPct val="102000"/>
              </a:lnSpc>
              <a:buNone/>
            </a:pPr>
            <a:r>
              <a:rPr lang="en-US" sz="720" dirty="0">
                <a:solidFill>
                  <a:srgbClr val="5B6B7C"/>
                </a:solidFill>
                <a:latin typeface="Calibri" pitchFamily="34" charset="0"/>
                <a:ea typeface="Calibri" pitchFamily="34" charset="-122"/>
                <a:cs typeface="Calibri" pitchFamily="34" charset="-120"/>
              </a:rPr>
              <a:t>The pipeline rebuilds nightly in 24.6 s. Signals on FIR insert would move that to incremental, so a case registered at 14:00 is linked by 14:01 instead of by 02:00.</a:t>
            </a:r>
            <a:endParaRPr lang="en-US" sz="720" dirty="0"/>
          </a:p>
        </p:txBody>
      </p:sp>
      <p:sp>
        <p:nvSpPr>
          <p:cNvPr id="26" name="Shape 23"/>
          <p:cNvSpPr/>
          <p:nvPr/>
        </p:nvSpPr>
        <p:spPr>
          <a:xfrm>
            <a:off x="384048" y="2304288"/>
            <a:ext cx="2688336" cy="987552"/>
          </a:xfrm>
          <a:prstGeom prst="roundRect">
            <a:avLst>
              <a:gd name="adj" fmla="val 5556"/>
            </a:avLst>
          </a:prstGeom>
          <a:solidFill>
            <a:srgbClr val="FFFFFF"/>
          </a:solidFill>
          <a:ln w="9525">
            <a:solidFill>
              <a:srgbClr val="DCE3EC"/>
            </a:solidFill>
            <a:prstDash val="solid"/>
          </a:ln>
        </p:spPr>
        <p:txBody>
          <a:bodyPr/>
          <a:lstStyle/>
          <a:p>
            <a:endParaRPr lang="en-US"/>
          </a:p>
        </p:txBody>
      </p:sp>
      <p:sp>
        <p:nvSpPr>
          <p:cNvPr id="27" name="Shape 24"/>
          <p:cNvSpPr/>
          <p:nvPr/>
        </p:nvSpPr>
        <p:spPr>
          <a:xfrm>
            <a:off x="493776" y="2395728"/>
            <a:ext cx="237744" cy="237744"/>
          </a:xfrm>
          <a:prstGeom prst="ellipse">
            <a:avLst/>
          </a:prstGeom>
          <a:solidFill>
            <a:srgbClr val="E8871E"/>
          </a:solidFill>
          <a:ln w="12700">
            <a:solidFill>
              <a:srgbClr val="E8871E"/>
            </a:solidFill>
            <a:prstDash val="solid"/>
          </a:ln>
        </p:spPr>
        <p:txBody>
          <a:bodyPr/>
          <a:lstStyle/>
          <a:p>
            <a:endParaRPr lang="en-US"/>
          </a:p>
        </p:txBody>
      </p:sp>
      <p:sp>
        <p:nvSpPr>
          <p:cNvPr id="28" name="Text 25"/>
          <p:cNvSpPr txBox="1"/>
          <p:nvPr/>
        </p:nvSpPr>
        <p:spPr>
          <a:xfrm>
            <a:off x="493776" y="2395728"/>
            <a:ext cx="237744"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4</a:t>
            </a:r>
            <a:endParaRPr lang="en-US" sz="950" dirty="0"/>
          </a:p>
        </p:txBody>
      </p:sp>
      <p:sp>
        <p:nvSpPr>
          <p:cNvPr id="29" name="Text 26"/>
          <p:cNvSpPr txBox="1"/>
          <p:nvPr/>
        </p:nvSpPr>
        <p:spPr>
          <a:xfrm>
            <a:off x="804672" y="2386584"/>
            <a:ext cx="1517904" cy="256032"/>
          </a:xfrm>
          <a:prstGeom prst="rect">
            <a:avLst/>
          </a:prstGeom>
          <a:noFill/>
          <a:ln/>
        </p:spPr>
        <p:txBody>
          <a:bodyPr wrap="square" lIns="0" tIns="0" rIns="0" bIns="0" rtlCol="0" anchor="ctr"/>
          <a:lstStyle/>
          <a:p>
            <a:pPr marL="0" indent="0">
              <a:lnSpc>
                <a:spcPct val="95000"/>
              </a:lnSpc>
              <a:buNone/>
            </a:pPr>
            <a:r>
              <a:rPr lang="en-US" sz="860" b="1" dirty="0">
                <a:solidFill>
                  <a:srgbClr val="0F2F44"/>
                </a:solidFill>
                <a:latin typeface="Calibri" pitchFamily="34" charset="0"/>
                <a:ea typeface="Calibri" pitchFamily="34" charset="-122"/>
                <a:cs typeface="Calibri" pitchFamily="34" charset="-120"/>
              </a:rPr>
              <a:t>Extend the graph</a:t>
            </a:r>
            <a:endParaRPr lang="en-US" sz="860" dirty="0"/>
          </a:p>
        </p:txBody>
      </p:sp>
      <p:sp>
        <p:nvSpPr>
          <p:cNvPr id="30" name="Shape 27"/>
          <p:cNvSpPr/>
          <p:nvPr/>
        </p:nvSpPr>
        <p:spPr>
          <a:xfrm>
            <a:off x="2340864" y="2432304"/>
            <a:ext cx="621792" cy="173736"/>
          </a:xfrm>
          <a:prstGeom prst="roundRect">
            <a:avLst>
              <a:gd name="adj" fmla="val 47368"/>
            </a:avLst>
          </a:prstGeom>
          <a:solidFill>
            <a:srgbClr val="E8871E"/>
          </a:solidFill>
          <a:ln w="12700">
            <a:solidFill>
              <a:srgbClr val="E8871E"/>
            </a:solidFill>
            <a:prstDash val="solid"/>
          </a:ln>
        </p:spPr>
        <p:txBody>
          <a:bodyPr/>
          <a:lstStyle/>
          <a:p>
            <a:endParaRPr lang="en-US"/>
          </a:p>
        </p:txBody>
      </p:sp>
      <p:sp>
        <p:nvSpPr>
          <p:cNvPr id="31" name="Text 28"/>
          <p:cNvSpPr txBox="1"/>
          <p:nvPr/>
        </p:nvSpPr>
        <p:spPr>
          <a:xfrm>
            <a:off x="2340864" y="2432304"/>
            <a:ext cx="621792" cy="173736"/>
          </a:xfrm>
          <a:prstGeom prst="rect">
            <a:avLst/>
          </a:prstGeom>
          <a:noFill/>
          <a:ln/>
        </p:spPr>
        <p:txBody>
          <a:bodyPr wrap="square" lIns="0" tIns="0" rIns="0" bIns="0" rtlCol="0" anchor="ctr"/>
          <a:lstStyle/>
          <a:p>
            <a:pPr marL="0" indent="0" algn="ctr">
              <a:buNone/>
            </a:pPr>
            <a:r>
              <a:rPr lang="en-US" sz="590" b="1" dirty="0">
                <a:solidFill>
                  <a:srgbClr val="FFFFFF"/>
                </a:solidFill>
                <a:latin typeface="Calibri" pitchFamily="34" charset="0"/>
                <a:ea typeface="Calibri" pitchFamily="34" charset="-122"/>
                <a:cs typeface="Calibri" pitchFamily="34" charset="-120"/>
              </a:rPr>
              <a:t>MODEL READY</a:t>
            </a:r>
            <a:endParaRPr lang="en-US" sz="590" dirty="0"/>
          </a:p>
        </p:txBody>
      </p:sp>
      <p:sp>
        <p:nvSpPr>
          <p:cNvPr id="32" name="Text 29"/>
          <p:cNvSpPr txBox="1"/>
          <p:nvPr/>
        </p:nvSpPr>
        <p:spPr>
          <a:xfrm>
            <a:off x="493776" y="2688336"/>
            <a:ext cx="2468880" cy="548640"/>
          </a:xfrm>
          <a:prstGeom prst="rect">
            <a:avLst/>
          </a:prstGeom>
          <a:noFill/>
          <a:ln/>
        </p:spPr>
        <p:txBody>
          <a:bodyPr wrap="square" lIns="0" tIns="0" rIns="0" bIns="0" rtlCol="0" anchor="t"/>
          <a:lstStyle/>
          <a:p>
            <a:pPr marL="0" indent="0">
              <a:lnSpc>
                <a:spcPct val="102000"/>
              </a:lnSpc>
              <a:buNone/>
            </a:pPr>
            <a:r>
              <a:rPr lang="en-US" sz="720" dirty="0">
                <a:solidFill>
                  <a:srgbClr val="5B6B7C"/>
                </a:solidFill>
                <a:latin typeface="Calibri" pitchFamily="34" charset="0"/>
                <a:ea typeface="Calibri" pitchFamily="34" charset="-122"/>
                <a:cs typeface="Calibri" pitchFamily="34" charset="-120"/>
              </a:rPr>
              <a:t>Vehicle registrations, phone and IMEI, and bank accounts as additional typed link kinds. The edge model already supports them; this corpus does not yet carry the columns.</a:t>
            </a:r>
            <a:endParaRPr lang="en-US" sz="720" dirty="0"/>
          </a:p>
        </p:txBody>
      </p:sp>
      <p:sp>
        <p:nvSpPr>
          <p:cNvPr id="33" name="Shape 30"/>
          <p:cNvSpPr/>
          <p:nvPr/>
        </p:nvSpPr>
        <p:spPr>
          <a:xfrm>
            <a:off x="3209544" y="2304288"/>
            <a:ext cx="2688336" cy="987552"/>
          </a:xfrm>
          <a:prstGeom prst="roundRect">
            <a:avLst>
              <a:gd name="adj" fmla="val 5556"/>
            </a:avLst>
          </a:prstGeom>
          <a:solidFill>
            <a:srgbClr val="FFFFFF"/>
          </a:solidFill>
          <a:ln w="9525">
            <a:solidFill>
              <a:srgbClr val="DCE3EC"/>
            </a:solidFill>
            <a:prstDash val="solid"/>
          </a:ln>
        </p:spPr>
        <p:txBody>
          <a:bodyPr/>
          <a:lstStyle/>
          <a:p>
            <a:endParaRPr lang="en-US"/>
          </a:p>
        </p:txBody>
      </p:sp>
      <p:sp>
        <p:nvSpPr>
          <p:cNvPr id="34" name="Shape 31"/>
          <p:cNvSpPr/>
          <p:nvPr/>
        </p:nvSpPr>
        <p:spPr>
          <a:xfrm>
            <a:off x="3319272" y="2395728"/>
            <a:ext cx="237744" cy="237744"/>
          </a:xfrm>
          <a:prstGeom prst="ellipse">
            <a:avLst/>
          </a:prstGeom>
          <a:solidFill>
            <a:srgbClr val="0F2F44"/>
          </a:solidFill>
          <a:ln w="12700">
            <a:solidFill>
              <a:srgbClr val="0F2F44"/>
            </a:solidFill>
            <a:prstDash val="solid"/>
          </a:ln>
        </p:spPr>
        <p:txBody>
          <a:bodyPr/>
          <a:lstStyle/>
          <a:p>
            <a:endParaRPr lang="en-US"/>
          </a:p>
        </p:txBody>
      </p:sp>
      <p:sp>
        <p:nvSpPr>
          <p:cNvPr id="35" name="Text 32"/>
          <p:cNvSpPr txBox="1"/>
          <p:nvPr/>
        </p:nvSpPr>
        <p:spPr>
          <a:xfrm>
            <a:off x="3319272" y="2395728"/>
            <a:ext cx="237744"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5</a:t>
            </a:r>
            <a:endParaRPr lang="en-US" sz="950" dirty="0"/>
          </a:p>
        </p:txBody>
      </p:sp>
      <p:sp>
        <p:nvSpPr>
          <p:cNvPr id="36" name="Text 33"/>
          <p:cNvSpPr txBox="1"/>
          <p:nvPr/>
        </p:nvSpPr>
        <p:spPr>
          <a:xfrm>
            <a:off x="3630168" y="2386584"/>
            <a:ext cx="1517904" cy="256032"/>
          </a:xfrm>
          <a:prstGeom prst="rect">
            <a:avLst/>
          </a:prstGeom>
          <a:noFill/>
          <a:ln/>
        </p:spPr>
        <p:txBody>
          <a:bodyPr wrap="square" lIns="0" tIns="0" rIns="0" bIns="0" rtlCol="0" anchor="ctr"/>
          <a:lstStyle/>
          <a:p>
            <a:pPr marL="0" indent="0">
              <a:lnSpc>
                <a:spcPct val="95000"/>
              </a:lnSpc>
              <a:buNone/>
            </a:pPr>
            <a:r>
              <a:rPr lang="en-US" sz="860" b="1" dirty="0">
                <a:solidFill>
                  <a:srgbClr val="0F2F44"/>
                </a:solidFill>
                <a:latin typeface="Calibri" pitchFamily="34" charset="0"/>
                <a:ea typeface="Calibri" pitchFamily="34" charset="-122"/>
                <a:cs typeface="Calibri" pitchFamily="34" charset="-120"/>
              </a:rPr>
              <a:t>Retain every page, read the text layer</a:t>
            </a:r>
            <a:endParaRPr lang="en-US" sz="860" dirty="0"/>
          </a:p>
        </p:txBody>
      </p:sp>
      <p:sp>
        <p:nvSpPr>
          <p:cNvPr id="37" name="Shape 34"/>
          <p:cNvSpPr/>
          <p:nvPr/>
        </p:nvSpPr>
        <p:spPr>
          <a:xfrm>
            <a:off x="5166360" y="2432304"/>
            <a:ext cx="621792" cy="173736"/>
          </a:xfrm>
          <a:prstGeom prst="roundRect">
            <a:avLst>
              <a:gd name="adj" fmla="val 47368"/>
            </a:avLst>
          </a:prstGeom>
          <a:solidFill>
            <a:srgbClr val="0F2F44"/>
          </a:solidFill>
          <a:ln w="12700">
            <a:solidFill>
              <a:srgbClr val="0F2F44"/>
            </a:solidFill>
            <a:prstDash val="solid"/>
          </a:ln>
        </p:spPr>
        <p:txBody>
          <a:bodyPr/>
          <a:lstStyle/>
          <a:p>
            <a:endParaRPr lang="en-US"/>
          </a:p>
        </p:txBody>
      </p:sp>
      <p:sp>
        <p:nvSpPr>
          <p:cNvPr id="38" name="Text 35"/>
          <p:cNvSpPr txBox="1"/>
          <p:nvPr/>
        </p:nvSpPr>
        <p:spPr>
          <a:xfrm>
            <a:off x="5166360" y="2432304"/>
            <a:ext cx="621792" cy="173736"/>
          </a:xfrm>
          <a:prstGeom prst="rect">
            <a:avLst/>
          </a:prstGeom>
          <a:noFill/>
          <a:ln/>
        </p:spPr>
        <p:txBody>
          <a:bodyPr wrap="square" lIns="0" tIns="0" rIns="0" bIns="0" rtlCol="0" anchor="ctr"/>
          <a:lstStyle/>
          <a:p>
            <a:pPr marL="0" indent="0" algn="ctr">
              <a:buNone/>
            </a:pPr>
            <a:r>
              <a:rPr lang="en-US" sz="590" b="1" dirty="0">
                <a:solidFill>
                  <a:srgbClr val="FFFFFF"/>
                </a:solidFill>
                <a:latin typeface="Calibri" pitchFamily="34" charset="0"/>
                <a:ea typeface="Calibri" pitchFamily="34" charset="-122"/>
                <a:cs typeface="Calibri" pitchFamily="34" charset="-120"/>
              </a:rPr>
              <a:t>SCOPED</a:t>
            </a:r>
            <a:endParaRPr lang="en-US" sz="590" dirty="0"/>
          </a:p>
        </p:txBody>
      </p:sp>
      <p:sp>
        <p:nvSpPr>
          <p:cNvPr id="39" name="Text 36"/>
          <p:cNvSpPr txBox="1"/>
          <p:nvPr/>
        </p:nvSpPr>
        <p:spPr>
          <a:xfrm>
            <a:off x="3319272" y="2688336"/>
            <a:ext cx="2468880" cy="548640"/>
          </a:xfrm>
          <a:prstGeom prst="rect">
            <a:avLst/>
          </a:prstGeom>
          <a:noFill/>
          <a:ln/>
        </p:spPr>
        <p:txBody>
          <a:bodyPr wrap="square" lIns="0" tIns="0" rIns="0" bIns="0" rtlCol="0" anchor="t"/>
          <a:lstStyle/>
          <a:p>
            <a:pPr marL="0" indent="0">
              <a:lnSpc>
                <a:spcPct val="102000"/>
              </a:lnSpc>
              <a:buNone/>
            </a:pPr>
            <a:r>
              <a:rPr lang="en-US" sz="720" dirty="0">
                <a:solidFill>
                  <a:srgbClr val="5B6B7C"/>
                </a:solidFill>
                <a:latin typeface="Calibri" pitchFamily="34" charset="0"/>
                <a:ea typeface="Calibri" pitchFamily="34" charset="-122"/>
                <a:cs typeface="Calibri" pitchFamily="34" charset="-120"/>
              </a:rPr>
              <a:t>A multi-page reading keeps only its first page today, and PDFs are rasterised rather than having their existing text extracted. Both are storage and parsing, not architecture.</a:t>
            </a:r>
            <a:endParaRPr lang="en-US" sz="720" dirty="0"/>
          </a:p>
        </p:txBody>
      </p:sp>
      <p:sp>
        <p:nvSpPr>
          <p:cNvPr id="40" name="Shape 37"/>
          <p:cNvSpPr/>
          <p:nvPr/>
        </p:nvSpPr>
        <p:spPr>
          <a:xfrm>
            <a:off x="6035040" y="2304288"/>
            <a:ext cx="2688336" cy="987552"/>
          </a:xfrm>
          <a:prstGeom prst="roundRect">
            <a:avLst>
              <a:gd name="adj" fmla="val 5556"/>
            </a:avLst>
          </a:prstGeom>
          <a:solidFill>
            <a:srgbClr val="FFFFFF"/>
          </a:solidFill>
          <a:ln w="9525">
            <a:solidFill>
              <a:srgbClr val="DCE3EC"/>
            </a:solidFill>
            <a:prstDash val="solid"/>
          </a:ln>
        </p:spPr>
        <p:txBody>
          <a:bodyPr/>
          <a:lstStyle/>
          <a:p>
            <a:endParaRPr lang="en-US"/>
          </a:p>
        </p:txBody>
      </p:sp>
      <p:sp>
        <p:nvSpPr>
          <p:cNvPr id="41" name="Shape 38"/>
          <p:cNvSpPr/>
          <p:nvPr/>
        </p:nvSpPr>
        <p:spPr>
          <a:xfrm>
            <a:off x="6144768" y="2395728"/>
            <a:ext cx="237744" cy="237744"/>
          </a:xfrm>
          <a:prstGeom prst="ellipse">
            <a:avLst/>
          </a:prstGeom>
          <a:solidFill>
            <a:srgbClr val="E8871E"/>
          </a:solidFill>
          <a:ln w="12700">
            <a:solidFill>
              <a:srgbClr val="E8871E"/>
            </a:solidFill>
            <a:prstDash val="solid"/>
          </a:ln>
        </p:spPr>
        <p:txBody>
          <a:bodyPr/>
          <a:lstStyle/>
          <a:p>
            <a:endParaRPr lang="en-US"/>
          </a:p>
        </p:txBody>
      </p:sp>
      <p:sp>
        <p:nvSpPr>
          <p:cNvPr id="42" name="Text 39"/>
          <p:cNvSpPr txBox="1"/>
          <p:nvPr/>
        </p:nvSpPr>
        <p:spPr>
          <a:xfrm>
            <a:off x="6144768" y="2395728"/>
            <a:ext cx="237744"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6</a:t>
            </a:r>
            <a:endParaRPr lang="en-US" sz="950" dirty="0"/>
          </a:p>
        </p:txBody>
      </p:sp>
      <p:sp>
        <p:nvSpPr>
          <p:cNvPr id="43" name="Text 40"/>
          <p:cNvSpPr txBox="1"/>
          <p:nvPr/>
        </p:nvSpPr>
        <p:spPr>
          <a:xfrm>
            <a:off x="6455664" y="2386584"/>
            <a:ext cx="1517904" cy="256032"/>
          </a:xfrm>
          <a:prstGeom prst="rect">
            <a:avLst/>
          </a:prstGeom>
          <a:noFill/>
          <a:ln/>
        </p:spPr>
        <p:txBody>
          <a:bodyPr wrap="square" lIns="0" tIns="0" rIns="0" bIns="0" rtlCol="0" anchor="ctr"/>
          <a:lstStyle/>
          <a:p>
            <a:pPr marL="0" indent="0">
              <a:lnSpc>
                <a:spcPct val="95000"/>
              </a:lnSpc>
              <a:buNone/>
            </a:pPr>
            <a:r>
              <a:rPr lang="en-US" sz="860" b="1" dirty="0">
                <a:solidFill>
                  <a:srgbClr val="0F2F44"/>
                </a:solidFill>
                <a:latin typeface="Calibri" pitchFamily="34" charset="0"/>
                <a:ea typeface="Calibri" pitchFamily="34" charset="-122"/>
                <a:cs typeface="Calibri" pitchFamily="34" charset="-120"/>
              </a:rPr>
              <a:t>Configure API Gateway routes</a:t>
            </a:r>
            <a:endParaRPr lang="en-US" sz="860" dirty="0"/>
          </a:p>
        </p:txBody>
      </p:sp>
      <p:sp>
        <p:nvSpPr>
          <p:cNvPr id="44" name="Shape 41"/>
          <p:cNvSpPr/>
          <p:nvPr/>
        </p:nvSpPr>
        <p:spPr>
          <a:xfrm>
            <a:off x="7991856" y="2432304"/>
            <a:ext cx="621792" cy="173736"/>
          </a:xfrm>
          <a:prstGeom prst="roundRect">
            <a:avLst>
              <a:gd name="adj" fmla="val 47368"/>
            </a:avLst>
          </a:prstGeom>
          <a:solidFill>
            <a:srgbClr val="E8871E"/>
          </a:solidFill>
          <a:ln w="12700">
            <a:solidFill>
              <a:srgbClr val="E8871E"/>
            </a:solidFill>
            <a:prstDash val="solid"/>
          </a:ln>
        </p:spPr>
        <p:txBody>
          <a:bodyPr/>
          <a:lstStyle/>
          <a:p>
            <a:endParaRPr lang="en-US"/>
          </a:p>
        </p:txBody>
      </p:sp>
      <p:sp>
        <p:nvSpPr>
          <p:cNvPr id="45" name="Text 42"/>
          <p:cNvSpPr txBox="1"/>
          <p:nvPr/>
        </p:nvSpPr>
        <p:spPr>
          <a:xfrm>
            <a:off x="7991856" y="2432304"/>
            <a:ext cx="621792" cy="173736"/>
          </a:xfrm>
          <a:prstGeom prst="rect">
            <a:avLst/>
          </a:prstGeom>
          <a:noFill/>
          <a:ln/>
        </p:spPr>
        <p:txBody>
          <a:bodyPr wrap="square" lIns="0" tIns="0" rIns="0" bIns="0" rtlCol="0" anchor="ctr"/>
          <a:lstStyle/>
          <a:p>
            <a:pPr marL="0" indent="0" algn="ctr">
              <a:buNone/>
            </a:pPr>
            <a:r>
              <a:rPr lang="en-US" sz="590" b="1" dirty="0">
                <a:solidFill>
                  <a:srgbClr val="FFFFFF"/>
                </a:solidFill>
                <a:latin typeface="Calibri" pitchFamily="34" charset="0"/>
                <a:ea typeface="Calibri" pitchFamily="34" charset="-122"/>
                <a:cs typeface="Calibri" pitchFamily="34" charset="-120"/>
              </a:rPr>
              <a:t>BLOCKED</a:t>
            </a:r>
            <a:endParaRPr lang="en-US" sz="590" dirty="0"/>
          </a:p>
        </p:txBody>
      </p:sp>
      <p:sp>
        <p:nvSpPr>
          <p:cNvPr id="46" name="Text 43"/>
          <p:cNvSpPr txBox="1"/>
          <p:nvPr/>
        </p:nvSpPr>
        <p:spPr>
          <a:xfrm>
            <a:off x="6144768" y="2688336"/>
            <a:ext cx="2468880" cy="548640"/>
          </a:xfrm>
          <a:prstGeom prst="rect">
            <a:avLst/>
          </a:prstGeom>
          <a:noFill/>
          <a:ln/>
        </p:spPr>
        <p:txBody>
          <a:bodyPr wrap="square" lIns="0" tIns="0" rIns="0" bIns="0" rtlCol="0" anchor="t"/>
          <a:lstStyle/>
          <a:p>
            <a:pPr marL="0" indent="0">
              <a:lnSpc>
                <a:spcPct val="102000"/>
              </a:lnSpc>
              <a:buNone/>
            </a:pPr>
            <a:r>
              <a:rPr lang="en-US" sz="720" dirty="0">
                <a:solidFill>
                  <a:srgbClr val="5B6B7C"/>
                </a:solidFill>
                <a:latin typeface="Calibri" pitchFamily="34" charset="0"/>
                <a:ea typeface="Calibri" pitchFamily="34" charset="-122"/>
                <a:cs typeface="Calibri" pitchFamily="34" charset="-120"/>
              </a:rPr>
              <a:t>Enabled once and disabled again: with no routes configured it intercepted all traffic. It needs a route table before it can go back on — stated here rather than left off the list.</a:t>
            </a:r>
            <a:endParaRPr lang="en-US" sz="720" dirty="0"/>
          </a:p>
        </p:txBody>
      </p:sp>
      <p:sp>
        <p:nvSpPr>
          <p:cNvPr id="47" name="Shape 44"/>
          <p:cNvSpPr/>
          <p:nvPr/>
        </p:nvSpPr>
        <p:spPr>
          <a:xfrm>
            <a:off x="384048" y="3474720"/>
            <a:ext cx="8375904" cy="1316736"/>
          </a:xfrm>
          <a:prstGeom prst="roundRect">
            <a:avLst>
              <a:gd name="adj" fmla="val 4167"/>
            </a:avLst>
          </a:prstGeom>
          <a:solidFill>
            <a:srgbClr val="0F2F44"/>
          </a:solidFill>
          <a:ln w="9525">
            <a:solidFill>
              <a:srgbClr val="0F2F44"/>
            </a:solidFill>
            <a:prstDash val="solid"/>
          </a:ln>
        </p:spPr>
        <p:txBody>
          <a:bodyPr/>
          <a:lstStyle/>
          <a:p>
            <a:endParaRPr lang="en-US"/>
          </a:p>
        </p:txBody>
      </p:sp>
      <p:sp>
        <p:nvSpPr>
          <p:cNvPr id="48" name="Text 45"/>
          <p:cNvSpPr txBox="1"/>
          <p:nvPr/>
        </p:nvSpPr>
        <p:spPr>
          <a:xfrm>
            <a:off x="548640" y="3584448"/>
            <a:ext cx="2615184" cy="2560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Impact at real KSP scale</a:t>
            </a:r>
            <a:endParaRPr lang="en-US" sz="1400" dirty="0"/>
          </a:p>
        </p:txBody>
      </p:sp>
      <p:sp>
        <p:nvSpPr>
          <p:cNvPr id="49" name="Text 46"/>
          <p:cNvSpPr txBox="1"/>
          <p:nvPr/>
        </p:nvSpPr>
        <p:spPr>
          <a:xfrm>
            <a:off x="548640" y="3858768"/>
            <a:ext cx="2615184" cy="402336"/>
          </a:xfrm>
          <a:prstGeom prst="rect">
            <a:avLst/>
          </a:prstGeom>
          <a:noFill/>
          <a:ln/>
        </p:spPr>
        <p:txBody>
          <a:bodyPr wrap="square" lIns="0" tIns="0" rIns="0" bIns="0" rtlCol="0" anchor="t"/>
          <a:lstStyle/>
          <a:p>
            <a:pPr marL="0" indent="0">
              <a:lnSpc>
                <a:spcPct val="102000"/>
              </a:lnSpc>
              <a:buNone/>
            </a:pPr>
            <a:r>
              <a:rPr lang="en-US" sz="800" i="1" dirty="0">
                <a:solidFill>
                  <a:srgbClr val="9FB3C8"/>
                </a:solidFill>
                <a:latin typeface="Calibri" pitchFamily="34" charset="0"/>
                <a:ea typeface="Calibri" pitchFamily="34" charset="-122"/>
                <a:cs typeface="Calibri" pitchFamily="34" charset="-120"/>
              </a:rPr>
              <a:t>The rollout question is storage tier, not architecture.</a:t>
            </a:r>
            <a:endParaRPr lang="en-US" sz="800" dirty="0"/>
          </a:p>
        </p:txBody>
      </p:sp>
      <p:sp>
        <p:nvSpPr>
          <p:cNvPr id="50" name="Text 47"/>
          <p:cNvSpPr txBox="1"/>
          <p:nvPr/>
        </p:nvSpPr>
        <p:spPr>
          <a:xfrm>
            <a:off x="3401568" y="3584448"/>
            <a:ext cx="1755648" cy="29260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~10 M</a:t>
            </a:r>
            <a:endParaRPr lang="en-US" sz="1600" dirty="0"/>
          </a:p>
        </p:txBody>
      </p:sp>
      <p:sp>
        <p:nvSpPr>
          <p:cNvPr id="51" name="Text 48"/>
          <p:cNvSpPr txBox="1"/>
          <p:nvPr/>
        </p:nvSpPr>
        <p:spPr>
          <a:xfrm>
            <a:off x="3401568" y="3895344"/>
            <a:ext cx="1755648" cy="420624"/>
          </a:xfrm>
          <a:prstGeom prst="rect">
            <a:avLst/>
          </a:prstGeom>
          <a:noFill/>
          <a:ln/>
        </p:spPr>
        <p:txBody>
          <a:bodyPr wrap="square" lIns="0" tIns="0" rIns="0" bIns="0" rtlCol="0" anchor="t"/>
          <a:lstStyle/>
          <a:p>
            <a:pPr marL="0" indent="0">
              <a:lnSpc>
                <a:spcPct val="102000"/>
              </a:lnSpc>
              <a:buNone/>
            </a:pPr>
            <a:r>
              <a:rPr lang="en-US" sz="740" dirty="0">
                <a:solidFill>
                  <a:srgbClr val="9FB3C8"/>
                </a:solidFill>
                <a:latin typeface="Calibri" pitchFamily="34" charset="0"/>
                <a:ea typeface="Calibri" pitchFamily="34" charset="-122"/>
                <a:cs typeface="Calibri" pitchFamily="34" charset="-120"/>
              </a:rPr>
              <a:t>FIRs at production scale, against 59,985 here</a:t>
            </a:r>
            <a:endParaRPr lang="en-US" sz="740" dirty="0"/>
          </a:p>
        </p:txBody>
      </p:sp>
      <p:sp>
        <p:nvSpPr>
          <p:cNvPr id="52" name="Text 49"/>
          <p:cNvSpPr txBox="1"/>
          <p:nvPr/>
        </p:nvSpPr>
        <p:spPr>
          <a:xfrm>
            <a:off x="5230368" y="3584448"/>
            <a:ext cx="1755648" cy="29260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~167×</a:t>
            </a:r>
            <a:endParaRPr lang="en-US" sz="1600" dirty="0"/>
          </a:p>
        </p:txBody>
      </p:sp>
      <p:sp>
        <p:nvSpPr>
          <p:cNvPr id="53" name="Text 50"/>
          <p:cNvSpPr txBox="1"/>
          <p:nvPr/>
        </p:nvSpPr>
        <p:spPr>
          <a:xfrm>
            <a:off x="5230368" y="3895344"/>
            <a:ext cx="1755648" cy="420624"/>
          </a:xfrm>
          <a:prstGeom prst="rect">
            <a:avLst/>
          </a:prstGeom>
          <a:noFill/>
          <a:ln/>
        </p:spPr>
        <p:txBody>
          <a:bodyPr wrap="square" lIns="0" tIns="0" rIns="0" bIns="0" rtlCol="0" anchor="t"/>
          <a:lstStyle/>
          <a:p>
            <a:pPr marL="0" indent="0">
              <a:lnSpc>
                <a:spcPct val="102000"/>
              </a:lnSpc>
              <a:buNone/>
            </a:pPr>
            <a:r>
              <a:rPr lang="en-US" sz="740" dirty="0">
                <a:solidFill>
                  <a:srgbClr val="9FB3C8"/>
                </a:solidFill>
                <a:latin typeface="Calibri" pitchFamily="34" charset="0"/>
                <a:ea typeface="Calibri" pitchFamily="34" charset="-122"/>
                <a:cs typeface="Calibri" pitchFamily="34" charset="-120"/>
              </a:rPr>
              <a:t>the corpus this already runs on in 24.6 s</a:t>
            </a:r>
            <a:endParaRPr lang="en-US" sz="740" dirty="0"/>
          </a:p>
        </p:txBody>
      </p:sp>
      <p:sp>
        <p:nvSpPr>
          <p:cNvPr id="54" name="Text 51"/>
          <p:cNvSpPr txBox="1"/>
          <p:nvPr/>
        </p:nvSpPr>
        <p:spPr>
          <a:xfrm>
            <a:off x="7059168" y="3584448"/>
            <a:ext cx="1755648" cy="29260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0</a:t>
            </a:r>
            <a:endParaRPr lang="en-US" sz="1600" dirty="0"/>
          </a:p>
        </p:txBody>
      </p:sp>
      <p:sp>
        <p:nvSpPr>
          <p:cNvPr id="55" name="Text 52"/>
          <p:cNvSpPr txBox="1"/>
          <p:nvPr/>
        </p:nvSpPr>
        <p:spPr>
          <a:xfrm>
            <a:off x="7059168" y="3895344"/>
            <a:ext cx="1755648" cy="420624"/>
          </a:xfrm>
          <a:prstGeom prst="rect">
            <a:avLst/>
          </a:prstGeom>
          <a:noFill/>
          <a:ln/>
        </p:spPr>
        <p:txBody>
          <a:bodyPr wrap="square" lIns="0" tIns="0" rIns="0" bIns="0" rtlCol="0" anchor="t"/>
          <a:lstStyle/>
          <a:p>
            <a:pPr marL="0" indent="0">
              <a:lnSpc>
                <a:spcPct val="102000"/>
              </a:lnSpc>
              <a:buNone/>
            </a:pPr>
            <a:r>
              <a:rPr lang="en-US" sz="740" dirty="0">
                <a:solidFill>
                  <a:srgbClr val="9FB3C8"/>
                </a:solidFill>
                <a:latin typeface="Calibri" pitchFamily="34" charset="0"/>
                <a:ea typeface="Calibri" pitchFamily="34" charset="-122"/>
                <a:cs typeface="Calibri" pitchFamily="34" charset="-120"/>
              </a:rPr>
              <a:t>rewrites needed — the pipeline is linear in corpus size</a:t>
            </a:r>
            <a:endParaRPr lang="en-US" sz="740" dirty="0"/>
          </a:p>
        </p:txBody>
      </p:sp>
      <p:sp>
        <p:nvSpPr>
          <p:cNvPr id="56" name="Text 53"/>
          <p:cNvSpPr txBox="1"/>
          <p:nvPr/>
        </p:nvSpPr>
        <p:spPr>
          <a:xfrm>
            <a:off x="548640" y="4174236"/>
            <a:ext cx="8046720" cy="54406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Nothing on this list is a rewrite.  </a:t>
            </a:r>
            <a:r>
              <a:rPr lang="en-US" sz="1000" dirty="0">
                <a:solidFill>
                  <a:srgbClr val="C9D6E2"/>
                </a:solidFill>
                <a:latin typeface="Calibri" pitchFamily="34" charset="0"/>
                <a:ea typeface="Calibri" pitchFamily="34" charset="-122"/>
                <a:cs typeface="Calibri" pitchFamily="34" charset="-120"/>
              </a:rPr>
              <a:t>Every item is a swap behind an interface that already exists — the store interface, the translation table, the edge model, the retention flag, the route table. That is what shipping the boring version first buys you: the next six things are configuration and data, not a second architecture.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ivate/tmp/claude-501/-Users-adarsh-Desktop-Projects-KadiLabs/1a0b3114-7a5c-4b08-a5d4-f9d8371eeea4/scratchpad/deck/bg-content.png"/>
          <p:cNvPicPr>
            <a:picLocks noChangeAspect="1"/>
          </p:cNvPicPr>
          <p:nvPr/>
        </p:nvPicPr>
        <p:blipFill>
          <a:blip r:embed="rId3"/>
          <a:stretch>
            <a:fillRect/>
          </a:stretch>
        </p:blipFill>
        <p:spPr>
          <a:xfrm>
            <a:off x="0" y="0"/>
            <a:ext cx="9144000" cy="5143500"/>
          </a:xfrm>
          <a:prstGeom prst="rect">
            <a:avLst/>
          </a:prstGeom>
        </p:spPr>
      </p:pic>
      <p:sp>
        <p:nvSpPr>
          <p:cNvPr id="3" name="Text 0"/>
          <p:cNvSpPr txBox="1"/>
          <p:nvPr/>
        </p:nvSpPr>
        <p:spPr>
          <a:xfrm>
            <a:off x="384048" y="603504"/>
            <a:ext cx="8375904" cy="365760"/>
          </a:xfrm>
          <a:prstGeom prst="rect">
            <a:avLst/>
          </a:prstGeom>
          <a:noFill/>
          <a:ln/>
        </p:spPr>
        <p:txBody>
          <a:bodyPr wrap="square" lIns="0" tIns="0" rIns="0" bIns="0" rtlCol="0" anchor="t"/>
          <a:lstStyle/>
          <a:p>
            <a:pPr marL="0" indent="0">
              <a:buNone/>
            </a:pPr>
            <a:r>
              <a:rPr lang="en-US" sz="2100" b="1" dirty="0">
                <a:solidFill>
                  <a:srgbClr val="0F2F44"/>
                </a:solidFill>
                <a:latin typeface="Calibri" pitchFamily="34" charset="0"/>
                <a:ea typeface="Calibri" pitchFamily="34" charset="-122"/>
                <a:cs typeface="Calibri" pitchFamily="34" charset="-120"/>
              </a:rPr>
              <a:t>The dataset, the fairness rule, and the finding</a:t>
            </a:r>
            <a:endParaRPr lang="en-US" sz="2100" dirty="0"/>
          </a:p>
        </p:txBody>
      </p:sp>
      <p:sp>
        <p:nvSpPr>
          <p:cNvPr id="4" name="Text 1"/>
          <p:cNvSpPr txBox="1"/>
          <p:nvPr/>
        </p:nvSpPr>
        <p:spPr>
          <a:xfrm>
            <a:off x="384048" y="969264"/>
            <a:ext cx="8375904" cy="237744"/>
          </a:xfrm>
          <a:prstGeom prst="rect">
            <a:avLst/>
          </a:prstGeom>
          <a:noFill/>
          <a:ln/>
        </p:spPr>
        <p:txBody>
          <a:bodyPr wrap="square" lIns="0" tIns="0" rIns="0" bIns="0" rtlCol="0" anchor="t"/>
          <a:lstStyle/>
          <a:p>
            <a:pPr marL="0" indent="0">
              <a:buNone/>
            </a:pPr>
            <a:r>
              <a:rPr lang="en-US" sz="1100" dirty="0">
                <a:solidFill>
                  <a:srgbClr val="5B6B7C"/>
                </a:solidFill>
                <a:latin typeface="Calibri" pitchFamily="34" charset="0"/>
                <a:ea typeface="Calibri" pitchFamily="34" charset="-122"/>
                <a:cs typeface="Calibri" pitchFamily="34" charset="-120"/>
              </a:rPr>
              <a:t>Synthetic FIRs, generated against a real skeleton and what the analysis surfaced</a:t>
            </a:r>
            <a:endParaRPr lang="en-US" sz="1100" dirty="0"/>
          </a:p>
        </p:txBody>
      </p:sp>
      <p:sp>
        <p:nvSpPr>
          <p:cNvPr id="5" name="Shape 2"/>
          <p:cNvSpPr/>
          <p:nvPr/>
        </p:nvSpPr>
        <p:spPr>
          <a:xfrm>
            <a:off x="384048" y="1225296"/>
            <a:ext cx="2688336" cy="1700784"/>
          </a:xfrm>
          <a:prstGeom prst="roundRect">
            <a:avLst>
              <a:gd name="adj" fmla="val 3226"/>
            </a:avLst>
          </a:prstGeom>
          <a:solidFill>
            <a:srgbClr val="FFFFFF"/>
          </a:solidFill>
          <a:ln w="9525">
            <a:solidFill>
              <a:srgbClr val="DCE3EC"/>
            </a:solidFill>
            <a:prstDash val="solid"/>
          </a:ln>
        </p:spPr>
        <p:txBody>
          <a:bodyPr/>
          <a:lstStyle/>
          <a:p>
            <a:endParaRPr lang="en-US"/>
          </a:p>
        </p:txBody>
      </p:sp>
      <p:sp>
        <p:nvSpPr>
          <p:cNvPr id="6" name="Text 3"/>
          <p:cNvSpPr txBox="1"/>
          <p:nvPr/>
        </p:nvSpPr>
        <p:spPr>
          <a:xfrm>
            <a:off x="493776" y="1280160"/>
            <a:ext cx="2468880" cy="182880"/>
          </a:xfrm>
          <a:prstGeom prst="rect">
            <a:avLst/>
          </a:prstGeom>
          <a:noFill/>
          <a:ln/>
        </p:spPr>
        <p:txBody>
          <a:bodyPr wrap="square" lIns="0" tIns="0" rIns="0" bIns="0" rtlCol="0" anchor="ctr"/>
          <a:lstStyle/>
          <a:p>
            <a:pPr marL="0" indent="0">
              <a:buNone/>
            </a:pPr>
            <a:r>
              <a:rPr lang="en-US" sz="1050" b="1" dirty="0">
                <a:solidFill>
                  <a:srgbClr val="0F2F44"/>
                </a:solidFill>
                <a:latin typeface="Calibri" pitchFamily="34" charset="0"/>
                <a:ea typeface="Calibri" pitchFamily="34" charset="-122"/>
                <a:cs typeface="Calibri" pitchFamily="34" charset="-120"/>
              </a:rPr>
              <a:t>The corpus</a:t>
            </a:r>
            <a:endParaRPr lang="en-US" sz="1050" dirty="0"/>
          </a:p>
        </p:txBody>
      </p:sp>
      <p:sp>
        <p:nvSpPr>
          <p:cNvPr id="7" name="Text 4"/>
          <p:cNvSpPr txBox="1"/>
          <p:nvPr/>
        </p:nvSpPr>
        <p:spPr>
          <a:xfrm>
            <a:off x="493776" y="1481328"/>
            <a:ext cx="2468880" cy="219456"/>
          </a:xfrm>
          <a:prstGeom prst="rect">
            <a:avLst/>
          </a:prstGeom>
          <a:noFill/>
          <a:ln/>
        </p:spPr>
        <p:txBody>
          <a:bodyPr wrap="square" lIns="0" tIns="0" rIns="0" bIns="0" rtlCol="0" anchor="ctr"/>
          <a:lstStyle/>
          <a:p>
            <a:pPr marL="0" indent="0">
              <a:buNone/>
            </a:pPr>
            <a:r>
              <a:rPr lang="en-US" sz="900" b="1" dirty="0">
                <a:solidFill>
                  <a:srgbClr val="0F2F44"/>
                </a:solidFill>
                <a:latin typeface="Calibri" pitchFamily="34" charset="0"/>
                <a:ea typeface="Calibri" pitchFamily="34" charset="-122"/>
                <a:cs typeface="Calibri" pitchFamily="34" charset="-120"/>
              </a:rPr>
              <a:t>59,985</a:t>
            </a:r>
            <a:r>
              <a:rPr lang="en-US" sz="720" dirty="0">
                <a:solidFill>
                  <a:srgbClr val="5B6B7C"/>
                </a:solidFill>
                <a:latin typeface="Calibri" pitchFamily="34" charset="0"/>
                <a:ea typeface="Calibri" pitchFamily="34" charset="-122"/>
                <a:cs typeface="Calibri" pitchFamily="34" charset="-120"/>
              </a:rPr>
              <a:t>   FIRs analysed · 43 months</a:t>
            </a:r>
            <a:endParaRPr lang="en-US" sz="900" dirty="0"/>
          </a:p>
        </p:txBody>
      </p:sp>
      <p:sp>
        <p:nvSpPr>
          <p:cNvPr id="8" name="Text 5"/>
          <p:cNvSpPr txBox="1"/>
          <p:nvPr/>
        </p:nvSpPr>
        <p:spPr>
          <a:xfrm>
            <a:off x="493776" y="1719072"/>
            <a:ext cx="2468880" cy="219456"/>
          </a:xfrm>
          <a:prstGeom prst="rect">
            <a:avLst/>
          </a:prstGeom>
          <a:noFill/>
          <a:ln/>
        </p:spPr>
        <p:txBody>
          <a:bodyPr wrap="square" lIns="0" tIns="0" rIns="0" bIns="0" rtlCol="0" anchor="ctr"/>
          <a:lstStyle/>
          <a:p>
            <a:pPr marL="0" indent="0">
              <a:buNone/>
            </a:pPr>
            <a:r>
              <a:rPr lang="en-US" sz="900" b="1" dirty="0">
                <a:solidFill>
                  <a:srgbClr val="0F2F44"/>
                </a:solidFill>
                <a:latin typeface="Calibri" pitchFamily="34" charset="0"/>
                <a:ea typeface="Calibri" pitchFamily="34" charset="-122"/>
                <a:cs typeface="Calibri" pitchFamily="34" charset="-120"/>
              </a:rPr>
              <a:t>31 / 298</a:t>
            </a:r>
            <a:r>
              <a:rPr lang="en-US" sz="720" dirty="0">
                <a:solidFill>
                  <a:srgbClr val="5B6B7C"/>
                </a:solidFill>
                <a:latin typeface="Calibri" pitchFamily="34" charset="0"/>
                <a:ea typeface="Calibri" pitchFamily="34" charset="-122"/>
                <a:cs typeface="Calibri" pitchFamily="34" charset="-120"/>
              </a:rPr>
              <a:t>   districts / police stations</a:t>
            </a:r>
            <a:endParaRPr lang="en-US" sz="900" dirty="0"/>
          </a:p>
        </p:txBody>
      </p:sp>
      <p:sp>
        <p:nvSpPr>
          <p:cNvPr id="9" name="Text 6"/>
          <p:cNvSpPr txBox="1"/>
          <p:nvPr/>
        </p:nvSpPr>
        <p:spPr>
          <a:xfrm>
            <a:off x="493776" y="1956816"/>
            <a:ext cx="2468880" cy="219456"/>
          </a:xfrm>
          <a:prstGeom prst="rect">
            <a:avLst/>
          </a:prstGeom>
          <a:noFill/>
          <a:ln/>
        </p:spPr>
        <p:txBody>
          <a:bodyPr wrap="square" lIns="0" tIns="0" rIns="0" bIns="0" rtlCol="0" anchor="ctr"/>
          <a:lstStyle/>
          <a:p>
            <a:pPr marL="0" indent="0">
              <a:buNone/>
            </a:pPr>
            <a:r>
              <a:rPr lang="en-US" sz="900" b="1" dirty="0">
                <a:solidFill>
                  <a:srgbClr val="0F2F44"/>
                </a:solidFill>
                <a:latin typeface="Calibri" pitchFamily="34" charset="0"/>
                <a:ea typeface="Calibri" pitchFamily="34" charset="-122"/>
                <a:cs typeface="Calibri" pitchFamily="34" charset="-120"/>
              </a:rPr>
              <a:t>54,337</a:t>
            </a:r>
            <a:r>
              <a:rPr lang="en-US" sz="720" dirty="0">
                <a:solidFill>
                  <a:srgbClr val="5B6B7C"/>
                </a:solidFill>
                <a:latin typeface="Calibri" pitchFamily="34" charset="0"/>
                <a:ea typeface="Calibri" pitchFamily="34" charset="-122"/>
                <a:cs typeface="Calibri" pitchFamily="34" charset="-120"/>
              </a:rPr>
              <a:t>   accused → 52,928 identities</a:t>
            </a:r>
            <a:endParaRPr lang="en-US" sz="900" dirty="0"/>
          </a:p>
        </p:txBody>
      </p:sp>
      <p:sp>
        <p:nvSpPr>
          <p:cNvPr id="10" name="Text 7"/>
          <p:cNvSpPr txBox="1"/>
          <p:nvPr/>
        </p:nvSpPr>
        <p:spPr>
          <a:xfrm>
            <a:off x="493776" y="2194560"/>
            <a:ext cx="2468880" cy="219456"/>
          </a:xfrm>
          <a:prstGeom prst="rect">
            <a:avLst/>
          </a:prstGeom>
          <a:noFill/>
          <a:ln/>
        </p:spPr>
        <p:txBody>
          <a:bodyPr wrap="square" lIns="0" tIns="0" rIns="0" bIns="0" rtlCol="0" anchor="ctr"/>
          <a:lstStyle/>
          <a:p>
            <a:pPr marL="0" indent="0">
              <a:buNone/>
            </a:pPr>
            <a:r>
              <a:rPr lang="en-US" sz="900" b="1" dirty="0">
                <a:solidFill>
                  <a:srgbClr val="0F2F44"/>
                </a:solidFill>
                <a:latin typeface="Calibri" pitchFamily="34" charset="0"/>
                <a:ea typeface="Calibri" pitchFamily="34" charset="-122"/>
                <a:cs typeface="Calibri" pitchFamily="34" charset="-120"/>
              </a:rPr>
              <a:t>85,429</a:t>
            </a:r>
            <a:r>
              <a:rPr lang="en-US" sz="720" dirty="0">
                <a:solidFill>
                  <a:srgbClr val="5B6B7C"/>
                </a:solidFill>
                <a:latin typeface="Calibri" pitchFamily="34" charset="0"/>
                <a:ea typeface="Calibri" pitchFamily="34" charset="-122"/>
                <a:cs typeface="Calibri" pitchFamily="34" charset="-120"/>
              </a:rPr>
              <a:t>   typed evidence links</a:t>
            </a:r>
            <a:endParaRPr lang="en-US" sz="900" dirty="0"/>
          </a:p>
        </p:txBody>
      </p:sp>
      <p:sp>
        <p:nvSpPr>
          <p:cNvPr id="11" name="Text 8"/>
          <p:cNvSpPr txBox="1"/>
          <p:nvPr/>
        </p:nvSpPr>
        <p:spPr>
          <a:xfrm>
            <a:off x="493776" y="2432304"/>
            <a:ext cx="2468880" cy="219456"/>
          </a:xfrm>
          <a:prstGeom prst="rect">
            <a:avLst/>
          </a:prstGeom>
          <a:noFill/>
          <a:ln/>
        </p:spPr>
        <p:txBody>
          <a:bodyPr wrap="square" lIns="0" tIns="0" rIns="0" bIns="0" rtlCol="0" anchor="ctr"/>
          <a:lstStyle/>
          <a:p>
            <a:pPr marL="0" indent="0">
              <a:buNone/>
            </a:pPr>
            <a:r>
              <a:rPr lang="en-US" sz="900" b="1" dirty="0">
                <a:solidFill>
                  <a:srgbClr val="0F2F44"/>
                </a:solidFill>
                <a:latin typeface="Calibri" pitchFamily="34" charset="0"/>
                <a:ea typeface="Calibri" pitchFamily="34" charset="-122"/>
                <a:cs typeface="Calibri" pitchFamily="34" charset="-120"/>
              </a:rPr>
              <a:t>7</a:t>
            </a:r>
            <a:r>
              <a:rPr lang="en-US" sz="720" dirty="0">
                <a:solidFill>
                  <a:srgbClr val="5B6B7C"/>
                </a:solidFill>
                <a:latin typeface="Calibri" pitchFamily="34" charset="0"/>
                <a:ea typeface="Calibri" pitchFamily="34" charset="-122"/>
                <a:cs typeface="Calibri" pitchFamily="34" charset="-120"/>
              </a:rPr>
              <a:t>   ground-truth patterns planted</a:t>
            </a:r>
            <a:endParaRPr lang="en-US" sz="900" dirty="0"/>
          </a:p>
        </p:txBody>
      </p:sp>
      <p:sp>
        <p:nvSpPr>
          <p:cNvPr id="12" name="Text 9"/>
          <p:cNvSpPr txBox="1"/>
          <p:nvPr/>
        </p:nvSpPr>
        <p:spPr>
          <a:xfrm>
            <a:off x="493776" y="2688336"/>
            <a:ext cx="2468880" cy="201168"/>
          </a:xfrm>
          <a:prstGeom prst="rect">
            <a:avLst/>
          </a:prstGeom>
          <a:noFill/>
          <a:ln/>
        </p:spPr>
        <p:txBody>
          <a:bodyPr wrap="square" lIns="0" tIns="0" rIns="0" bIns="0" rtlCol="0" anchor="t"/>
          <a:lstStyle/>
          <a:p>
            <a:pPr marL="0" indent="0">
              <a:lnSpc>
                <a:spcPct val="98000"/>
              </a:lnSpc>
              <a:buNone/>
            </a:pPr>
            <a:r>
              <a:rPr lang="en-US" sz="690" i="1" dirty="0">
                <a:solidFill>
                  <a:srgbClr val="8A98A8"/>
                </a:solidFill>
                <a:latin typeface="Calibri" pitchFamily="34" charset="0"/>
                <a:ea typeface="Calibri" pitchFamily="34" charset="-122"/>
                <a:cs typeface="Calibri" pitchFamily="34" charset="-120"/>
              </a:rPr>
              <a:t>Synthetic FIRs only — no real case or person appears. Generated against the real KSP schema, geography and statistics.</a:t>
            </a:r>
            <a:endParaRPr lang="en-US" sz="690" dirty="0"/>
          </a:p>
        </p:txBody>
      </p:sp>
      <p:sp>
        <p:nvSpPr>
          <p:cNvPr id="13" name="Shape 10"/>
          <p:cNvSpPr/>
          <p:nvPr/>
        </p:nvSpPr>
        <p:spPr>
          <a:xfrm>
            <a:off x="3209544" y="1225296"/>
            <a:ext cx="2688336" cy="1700784"/>
          </a:xfrm>
          <a:prstGeom prst="roundRect">
            <a:avLst>
              <a:gd name="adj" fmla="val 3226"/>
            </a:avLst>
          </a:prstGeom>
          <a:solidFill>
            <a:srgbClr val="E4F5F3"/>
          </a:solidFill>
          <a:ln w="9525">
            <a:solidFill>
              <a:srgbClr val="BFE4E0"/>
            </a:solidFill>
            <a:prstDash val="solid"/>
          </a:ln>
        </p:spPr>
        <p:txBody>
          <a:bodyPr/>
          <a:lstStyle/>
          <a:p>
            <a:endParaRPr lang="en-US"/>
          </a:p>
        </p:txBody>
      </p:sp>
      <p:sp>
        <p:nvSpPr>
          <p:cNvPr id="14" name="Text 11"/>
          <p:cNvSpPr txBox="1"/>
          <p:nvPr/>
        </p:nvSpPr>
        <p:spPr>
          <a:xfrm>
            <a:off x="3319272" y="1280160"/>
            <a:ext cx="2468880" cy="182880"/>
          </a:xfrm>
          <a:prstGeom prst="rect">
            <a:avLst/>
          </a:prstGeom>
          <a:noFill/>
          <a:ln/>
        </p:spPr>
        <p:txBody>
          <a:bodyPr wrap="square" lIns="0" tIns="0" rIns="0" bIns="0" rtlCol="0" anchor="ctr"/>
          <a:lstStyle/>
          <a:p>
            <a:pPr marL="0" indent="0">
              <a:buNone/>
            </a:pPr>
            <a:r>
              <a:rPr lang="en-US" sz="1050" b="1" dirty="0">
                <a:solidFill>
                  <a:srgbClr val="2FA8A0"/>
                </a:solidFill>
                <a:latin typeface="Calibri" pitchFamily="34" charset="0"/>
                <a:ea typeface="Calibri" pitchFamily="34" charset="-122"/>
                <a:cs typeface="Calibri" pitchFamily="34" charset="-120"/>
              </a:rPr>
              <a:t>Fairness is an invariant, not a policy</a:t>
            </a:r>
            <a:endParaRPr lang="en-US" sz="1050" dirty="0"/>
          </a:p>
        </p:txBody>
      </p:sp>
      <p:sp>
        <p:nvSpPr>
          <p:cNvPr id="15" name="Text 12"/>
          <p:cNvSpPr txBox="1"/>
          <p:nvPr/>
        </p:nvSpPr>
        <p:spPr>
          <a:xfrm>
            <a:off x="3319272" y="1481328"/>
            <a:ext cx="2468880" cy="384048"/>
          </a:xfrm>
          <a:prstGeom prst="rect">
            <a:avLst/>
          </a:prstGeom>
          <a:noFill/>
          <a:ln/>
        </p:spPr>
        <p:txBody>
          <a:bodyPr wrap="square" lIns="0" tIns="0" rIns="0" bIns="0" rtlCol="0" anchor="ctr"/>
          <a:lstStyle/>
          <a:p>
            <a:pPr marL="0" indent="0">
              <a:lnSpc>
                <a:spcPct val="100000"/>
              </a:lnSpc>
              <a:buNone/>
            </a:pPr>
            <a:r>
              <a:rPr lang="en-US" sz="750" dirty="0">
                <a:solidFill>
                  <a:srgbClr val="5B6B7C"/>
                </a:solidFill>
                <a:latin typeface="Calibri" pitchFamily="34" charset="0"/>
                <a:ea typeface="Calibri" pitchFamily="34" charset="-122"/>
                <a:cs typeface="Calibri" pitchFamily="34" charset="-120"/>
              </a:rPr>
              <a:t>Caste, religion and occupation never enter entity resolution, linkage, risk scoring or any prediction and the guarantee is executable.</a:t>
            </a:r>
            <a:endParaRPr lang="en-US" sz="750" dirty="0"/>
          </a:p>
        </p:txBody>
      </p:sp>
      <p:sp>
        <p:nvSpPr>
          <p:cNvPr id="16" name="Shape 13"/>
          <p:cNvSpPr/>
          <p:nvPr/>
        </p:nvSpPr>
        <p:spPr>
          <a:xfrm>
            <a:off x="3319272" y="1883664"/>
            <a:ext cx="2468880" cy="512064"/>
          </a:xfrm>
          <a:prstGeom prst="roundRect">
            <a:avLst>
              <a:gd name="adj" fmla="val 10714"/>
            </a:avLst>
          </a:prstGeom>
          <a:solidFill>
            <a:srgbClr val="0F2F44"/>
          </a:solidFill>
          <a:ln w="9525">
            <a:solidFill>
              <a:srgbClr val="0F2F44"/>
            </a:solidFill>
            <a:prstDash val="solid"/>
          </a:ln>
        </p:spPr>
        <p:txBody>
          <a:bodyPr/>
          <a:lstStyle/>
          <a:p>
            <a:endParaRPr lang="en-US"/>
          </a:p>
        </p:txBody>
      </p:sp>
      <p:sp>
        <p:nvSpPr>
          <p:cNvPr id="17" name="Text 14"/>
          <p:cNvSpPr txBox="1"/>
          <p:nvPr/>
        </p:nvSpPr>
        <p:spPr>
          <a:xfrm>
            <a:off x="3392424" y="1920240"/>
            <a:ext cx="2322576" cy="438912"/>
          </a:xfrm>
          <a:prstGeom prst="rect">
            <a:avLst/>
          </a:prstGeom>
          <a:noFill/>
          <a:ln/>
        </p:spPr>
        <p:txBody>
          <a:bodyPr wrap="square" lIns="0" tIns="0" rIns="0" bIns="0" rtlCol="0" anchor="ctr"/>
          <a:lstStyle/>
          <a:p>
            <a:pPr marL="0" indent="0">
              <a:lnSpc>
                <a:spcPct val="98000"/>
              </a:lnSpc>
              <a:buNone/>
            </a:pPr>
            <a:r>
              <a:rPr lang="en-US" sz="640" dirty="0">
                <a:solidFill>
                  <a:srgbClr val="8FE3DA"/>
                </a:solidFill>
                <a:latin typeface="Courier New" pitchFamily="34" charset="0"/>
                <a:ea typeface="Courier New" pitchFamily="34" charset="-122"/>
                <a:cs typeface="Courier New" pitchFamily="34" charset="-120"/>
              </a:rPr>
              <a:t>PROTECTED_COLUMNS = {ReligionID,</a:t>
            </a:r>
            <a:endParaRPr lang="en-US" sz="640" dirty="0"/>
          </a:p>
          <a:p>
            <a:pPr marL="0" indent="0">
              <a:lnSpc>
                <a:spcPct val="98000"/>
              </a:lnSpc>
              <a:buNone/>
            </a:pPr>
            <a:r>
              <a:rPr lang="en-US" sz="640" dirty="0">
                <a:solidFill>
                  <a:srgbClr val="8FE3DA"/>
                </a:solidFill>
                <a:latin typeface="Courier New" pitchFamily="34" charset="0"/>
                <a:ea typeface="Courier New" pitchFamily="34" charset="-122"/>
                <a:cs typeface="Courier New" pitchFamily="34" charset="-120"/>
              </a:rPr>
              <a:t>  CasteID, OccupationID, …}</a:t>
            </a:r>
            <a:endParaRPr lang="en-US" sz="640" dirty="0"/>
          </a:p>
          <a:p>
            <a:pPr marL="0" indent="0">
              <a:lnSpc>
                <a:spcPct val="98000"/>
              </a:lnSpc>
              <a:buNone/>
            </a:pPr>
            <a:r>
              <a:rPr lang="en-US" sz="640" dirty="0">
                <a:solidFill>
                  <a:srgbClr val="8FE3DA"/>
                </a:solidFill>
                <a:latin typeface="Courier New" pitchFamily="34" charset="0"/>
                <a:ea typeface="Courier New" pitchFamily="34" charset="-122"/>
                <a:cs typeface="Courier New" pitchFamily="34" charset="-120"/>
              </a:rPr>
              <a:t>raise ValueError(FAIRNESS VIOLATION)</a:t>
            </a:r>
            <a:endParaRPr lang="en-US" sz="640" dirty="0"/>
          </a:p>
        </p:txBody>
      </p:sp>
      <p:sp>
        <p:nvSpPr>
          <p:cNvPr id="18" name="Text 15"/>
          <p:cNvSpPr txBox="1"/>
          <p:nvPr/>
        </p:nvSpPr>
        <p:spPr>
          <a:xfrm>
            <a:off x="3319272" y="2504835"/>
            <a:ext cx="2468880" cy="402336"/>
          </a:xfrm>
          <a:prstGeom prst="rect">
            <a:avLst/>
          </a:prstGeom>
          <a:noFill/>
          <a:ln/>
        </p:spPr>
        <p:txBody>
          <a:bodyPr wrap="square" lIns="0" tIns="0" rIns="0" bIns="0" rtlCol="0" anchor="ctr"/>
          <a:lstStyle/>
          <a:p>
            <a:pPr marL="0" indent="0">
              <a:lnSpc>
                <a:spcPct val="100000"/>
              </a:lnSpc>
              <a:buNone/>
            </a:pPr>
            <a:r>
              <a:rPr lang="en-US" sz="800" dirty="0">
                <a:solidFill>
                  <a:srgbClr val="5B6B7C"/>
                </a:solidFill>
                <a:latin typeface="Calibri" pitchFamily="34" charset="0"/>
                <a:ea typeface="Calibri" pitchFamily="34" charset="-122"/>
                <a:cs typeface="Calibri" pitchFamily="34" charset="-120"/>
              </a:rPr>
              <a:t>A unit test fails the build if any protected column reaches a model’s feature set. The claim is a test, not a paragraph of policy.</a:t>
            </a:r>
            <a:endParaRPr lang="en-US" sz="800" dirty="0"/>
          </a:p>
        </p:txBody>
      </p:sp>
      <p:sp>
        <p:nvSpPr>
          <p:cNvPr id="19" name="Shape 16"/>
          <p:cNvSpPr/>
          <p:nvPr/>
        </p:nvSpPr>
        <p:spPr>
          <a:xfrm>
            <a:off x="6035040" y="1225296"/>
            <a:ext cx="2724912" cy="1700784"/>
          </a:xfrm>
          <a:prstGeom prst="roundRect">
            <a:avLst>
              <a:gd name="adj" fmla="val 3226"/>
            </a:avLst>
          </a:prstGeom>
          <a:solidFill>
            <a:srgbClr val="FDF1E4"/>
          </a:solidFill>
          <a:ln w="9525">
            <a:solidFill>
              <a:srgbClr val="F0D9BE"/>
            </a:solidFill>
            <a:prstDash val="solid"/>
          </a:ln>
        </p:spPr>
        <p:txBody>
          <a:bodyPr/>
          <a:lstStyle/>
          <a:p>
            <a:endParaRPr lang="en-US"/>
          </a:p>
        </p:txBody>
      </p:sp>
      <p:sp>
        <p:nvSpPr>
          <p:cNvPr id="20" name="Text 17"/>
          <p:cNvSpPr txBox="1"/>
          <p:nvPr/>
        </p:nvSpPr>
        <p:spPr>
          <a:xfrm>
            <a:off x="6144768" y="1280160"/>
            <a:ext cx="2505456" cy="182880"/>
          </a:xfrm>
          <a:prstGeom prst="rect">
            <a:avLst/>
          </a:prstGeom>
          <a:noFill/>
          <a:ln/>
        </p:spPr>
        <p:txBody>
          <a:bodyPr wrap="square" lIns="0" tIns="0" rIns="0" bIns="0" rtlCol="0" anchor="ctr"/>
          <a:lstStyle/>
          <a:p>
            <a:pPr marL="0" indent="0">
              <a:buNone/>
            </a:pPr>
            <a:r>
              <a:rPr lang="en-US" sz="1050" b="1" dirty="0">
                <a:solidFill>
                  <a:srgbClr val="E8871E"/>
                </a:solidFill>
                <a:latin typeface="Calibri" pitchFamily="34" charset="0"/>
                <a:ea typeface="Calibri" pitchFamily="34" charset="-122"/>
                <a:cs typeface="Calibri" pitchFamily="34" charset="-120"/>
              </a:rPr>
              <a:t>What the analysis surfaced</a:t>
            </a:r>
            <a:endParaRPr lang="en-US" sz="1050" dirty="0"/>
          </a:p>
        </p:txBody>
      </p:sp>
      <p:sp>
        <p:nvSpPr>
          <p:cNvPr id="21" name="Text 18"/>
          <p:cNvSpPr txBox="1"/>
          <p:nvPr/>
        </p:nvSpPr>
        <p:spPr>
          <a:xfrm>
            <a:off x="6144768" y="1481328"/>
            <a:ext cx="2505456" cy="310896"/>
          </a:xfrm>
          <a:prstGeom prst="rect">
            <a:avLst/>
          </a:prstGeom>
          <a:noFill/>
          <a:ln/>
        </p:spPr>
        <p:txBody>
          <a:bodyPr wrap="square" lIns="0" tIns="0" rIns="0" bIns="0" rtlCol="0" anchor="ctr"/>
          <a:lstStyle/>
          <a:p>
            <a:pPr marL="0" indent="0">
              <a:lnSpc>
                <a:spcPct val="100000"/>
              </a:lnSpc>
              <a:buNone/>
            </a:pPr>
            <a:r>
              <a:rPr lang="en-US" sz="800" dirty="0">
                <a:solidFill>
                  <a:srgbClr val="5B6B7C"/>
                </a:solidFill>
                <a:latin typeface="Calibri" pitchFamily="34" charset="0"/>
                <a:ea typeface="Calibri" pitchFamily="34" charset="-122"/>
                <a:cs typeface="Calibri" pitchFamily="34" charset="-120"/>
              </a:rPr>
              <a:t>Raw counts mostly measure population. Normalising to incidents per 100,000 residents changes the map entirely.</a:t>
            </a:r>
            <a:endParaRPr lang="en-US" sz="800" dirty="0"/>
          </a:p>
        </p:txBody>
      </p:sp>
      <p:sp>
        <p:nvSpPr>
          <p:cNvPr id="22" name="Text 19"/>
          <p:cNvSpPr txBox="1"/>
          <p:nvPr/>
        </p:nvSpPr>
        <p:spPr>
          <a:xfrm>
            <a:off x="6144768" y="1828800"/>
            <a:ext cx="768096" cy="219456"/>
          </a:xfrm>
          <a:prstGeom prst="rect">
            <a:avLst/>
          </a:prstGeom>
          <a:noFill/>
          <a:ln/>
        </p:spPr>
        <p:txBody>
          <a:bodyPr wrap="square" lIns="0" tIns="0" rIns="0" bIns="0" rtlCol="0" anchor="ctr"/>
          <a:lstStyle/>
          <a:p>
            <a:pPr marL="0" indent="0">
              <a:buNone/>
            </a:pPr>
            <a:r>
              <a:rPr lang="en-US" sz="1000" b="1" dirty="0">
                <a:solidFill>
                  <a:srgbClr val="0F2F44"/>
                </a:solidFill>
                <a:latin typeface="Calibri" pitchFamily="34" charset="0"/>
                <a:ea typeface="Calibri" pitchFamily="34" charset="-122"/>
                <a:cs typeface="Calibri" pitchFamily="34" charset="-120"/>
              </a:rPr>
              <a:t>Kodagu</a:t>
            </a:r>
            <a:endParaRPr lang="en-US" sz="1000" dirty="0"/>
          </a:p>
        </p:txBody>
      </p:sp>
      <p:sp>
        <p:nvSpPr>
          <p:cNvPr id="23" name="Text 20"/>
          <p:cNvSpPr txBox="1"/>
          <p:nvPr/>
        </p:nvSpPr>
        <p:spPr>
          <a:xfrm>
            <a:off x="6912864" y="1828800"/>
            <a:ext cx="841248" cy="219456"/>
          </a:xfrm>
          <a:prstGeom prst="rect">
            <a:avLst/>
          </a:prstGeom>
          <a:noFill/>
          <a:ln/>
        </p:spPr>
        <p:txBody>
          <a:bodyPr wrap="square" lIns="0" tIns="0" rIns="0" bIns="0" rtlCol="0" anchor="ctr"/>
          <a:lstStyle/>
          <a:p>
            <a:pPr marL="0" indent="0">
              <a:buNone/>
            </a:pPr>
            <a:r>
              <a:rPr lang="en-US" sz="900" dirty="0">
                <a:solidFill>
                  <a:srgbClr val="5B6B7C"/>
                </a:solidFill>
                <a:latin typeface="Calibri" pitchFamily="34" charset="0"/>
                <a:ea typeface="Calibri" pitchFamily="34" charset="-122"/>
                <a:cs typeface="Calibri" pitchFamily="34" charset="-120"/>
              </a:rPr>
              <a:t>30th by count</a:t>
            </a:r>
            <a:endParaRPr lang="en-US" sz="900" dirty="0"/>
          </a:p>
        </p:txBody>
      </p:sp>
      <p:sp>
        <p:nvSpPr>
          <p:cNvPr id="24" name="Text 21"/>
          <p:cNvSpPr txBox="1"/>
          <p:nvPr/>
        </p:nvSpPr>
        <p:spPr>
          <a:xfrm>
            <a:off x="7754112" y="1828800"/>
            <a:ext cx="896112" cy="219456"/>
          </a:xfrm>
          <a:prstGeom prst="rect">
            <a:avLst/>
          </a:prstGeom>
          <a:noFill/>
          <a:ln/>
        </p:spPr>
        <p:txBody>
          <a:bodyPr wrap="square" lIns="0" tIns="0" rIns="0" bIns="0" rtlCol="0" anchor="ctr"/>
          <a:lstStyle/>
          <a:p>
            <a:pPr marL="0" indent="0" algn="r">
              <a:buNone/>
            </a:pPr>
            <a:r>
              <a:rPr lang="en-US" sz="1000" b="1" dirty="0">
                <a:solidFill>
                  <a:srgbClr val="E8871E"/>
                </a:solidFill>
                <a:latin typeface="Calibri" pitchFamily="34" charset="0"/>
                <a:ea typeface="Calibri" pitchFamily="34" charset="-122"/>
                <a:cs typeface="Calibri" pitchFamily="34" charset="-120"/>
              </a:rPr>
              <a:t>6th by rate</a:t>
            </a:r>
            <a:endParaRPr lang="en-US" sz="1000" dirty="0"/>
          </a:p>
        </p:txBody>
      </p:sp>
      <p:sp>
        <p:nvSpPr>
          <p:cNvPr id="25" name="Text 22"/>
          <p:cNvSpPr txBox="1"/>
          <p:nvPr/>
        </p:nvSpPr>
        <p:spPr>
          <a:xfrm>
            <a:off x="6144768" y="2084832"/>
            <a:ext cx="768096" cy="219456"/>
          </a:xfrm>
          <a:prstGeom prst="rect">
            <a:avLst/>
          </a:prstGeom>
          <a:noFill/>
          <a:ln/>
        </p:spPr>
        <p:txBody>
          <a:bodyPr wrap="square" lIns="0" tIns="0" rIns="0" bIns="0" rtlCol="0" anchor="ctr"/>
          <a:lstStyle/>
          <a:p>
            <a:pPr marL="0" indent="0">
              <a:buNone/>
            </a:pPr>
            <a:r>
              <a:rPr lang="en-US" sz="1000" b="1" dirty="0">
                <a:solidFill>
                  <a:srgbClr val="0F2F44"/>
                </a:solidFill>
                <a:latin typeface="Calibri" pitchFamily="34" charset="0"/>
                <a:ea typeface="Calibri" pitchFamily="34" charset="-122"/>
                <a:cs typeface="Calibri" pitchFamily="34" charset="-120"/>
              </a:rPr>
              <a:t>Dharwad</a:t>
            </a:r>
            <a:endParaRPr lang="en-US" sz="1000" dirty="0"/>
          </a:p>
        </p:txBody>
      </p:sp>
      <p:sp>
        <p:nvSpPr>
          <p:cNvPr id="26" name="Text 23"/>
          <p:cNvSpPr txBox="1"/>
          <p:nvPr/>
        </p:nvSpPr>
        <p:spPr>
          <a:xfrm>
            <a:off x="6912864" y="2084832"/>
            <a:ext cx="841248" cy="219456"/>
          </a:xfrm>
          <a:prstGeom prst="rect">
            <a:avLst/>
          </a:prstGeom>
          <a:noFill/>
          <a:ln/>
        </p:spPr>
        <p:txBody>
          <a:bodyPr wrap="square" lIns="0" tIns="0" rIns="0" bIns="0" rtlCol="0" anchor="ctr"/>
          <a:lstStyle/>
          <a:p>
            <a:pPr marL="0" indent="0">
              <a:buNone/>
            </a:pPr>
            <a:r>
              <a:rPr lang="en-US" sz="900" dirty="0">
                <a:solidFill>
                  <a:srgbClr val="5B6B7C"/>
                </a:solidFill>
                <a:latin typeface="Calibri" pitchFamily="34" charset="0"/>
                <a:ea typeface="Calibri" pitchFamily="34" charset="-122"/>
                <a:cs typeface="Calibri" pitchFamily="34" charset="-120"/>
              </a:rPr>
              <a:t>23rd by count</a:t>
            </a:r>
            <a:endParaRPr lang="en-US" sz="900" dirty="0"/>
          </a:p>
        </p:txBody>
      </p:sp>
      <p:sp>
        <p:nvSpPr>
          <p:cNvPr id="27" name="Text 24"/>
          <p:cNvSpPr txBox="1"/>
          <p:nvPr/>
        </p:nvSpPr>
        <p:spPr>
          <a:xfrm>
            <a:off x="7754112" y="2084832"/>
            <a:ext cx="896112" cy="219456"/>
          </a:xfrm>
          <a:prstGeom prst="rect">
            <a:avLst/>
          </a:prstGeom>
          <a:noFill/>
          <a:ln/>
        </p:spPr>
        <p:txBody>
          <a:bodyPr wrap="square" lIns="0" tIns="0" rIns="0" bIns="0" rtlCol="0" anchor="ctr"/>
          <a:lstStyle/>
          <a:p>
            <a:pPr marL="0" indent="0" algn="r">
              <a:buNone/>
            </a:pPr>
            <a:r>
              <a:rPr lang="en-US" sz="1000" b="1" dirty="0">
                <a:solidFill>
                  <a:srgbClr val="E8871E"/>
                </a:solidFill>
                <a:latin typeface="Calibri" pitchFamily="34" charset="0"/>
                <a:ea typeface="Calibri" pitchFamily="34" charset="-122"/>
                <a:cs typeface="Calibri" pitchFamily="34" charset="-120"/>
              </a:rPr>
              <a:t>7th by rate</a:t>
            </a:r>
            <a:endParaRPr lang="en-US" sz="1000" dirty="0"/>
          </a:p>
        </p:txBody>
      </p:sp>
      <p:sp>
        <p:nvSpPr>
          <p:cNvPr id="28" name="Text 25"/>
          <p:cNvSpPr txBox="1"/>
          <p:nvPr/>
        </p:nvSpPr>
        <p:spPr>
          <a:xfrm>
            <a:off x="6144768" y="2340864"/>
            <a:ext cx="768096" cy="219456"/>
          </a:xfrm>
          <a:prstGeom prst="rect">
            <a:avLst/>
          </a:prstGeom>
          <a:noFill/>
          <a:ln/>
        </p:spPr>
        <p:txBody>
          <a:bodyPr wrap="square" lIns="0" tIns="0" rIns="0" bIns="0" rtlCol="0" anchor="ctr"/>
          <a:lstStyle/>
          <a:p>
            <a:pPr marL="0" indent="0">
              <a:buNone/>
            </a:pPr>
            <a:r>
              <a:rPr lang="en-US" sz="1000" b="1" dirty="0">
                <a:solidFill>
                  <a:srgbClr val="0F2F44"/>
                </a:solidFill>
                <a:latin typeface="Calibri" pitchFamily="34" charset="0"/>
                <a:ea typeface="Calibri" pitchFamily="34" charset="-122"/>
                <a:cs typeface="Calibri" pitchFamily="34" charset="-120"/>
              </a:rPr>
              <a:t>Tumakuru</a:t>
            </a:r>
            <a:endParaRPr lang="en-US" sz="1000" dirty="0"/>
          </a:p>
        </p:txBody>
      </p:sp>
      <p:sp>
        <p:nvSpPr>
          <p:cNvPr id="29" name="Text 26"/>
          <p:cNvSpPr txBox="1"/>
          <p:nvPr/>
        </p:nvSpPr>
        <p:spPr>
          <a:xfrm>
            <a:off x="6912864" y="2340864"/>
            <a:ext cx="841248" cy="219456"/>
          </a:xfrm>
          <a:prstGeom prst="rect">
            <a:avLst/>
          </a:prstGeom>
          <a:noFill/>
          <a:ln/>
        </p:spPr>
        <p:txBody>
          <a:bodyPr wrap="square" lIns="0" tIns="0" rIns="0" bIns="0" rtlCol="0" anchor="ctr"/>
          <a:lstStyle/>
          <a:p>
            <a:pPr marL="0" indent="0">
              <a:buNone/>
            </a:pPr>
            <a:r>
              <a:rPr lang="en-US" sz="900" dirty="0">
                <a:solidFill>
                  <a:srgbClr val="5B6B7C"/>
                </a:solidFill>
                <a:latin typeface="Calibri" pitchFamily="34" charset="0"/>
                <a:ea typeface="Calibri" pitchFamily="34" charset="-122"/>
                <a:cs typeface="Calibri" pitchFamily="34" charset="-120"/>
              </a:rPr>
              <a:t>10th by count</a:t>
            </a:r>
            <a:endParaRPr lang="en-US" sz="900" dirty="0"/>
          </a:p>
        </p:txBody>
      </p:sp>
      <p:sp>
        <p:nvSpPr>
          <p:cNvPr id="30" name="Text 27"/>
          <p:cNvSpPr txBox="1"/>
          <p:nvPr/>
        </p:nvSpPr>
        <p:spPr>
          <a:xfrm>
            <a:off x="7754112" y="2340864"/>
            <a:ext cx="896112" cy="219456"/>
          </a:xfrm>
          <a:prstGeom prst="rect">
            <a:avLst/>
          </a:prstGeom>
          <a:noFill/>
          <a:ln/>
        </p:spPr>
        <p:txBody>
          <a:bodyPr wrap="square" lIns="0" tIns="0" rIns="0" bIns="0" rtlCol="0" anchor="ctr"/>
          <a:lstStyle/>
          <a:p>
            <a:pPr marL="0" indent="0" algn="r">
              <a:buNone/>
            </a:pPr>
            <a:r>
              <a:rPr lang="en-US" sz="1000" b="1" dirty="0">
                <a:solidFill>
                  <a:srgbClr val="E8871E"/>
                </a:solidFill>
                <a:latin typeface="Calibri" pitchFamily="34" charset="0"/>
                <a:ea typeface="Calibri" pitchFamily="34" charset="-122"/>
                <a:cs typeface="Calibri" pitchFamily="34" charset="-120"/>
              </a:rPr>
              <a:t>24th by rate</a:t>
            </a:r>
            <a:endParaRPr lang="en-US" sz="1000" dirty="0"/>
          </a:p>
        </p:txBody>
      </p:sp>
      <p:sp>
        <p:nvSpPr>
          <p:cNvPr id="31" name="Text 28"/>
          <p:cNvSpPr txBox="1"/>
          <p:nvPr/>
        </p:nvSpPr>
        <p:spPr>
          <a:xfrm>
            <a:off x="6144768" y="2615184"/>
            <a:ext cx="2505456" cy="274320"/>
          </a:xfrm>
          <a:prstGeom prst="rect">
            <a:avLst/>
          </a:prstGeom>
          <a:noFill/>
          <a:ln/>
        </p:spPr>
        <p:txBody>
          <a:bodyPr wrap="square" lIns="0" tIns="0" rIns="0" bIns="0" rtlCol="0" anchor="ctr"/>
          <a:lstStyle/>
          <a:p>
            <a:pPr marL="0" indent="0">
              <a:lnSpc>
                <a:spcPct val="98000"/>
              </a:lnSpc>
              <a:buNone/>
            </a:pPr>
            <a:r>
              <a:rPr lang="en-US" sz="690" i="1" dirty="0">
                <a:solidFill>
                  <a:srgbClr val="8A98A8"/>
                </a:solidFill>
                <a:latin typeface="Calibri" pitchFamily="34" charset="0"/>
                <a:ea typeface="Calibri" pitchFamily="34" charset="-122"/>
                <a:cs typeface="Calibri" pitchFamily="34" charset="-120"/>
              </a:rPr>
              <a:t>335 FIRs looks unremarkable beside Bengaluru City’s 16,895 — until you divide by Kodagu’s 648,787 residents. A count map would never surface it.</a:t>
            </a:r>
            <a:endParaRPr lang="en-US" sz="690" dirty="0"/>
          </a:p>
        </p:txBody>
      </p:sp>
      <p:sp>
        <p:nvSpPr>
          <p:cNvPr id="32" name="Text 29"/>
          <p:cNvSpPr txBox="1"/>
          <p:nvPr/>
        </p:nvSpPr>
        <p:spPr>
          <a:xfrm>
            <a:off x="384048" y="3035808"/>
            <a:ext cx="8375904" cy="182880"/>
          </a:xfrm>
          <a:prstGeom prst="rect">
            <a:avLst/>
          </a:prstGeom>
          <a:noFill/>
          <a:ln/>
        </p:spPr>
        <p:txBody>
          <a:bodyPr wrap="square" lIns="0" tIns="0" rIns="0" bIns="0" rtlCol="0" anchor="ctr"/>
          <a:lstStyle/>
          <a:p>
            <a:pPr marL="0" indent="0">
              <a:buNone/>
            </a:pPr>
            <a:r>
              <a:rPr lang="en-US" sz="1050" b="1" dirty="0">
                <a:solidFill>
                  <a:srgbClr val="0F2F44"/>
                </a:solidFill>
                <a:latin typeface="Calibri" pitchFamily="34" charset="0"/>
                <a:ea typeface="Calibri" pitchFamily="34" charset="-122"/>
                <a:cs typeface="Calibri" pitchFamily="34" charset="-120"/>
              </a:rPr>
              <a:t>Socio-economic correlation across all 31 districts, with p-values so a weak signal reads as weak</a:t>
            </a:r>
            <a:endParaRPr lang="en-US" sz="1050" dirty="0"/>
          </a:p>
        </p:txBody>
      </p:sp>
      <p:sp>
        <p:nvSpPr>
          <p:cNvPr id="33" name="Shape 30"/>
          <p:cNvSpPr/>
          <p:nvPr/>
        </p:nvSpPr>
        <p:spPr>
          <a:xfrm>
            <a:off x="384048" y="3255264"/>
            <a:ext cx="1956816" cy="658368"/>
          </a:xfrm>
          <a:prstGeom prst="roundRect">
            <a:avLst>
              <a:gd name="adj" fmla="val 8333"/>
            </a:avLst>
          </a:prstGeom>
          <a:solidFill>
            <a:srgbClr val="FFFFFF"/>
          </a:solidFill>
          <a:ln w="9525">
            <a:solidFill>
              <a:srgbClr val="DCE3EC"/>
            </a:solidFill>
            <a:prstDash val="solid"/>
          </a:ln>
        </p:spPr>
        <p:txBody>
          <a:bodyPr/>
          <a:lstStyle/>
          <a:p>
            <a:endParaRPr lang="en-US"/>
          </a:p>
        </p:txBody>
      </p:sp>
      <p:sp>
        <p:nvSpPr>
          <p:cNvPr id="34" name="Text 31"/>
          <p:cNvSpPr txBox="1"/>
          <p:nvPr/>
        </p:nvSpPr>
        <p:spPr>
          <a:xfrm>
            <a:off x="484632" y="3291840"/>
            <a:ext cx="1755648" cy="274320"/>
          </a:xfrm>
          <a:prstGeom prst="rect">
            <a:avLst/>
          </a:prstGeom>
          <a:noFill/>
          <a:ln/>
        </p:spPr>
        <p:txBody>
          <a:bodyPr wrap="square" lIns="0" tIns="0" rIns="0" bIns="0" rtlCol="0" anchor="ctr"/>
          <a:lstStyle/>
          <a:p>
            <a:pPr marL="0" indent="0">
              <a:buNone/>
            </a:pPr>
            <a:r>
              <a:rPr lang="en-US" sz="1350" b="1" dirty="0">
                <a:solidFill>
                  <a:srgbClr val="1A6FC4"/>
                </a:solidFill>
                <a:latin typeface="Calibri" pitchFamily="34" charset="0"/>
                <a:ea typeface="Calibri" pitchFamily="34" charset="-122"/>
                <a:cs typeface="Calibri" pitchFamily="34" charset="-120"/>
              </a:rPr>
              <a:t>+0.871</a:t>
            </a:r>
            <a:endParaRPr lang="en-US" sz="1350" dirty="0"/>
          </a:p>
        </p:txBody>
      </p:sp>
      <p:sp>
        <p:nvSpPr>
          <p:cNvPr id="35" name="Text 32"/>
          <p:cNvSpPr txBox="1"/>
          <p:nvPr/>
        </p:nvSpPr>
        <p:spPr>
          <a:xfrm>
            <a:off x="484632" y="3557016"/>
            <a:ext cx="1755648" cy="164592"/>
          </a:xfrm>
          <a:prstGeom prst="rect">
            <a:avLst/>
          </a:prstGeom>
          <a:noFill/>
          <a:ln/>
        </p:spPr>
        <p:txBody>
          <a:bodyPr wrap="square" lIns="0" tIns="0" rIns="0" bIns="0" rtlCol="0" anchor="ctr"/>
          <a:lstStyle/>
          <a:p>
            <a:pPr marL="0" indent="0">
              <a:buNone/>
            </a:pPr>
            <a:r>
              <a:rPr lang="en-US" sz="1000" b="1" dirty="0">
                <a:solidFill>
                  <a:srgbClr val="0F2F44"/>
                </a:solidFill>
                <a:latin typeface="Calibri" pitchFamily="34" charset="0"/>
                <a:ea typeface="Calibri" pitchFamily="34" charset="-122"/>
                <a:cs typeface="Calibri" pitchFamily="34" charset="-120"/>
              </a:rPr>
              <a:t>population density</a:t>
            </a:r>
            <a:endParaRPr lang="en-US" sz="1000" dirty="0"/>
          </a:p>
        </p:txBody>
      </p:sp>
      <p:sp>
        <p:nvSpPr>
          <p:cNvPr id="36" name="Text 33"/>
          <p:cNvSpPr txBox="1"/>
          <p:nvPr/>
        </p:nvSpPr>
        <p:spPr>
          <a:xfrm>
            <a:off x="484632" y="3712464"/>
            <a:ext cx="1755648" cy="164592"/>
          </a:xfrm>
          <a:prstGeom prst="rect">
            <a:avLst/>
          </a:prstGeom>
          <a:noFill/>
          <a:ln/>
        </p:spPr>
        <p:txBody>
          <a:bodyPr wrap="square" lIns="0" tIns="0" rIns="0" bIns="0" rtlCol="0" anchor="ctr"/>
          <a:lstStyle/>
          <a:p>
            <a:pPr marL="0" indent="0">
              <a:buNone/>
            </a:pPr>
            <a:r>
              <a:rPr lang="en-US" sz="800" dirty="0">
                <a:solidFill>
                  <a:srgbClr val="5B6B7C"/>
                </a:solidFill>
                <a:latin typeface="Calibri" pitchFamily="34" charset="0"/>
                <a:ea typeface="Calibri" pitchFamily="34" charset="-122"/>
                <a:cs typeface="Calibri" pitchFamily="34" charset="-120"/>
              </a:rPr>
              <a:t>p &lt; 0.0001 · strong</a:t>
            </a:r>
            <a:endParaRPr lang="en-US" sz="800" dirty="0"/>
          </a:p>
        </p:txBody>
      </p:sp>
      <p:sp>
        <p:nvSpPr>
          <p:cNvPr id="37" name="Shape 34"/>
          <p:cNvSpPr/>
          <p:nvPr/>
        </p:nvSpPr>
        <p:spPr>
          <a:xfrm>
            <a:off x="2505456" y="3255264"/>
            <a:ext cx="1956816" cy="658368"/>
          </a:xfrm>
          <a:prstGeom prst="roundRect">
            <a:avLst>
              <a:gd name="adj" fmla="val 8333"/>
            </a:avLst>
          </a:prstGeom>
          <a:solidFill>
            <a:srgbClr val="FFFFFF"/>
          </a:solidFill>
          <a:ln w="9525">
            <a:solidFill>
              <a:srgbClr val="DCE3EC"/>
            </a:solidFill>
            <a:prstDash val="solid"/>
          </a:ln>
        </p:spPr>
        <p:txBody>
          <a:bodyPr/>
          <a:lstStyle/>
          <a:p>
            <a:endParaRPr lang="en-US"/>
          </a:p>
        </p:txBody>
      </p:sp>
      <p:sp>
        <p:nvSpPr>
          <p:cNvPr id="38" name="Text 35"/>
          <p:cNvSpPr txBox="1"/>
          <p:nvPr/>
        </p:nvSpPr>
        <p:spPr>
          <a:xfrm>
            <a:off x="2606040" y="3291840"/>
            <a:ext cx="1755648" cy="274320"/>
          </a:xfrm>
          <a:prstGeom prst="rect">
            <a:avLst/>
          </a:prstGeom>
          <a:noFill/>
          <a:ln/>
        </p:spPr>
        <p:txBody>
          <a:bodyPr wrap="square" lIns="0" tIns="0" rIns="0" bIns="0" rtlCol="0" anchor="ctr"/>
          <a:lstStyle/>
          <a:p>
            <a:pPr marL="0" indent="0">
              <a:buNone/>
            </a:pPr>
            <a:r>
              <a:rPr lang="en-US" sz="1350" b="1" dirty="0">
                <a:solidFill>
                  <a:srgbClr val="1A6FC4"/>
                </a:solidFill>
                <a:latin typeface="Calibri" pitchFamily="34" charset="0"/>
                <a:ea typeface="Calibri" pitchFamily="34" charset="-122"/>
                <a:cs typeface="Calibri" pitchFamily="34" charset="-120"/>
              </a:rPr>
              <a:t>+0.880</a:t>
            </a:r>
            <a:endParaRPr lang="en-US" sz="1350" dirty="0"/>
          </a:p>
        </p:txBody>
      </p:sp>
      <p:sp>
        <p:nvSpPr>
          <p:cNvPr id="39" name="Text 36"/>
          <p:cNvSpPr txBox="1"/>
          <p:nvPr/>
        </p:nvSpPr>
        <p:spPr>
          <a:xfrm>
            <a:off x="2606040" y="3557016"/>
            <a:ext cx="1755648" cy="164592"/>
          </a:xfrm>
          <a:prstGeom prst="rect">
            <a:avLst/>
          </a:prstGeom>
          <a:noFill/>
          <a:ln/>
        </p:spPr>
        <p:txBody>
          <a:bodyPr wrap="square" lIns="0" tIns="0" rIns="0" bIns="0" rtlCol="0" anchor="ctr"/>
          <a:lstStyle/>
          <a:p>
            <a:pPr marL="0" indent="0">
              <a:buNone/>
            </a:pPr>
            <a:r>
              <a:rPr lang="en-US" sz="1000" b="1" dirty="0">
                <a:solidFill>
                  <a:srgbClr val="0F2F44"/>
                </a:solidFill>
                <a:latin typeface="Calibri" pitchFamily="34" charset="0"/>
                <a:ea typeface="Calibri" pitchFamily="34" charset="-122"/>
                <a:cs typeface="Calibri" pitchFamily="34" charset="-120"/>
              </a:rPr>
              <a:t>urbanisation</a:t>
            </a:r>
            <a:endParaRPr lang="en-US" sz="1000" dirty="0"/>
          </a:p>
        </p:txBody>
      </p:sp>
      <p:sp>
        <p:nvSpPr>
          <p:cNvPr id="40" name="Text 37"/>
          <p:cNvSpPr txBox="1"/>
          <p:nvPr/>
        </p:nvSpPr>
        <p:spPr>
          <a:xfrm>
            <a:off x="2606040" y="3712464"/>
            <a:ext cx="1755648" cy="164592"/>
          </a:xfrm>
          <a:prstGeom prst="rect">
            <a:avLst/>
          </a:prstGeom>
          <a:noFill/>
          <a:ln/>
        </p:spPr>
        <p:txBody>
          <a:bodyPr wrap="square" lIns="0" tIns="0" rIns="0" bIns="0" rtlCol="0" anchor="ctr"/>
          <a:lstStyle/>
          <a:p>
            <a:pPr marL="0" indent="0">
              <a:buNone/>
            </a:pPr>
            <a:r>
              <a:rPr lang="en-US" sz="800" dirty="0">
                <a:solidFill>
                  <a:srgbClr val="5B6B7C"/>
                </a:solidFill>
                <a:latin typeface="Calibri" pitchFamily="34" charset="0"/>
                <a:ea typeface="Calibri" pitchFamily="34" charset="-122"/>
                <a:cs typeface="Calibri" pitchFamily="34" charset="-120"/>
              </a:rPr>
              <a:t>p &lt; 0.0001 · strong</a:t>
            </a:r>
            <a:endParaRPr lang="en-US" sz="800" dirty="0"/>
          </a:p>
        </p:txBody>
      </p:sp>
      <p:sp>
        <p:nvSpPr>
          <p:cNvPr id="41" name="Shape 38"/>
          <p:cNvSpPr/>
          <p:nvPr/>
        </p:nvSpPr>
        <p:spPr>
          <a:xfrm>
            <a:off x="4626864" y="3255264"/>
            <a:ext cx="1956816" cy="658368"/>
          </a:xfrm>
          <a:prstGeom prst="roundRect">
            <a:avLst>
              <a:gd name="adj" fmla="val 8333"/>
            </a:avLst>
          </a:prstGeom>
          <a:solidFill>
            <a:srgbClr val="FFFFFF"/>
          </a:solidFill>
          <a:ln w="9525">
            <a:solidFill>
              <a:srgbClr val="DCE3EC"/>
            </a:solidFill>
            <a:prstDash val="solid"/>
          </a:ln>
        </p:spPr>
        <p:txBody>
          <a:bodyPr/>
          <a:lstStyle/>
          <a:p>
            <a:endParaRPr lang="en-US"/>
          </a:p>
        </p:txBody>
      </p:sp>
      <p:sp>
        <p:nvSpPr>
          <p:cNvPr id="42" name="Text 39"/>
          <p:cNvSpPr txBox="1"/>
          <p:nvPr/>
        </p:nvSpPr>
        <p:spPr>
          <a:xfrm>
            <a:off x="4727448" y="3291840"/>
            <a:ext cx="1755648" cy="274320"/>
          </a:xfrm>
          <a:prstGeom prst="rect">
            <a:avLst/>
          </a:prstGeom>
          <a:noFill/>
          <a:ln/>
        </p:spPr>
        <p:txBody>
          <a:bodyPr wrap="square" lIns="0" tIns="0" rIns="0" bIns="0" rtlCol="0" anchor="ctr"/>
          <a:lstStyle/>
          <a:p>
            <a:pPr marL="0" indent="0">
              <a:buNone/>
            </a:pPr>
            <a:r>
              <a:rPr lang="en-US" sz="1350" b="1" dirty="0">
                <a:solidFill>
                  <a:srgbClr val="2FA8A0"/>
                </a:solidFill>
                <a:latin typeface="Calibri" pitchFamily="34" charset="0"/>
                <a:ea typeface="Calibri" pitchFamily="34" charset="-122"/>
                <a:cs typeface="Calibri" pitchFamily="34" charset="-120"/>
              </a:rPr>
              <a:t>+0.546</a:t>
            </a:r>
            <a:endParaRPr lang="en-US" sz="1350" dirty="0"/>
          </a:p>
        </p:txBody>
      </p:sp>
      <p:sp>
        <p:nvSpPr>
          <p:cNvPr id="43" name="Text 40"/>
          <p:cNvSpPr txBox="1"/>
          <p:nvPr/>
        </p:nvSpPr>
        <p:spPr>
          <a:xfrm>
            <a:off x="4727448" y="3557016"/>
            <a:ext cx="1755648" cy="164592"/>
          </a:xfrm>
          <a:prstGeom prst="rect">
            <a:avLst/>
          </a:prstGeom>
          <a:noFill/>
          <a:ln/>
        </p:spPr>
        <p:txBody>
          <a:bodyPr wrap="square" lIns="0" tIns="0" rIns="0" bIns="0" rtlCol="0" anchor="ctr"/>
          <a:lstStyle/>
          <a:p>
            <a:pPr marL="0" indent="0">
              <a:buNone/>
            </a:pPr>
            <a:r>
              <a:rPr lang="en-US" sz="1000" b="1" dirty="0">
                <a:solidFill>
                  <a:srgbClr val="0F2F44"/>
                </a:solidFill>
                <a:latin typeface="Calibri" pitchFamily="34" charset="0"/>
                <a:ea typeface="Calibri" pitchFamily="34" charset="-122"/>
                <a:cs typeface="Calibri" pitchFamily="34" charset="-120"/>
              </a:rPr>
              <a:t>literacy</a:t>
            </a:r>
            <a:endParaRPr lang="en-US" sz="1000" dirty="0"/>
          </a:p>
        </p:txBody>
      </p:sp>
      <p:sp>
        <p:nvSpPr>
          <p:cNvPr id="44" name="Text 41"/>
          <p:cNvSpPr txBox="1"/>
          <p:nvPr/>
        </p:nvSpPr>
        <p:spPr>
          <a:xfrm>
            <a:off x="4727448" y="3712464"/>
            <a:ext cx="1755648" cy="164592"/>
          </a:xfrm>
          <a:prstGeom prst="rect">
            <a:avLst/>
          </a:prstGeom>
          <a:noFill/>
          <a:ln/>
        </p:spPr>
        <p:txBody>
          <a:bodyPr wrap="square" lIns="0" tIns="0" rIns="0" bIns="0" rtlCol="0" anchor="ctr"/>
          <a:lstStyle/>
          <a:p>
            <a:pPr marL="0" indent="0">
              <a:buNone/>
            </a:pPr>
            <a:r>
              <a:rPr lang="en-US" sz="800" dirty="0">
                <a:solidFill>
                  <a:srgbClr val="5B6B7C"/>
                </a:solidFill>
                <a:latin typeface="Calibri" pitchFamily="34" charset="0"/>
                <a:ea typeface="Calibri" pitchFamily="34" charset="-122"/>
                <a:cs typeface="Calibri" pitchFamily="34" charset="-120"/>
              </a:rPr>
              <a:t>p = 0.0018 · moderate</a:t>
            </a:r>
            <a:endParaRPr lang="en-US" sz="800" dirty="0"/>
          </a:p>
        </p:txBody>
      </p:sp>
      <p:sp>
        <p:nvSpPr>
          <p:cNvPr id="45" name="Shape 42"/>
          <p:cNvSpPr/>
          <p:nvPr/>
        </p:nvSpPr>
        <p:spPr>
          <a:xfrm>
            <a:off x="6748272" y="3255264"/>
            <a:ext cx="1956816" cy="658368"/>
          </a:xfrm>
          <a:prstGeom prst="roundRect">
            <a:avLst>
              <a:gd name="adj" fmla="val 8333"/>
            </a:avLst>
          </a:prstGeom>
          <a:solidFill>
            <a:srgbClr val="FFFFFF"/>
          </a:solidFill>
          <a:ln w="9525">
            <a:solidFill>
              <a:srgbClr val="DCE3EC"/>
            </a:solidFill>
            <a:prstDash val="solid"/>
          </a:ln>
        </p:spPr>
        <p:txBody>
          <a:bodyPr/>
          <a:lstStyle/>
          <a:p>
            <a:endParaRPr lang="en-US"/>
          </a:p>
        </p:txBody>
      </p:sp>
      <p:sp>
        <p:nvSpPr>
          <p:cNvPr id="46" name="Text 43"/>
          <p:cNvSpPr txBox="1"/>
          <p:nvPr/>
        </p:nvSpPr>
        <p:spPr>
          <a:xfrm>
            <a:off x="6848856" y="3291840"/>
            <a:ext cx="1755648" cy="274320"/>
          </a:xfrm>
          <a:prstGeom prst="rect">
            <a:avLst/>
          </a:prstGeom>
          <a:noFill/>
          <a:ln/>
        </p:spPr>
        <p:txBody>
          <a:bodyPr wrap="square" lIns="0" tIns="0" rIns="0" bIns="0" rtlCol="0" anchor="ctr"/>
          <a:lstStyle/>
          <a:p>
            <a:pPr marL="0" indent="0">
              <a:buNone/>
            </a:pPr>
            <a:r>
              <a:rPr lang="en-US" sz="1350" b="1" dirty="0">
                <a:solidFill>
                  <a:srgbClr val="E8871E"/>
                </a:solidFill>
                <a:latin typeface="Calibri" pitchFamily="34" charset="0"/>
                <a:ea typeface="Calibri" pitchFamily="34" charset="-122"/>
                <a:cs typeface="Calibri" pitchFamily="34" charset="-120"/>
              </a:rPr>
              <a:t>5.4×</a:t>
            </a:r>
            <a:endParaRPr lang="en-US" sz="1350" dirty="0"/>
          </a:p>
        </p:txBody>
      </p:sp>
      <p:sp>
        <p:nvSpPr>
          <p:cNvPr id="47" name="Text 44"/>
          <p:cNvSpPr txBox="1"/>
          <p:nvPr/>
        </p:nvSpPr>
        <p:spPr>
          <a:xfrm>
            <a:off x="6848856" y="3557016"/>
            <a:ext cx="1755648" cy="164592"/>
          </a:xfrm>
          <a:prstGeom prst="rect">
            <a:avLst/>
          </a:prstGeom>
          <a:noFill/>
          <a:ln/>
        </p:spPr>
        <p:txBody>
          <a:bodyPr wrap="square" lIns="0" tIns="0" rIns="0" bIns="0" rtlCol="0" anchor="ctr"/>
          <a:lstStyle/>
          <a:p>
            <a:pPr marL="0" indent="0">
              <a:buNone/>
            </a:pPr>
            <a:r>
              <a:rPr lang="en-US" sz="1000" b="1" dirty="0">
                <a:solidFill>
                  <a:srgbClr val="0F2F44"/>
                </a:solidFill>
                <a:latin typeface="Calibri" pitchFamily="34" charset="0"/>
                <a:ea typeface="Calibri" pitchFamily="34" charset="-122"/>
                <a:cs typeface="Calibri" pitchFamily="34" charset="-120"/>
              </a:rPr>
              <a:t>urban vs rural rate</a:t>
            </a:r>
            <a:endParaRPr lang="en-US" sz="1000" dirty="0"/>
          </a:p>
        </p:txBody>
      </p:sp>
      <p:sp>
        <p:nvSpPr>
          <p:cNvPr id="48" name="Text 45"/>
          <p:cNvSpPr txBox="1"/>
          <p:nvPr/>
        </p:nvSpPr>
        <p:spPr>
          <a:xfrm>
            <a:off x="6848856" y="3712464"/>
            <a:ext cx="1755648" cy="164592"/>
          </a:xfrm>
          <a:prstGeom prst="rect">
            <a:avLst/>
          </a:prstGeom>
          <a:noFill/>
          <a:ln/>
        </p:spPr>
        <p:txBody>
          <a:bodyPr wrap="square" lIns="0" tIns="0" rIns="0" bIns="0" rtlCol="0" anchor="ctr"/>
          <a:lstStyle/>
          <a:p>
            <a:pPr marL="0" indent="0">
              <a:buNone/>
            </a:pPr>
            <a:r>
              <a:rPr lang="en-US" sz="800" dirty="0">
                <a:solidFill>
                  <a:srgbClr val="5B6B7C"/>
                </a:solidFill>
                <a:latin typeface="Calibri" pitchFamily="34" charset="0"/>
                <a:ea typeface="Calibri" pitchFamily="34" charset="-122"/>
                <a:cs typeface="Calibri" pitchFamily="34" charset="-120"/>
              </a:rPr>
              <a:t>163.6 against 30.1 per 100k</a:t>
            </a:r>
            <a:endParaRPr lang="en-US" sz="800" dirty="0"/>
          </a:p>
        </p:txBody>
      </p:sp>
      <p:sp>
        <p:nvSpPr>
          <p:cNvPr id="49" name="Shape 46"/>
          <p:cNvSpPr/>
          <p:nvPr/>
        </p:nvSpPr>
        <p:spPr>
          <a:xfrm>
            <a:off x="384048" y="4023360"/>
            <a:ext cx="8375904" cy="749808"/>
          </a:xfrm>
          <a:prstGeom prst="roundRect">
            <a:avLst>
              <a:gd name="adj" fmla="val 7317"/>
            </a:avLst>
          </a:prstGeom>
          <a:solidFill>
            <a:srgbClr val="0F2F44"/>
          </a:solidFill>
          <a:ln w="9525">
            <a:solidFill>
              <a:srgbClr val="0F2F44"/>
            </a:solidFill>
            <a:prstDash val="solid"/>
          </a:ln>
        </p:spPr>
        <p:txBody>
          <a:bodyPr/>
          <a:lstStyle/>
          <a:p>
            <a:endParaRPr lang="en-US"/>
          </a:p>
        </p:txBody>
      </p:sp>
      <p:sp>
        <p:nvSpPr>
          <p:cNvPr id="50" name="Text 47"/>
          <p:cNvSpPr txBox="1"/>
          <p:nvPr/>
        </p:nvSpPr>
        <p:spPr>
          <a:xfrm>
            <a:off x="530352" y="4078224"/>
            <a:ext cx="8083296" cy="21945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Stated openly: the generator weights urban crime upward, so the urbanisation correlation is partly circular.</a:t>
            </a:r>
            <a:endParaRPr lang="en-US" sz="1050" dirty="0"/>
          </a:p>
        </p:txBody>
      </p:sp>
      <p:sp>
        <p:nvSpPr>
          <p:cNvPr id="51" name="Text 48"/>
          <p:cNvSpPr txBox="1"/>
          <p:nvPr/>
        </p:nvSpPr>
        <p:spPr>
          <a:xfrm>
            <a:off x="530352" y="4328676"/>
            <a:ext cx="8083296" cy="420624"/>
          </a:xfrm>
          <a:prstGeom prst="rect">
            <a:avLst/>
          </a:prstGeom>
          <a:noFill/>
          <a:ln/>
        </p:spPr>
        <p:txBody>
          <a:bodyPr wrap="square" lIns="0" tIns="0" rIns="0" bIns="0" rtlCol="0" anchor="t"/>
          <a:lstStyle/>
          <a:p>
            <a:pPr marL="0" indent="0">
              <a:lnSpc>
                <a:spcPct val="100000"/>
              </a:lnSpc>
              <a:buNone/>
            </a:pPr>
            <a:r>
              <a:rPr lang="en-US" sz="900" dirty="0">
                <a:solidFill>
                  <a:srgbClr val="C9D6E2"/>
                </a:solidFill>
                <a:latin typeface="Calibri" pitchFamily="34" charset="0"/>
                <a:ea typeface="Calibri" pitchFamily="34" charset="-122"/>
                <a:cs typeface="Calibri" pitchFamily="34" charset="-120"/>
              </a:rPr>
              <a:t>The method is sound and runs unchanged on real KSP data — but on this corpus it is confirmation, not discovery. We say so here rather than let an evaluator find it. The same honesty runs through the app: three Zia image services do not answer on this project, and the Evidence screen says which and why instead of mocking them.</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ivate/tmp/claude-501/-Users-adarsh-Desktop-Projects-KadiLabs/1a0b3114-7a5c-4b08-a5d4-f9d8371eeea4/scratchpad/deck/bg-content.png"/>
          <p:cNvPicPr>
            <a:picLocks noChangeAspect="1"/>
          </p:cNvPicPr>
          <p:nvPr/>
        </p:nvPicPr>
        <p:blipFill>
          <a:blip r:embed="rId3"/>
          <a:stretch>
            <a:fillRect/>
          </a:stretch>
        </p:blipFill>
        <p:spPr>
          <a:xfrm>
            <a:off x="0" y="0"/>
            <a:ext cx="9144000" cy="5143500"/>
          </a:xfrm>
          <a:prstGeom prst="rect">
            <a:avLst/>
          </a:prstGeom>
        </p:spPr>
      </p:pic>
      <p:sp>
        <p:nvSpPr>
          <p:cNvPr id="3" name="Text 0"/>
          <p:cNvSpPr txBox="1"/>
          <p:nvPr/>
        </p:nvSpPr>
        <p:spPr>
          <a:xfrm>
            <a:off x="384048" y="603504"/>
            <a:ext cx="8375904" cy="365760"/>
          </a:xfrm>
          <a:prstGeom prst="rect">
            <a:avLst/>
          </a:prstGeom>
          <a:noFill/>
          <a:ln/>
        </p:spPr>
        <p:txBody>
          <a:bodyPr wrap="square" lIns="0" tIns="0" rIns="0" bIns="0" rtlCol="0" anchor="t"/>
          <a:lstStyle/>
          <a:p>
            <a:pPr marL="0" indent="0">
              <a:buNone/>
            </a:pPr>
            <a:r>
              <a:rPr lang="en-US" sz="2100" b="1" dirty="0">
                <a:solidFill>
                  <a:srgbClr val="0F2F44"/>
                </a:solidFill>
                <a:latin typeface="Calibri" pitchFamily="34" charset="0"/>
                <a:ea typeface="Calibri" pitchFamily="34" charset="-122"/>
                <a:cs typeface="Calibri" pitchFamily="34" charset="-120"/>
              </a:rPr>
              <a:t>How the models were evaluated</a:t>
            </a:r>
            <a:endParaRPr lang="en-US" sz="2100" dirty="0"/>
          </a:p>
        </p:txBody>
      </p:sp>
      <p:sp>
        <p:nvSpPr>
          <p:cNvPr id="4" name="Text 1"/>
          <p:cNvSpPr txBox="1"/>
          <p:nvPr/>
        </p:nvSpPr>
        <p:spPr>
          <a:xfrm>
            <a:off x="384048" y="969264"/>
            <a:ext cx="8375904" cy="237744"/>
          </a:xfrm>
          <a:prstGeom prst="rect">
            <a:avLst/>
          </a:prstGeom>
          <a:noFill/>
          <a:ln/>
        </p:spPr>
        <p:txBody>
          <a:bodyPr wrap="square" lIns="0" tIns="0" rIns="0" bIns="0" rtlCol="0" anchor="t"/>
          <a:lstStyle/>
          <a:p>
            <a:pPr marL="0" indent="0">
              <a:buNone/>
            </a:pPr>
            <a:r>
              <a:rPr lang="en-US" sz="1100" dirty="0">
                <a:solidFill>
                  <a:srgbClr val="5B6B7C"/>
                </a:solidFill>
                <a:latin typeface="Calibri" pitchFamily="34" charset="0"/>
                <a:ea typeface="Calibri" pitchFamily="34" charset="-122"/>
                <a:cs typeface="Calibri" pitchFamily="34" charset="-120"/>
              </a:rPr>
              <a:t>The margin over the rule, and what happens to the best model when the ground is moved under it</a:t>
            </a:r>
            <a:endParaRPr lang="en-US" sz="1100" dirty="0"/>
          </a:p>
        </p:txBody>
      </p:sp>
      <p:sp>
        <p:nvSpPr>
          <p:cNvPr id="5" name="Shape 2"/>
          <p:cNvSpPr/>
          <p:nvPr/>
        </p:nvSpPr>
        <p:spPr>
          <a:xfrm>
            <a:off x="384048" y="1207008"/>
            <a:ext cx="4078224" cy="2231136"/>
          </a:xfrm>
          <a:prstGeom prst="roundRect">
            <a:avLst>
              <a:gd name="adj" fmla="val 2459"/>
            </a:avLst>
          </a:prstGeom>
          <a:solidFill>
            <a:srgbClr val="FFFFFF"/>
          </a:solidFill>
          <a:ln w="9525">
            <a:solidFill>
              <a:srgbClr val="DCE3EC"/>
            </a:solidFill>
            <a:prstDash val="solid"/>
          </a:ln>
        </p:spPr>
        <p:txBody>
          <a:bodyPr/>
          <a:lstStyle/>
          <a:p>
            <a:endParaRPr lang="en-US"/>
          </a:p>
        </p:txBody>
      </p:sp>
      <p:sp>
        <p:nvSpPr>
          <p:cNvPr id="6" name="Text 3"/>
          <p:cNvSpPr txBox="1"/>
          <p:nvPr/>
        </p:nvSpPr>
        <p:spPr>
          <a:xfrm>
            <a:off x="530352" y="1280160"/>
            <a:ext cx="3785616" cy="182880"/>
          </a:xfrm>
          <a:prstGeom prst="rect">
            <a:avLst/>
          </a:prstGeom>
          <a:noFill/>
          <a:ln/>
        </p:spPr>
        <p:txBody>
          <a:bodyPr wrap="square" lIns="0" tIns="0" rIns="0" bIns="0" rtlCol="0" anchor="ctr"/>
          <a:lstStyle/>
          <a:p>
            <a:pPr marL="0" indent="0">
              <a:buNone/>
            </a:pPr>
            <a:r>
              <a:rPr lang="en-US" sz="1000" b="1" dirty="0">
                <a:solidFill>
                  <a:srgbClr val="0F2F44"/>
                </a:solidFill>
                <a:latin typeface="Calibri" pitchFamily="34" charset="0"/>
                <a:ea typeface="Calibri" pitchFamily="34" charset="-122"/>
                <a:cs typeface="Calibri" pitchFamily="34" charset="-120"/>
              </a:rPr>
              <a:t>Margin over the rule — every model clears it</a:t>
            </a:r>
            <a:endParaRPr lang="en-US" sz="1000" dirty="0"/>
          </a:p>
        </p:txBody>
      </p:sp>
      <p:graphicFrame>
        <p:nvGraphicFramePr>
          <p:cNvPr id="7" name="Chart 0"/>
          <p:cNvGraphicFramePr/>
          <p:nvPr/>
        </p:nvGraphicFramePr>
        <p:xfrm>
          <a:off x="438912" y="1481328"/>
          <a:ext cx="3968496" cy="1901952"/>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4"/>
          <p:cNvSpPr/>
          <p:nvPr/>
        </p:nvSpPr>
        <p:spPr>
          <a:xfrm>
            <a:off x="4681728" y="1207008"/>
            <a:ext cx="4078224" cy="2231136"/>
          </a:xfrm>
          <a:prstGeom prst="roundRect">
            <a:avLst>
              <a:gd name="adj" fmla="val 2459"/>
            </a:avLst>
          </a:prstGeom>
          <a:solidFill>
            <a:srgbClr val="FFFFFF"/>
          </a:solidFill>
          <a:ln w="9525">
            <a:solidFill>
              <a:srgbClr val="DCE3EC"/>
            </a:solidFill>
            <a:prstDash val="solid"/>
          </a:ln>
        </p:spPr>
        <p:txBody>
          <a:bodyPr/>
          <a:lstStyle/>
          <a:p>
            <a:endParaRPr lang="en-US"/>
          </a:p>
        </p:txBody>
      </p:sp>
      <p:sp>
        <p:nvSpPr>
          <p:cNvPr id="9" name="Text 5"/>
          <p:cNvSpPr txBox="1"/>
          <p:nvPr/>
        </p:nvSpPr>
        <p:spPr>
          <a:xfrm>
            <a:off x="4828032" y="1280160"/>
            <a:ext cx="3785616" cy="182880"/>
          </a:xfrm>
          <a:prstGeom prst="rect">
            <a:avLst/>
          </a:prstGeom>
          <a:noFill/>
          <a:ln/>
        </p:spPr>
        <p:txBody>
          <a:bodyPr wrap="square" lIns="0" tIns="0" rIns="0" bIns="0" rtlCol="0" anchor="ctr"/>
          <a:lstStyle/>
          <a:p>
            <a:pPr marL="0" indent="0">
              <a:buNone/>
            </a:pPr>
            <a:r>
              <a:rPr lang="en-US" sz="1000" b="1" dirty="0">
                <a:solidFill>
                  <a:srgbClr val="0F2F44"/>
                </a:solidFill>
                <a:latin typeface="Calibri" pitchFamily="34" charset="0"/>
                <a:ea typeface="Calibri" pitchFamily="34" charset="-122"/>
                <a:cs typeface="Calibri" pitchFamily="34" charset="-120"/>
              </a:rPr>
              <a:t>Station pendency, re-scored five ways</a:t>
            </a:r>
            <a:endParaRPr lang="en-US" sz="1000" dirty="0"/>
          </a:p>
        </p:txBody>
      </p:sp>
      <p:graphicFrame>
        <p:nvGraphicFramePr>
          <p:cNvPr id="10" name="Chart 1"/>
          <p:cNvGraphicFramePr/>
          <p:nvPr/>
        </p:nvGraphicFramePr>
        <p:xfrm>
          <a:off x="4736592" y="1481328"/>
          <a:ext cx="3968496" cy="1901952"/>
        </p:xfrm>
        <a:graphic>
          <a:graphicData uri="http://schemas.openxmlformats.org/drawingml/2006/chart">
            <c:chart xmlns:c="http://schemas.openxmlformats.org/drawingml/2006/chart" xmlns:r="http://schemas.openxmlformats.org/officeDocument/2006/relationships" r:id="rId5"/>
          </a:graphicData>
        </a:graphic>
      </p:graphicFrame>
      <p:sp>
        <p:nvSpPr>
          <p:cNvPr id="11" name="Shape 6"/>
          <p:cNvSpPr/>
          <p:nvPr/>
        </p:nvSpPr>
        <p:spPr>
          <a:xfrm>
            <a:off x="384048" y="3547872"/>
            <a:ext cx="4078224" cy="731520"/>
          </a:xfrm>
          <a:prstGeom prst="roundRect">
            <a:avLst>
              <a:gd name="adj" fmla="val 7500"/>
            </a:avLst>
          </a:prstGeom>
          <a:solidFill>
            <a:srgbClr val="E4F5F3"/>
          </a:solidFill>
          <a:ln w="9525">
            <a:solidFill>
              <a:srgbClr val="BFE4E0"/>
            </a:solidFill>
            <a:prstDash val="solid"/>
          </a:ln>
        </p:spPr>
        <p:txBody>
          <a:bodyPr/>
          <a:lstStyle/>
          <a:p>
            <a:endParaRPr lang="en-US"/>
          </a:p>
        </p:txBody>
      </p:sp>
      <p:sp>
        <p:nvSpPr>
          <p:cNvPr id="12" name="Text 7"/>
          <p:cNvSpPr txBox="1"/>
          <p:nvPr/>
        </p:nvSpPr>
        <p:spPr>
          <a:xfrm>
            <a:off x="512064" y="3602736"/>
            <a:ext cx="3822192" cy="182880"/>
          </a:xfrm>
          <a:prstGeom prst="rect">
            <a:avLst/>
          </a:prstGeom>
          <a:noFill/>
          <a:ln/>
        </p:spPr>
        <p:txBody>
          <a:bodyPr wrap="square" lIns="0" tIns="0" rIns="0" bIns="0" rtlCol="0" anchor="ctr"/>
          <a:lstStyle/>
          <a:p>
            <a:pPr marL="0" indent="0">
              <a:buNone/>
            </a:pPr>
            <a:r>
              <a:rPr lang="en-US" sz="880" b="1" dirty="0">
                <a:solidFill>
                  <a:srgbClr val="2FA8A0"/>
                </a:solidFill>
                <a:latin typeface="Calibri" pitchFamily="34" charset="0"/>
                <a:ea typeface="Calibri" pitchFamily="34" charset="-122"/>
                <a:cs typeface="Calibri" pitchFamily="34" charset="-120"/>
              </a:rPr>
              <a:t>Why the margin is the number that matters</a:t>
            </a:r>
            <a:endParaRPr lang="en-US" sz="880" dirty="0"/>
          </a:p>
        </p:txBody>
      </p:sp>
      <p:sp>
        <p:nvSpPr>
          <p:cNvPr id="13" name="Text 8"/>
          <p:cNvSpPr txBox="1"/>
          <p:nvPr/>
        </p:nvSpPr>
        <p:spPr>
          <a:xfrm>
            <a:off x="512064" y="3803904"/>
            <a:ext cx="3822192" cy="438912"/>
          </a:xfrm>
          <a:prstGeom prst="rect">
            <a:avLst/>
          </a:prstGeom>
          <a:noFill/>
          <a:ln/>
        </p:spPr>
        <p:txBody>
          <a:bodyPr wrap="square" lIns="0" tIns="0" rIns="0" bIns="0" rtlCol="0" anchor="t"/>
          <a:lstStyle/>
          <a:p>
            <a:pPr marL="0" indent="0">
              <a:lnSpc>
                <a:spcPct val="102000"/>
              </a:lnSpc>
              <a:buNone/>
            </a:pPr>
            <a:r>
              <a:rPr lang="en-US" sz="770" dirty="0">
                <a:solidFill>
                  <a:srgbClr val="5B6B7C"/>
                </a:solidFill>
                <a:latin typeface="Calibri" pitchFamily="34" charset="0"/>
                <a:ea typeface="Calibri" pitchFamily="34" charset="-122"/>
                <a:cs typeface="Calibri" pitchFamily="34" charset="-120"/>
              </a:rPr>
              <a:t>An AUC of 0.87 sounds strong until you learn the obvious heuristic scores 0.70 on the same split. The bar that counts is the gap, and twelve candidates were cut for having none.</a:t>
            </a:r>
            <a:endParaRPr lang="en-US" sz="770" dirty="0"/>
          </a:p>
        </p:txBody>
      </p:sp>
      <p:sp>
        <p:nvSpPr>
          <p:cNvPr id="14" name="Shape 9"/>
          <p:cNvSpPr/>
          <p:nvPr/>
        </p:nvSpPr>
        <p:spPr>
          <a:xfrm>
            <a:off x="4681728" y="3547872"/>
            <a:ext cx="4078224" cy="731520"/>
          </a:xfrm>
          <a:prstGeom prst="roundRect">
            <a:avLst>
              <a:gd name="adj" fmla="val 7500"/>
            </a:avLst>
          </a:prstGeom>
          <a:solidFill>
            <a:srgbClr val="0F2F44"/>
          </a:solidFill>
          <a:ln w="9525">
            <a:solidFill>
              <a:srgbClr val="0F2F44"/>
            </a:solidFill>
            <a:prstDash val="solid"/>
          </a:ln>
        </p:spPr>
        <p:txBody>
          <a:bodyPr/>
          <a:lstStyle/>
          <a:p>
            <a:endParaRPr lang="en-US"/>
          </a:p>
        </p:txBody>
      </p:sp>
      <p:sp>
        <p:nvSpPr>
          <p:cNvPr id="15" name="Text 10"/>
          <p:cNvSpPr txBox="1"/>
          <p:nvPr/>
        </p:nvSpPr>
        <p:spPr>
          <a:xfrm>
            <a:off x="4809744" y="3602736"/>
            <a:ext cx="3822192" cy="182880"/>
          </a:xfrm>
          <a:prstGeom prst="rect">
            <a:avLst/>
          </a:prstGeom>
          <a:noFill/>
          <a:ln/>
        </p:spPr>
        <p:txBody>
          <a:bodyPr wrap="square" lIns="0" tIns="0" rIns="0" bIns="0" rtlCol="0" anchor="ctr"/>
          <a:lstStyle/>
          <a:p>
            <a:pPr marL="0" indent="0">
              <a:buNone/>
            </a:pPr>
            <a:r>
              <a:rPr lang="en-US" sz="880" b="1" dirty="0">
                <a:solidFill>
                  <a:srgbClr val="FFFFFF"/>
                </a:solidFill>
                <a:latin typeface="Calibri" pitchFamily="34" charset="0"/>
                <a:ea typeface="Calibri" pitchFamily="34" charset="-122"/>
                <a:cs typeface="Calibri" pitchFamily="34" charset="-120"/>
              </a:rPr>
              <a:t>The robustness checks are the honest half</a:t>
            </a:r>
            <a:endParaRPr lang="en-US" sz="880" dirty="0"/>
          </a:p>
        </p:txBody>
      </p:sp>
      <p:sp>
        <p:nvSpPr>
          <p:cNvPr id="16" name="Text 11"/>
          <p:cNvSpPr txBox="1"/>
          <p:nvPr/>
        </p:nvSpPr>
        <p:spPr>
          <a:xfrm>
            <a:off x="4809744" y="3803904"/>
            <a:ext cx="3822192" cy="438912"/>
          </a:xfrm>
          <a:prstGeom prst="rect">
            <a:avLst/>
          </a:prstGeom>
          <a:noFill/>
          <a:ln/>
        </p:spPr>
        <p:txBody>
          <a:bodyPr wrap="square" lIns="0" tIns="0" rIns="0" bIns="0" rtlCol="0" anchor="t"/>
          <a:lstStyle/>
          <a:p>
            <a:pPr marL="0" indent="0">
              <a:lnSpc>
                <a:spcPct val="102000"/>
              </a:lnSpc>
              <a:buNone/>
            </a:pPr>
            <a:r>
              <a:rPr lang="en-US" sz="770" dirty="0">
                <a:solidFill>
                  <a:srgbClr val="C9D6E2"/>
                </a:solidFill>
                <a:latin typeface="Calibri" pitchFamily="34" charset="0"/>
                <a:ea typeface="Calibri" pitchFamily="34" charset="-122"/>
                <a:cs typeface="Calibri" pitchFamily="34" charset="-120"/>
              </a:rPr>
              <a:t>Strip every absolute volume feature and it holds at 0.860 — so it has not merely learned that a big station is big. Move the split earlier or later and it holds. That is what makes it deployable.</a:t>
            </a:r>
            <a:endParaRPr lang="en-US" sz="770" dirty="0"/>
          </a:p>
        </p:txBody>
      </p:sp>
      <p:sp>
        <p:nvSpPr>
          <p:cNvPr id="17" name="Shape 12"/>
          <p:cNvSpPr/>
          <p:nvPr/>
        </p:nvSpPr>
        <p:spPr>
          <a:xfrm>
            <a:off x="384048" y="4389120"/>
            <a:ext cx="8375904" cy="402336"/>
          </a:xfrm>
          <a:prstGeom prst="roundRect">
            <a:avLst>
              <a:gd name="adj" fmla="val 13636"/>
            </a:avLst>
          </a:prstGeom>
          <a:solidFill>
            <a:srgbClr val="FDF1E4"/>
          </a:solidFill>
          <a:ln w="9525">
            <a:solidFill>
              <a:srgbClr val="F0D9BE"/>
            </a:solidFill>
            <a:prstDash val="solid"/>
          </a:ln>
        </p:spPr>
        <p:txBody>
          <a:bodyPr/>
          <a:lstStyle/>
          <a:p>
            <a:endParaRPr lang="en-US"/>
          </a:p>
        </p:txBody>
      </p:sp>
      <p:sp>
        <p:nvSpPr>
          <p:cNvPr id="18" name="Text 13"/>
          <p:cNvSpPr txBox="1"/>
          <p:nvPr/>
        </p:nvSpPr>
        <p:spPr>
          <a:xfrm>
            <a:off x="512064" y="4389120"/>
            <a:ext cx="8119872" cy="402336"/>
          </a:xfrm>
          <a:prstGeom prst="rect">
            <a:avLst/>
          </a:prstGeom>
          <a:noFill/>
          <a:ln/>
        </p:spPr>
        <p:txBody>
          <a:bodyPr wrap="square" lIns="0" tIns="0" rIns="0" bIns="0" rtlCol="0" anchor="ctr"/>
          <a:lstStyle/>
          <a:p>
            <a:pPr marL="0" indent="0">
              <a:buNone/>
            </a:pPr>
            <a:r>
              <a:rPr lang="en-US" sz="760" b="1" dirty="0">
                <a:solidFill>
                  <a:srgbClr val="E8871E"/>
                </a:solidFill>
                <a:latin typeface="Calibri" pitchFamily="34" charset="0"/>
                <a:ea typeface="Calibri" pitchFamily="34" charset="-122"/>
                <a:cs typeface="Calibri" pitchFamily="34" charset="-120"/>
              </a:rPr>
              <a:t>Read the spike margin honestly.  </a:t>
            </a:r>
            <a:r>
              <a:rPr lang="en-US" sz="760" dirty="0">
                <a:solidFill>
                  <a:srgbClr val="5B6B7C"/>
                </a:solidFill>
                <a:latin typeface="Calibri" pitchFamily="34" charset="0"/>
                <a:ea typeface="Calibri" pitchFamily="34" charset="-122"/>
                <a:cs typeface="Calibri" pitchFamily="34" charset="-120"/>
              </a:rPr>
              <a:t>+0.057 is thin. The target — 40% above the trailing mean — is easier to hit on a small base, and the Poisson floor test is what keeps that from being mistaken for signal.</a:t>
            </a:r>
            <a:endParaRPr lang="en-US" sz="76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ivate/tmp/claude-501/-Users-adarsh-Desktop-Projects-KadiLabs/1a0b3114-7a5c-4b08-a5d4-f9d8371eeea4/scratchpad/deck/bg-thanks.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nalytics_slide.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187</TotalTime>
  <Words>5446</Words>
  <Application>Microsoft Macintosh PowerPoint</Application>
  <PresentationFormat>On-screen Show (16:9)</PresentationFormat>
  <Paragraphs>642</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KADI — KSP Datathon 2026</dc:title>
  <dc:subject>PptxGenJS Presentation</dc:subject>
  <dc:creator>Team KadiLabs</dc:creator>
  <cp:lastModifiedBy>Dwivedi, Adarsh - Ext</cp:lastModifiedBy>
  <cp:revision>3</cp:revision>
  <dcterms:created xsi:type="dcterms:W3CDTF">2026-08-30T11:19:20Z</dcterms:created>
  <dcterms:modified xsi:type="dcterms:W3CDTF">2026-08-30T17:18:49Z</dcterms:modified>
</cp:coreProperties>
</file>