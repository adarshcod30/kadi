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Recovery %</c:v>
                </c:pt>
              </c:strCache>
            </c:strRef>
          </c:tx>
          <c:spPr>
            <a:solidFill>
              <a:srgbClr val="2FA8A0"/>
            </a:solidFill>
            <a:effectLst/>
          </c:spPr>
          <c:invertIfNegative val="0"/>
          <c:dLbls>
            <c:numFmt formatCode="0&quot;%&quot;" sourceLinked="0"/>
            <c:txPr>
              <a:bodyPr/>
              <a:lstStyle/>
              <a:p>
                <a:pPr>
                  <a:defRPr b="0" i="0" strike="noStrike" sz="900" u="none">
                    <a:solidFill>
                      <a:srgbClr val="1C2A3A"/>
                    </a:solidFill>
                    <a:latin typeface="Arial"/>
                  </a:defRPr>
                </a:pPr>
              </a:p>
            </c:txPr>
            <c:showLegendKey val="0"/>
            <c:showVal val="1"/>
            <c:showCatName val="0"/>
            <c:showSerName val="0"/>
            <c:showPercent val="0"/>
            <c:showBubbleSize val="0"/>
            <c:showLeaderLines val="0"/>
          </c:dLbls>
          <c:cat>
            <c:multiLvlStrRef>
              <c:f>Sheet1!$A$2:$A$5</c:f>
              <c:multiLvlStrCache>
                <c:ptCount val="4"/>
                <c:lvl>
                  <c:pt idx="0">
                    <c:v>Gang</c:v>
                  </c:pt>
                  <c:pt idx="1">
                    <c:v>Serial chain</c:v>
                  </c:pt>
                  <c:pt idx="2">
                    <c:v>Cyber ring</c:v>
                  </c:pt>
                  <c:pt idx="3">
                    <c:v>Identity ER</c:v>
                  </c:pt>
                </c:lvl>
              </c:multiLvlStrCache>
            </c:multiLvlStrRef>
          </c:cat>
          <c:val>
            <c:numRef>
              <c:f>Sheet1!$B$2:$B$5</c:f>
              <c:numCache>
                <c:formatCode>General</c:formatCode>
                <c:ptCount val="4"/>
                <c:pt idx="0">
                  <c:v>100</c:v>
                </c:pt>
                <c:pt idx="1">
                  <c:v>100</c:v>
                </c:pt>
                <c:pt idx="2">
                  <c:v>100</c:v>
                </c:pt>
                <c:pt idx="3">
                  <c:v>100</c:v>
                </c:pt>
              </c:numCache>
            </c:numRef>
          </c:val>
        </c:ser>
        <c:dLbls>
          <c:numFmt formatCode="0&quot;%&quot;" sourceLinked="0"/>
          <c:txPr>
            <a:bodyPr/>
            <a:lstStyle/>
            <a:p>
              <a:pPr>
                <a:defRPr b="0" i="0" strike="noStrike" sz="900" u="none">
                  <a:solidFill>
                    <a:srgbClr val="1C2A3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6B7E"/>
                </a:solidFill>
                <a:latin typeface="Arial"/>
              </a:defRPr>
            </a:pPr>
            <a:endParaRPr lang="en-US"/>
          </a:p>
        </c:txPr>
        <c:crossAx val="2094734552"/>
        <c:crosses val="autoZero"/>
        <c:auto val="1"/>
        <c:lblAlgn val="ctr"/>
        <c:noMultiLvlLbl val="1"/>
      </c:catAx>
      <c:valAx>
        <c:axId val="2094734552"/>
        <c:scaling>
          <c:orientation val="minMax"/>
          <c:max val="110"/>
        </c:scaling>
        <c:delete val="0"/>
        <c:axPos val="b"/>
        <c:majorGridlines>
          <c:spPr>
            <a:ln w="12700" cap="flat">
              <a:solidFill>
                <a:srgbClr val="EDF1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7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By raw count</c:v>
                </c:pt>
              </c:strCache>
            </c:strRef>
          </c:tx>
          <c:spPr>
            <a:solidFill>
              <a:srgbClr val="5B6B7E"/>
            </a:solidFill>
            <a:effectLst/>
          </c:spPr>
          <c:invertIfNegative val="0"/>
          <c:dLbls>
            <c:numFmt formatCode="#,##0" sourceLinked="0"/>
            <c:txPr>
              <a:bodyPr/>
              <a:lstStyle/>
              <a:p>
                <a:pPr>
                  <a:defRPr b="0" i="0" strike="noStrike" sz="800" u="none">
                    <a:solidFill>
                      <a:srgbClr val="1C2A3A"/>
                    </a:solidFill>
                    <a:latin typeface="Arial"/>
                  </a:defRPr>
                </a:pPr>
              </a:p>
            </c:txPr>
            <c:showLegendKey val="0"/>
            <c:showVal val="1"/>
            <c:showCatName val="0"/>
            <c:showSerName val="0"/>
            <c:showPercent val="0"/>
            <c:showBubbleSize val="0"/>
            <c:showLeaderLines val="0"/>
          </c:dLbls>
          <c:cat>
            <c:multiLvlStrRef>
              <c:f>Sheet1!$A$2:$A$7</c:f>
              <c:multiLvlStrCache>
                <c:ptCount val="6"/>
                <c:lvl>
                  <c:pt idx="0">
                    <c:v>Kodagu</c:v>
                  </c:pt>
                  <c:pt idx="1">
                    <c:v>Dharwad</c:v>
                  </c:pt>
                  <c:pt idx="2">
                    <c:v>Tumakuru</c:v>
                  </c:pt>
                  <c:pt idx="3">
                    <c:v>Belagavi</c:v>
                  </c:pt>
                  <c:pt idx="4">
                    <c:v>Raichur</c:v>
                  </c:pt>
                  <c:pt idx="5">
                    <c:v>Bidar</c:v>
                  </c:pt>
                </c:lvl>
              </c:multiLvlStrCache>
            </c:multiLvlStrRef>
          </c:cat>
          <c:val>
            <c:numRef>
              <c:f>Sheet1!$B$2:$B$7</c:f>
              <c:numCache>
                <c:formatCode>General</c:formatCode>
                <c:ptCount val="6"/>
                <c:pt idx="0">
                  <c:v>30</c:v>
                </c:pt>
                <c:pt idx="1">
                  <c:v>23</c:v>
                </c:pt>
                <c:pt idx="2">
                  <c:v>10</c:v>
                </c:pt>
                <c:pt idx="3">
                  <c:v>4</c:v>
                </c:pt>
                <c:pt idx="4">
                  <c:v>16</c:v>
                </c:pt>
                <c:pt idx="5">
                  <c:v>20</c:v>
                </c:pt>
              </c:numCache>
            </c:numRef>
          </c:val>
        </c:ser>
        <c:ser>
          <c:idx val="1"/>
          <c:order val="1"/>
          <c:tx>
            <c:strRef>
              <c:f>Sheet1!$C$1</c:f>
              <c:strCache>
                <c:ptCount val="1"/>
                <c:pt idx="0">
                  <c:v>Per capita</c:v>
                </c:pt>
              </c:strCache>
            </c:strRef>
          </c:tx>
          <c:spPr>
            <a:solidFill>
              <a:srgbClr val="2FA8A0"/>
            </a:solidFill>
            <a:effectLst/>
          </c:spPr>
          <c:invertIfNegative val="0"/>
          <c:dLbls>
            <c:numFmt formatCode="#,##0" sourceLinked="0"/>
            <c:txPr>
              <a:bodyPr/>
              <a:lstStyle/>
              <a:p>
                <a:pPr>
                  <a:defRPr b="0" i="0" strike="noStrike" sz="800" u="none">
                    <a:solidFill>
                      <a:srgbClr val="1C2A3A"/>
                    </a:solidFill>
                    <a:latin typeface="Arial"/>
                  </a:defRPr>
                </a:pPr>
              </a:p>
            </c:txPr>
            <c:showLegendKey val="0"/>
            <c:showVal val="1"/>
            <c:showCatName val="0"/>
            <c:showSerName val="0"/>
            <c:showPercent val="0"/>
            <c:showBubbleSize val="0"/>
            <c:showLeaderLines val="0"/>
          </c:dLbls>
          <c:cat>
            <c:multiLvlStrRef>
              <c:f>Sheet1!$A$2:$A$7</c:f>
              <c:multiLvlStrCache>
                <c:ptCount val="6"/>
                <c:lvl>
                  <c:pt idx="0">
                    <c:v>Kodagu</c:v>
                  </c:pt>
                  <c:pt idx="1">
                    <c:v>Dharwad</c:v>
                  </c:pt>
                  <c:pt idx="2">
                    <c:v>Tumakuru</c:v>
                  </c:pt>
                  <c:pt idx="3">
                    <c:v>Belagavi</c:v>
                  </c:pt>
                  <c:pt idx="4">
                    <c:v>Raichur</c:v>
                  </c:pt>
                  <c:pt idx="5">
                    <c:v>Bidar</c:v>
                  </c:pt>
                </c:lvl>
              </c:multiLvlStrCache>
            </c:multiLvlStrRef>
          </c:cat>
          <c:val>
            <c:numRef>
              <c:f>Sheet1!$C$2:$C$7</c:f>
              <c:numCache>
                <c:formatCode>General</c:formatCode>
                <c:ptCount val="6"/>
                <c:pt idx="0">
                  <c:v>6</c:v>
                </c:pt>
                <c:pt idx="1">
                  <c:v>7</c:v>
                </c:pt>
                <c:pt idx="2">
                  <c:v>24</c:v>
                </c:pt>
                <c:pt idx="3">
                  <c:v>14</c:v>
                </c:pt>
                <c:pt idx="4">
                  <c:v>26</c:v>
                </c:pt>
                <c:pt idx="5">
                  <c:v>30</c:v>
                </c:pt>
              </c:numCache>
            </c:numRef>
          </c:val>
        </c:ser>
        <c:dLbls>
          <c:numFmt formatCode="#,##0" sourceLinked="0"/>
          <c:txPr>
            <a:bodyPr/>
            <a:lstStyle/>
            <a:p>
              <a:pPr>
                <a:defRPr b="0" i="0" strike="noStrike" sz="800" u="none">
                  <a:solidFill>
                    <a:srgbClr val="1C2A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5B6B7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DF1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5B6B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KADI turns 40,836 siloed FIRs into one connected, explainable intelligence picture. Deployed end-to-end on Zoho Catalyst.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silo problem. The 300-from-36,890 number is the entity-resolution story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USP column is the one to dwell on: everything there is measured, not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30-second cap on both Functions and AppSail was confirmed by the Zoho team in the workshop Q&amp;A — it is the reason the pipeline lives in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are live in the deployed build, not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live URL rather than reading this slide: Home, Intelligence (Kodagu), Graph (why-linked), Map,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series is read from deck/data/*.json, captured live from the deployed API. Six views: volume + forecast, crime mix, hour x weekday, disposal, rank shift, urbanisation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15-image-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16-image-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kadilabs-60078029367.development.catalystserverless.in/app/" TargetMode="External"/><Relationship Id="rId3" Type="http://schemas.openxmlformats.org/officeDocument/2006/relationships/hyperlink" Target="https://drive.google.com/drive/folders/1WY3KHg1WOEnSNTBXGmTtH2ZoJM1y4cLJ?usp=sharing" TargetMode="External"/><Relationship Id="rId4" Type="http://schemas.openxmlformats.org/officeDocument/2006/relationships/hyperlink" Target="https://github.com/adarshcod30/Kadi" TargetMode="External"/><Relationship Id="rId5" Type="http://schemas.openxmlformats.org/officeDocument/2006/relationships/hyperlink" Target="https://kadi-appsail-50043957273.development.catalystappsail.in/analytics/socio" TargetMode="External"/><Relationship Id="rId1" Type="http://schemas.openxmlformats.org/officeDocument/2006/relationships/image" Target="../media/Slide-18-image-1.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3255264"/>
            <a:ext cx="8375904" cy="402336"/>
          </a:xfrm>
          <a:prstGeom prst="rect">
            <a:avLst/>
          </a:prstGeom>
          <a:noFill/>
          <a:ln/>
        </p:spPr>
        <p:txBody>
          <a:bodyPr wrap="square" lIns="0" tIns="0" rIns="0" bIns="0" rtlCol="0" anchor="ctr"/>
          <a:lstStyle/>
          <a:p>
            <a:pPr indent="0" marL="0">
              <a:buNone/>
            </a:pPr>
            <a:r>
              <a:rPr lang="en-US" sz="2300" b="1" dirty="0">
                <a:solidFill>
                  <a:srgbClr val="0F2F44"/>
                </a:solidFill>
                <a:latin typeface="Cambria" pitchFamily="34" charset="0"/>
                <a:ea typeface="Cambria" pitchFamily="34" charset="-122"/>
                <a:cs typeface="Cambria" pitchFamily="34" charset="-120"/>
              </a:rPr>
              <a:t>KADI — Karnataka Analytics &amp; Detection Intelligence</a:t>
            </a:r>
            <a:endParaRPr lang="en-US" sz="2300" dirty="0"/>
          </a:p>
        </p:txBody>
      </p:sp>
      <p:sp>
        <p:nvSpPr>
          <p:cNvPr id="3" name="Text 1"/>
          <p:cNvSpPr/>
          <p:nvPr/>
        </p:nvSpPr>
        <p:spPr>
          <a:xfrm>
            <a:off x="384048" y="3639312"/>
            <a:ext cx="8375904" cy="256032"/>
          </a:xfrm>
          <a:prstGeom prst="rect">
            <a:avLst/>
          </a:prstGeom>
          <a:noFill/>
          <a:ln/>
        </p:spPr>
        <p:txBody>
          <a:bodyPr wrap="square" lIns="0" tIns="0" rIns="0" bIns="0" rtlCol="0" anchor="ctr"/>
          <a:lstStyle/>
          <a:p>
            <a:pPr indent="0" marL="0">
              <a:buNone/>
            </a:pPr>
            <a:r>
              <a:rPr lang="en-US" sz="1250" dirty="0">
                <a:solidFill>
                  <a:srgbClr val="5B6B7E"/>
                </a:solidFill>
                <a:latin typeface="Arial" pitchFamily="34" charset="0"/>
                <a:ea typeface="Arial" pitchFamily="34" charset="-122"/>
                <a:cs typeface="Arial" pitchFamily="34" charset="-120"/>
              </a:rPr>
              <a:t>AI-Driven Crime Analytics &amp; Visualization Platform for the Karnataka State Police</a:t>
            </a:r>
            <a:endParaRPr lang="en-US" sz="1250" dirty="0"/>
          </a:p>
        </p:txBody>
      </p:sp>
      <p:sp>
        <p:nvSpPr>
          <p:cNvPr id="4" name="Text 2"/>
          <p:cNvSpPr/>
          <p:nvPr/>
        </p:nvSpPr>
        <p:spPr>
          <a:xfrm>
            <a:off x="384048" y="4005072"/>
            <a:ext cx="1554480" cy="219456"/>
          </a:xfrm>
          <a:prstGeom prst="rect">
            <a:avLst/>
          </a:prstGeom>
          <a:noFill/>
          <a:ln/>
        </p:spPr>
        <p:txBody>
          <a:bodyPr wrap="square" lIns="0" tIns="0" rIns="0" bIns="0" rtlCol="0" anchor="ctr"/>
          <a:lstStyle/>
          <a:p>
            <a:pPr indent="0" marL="0">
              <a:buNone/>
            </a:pPr>
            <a:r>
              <a:rPr lang="en-US" sz="1100" b="1" dirty="0">
                <a:solidFill>
                  <a:srgbClr val="5B6B7E"/>
                </a:solidFill>
                <a:latin typeface="Arial" pitchFamily="34" charset="0"/>
                <a:ea typeface="Arial" pitchFamily="34" charset="-122"/>
                <a:cs typeface="Arial" pitchFamily="34" charset="-120"/>
              </a:rPr>
              <a:t>Team name</a:t>
            </a:r>
            <a:endParaRPr lang="en-US" sz="1100" dirty="0"/>
          </a:p>
        </p:txBody>
      </p:sp>
      <p:sp>
        <p:nvSpPr>
          <p:cNvPr id="5" name="Text 3"/>
          <p:cNvSpPr/>
          <p:nvPr/>
        </p:nvSpPr>
        <p:spPr>
          <a:xfrm>
            <a:off x="1975104" y="4005072"/>
            <a:ext cx="6784848" cy="219456"/>
          </a:xfrm>
          <a:prstGeom prst="rect">
            <a:avLst/>
          </a:prstGeom>
          <a:noFill/>
          <a:ln/>
        </p:spPr>
        <p:txBody>
          <a:bodyPr wrap="square" lIns="0" tIns="0" rIns="0" bIns="0" rtlCol="0" anchor="ctr"/>
          <a:lstStyle/>
          <a:p>
            <a:pPr indent="0" marL="0">
              <a:buNone/>
            </a:pPr>
            <a:r>
              <a:rPr lang="en-US" sz="1100" dirty="0">
                <a:solidFill>
                  <a:srgbClr val="1C2A3A"/>
                </a:solidFill>
                <a:latin typeface="Arial" pitchFamily="34" charset="0"/>
                <a:ea typeface="Arial" pitchFamily="34" charset="-122"/>
                <a:cs typeface="Arial" pitchFamily="34" charset="-120"/>
              </a:rPr>
              <a:t>KadiLabs</a:t>
            </a:r>
            <a:endParaRPr lang="en-US" sz="1100" dirty="0"/>
          </a:p>
        </p:txBody>
      </p:sp>
      <p:sp>
        <p:nvSpPr>
          <p:cNvPr id="6" name="Text 4"/>
          <p:cNvSpPr/>
          <p:nvPr/>
        </p:nvSpPr>
        <p:spPr>
          <a:xfrm>
            <a:off x="384048" y="4229100"/>
            <a:ext cx="1554480" cy="219456"/>
          </a:xfrm>
          <a:prstGeom prst="rect">
            <a:avLst/>
          </a:prstGeom>
          <a:noFill/>
          <a:ln/>
        </p:spPr>
        <p:txBody>
          <a:bodyPr wrap="square" lIns="0" tIns="0" rIns="0" bIns="0" rtlCol="0" anchor="ctr"/>
          <a:lstStyle/>
          <a:p>
            <a:pPr indent="0" marL="0">
              <a:buNone/>
            </a:pPr>
            <a:r>
              <a:rPr lang="en-US" sz="1100" b="1" dirty="0">
                <a:solidFill>
                  <a:srgbClr val="5B6B7E"/>
                </a:solidFill>
                <a:latin typeface="Arial" pitchFamily="34" charset="0"/>
                <a:ea typeface="Arial" pitchFamily="34" charset="-122"/>
                <a:cs typeface="Arial" pitchFamily="34" charset="-120"/>
              </a:rPr>
              <a:t>Team leader</a:t>
            </a:r>
            <a:endParaRPr lang="en-US" sz="1100" dirty="0"/>
          </a:p>
        </p:txBody>
      </p:sp>
      <p:sp>
        <p:nvSpPr>
          <p:cNvPr id="7" name="Text 5"/>
          <p:cNvSpPr/>
          <p:nvPr/>
        </p:nvSpPr>
        <p:spPr>
          <a:xfrm>
            <a:off x="1975104" y="4229100"/>
            <a:ext cx="6784848" cy="219456"/>
          </a:xfrm>
          <a:prstGeom prst="rect">
            <a:avLst/>
          </a:prstGeom>
          <a:noFill/>
          <a:ln/>
        </p:spPr>
        <p:txBody>
          <a:bodyPr wrap="square" lIns="0" tIns="0" rIns="0" bIns="0" rtlCol="0" anchor="ctr"/>
          <a:lstStyle/>
          <a:p>
            <a:pPr indent="0" marL="0">
              <a:buNone/>
            </a:pPr>
            <a:r>
              <a:rPr lang="en-US" sz="1100" dirty="0">
                <a:solidFill>
                  <a:srgbClr val="1C2A3A"/>
                </a:solidFill>
                <a:latin typeface="Arial" pitchFamily="34" charset="0"/>
                <a:ea typeface="Arial" pitchFamily="34" charset="-122"/>
                <a:cs typeface="Arial" pitchFamily="34" charset="-120"/>
              </a:rPr>
              <a:t>Adarsh Dwivedi</a:t>
            </a:r>
            <a:endParaRPr lang="en-US" sz="1100" dirty="0"/>
          </a:p>
        </p:txBody>
      </p:sp>
      <p:sp>
        <p:nvSpPr>
          <p:cNvPr id="8" name="Text 6"/>
          <p:cNvSpPr/>
          <p:nvPr/>
        </p:nvSpPr>
        <p:spPr>
          <a:xfrm>
            <a:off x="384048" y="4453128"/>
            <a:ext cx="1554480" cy="219456"/>
          </a:xfrm>
          <a:prstGeom prst="rect">
            <a:avLst/>
          </a:prstGeom>
          <a:noFill/>
          <a:ln/>
        </p:spPr>
        <p:txBody>
          <a:bodyPr wrap="square" lIns="0" tIns="0" rIns="0" bIns="0" rtlCol="0" anchor="ctr"/>
          <a:lstStyle/>
          <a:p>
            <a:pPr indent="0" marL="0">
              <a:buNone/>
            </a:pPr>
            <a:r>
              <a:rPr lang="en-US" sz="1100" b="1" dirty="0">
                <a:solidFill>
                  <a:srgbClr val="5B6B7E"/>
                </a:solidFill>
                <a:latin typeface="Arial" pitchFamily="34" charset="0"/>
                <a:ea typeface="Arial" pitchFamily="34" charset="-122"/>
                <a:cs typeface="Arial" pitchFamily="34" charset="-120"/>
              </a:rPr>
              <a:t>Team size</a:t>
            </a:r>
            <a:endParaRPr lang="en-US" sz="1100" dirty="0"/>
          </a:p>
        </p:txBody>
      </p:sp>
      <p:sp>
        <p:nvSpPr>
          <p:cNvPr id="9" name="Text 7"/>
          <p:cNvSpPr/>
          <p:nvPr/>
        </p:nvSpPr>
        <p:spPr>
          <a:xfrm>
            <a:off x="1975104" y="4453128"/>
            <a:ext cx="6784848" cy="219456"/>
          </a:xfrm>
          <a:prstGeom prst="rect">
            <a:avLst/>
          </a:prstGeom>
          <a:noFill/>
          <a:ln/>
        </p:spPr>
        <p:txBody>
          <a:bodyPr wrap="square" lIns="0" tIns="0" rIns="0" bIns="0" rtlCol="0" anchor="ctr"/>
          <a:lstStyle/>
          <a:p>
            <a:pPr indent="0" marL="0">
              <a:buNone/>
            </a:pPr>
            <a:r>
              <a:rPr lang="en-US" sz="1100" dirty="0">
                <a:solidFill>
                  <a:srgbClr val="1C2A3A"/>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384048" y="4677156"/>
            <a:ext cx="1554480" cy="219456"/>
          </a:xfrm>
          <a:prstGeom prst="rect">
            <a:avLst/>
          </a:prstGeom>
          <a:noFill/>
          <a:ln/>
        </p:spPr>
        <p:txBody>
          <a:bodyPr wrap="square" lIns="0" tIns="0" rIns="0" bIns="0" rtlCol="0" anchor="ctr"/>
          <a:lstStyle/>
          <a:p>
            <a:pPr indent="0" marL="0">
              <a:buNone/>
            </a:pPr>
            <a:r>
              <a:rPr lang="en-US" sz="1100" b="1" dirty="0">
                <a:solidFill>
                  <a:srgbClr val="5B6B7E"/>
                </a:solidFill>
                <a:latin typeface="Arial" pitchFamily="34" charset="0"/>
                <a:ea typeface="Arial" pitchFamily="34" charset="-122"/>
                <a:cs typeface="Arial" pitchFamily="34" charset="-120"/>
              </a:rPr>
              <a:t>Problem Statement</a:t>
            </a:r>
            <a:endParaRPr lang="en-US" sz="1100" dirty="0"/>
          </a:p>
        </p:txBody>
      </p:sp>
      <p:sp>
        <p:nvSpPr>
          <p:cNvPr id="11" name="Text 9"/>
          <p:cNvSpPr/>
          <p:nvPr/>
        </p:nvSpPr>
        <p:spPr>
          <a:xfrm>
            <a:off x="1975104" y="4677156"/>
            <a:ext cx="6784848" cy="219456"/>
          </a:xfrm>
          <a:prstGeom prst="rect">
            <a:avLst/>
          </a:prstGeom>
          <a:noFill/>
          <a:ln/>
        </p:spPr>
        <p:txBody>
          <a:bodyPr wrap="square" lIns="0" tIns="0" rIns="0" bIns="0" rtlCol="0" anchor="ctr"/>
          <a:lstStyle/>
          <a:p>
            <a:pPr indent="0" marL="0">
              <a:buNone/>
            </a:pPr>
            <a:r>
              <a:rPr lang="en-US" sz="1100" dirty="0">
                <a:solidFill>
                  <a:srgbClr val="1C2A3A"/>
                </a:solidFill>
                <a:latin typeface="Arial" pitchFamily="34" charset="0"/>
                <a:ea typeface="Arial" pitchFamily="34" charset="-122"/>
                <a:cs typeface="Arial" pitchFamily="34" charset="-120"/>
              </a:rPr>
              <a:t>Challenge 02 — AI-Driven Crime Analytics &amp; Visualization Platform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Brief about the solution</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What is broken today, and what KADI does about it</a:t>
            </a:r>
            <a:endParaRPr lang="en-US" sz="1200" dirty="0"/>
          </a:p>
        </p:txBody>
      </p:sp>
      <p:sp>
        <p:nvSpPr>
          <p:cNvPr id="4" name="Shape 2"/>
          <p:cNvSpPr/>
          <p:nvPr/>
        </p:nvSpPr>
        <p:spPr>
          <a:xfrm>
            <a:off x="384048" y="1371600"/>
            <a:ext cx="4041648" cy="1627632"/>
          </a:xfrm>
          <a:prstGeom prst="roundRect">
            <a:avLst>
              <a:gd name="adj" fmla="val 3371"/>
            </a:avLst>
          </a:prstGeom>
          <a:solidFill>
            <a:srgbClr val="FFFFFF"/>
          </a:solidFill>
          <a:ln w="9525">
            <a:solidFill>
              <a:srgbClr val="D9E1EC"/>
            </a:solidFill>
            <a:prstDash val="solid"/>
          </a:ln>
        </p:spPr>
      </p:sp>
      <p:sp>
        <p:nvSpPr>
          <p:cNvPr id="5" name="Shape 3"/>
          <p:cNvSpPr/>
          <p:nvPr/>
        </p:nvSpPr>
        <p:spPr>
          <a:xfrm>
            <a:off x="384048" y="1371600"/>
            <a:ext cx="4041648" cy="347472"/>
          </a:xfrm>
          <a:prstGeom prst="roundRect">
            <a:avLst>
              <a:gd name="adj" fmla="val 15789"/>
            </a:avLst>
          </a:prstGeom>
          <a:solidFill>
            <a:srgbClr val="C0392B"/>
          </a:solidFill>
          <a:ln w="12700">
            <a:solidFill>
              <a:srgbClr val="C0392B"/>
            </a:solidFill>
            <a:prstDash val="solid"/>
          </a:ln>
        </p:spPr>
      </p:sp>
      <p:sp>
        <p:nvSpPr>
          <p:cNvPr id="6" name="Text 4"/>
          <p:cNvSpPr/>
          <p:nvPr/>
        </p:nvSpPr>
        <p:spPr>
          <a:xfrm>
            <a:off x="512064" y="1371600"/>
            <a:ext cx="3785616"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The problem today</a:t>
            </a:r>
            <a:endParaRPr lang="en-US" sz="1100" dirty="0"/>
          </a:p>
        </p:txBody>
      </p:sp>
      <p:sp>
        <p:nvSpPr>
          <p:cNvPr id="7" name="Text 5"/>
          <p:cNvSpPr/>
          <p:nvPr/>
        </p:nvSpPr>
        <p:spPr>
          <a:xfrm>
            <a:off x="530352" y="1792224"/>
            <a:ext cx="3749040" cy="1115568"/>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FIRs sit in station-level silos; analysis is Excel</a:t>
            </a:r>
            <a:endParaRPr lang="en-US" sz="1100" dirty="0"/>
          </a:p>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A serial offender across districts is invisible</a:t>
            </a:r>
            <a:endParaRPr lang="en-US" sz="1100" dirty="0"/>
          </a:p>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SCRB gets fragmented extracts, not a state picture</a:t>
            </a:r>
            <a:endParaRPr lang="en-US" sz="1100" dirty="0"/>
          </a:p>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Policing stays reactive — no early warning</a:t>
            </a:r>
            <a:endParaRPr lang="en-US" sz="1100" dirty="0"/>
          </a:p>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No link from a Bengaluru case to a Kalaburagi gang</a:t>
            </a:r>
            <a:endParaRPr lang="en-US" sz="1100" dirty="0"/>
          </a:p>
        </p:txBody>
      </p:sp>
      <p:sp>
        <p:nvSpPr>
          <p:cNvPr id="8" name="Shape 6"/>
          <p:cNvSpPr/>
          <p:nvPr/>
        </p:nvSpPr>
        <p:spPr>
          <a:xfrm>
            <a:off x="4718304" y="1371600"/>
            <a:ext cx="4041648" cy="1627632"/>
          </a:xfrm>
          <a:prstGeom prst="roundRect">
            <a:avLst>
              <a:gd name="adj" fmla="val 3371"/>
            </a:avLst>
          </a:prstGeom>
          <a:solidFill>
            <a:srgbClr val="FFFFFF"/>
          </a:solidFill>
          <a:ln w="9525">
            <a:solidFill>
              <a:srgbClr val="D9E1EC"/>
            </a:solidFill>
            <a:prstDash val="solid"/>
          </a:ln>
        </p:spPr>
      </p:sp>
      <p:sp>
        <p:nvSpPr>
          <p:cNvPr id="9" name="Shape 7"/>
          <p:cNvSpPr/>
          <p:nvPr/>
        </p:nvSpPr>
        <p:spPr>
          <a:xfrm>
            <a:off x="4718304" y="1371600"/>
            <a:ext cx="4041648" cy="347472"/>
          </a:xfrm>
          <a:prstGeom prst="roundRect">
            <a:avLst>
              <a:gd name="adj" fmla="val 15789"/>
            </a:avLst>
          </a:prstGeom>
          <a:solidFill>
            <a:srgbClr val="2FA8A0"/>
          </a:solidFill>
          <a:ln w="12700">
            <a:solidFill>
              <a:srgbClr val="2FA8A0"/>
            </a:solidFill>
            <a:prstDash val="solid"/>
          </a:ln>
        </p:spPr>
      </p:sp>
      <p:sp>
        <p:nvSpPr>
          <p:cNvPr id="10" name="Text 8"/>
          <p:cNvSpPr/>
          <p:nvPr/>
        </p:nvSpPr>
        <p:spPr>
          <a:xfrm>
            <a:off x="4846320" y="1371600"/>
            <a:ext cx="3785616"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What KADI delivers</a:t>
            </a:r>
            <a:endParaRPr lang="en-US" sz="1100" dirty="0"/>
          </a:p>
        </p:txBody>
      </p:sp>
      <p:sp>
        <p:nvSpPr>
          <p:cNvPr id="11" name="Text 9"/>
          <p:cNvSpPr/>
          <p:nvPr/>
        </p:nvSpPr>
        <p:spPr>
          <a:xfrm>
            <a:off x="4864608" y="1792224"/>
            <a:ext cx="3749040" cy="1115568"/>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One graph: every FIR joined by proven evidence</a:t>
            </a:r>
            <a:endParaRPr lang="en-US" sz="1100" dirty="0"/>
          </a:p>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36,890 name records resolved to 300 real people</a:t>
            </a:r>
            <a:endParaRPr lang="en-US" sz="1100" dirty="0"/>
          </a:p>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Per-capita analytics explain why, not just where</a:t>
            </a:r>
            <a:endParaRPr lang="en-US" sz="1100" dirty="0"/>
          </a:p>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Forecasts, hotspots, investigation-health alerts</a:t>
            </a:r>
            <a:endParaRPr lang="en-US" sz="1100" dirty="0"/>
          </a:p>
          <a:p>
            <a:pPr marL="342900" indent="-342900">
              <a:spcAft>
                <a:spcPts val="500"/>
              </a:spcAft>
              <a:buSzPct val="100000"/>
              <a:buChar char="•"/>
            </a:pPr>
            <a:r>
              <a:rPr lang="en-US" sz="1100" dirty="0">
                <a:solidFill>
                  <a:srgbClr val="1C2A3A"/>
                </a:solidFill>
                <a:latin typeface="Arial" pitchFamily="34" charset="0"/>
                <a:ea typeface="Arial" pitchFamily="34" charset="-122"/>
                <a:cs typeface="Arial" pitchFamily="34" charset="-120"/>
              </a:rPr>
              <a:t>One audited source the SI and SCRB both read</a:t>
            </a:r>
            <a:endParaRPr lang="en-US" sz="1100" dirty="0"/>
          </a:p>
        </p:txBody>
      </p:sp>
      <p:sp>
        <p:nvSpPr>
          <p:cNvPr id="12" name="Shape 10"/>
          <p:cNvSpPr/>
          <p:nvPr/>
        </p:nvSpPr>
        <p:spPr>
          <a:xfrm>
            <a:off x="384048" y="3090672"/>
            <a:ext cx="1572768" cy="896112"/>
          </a:xfrm>
          <a:prstGeom prst="roundRect">
            <a:avLst>
              <a:gd name="adj" fmla="val 6122"/>
            </a:avLst>
          </a:prstGeom>
          <a:solidFill>
            <a:srgbClr val="F5F8FB"/>
          </a:solidFill>
          <a:ln w="9525">
            <a:solidFill>
              <a:srgbClr val="D9E1EC"/>
            </a:solidFill>
            <a:prstDash val="solid"/>
          </a:ln>
        </p:spPr>
      </p:sp>
      <p:sp>
        <p:nvSpPr>
          <p:cNvPr id="13" name="Text 11"/>
          <p:cNvSpPr/>
          <p:nvPr/>
        </p:nvSpPr>
        <p:spPr>
          <a:xfrm>
            <a:off x="493776" y="3145536"/>
            <a:ext cx="1353312" cy="448056"/>
          </a:xfrm>
          <a:prstGeom prst="rect">
            <a:avLst/>
          </a:prstGeom>
          <a:noFill/>
          <a:ln/>
        </p:spPr>
        <p:txBody>
          <a:bodyPr wrap="square" lIns="0" tIns="0" rIns="0" bIns="0" rtlCol="0" anchor="ctr"/>
          <a:lstStyle/>
          <a:p>
            <a:pPr indent="0" marL="0">
              <a:buNone/>
            </a:pPr>
            <a:r>
              <a:rPr lang="en-US" sz="2300" b="1" dirty="0">
                <a:solidFill>
                  <a:srgbClr val="1A6FC4"/>
                </a:solidFill>
                <a:latin typeface="Arial" pitchFamily="34" charset="0"/>
                <a:ea typeface="Arial" pitchFamily="34" charset="-122"/>
                <a:cs typeface="Arial" pitchFamily="34" charset="-120"/>
              </a:rPr>
              <a:t>40,836</a:t>
            </a:r>
            <a:endParaRPr lang="en-US" sz="2300" dirty="0"/>
          </a:p>
        </p:txBody>
      </p:sp>
      <p:sp>
        <p:nvSpPr>
          <p:cNvPr id="14" name="Text 12"/>
          <p:cNvSpPr/>
          <p:nvPr/>
        </p:nvSpPr>
        <p:spPr>
          <a:xfrm>
            <a:off x="493776" y="3556650"/>
            <a:ext cx="1353312" cy="39428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FIRs analysed</a:t>
            </a:r>
            <a:endParaRPr lang="en-US" sz="950" dirty="0"/>
          </a:p>
        </p:txBody>
      </p:sp>
      <p:sp>
        <p:nvSpPr>
          <p:cNvPr id="15" name="Shape 13"/>
          <p:cNvSpPr/>
          <p:nvPr/>
        </p:nvSpPr>
        <p:spPr>
          <a:xfrm>
            <a:off x="2084832" y="3090672"/>
            <a:ext cx="1572768" cy="896112"/>
          </a:xfrm>
          <a:prstGeom prst="roundRect">
            <a:avLst>
              <a:gd name="adj" fmla="val 6122"/>
            </a:avLst>
          </a:prstGeom>
          <a:solidFill>
            <a:srgbClr val="F5F8FB"/>
          </a:solidFill>
          <a:ln w="9525">
            <a:solidFill>
              <a:srgbClr val="D9E1EC"/>
            </a:solidFill>
            <a:prstDash val="solid"/>
          </a:ln>
        </p:spPr>
      </p:sp>
      <p:sp>
        <p:nvSpPr>
          <p:cNvPr id="16" name="Text 14"/>
          <p:cNvSpPr/>
          <p:nvPr/>
        </p:nvSpPr>
        <p:spPr>
          <a:xfrm>
            <a:off x="2194560" y="3145536"/>
            <a:ext cx="1353312" cy="448056"/>
          </a:xfrm>
          <a:prstGeom prst="rect">
            <a:avLst/>
          </a:prstGeom>
          <a:noFill/>
          <a:ln/>
        </p:spPr>
        <p:txBody>
          <a:bodyPr wrap="square" lIns="0" tIns="0" rIns="0" bIns="0" rtlCol="0" anchor="ctr"/>
          <a:lstStyle/>
          <a:p>
            <a:pPr indent="0" marL="0">
              <a:buNone/>
            </a:pPr>
            <a:r>
              <a:rPr lang="en-US" sz="2300" b="1" dirty="0">
                <a:solidFill>
                  <a:srgbClr val="2FA8A0"/>
                </a:solidFill>
                <a:latin typeface="Arial" pitchFamily="34" charset="0"/>
                <a:ea typeface="Arial" pitchFamily="34" charset="-122"/>
                <a:cs typeface="Arial" pitchFamily="34" charset="-120"/>
              </a:rPr>
              <a:t>300</a:t>
            </a:r>
            <a:endParaRPr lang="en-US" sz="2300" dirty="0"/>
          </a:p>
        </p:txBody>
      </p:sp>
      <p:sp>
        <p:nvSpPr>
          <p:cNvPr id="17" name="Text 15"/>
          <p:cNvSpPr/>
          <p:nvPr/>
        </p:nvSpPr>
        <p:spPr>
          <a:xfrm>
            <a:off x="2194560" y="3556650"/>
            <a:ext cx="1353312" cy="39428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Offenders resolved</a:t>
            </a:r>
            <a:endParaRPr lang="en-US" sz="950" dirty="0"/>
          </a:p>
        </p:txBody>
      </p:sp>
      <p:sp>
        <p:nvSpPr>
          <p:cNvPr id="18" name="Shape 16"/>
          <p:cNvSpPr/>
          <p:nvPr/>
        </p:nvSpPr>
        <p:spPr>
          <a:xfrm>
            <a:off x="3785616" y="3090672"/>
            <a:ext cx="1572768" cy="896112"/>
          </a:xfrm>
          <a:prstGeom prst="roundRect">
            <a:avLst>
              <a:gd name="adj" fmla="val 6122"/>
            </a:avLst>
          </a:prstGeom>
          <a:solidFill>
            <a:srgbClr val="F5F8FB"/>
          </a:solidFill>
          <a:ln w="9525">
            <a:solidFill>
              <a:srgbClr val="D9E1EC"/>
            </a:solidFill>
            <a:prstDash val="solid"/>
          </a:ln>
        </p:spPr>
      </p:sp>
      <p:sp>
        <p:nvSpPr>
          <p:cNvPr id="19" name="Text 17"/>
          <p:cNvSpPr/>
          <p:nvPr/>
        </p:nvSpPr>
        <p:spPr>
          <a:xfrm>
            <a:off x="3895344" y="3145536"/>
            <a:ext cx="1353312" cy="448056"/>
          </a:xfrm>
          <a:prstGeom prst="rect">
            <a:avLst/>
          </a:prstGeom>
          <a:noFill/>
          <a:ln/>
        </p:spPr>
        <p:txBody>
          <a:bodyPr wrap="square" lIns="0" tIns="0" rIns="0" bIns="0" rtlCol="0" anchor="ctr"/>
          <a:lstStyle/>
          <a:p>
            <a:pPr indent="0" marL="0">
              <a:buNone/>
            </a:pPr>
            <a:r>
              <a:rPr lang="en-US" sz="2300" b="1" dirty="0">
                <a:solidFill>
                  <a:srgbClr val="E8871E"/>
                </a:solidFill>
                <a:latin typeface="Arial" pitchFamily="34" charset="0"/>
                <a:ea typeface="Arial" pitchFamily="34" charset="-122"/>
                <a:cs typeface="Arial" pitchFamily="34" charset="-120"/>
              </a:rPr>
              <a:t>68,808</a:t>
            </a:r>
            <a:endParaRPr lang="en-US" sz="2300" dirty="0"/>
          </a:p>
        </p:txBody>
      </p:sp>
      <p:sp>
        <p:nvSpPr>
          <p:cNvPr id="20" name="Text 18"/>
          <p:cNvSpPr/>
          <p:nvPr/>
        </p:nvSpPr>
        <p:spPr>
          <a:xfrm>
            <a:off x="3895344" y="3556650"/>
            <a:ext cx="1353312" cy="39428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Typed evidence links</a:t>
            </a:r>
            <a:endParaRPr lang="en-US" sz="950" dirty="0"/>
          </a:p>
        </p:txBody>
      </p:sp>
      <p:sp>
        <p:nvSpPr>
          <p:cNvPr id="21" name="Shape 19"/>
          <p:cNvSpPr/>
          <p:nvPr/>
        </p:nvSpPr>
        <p:spPr>
          <a:xfrm>
            <a:off x="5486400" y="3090672"/>
            <a:ext cx="1572768" cy="896112"/>
          </a:xfrm>
          <a:prstGeom prst="roundRect">
            <a:avLst>
              <a:gd name="adj" fmla="val 6122"/>
            </a:avLst>
          </a:prstGeom>
          <a:solidFill>
            <a:srgbClr val="F5F8FB"/>
          </a:solidFill>
          <a:ln w="9525">
            <a:solidFill>
              <a:srgbClr val="D9E1EC"/>
            </a:solidFill>
            <a:prstDash val="solid"/>
          </a:ln>
        </p:spPr>
      </p:sp>
      <p:sp>
        <p:nvSpPr>
          <p:cNvPr id="22" name="Text 20"/>
          <p:cNvSpPr/>
          <p:nvPr/>
        </p:nvSpPr>
        <p:spPr>
          <a:xfrm>
            <a:off x="5596128" y="3145536"/>
            <a:ext cx="1353312" cy="448056"/>
          </a:xfrm>
          <a:prstGeom prst="rect">
            <a:avLst/>
          </a:prstGeom>
          <a:noFill/>
          <a:ln/>
        </p:spPr>
        <p:txBody>
          <a:bodyPr wrap="square" lIns="0" tIns="0" rIns="0" bIns="0" rtlCol="0" anchor="ctr"/>
          <a:lstStyle/>
          <a:p>
            <a:pPr indent="0" marL="0">
              <a:buNone/>
            </a:pPr>
            <a:r>
              <a:rPr lang="en-US" sz="2300" b="1" dirty="0">
                <a:solidFill>
                  <a:srgbClr val="0F2F44"/>
                </a:solidFill>
                <a:latin typeface="Arial" pitchFamily="34" charset="0"/>
                <a:ea typeface="Arial" pitchFamily="34" charset="-122"/>
                <a:cs typeface="Arial" pitchFamily="34" charset="-120"/>
              </a:rPr>
              <a:t>100%</a:t>
            </a:r>
            <a:endParaRPr lang="en-US" sz="2300" dirty="0"/>
          </a:p>
        </p:txBody>
      </p:sp>
      <p:sp>
        <p:nvSpPr>
          <p:cNvPr id="23" name="Text 21"/>
          <p:cNvSpPr/>
          <p:nvPr/>
        </p:nvSpPr>
        <p:spPr>
          <a:xfrm>
            <a:off x="5596128" y="3556650"/>
            <a:ext cx="1353312" cy="39428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Ground-truth recovery</a:t>
            </a:r>
            <a:endParaRPr lang="en-US" sz="950" dirty="0"/>
          </a:p>
        </p:txBody>
      </p:sp>
      <p:sp>
        <p:nvSpPr>
          <p:cNvPr id="24" name="Shape 22"/>
          <p:cNvSpPr/>
          <p:nvPr/>
        </p:nvSpPr>
        <p:spPr>
          <a:xfrm>
            <a:off x="7187184" y="3090672"/>
            <a:ext cx="1572768" cy="896112"/>
          </a:xfrm>
          <a:prstGeom prst="roundRect">
            <a:avLst>
              <a:gd name="adj" fmla="val 6122"/>
            </a:avLst>
          </a:prstGeom>
          <a:solidFill>
            <a:srgbClr val="F5F8FB"/>
          </a:solidFill>
          <a:ln w="9525">
            <a:solidFill>
              <a:srgbClr val="D9E1EC"/>
            </a:solidFill>
            <a:prstDash val="solid"/>
          </a:ln>
        </p:spPr>
      </p:sp>
      <p:sp>
        <p:nvSpPr>
          <p:cNvPr id="25" name="Text 23"/>
          <p:cNvSpPr/>
          <p:nvPr/>
        </p:nvSpPr>
        <p:spPr>
          <a:xfrm>
            <a:off x="7296912" y="3145536"/>
            <a:ext cx="1353312" cy="448056"/>
          </a:xfrm>
          <a:prstGeom prst="rect">
            <a:avLst/>
          </a:prstGeom>
          <a:noFill/>
          <a:ln/>
        </p:spPr>
        <p:txBody>
          <a:bodyPr wrap="square" lIns="0" tIns="0" rIns="0" bIns="0" rtlCol="0" anchor="ctr"/>
          <a:lstStyle/>
          <a:p>
            <a:pPr indent="0" marL="0">
              <a:buNone/>
            </a:pPr>
            <a:r>
              <a:rPr lang="en-US" sz="2300" b="1" dirty="0">
                <a:solidFill>
                  <a:srgbClr val="C0392B"/>
                </a:solidFill>
                <a:latin typeface="Arial" pitchFamily="34" charset="0"/>
                <a:ea typeface="Arial" pitchFamily="34" charset="-122"/>
                <a:cs typeface="Arial" pitchFamily="34" charset="-120"/>
              </a:rPr>
              <a:t>3.9%</a:t>
            </a:r>
            <a:endParaRPr lang="en-US" sz="2300" dirty="0"/>
          </a:p>
        </p:txBody>
      </p:sp>
      <p:sp>
        <p:nvSpPr>
          <p:cNvPr id="26" name="Text 24"/>
          <p:cNvSpPr/>
          <p:nvPr/>
        </p:nvSpPr>
        <p:spPr>
          <a:xfrm>
            <a:off x="7296912" y="3556650"/>
            <a:ext cx="1353312" cy="39428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Forecast MAPE</a:t>
            </a:r>
            <a:endParaRPr lang="en-US" sz="950" dirty="0"/>
          </a:p>
        </p:txBody>
      </p:sp>
      <p:sp>
        <p:nvSpPr>
          <p:cNvPr id="27" name="Shape 25"/>
          <p:cNvSpPr/>
          <p:nvPr/>
        </p:nvSpPr>
        <p:spPr>
          <a:xfrm>
            <a:off x="384048" y="4096512"/>
            <a:ext cx="8375904" cy="749808"/>
          </a:xfrm>
          <a:prstGeom prst="roundRect">
            <a:avLst>
              <a:gd name="adj" fmla="val 7317"/>
            </a:avLst>
          </a:prstGeom>
          <a:solidFill>
            <a:srgbClr val="0F2F44"/>
          </a:solidFill>
          <a:ln w="12700">
            <a:solidFill>
              <a:srgbClr val="0F2F44"/>
            </a:solidFill>
            <a:prstDash val="solid"/>
          </a:ln>
        </p:spPr>
      </p:sp>
      <p:sp>
        <p:nvSpPr>
          <p:cNvPr id="28" name="Text 26"/>
          <p:cNvSpPr/>
          <p:nvPr/>
        </p:nvSpPr>
        <p:spPr>
          <a:xfrm>
            <a:off x="566928" y="4151376"/>
            <a:ext cx="8010144"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One graph. 40,836 FIRs. Every link is evidence an officer can click.</a:t>
            </a:r>
            <a:endParaRPr lang="en-US" sz="1400" dirty="0"/>
          </a:p>
        </p:txBody>
      </p:sp>
      <p:sp>
        <p:nvSpPr>
          <p:cNvPr id="29" name="Text 27"/>
          <p:cNvSpPr/>
          <p:nvPr/>
        </p:nvSpPr>
        <p:spPr>
          <a:xfrm>
            <a:off x="566928" y="4462272"/>
            <a:ext cx="8010144" cy="274320"/>
          </a:xfrm>
          <a:prstGeom prst="rect">
            <a:avLst/>
          </a:prstGeom>
          <a:noFill/>
          <a:ln/>
        </p:spPr>
        <p:txBody>
          <a:bodyPr wrap="square" lIns="0" tIns="0" rIns="0" bIns="0" rtlCol="0" anchor="ctr"/>
          <a:lstStyle/>
          <a:p>
            <a:pPr indent="0" marL="0">
              <a:buNone/>
            </a:pPr>
            <a:r>
              <a:rPr lang="en-US" sz="1000" dirty="0">
                <a:solidFill>
                  <a:srgbClr val="C9D8E4"/>
                </a:solidFill>
                <a:latin typeface="Arial" pitchFamily="34" charset="0"/>
                <a:ea typeface="Arial" pitchFamily="34" charset="-122"/>
                <a:cs typeface="Arial" pitchFamily="34" charset="-120"/>
              </a:rPr>
              <a:t>Every figure above is read live from the deployed Catalyst API — nothing on this slide is illustrative.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Opportunities</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How it differs, how it solves the problem, and the USP</a:t>
            </a:r>
            <a:endParaRPr lang="en-US" sz="1200" dirty="0"/>
          </a:p>
        </p:txBody>
      </p:sp>
      <p:sp>
        <p:nvSpPr>
          <p:cNvPr id="4" name="Shape 2"/>
          <p:cNvSpPr/>
          <p:nvPr/>
        </p:nvSpPr>
        <p:spPr>
          <a:xfrm>
            <a:off x="384048" y="1371600"/>
            <a:ext cx="2670048" cy="2212848"/>
          </a:xfrm>
          <a:prstGeom prst="roundRect">
            <a:avLst>
              <a:gd name="adj" fmla="val 2479"/>
            </a:avLst>
          </a:prstGeom>
          <a:solidFill>
            <a:srgbClr val="FFFFFF"/>
          </a:solidFill>
          <a:ln w="9525">
            <a:solidFill>
              <a:srgbClr val="D9E1EC"/>
            </a:solidFill>
            <a:prstDash val="solid"/>
          </a:ln>
        </p:spPr>
      </p:sp>
      <p:sp>
        <p:nvSpPr>
          <p:cNvPr id="5" name="Shape 3"/>
          <p:cNvSpPr/>
          <p:nvPr/>
        </p:nvSpPr>
        <p:spPr>
          <a:xfrm>
            <a:off x="384048" y="1371600"/>
            <a:ext cx="2670048" cy="384048"/>
          </a:xfrm>
          <a:prstGeom prst="roundRect">
            <a:avLst>
              <a:gd name="adj" fmla="val 14286"/>
            </a:avLst>
          </a:prstGeom>
          <a:solidFill>
            <a:srgbClr val="1A6FC4"/>
          </a:solidFill>
          <a:ln w="12700">
            <a:solidFill>
              <a:srgbClr val="1A6FC4"/>
            </a:solidFill>
            <a:prstDash val="solid"/>
          </a:ln>
        </p:spPr>
      </p:sp>
      <p:sp>
        <p:nvSpPr>
          <p:cNvPr id="6" name="Text 4"/>
          <p:cNvSpPr/>
          <p:nvPr/>
        </p:nvSpPr>
        <p:spPr>
          <a:xfrm>
            <a:off x="512064" y="1371600"/>
            <a:ext cx="2414016"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How is it different?</a:t>
            </a:r>
            <a:endParaRPr lang="en-US" sz="1200" dirty="0"/>
          </a:p>
        </p:txBody>
      </p:sp>
      <p:sp>
        <p:nvSpPr>
          <p:cNvPr id="7" name="Text 5"/>
          <p:cNvSpPr/>
          <p:nvPr/>
        </p:nvSpPr>
        <p:spPr>
          <a:xfrm>
            <a:off x="521208" y="1828800"/>
            <a:ext cx="2395728" cy="1700784"/>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Not a dashboard over counts — a graph over evidence</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Every link is clickable proof: which attribute matched, on which FIRs</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Rates per 100,000 residents, not raw counts that merely track population</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Fairness enforced by a failing unit test, not a paragraph of policy</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Kannada is first-class throughout, not a translation bolted on at the end</a:t>
            </a:r>
            <a:endParaRPr lang="en-US" sz="950" dirty="0"/>
          </a:p>
        </p:txBody>
      </p:sp>
      <p:sp>
        <p:nvSpPr>
          <p:cNvPr id="8" name="Shape 6"/>
          <p:cNvSpPr/>
          <p:nvPr/>
        </p:nvSpPr>
        <p:spPr>
          <a:xfrm>
            <a:off x="3218688" y="1371600"/>
            <a:ext cx="2670048" cy="2212848"/>
          </a:xfrm>
          <a:prstGeom prst="roundRect">
            <a:avLst>
              <a:gd name="adj" fmla="val 2479"/>
            </a:avLst>
          </a:prstGeom>
          <a:solidFill>
            <a:srgbClr val="FFFFFF"/>
          </a:solidFill>
          <a:ln w="9525">
            <a:solidFill>
              <a:srgbClr val="D9E1EC"/>
            </a:solidFill>
            <a:prstDash val="solid"/>
          </a:ln>
        </p:spPr>
      </p:sp>
      <p:sp>
        <p:nvSpPr>
          <p:cNvPr id="9" name="Shape 7"/>
          <p:cNvSpPr/>
          <p:nvPr/>
        </p:nvSpPr>
        <p:spPr>
          <a:xfrm>
            <a:off x="3218688" y="1371600"/>
            <a:ext cx="2670048" cy="384048"/>
          </a:xfrm>
          <a:prstGeom prst="roundRect">
            <a:avLst>
              <a:gd name="adj" fmla="val 14286"/>
            </a:avLst>
          </a:prstGeom>
          <a:solidFill>
            <a:srgbClr val="2FA8A0"/>
          </a:solidFill>
          <a:ln w="12700">
            <a:solidFill>
              <a:srgbClr val="2FA8A0"/>
            </a:solidFill>
            <a:prstDash val="solid"/>
          </a:ln>
        </p:spPr>
      </p:sp>
      <p:sp>
        <p:nvSpPr>
          <p:cNvPr id="10" name="Text 8"/>
          <p:cNvSpPr/>
          <p:nvPr/>
        </p:nvSpPr>
        <p:spPr>
          <a:xfrm>
            <a:off x="3346704" y="1371600"/>
            <a:ext cx="2414016"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How does it solve it?</a:t>
            </a:r>
            <a:endParaRPr lang="en-US" sz="1200" dirty="0"/>
          </a:p>
        </p:txBody>
      </p:sp>
      <p:sp>
        <p:nvSpPr>
          <p:cNvPr id="11" name="Text 9"/>
          <p:cNvSpPr/>
          <p:nvPr/>
        </p:nvSpPr>
        <p:spPr>
          <a:xfrm>
            <a:off x="3355848" y="1828800"/>
            <a:ext cx="2395728" cy="1700784"/>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Entity resolution merges spelling variants into one offender identity</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Six typed link kinds connect FIRs no single station could ever join</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Investigation-health flags cases slipping past their peer median</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DBSCAN hotspots + 3-month forecast move policing from reactive to planned</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A bilingual assistant answers in plain language and cites the FIRs it used</a:t>
            </a:r>
            <a:endParaRPr lang="en-US" sz="950" dirty="0"/>
          </a:p>
        </p:txBody>
      </p:sp>
      <p:sp>
        <p:nvSpPr>
          <p:cNvPr id="12" name="Shape 10"/>
          <p:cNvSpPr/>
          <p:nvPr/>
        </p:nvSpPr>
        <p:spPr>
          <a:xfrm>
            <a:off x="6053328" y="1371600"/>
            <a:ext cx="2670048" cy="2212848"/>
          </a:xfrm>
          <a:prstGeom prst="roundRect">
            <a:avLst>
              <a:gd name="adj" fmla="val 2479"/>
            </a:avLst>
          </a:prstGeom>
          <a:solidFill>
            <a:srgbClr val="FFFFFF"/>
          </a:solidFill>
          <a:ln w="9525">
            <a:solidFill>
              <a:srgbClr val="D9E1EC"/>
            </a:solidFill>
            <a:prstDash val="solid"/>
          </a:ln>
        </p:spPr>
      </p:sp>
      <p:sp>
        <p:nvSpPr>
          <p:cNvPr id="13" name="Shape 11"/>
          <p:cNvSpPr/>
          <p:nvPr/>
        </p:nvSpPr>
        <p:spPr>
          <a:xfrm>
            <a:off x="6053328" y="1371600"/>
            <a:ext cx="2670048" cy="384048"/>
          </a:xfrm>
          <a:prstGeom prst="roundRect">
            <a:avLst>
              <a:gd name="adj" fmla="val 14286"/>
            </a:avLst>
          </a:prstGeom>
          <a:solidFill>
            <a:srgbClr val="E8871E"/>
          </a:solidFill>
          <a:ln w="12700">
            <a:solidFill>
              <a:srgbClr val="E8871E"/>
            </a:solidFill>
            <a:prstDash val="solid"/>
          </a:ln>
        </p:spPr>
      </p:sp>
      <p:sp>
        <p:nvSpPr>
          <p:cNvPr id="14" name="Text 12"/>
          <p:cNvSpPr/>
          <p:nvPr/>
        </p:nvSpPr>
        <p:spPr>
          <a:xfrm>
            <a:off x="6181344" y="1371600"/>
            <a:ext cx="2414016"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USP</a:t>
            </a:r>
            <a:endParaRPr lang="en-US" sz="1200" dirty="0"/>
          </a:p>
        </p:txBody>
      </p:sp>
      <p:sp>
        <p:nvSpPr>
          <p:cNvPr id="15" name="Text 13"/>
          <p:cNvSpPr/>
          <p:nvPr/>
        </p:nvSpPr>
        <p:spPr>
          <a:xfrm>
            <a:off x="6190488" y="1828800"/>
            <a:ext cx="2395728" cy="1700784"/>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100% recovery of planted gangs, chains and identities — measured every run</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Forecast accuracy is a hold-out backtest (MAPE 3.9%), not an in-sample claim</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Bilingual EN / ಕನ್ನಡ, voice-capable, every answer cites real FIR numbers</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Runs end-to-end on eight Zoho Catalyst services, with nothing third-party</a:t>
            </a:r>
            <a:endParaRPr lang="en-US" sz="950" dirty="0"/>
          </a:p>
          <a:p>
            <a:pPr marL="342900" indent="-342900">
              <a:spcAft>
                <a:spcPts val="500"/>
              </a:spcAft>
              <a:buSzPct val="100000"/>
              <a:buChar char="•"/>
            </a:pPr>
            <a:r>
              <a:rPr lang="en-US" sz="950" dirty="0">
                <a:solidFill>
                  <a:srgbClr val="1C2A3A"/>
                </a:solidFill>
                <a:latin typeface="Arial" pitchFamily="34" charset="0"/>
                <a:ea typeface="Arial" pitchFamily="34" charset="-122"/>
                <a:cs typeface="Arial" pitchFamily="34" charset="-120"/>
              </a:rPr>
              <a:t>What did not work is documented too — every claim is checkable on the live URL</a:t>
            </a:r>
            <a:endParaRPr lang="en-US" sz="950" dirty="0"/>
          </a:p>
        </p:txBody>
      </p:sp>
      <p:sp>
        <p:nvSpPr>
          <p:cNvPr id="16" name="Text 14"/>
          <p:cNvSpPr/>
          <p:nvPr/>
        </p:nvSpPr>
        <p:spPr>
          <a:xfrm>
            <a:off x="384048" y="3675888"/>
            <a:ext cx="8375904" cy="219456"/>
          </a:xfrm>
          <a:prstGeom prst="rect">
            <a:avLst/>
          </a:prstGeom>
          <a:noFill/>
          <a:ln/>
        </p:spPr>
        <p:txBody>
          <a:bodyPr wrap="square" lIns="0" tIns="0" rIns="0" bIns="0" rtlCol="0" anchor="ctr"/>
          <a:lstStyle/>
          <a:p>
            <a:pPr indent="0" marL="0">
              <a:buNone/>
            </a:pPr>
            <a:r>
              <a:rPr lang="en-US" sz="1150" b="1" dirty="0">
                <a:solidFill>
                  <a:srgbClr val="0F2F44"/>
                </a:solidFill>
                <a:latin typeface="Arial" pitchFamily="34" charset="0"/>
                <a:ea typeface="Arial" pitchFamily="34" charset="-122"/>
                <a:cs typeface="Arial" pitchFamily="34" charset="-120"/>
              </a:rPr>
              <a:t>Where a conventional crime dashboard stops — and KADI starts</a:t>
            </a:r>
            <a:endParaRPr lang="en-US" sz="1150" dirty="0"/>
          </a:p>
        </p:txBody>
      </p:sp>
      <p:sp>
        <p:nvSpPr>
          <p:cNvPr id="17" name="Shape 15"/>
          <p:cNvSpPr/>
          <p:nvPr/>
        </p:nvSpPr>
        <p:spPr>
          <a:xfrm>
            <a:off x="384048" y="3931920"/>
            <a:ext cx="2011680" cy="896112"/>
          </a:xfrm>
          <a:prstGeom prst="roundRect">
            <a:avLst>
              <a:gd name="adj" fmla="val 6122"/>
            </a:avLst>
          </a:prstGeom>
          <a:solidFill>
            <a:srgbClr val="FFFFFF"/>
          </a:solidFill>
          <a:ln w="9525">
            <a:solidFill>
              <a:srgbClr val="D9E1EC"/>
            </a:solidFill>
            <a:prstDash val="solid"/>
          </a:ln>
        </p:spPr>
      </p:sp>
      <p:sp>
        <p:nvSpPr>
          <p:cNvPr id="18" name="Text 16"/>
          <p:cNvSpPr/>
          <p:nvPr/>
        </p:nvSpPr>
        <p:spPr>
          <a:xfrm>
            <a:off x="493776" y="3986784"/>
            <a:ext cx="1792224"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Counts by district</a:t>
            </a:r>
            <a:endParaRPr lang="en-US" sz="850" dirty="0"/>
          </a:p>
        </p:txBody>
      </p:sp>
      <p:sp>
        <p:nvSpPr>
          <p:cNvPr id="19" name="Shape 17"/>
          <p:cNvSpPr/>
          <p:nvPr/>
        </p:nvSpPr>
        <p:spPr>
          <a:xfrm>
            <a:off x="493776" y="4261104"/>
            <a:ext cx="1792224" cy="0"/>
          </a:xfrm>
          <a:prstGeom prst="line">
            <a:avLst/>
          </a:prstGeom>
          <a:noFill/>
          <a:ln w="9525">
            <a:solidFill>
              <a:srgbClr val="D9E1EC"/>
            </a:solidFill>
            <a:prstDash val="solid"/>
          </a:ln>
        </p:spPr>
      </p:sp>
      <p:sp>
        <p:nvSpPr>
          <p:cNvPr id="20" name="Text 18"/>
          <p:cNvSpPr/>
          <p:nvPr/>
        </p:nvSpPr>
        <p:spPr>
          <a:xfrm>
            <a:off x="493776" y="4297680"/>
            <a:ext cx="1792224" cy="475488"/>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Rates per 100,000, with p-values</a:t>
            </a:r>
            <a:endParaRPr lang="en-US" sz="950" dirty="0"/>
          </a:p>
        </p:txBody>
      </p:sp>
      <p:sp>
        <p:nvSpPr>
          <p:cNvPr id="21" name="Shape 19"/>
          <p:cNvSpPr/>
          <p:nvPr/>
        </p:nvSpPr>
        <p:spPr>
          <a:xfrm>
            <a:off x="2505456" y="3931920"/>
            <a:ext cx="2011680" cy="896112"/>
          </a:xfrm>
          <a:prstGeom prst="roundRect">
            <a:avLst>
              <a:gd name="adj" fmla="val 6122"/>
            </a:avLst>
          </a:prstGeom>
          <a:solidFill>
            <a:srgbClr val="FFFFFF"/>
          </a:solidFill>
          <a:ln w="9525">
            <a:solidFill>
              <a:srgbClr val="D9E1EC"/>
            </a:solidFill>
            <a:prstDash val="solid"/>
          </a:ln>
        </p:spPr>
      </p:sp>
      <p:sp>
        <p:nvSpPr>
          <p:cNvPr id="22" name="Text 20"/>
          <p:cNvSpPr/>
          <p:nvPr/>
        </p:nvSpPr>
        <p:spPr>
          <a:xfrm>
            <a:off x="2615184" y="3986784"/>
            <a:ext cx="1792224"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A hunch that two cases relate</a:t>
            </a:r>
            <a:endParaRPr lang="en-US" sz="850" dirty="0"/>
          </a:p>
        </p:txBody>
      </p:sp>
      <p:sp>
        <p:nvSpPr>
          <p:cNvPr id="23" name="Shape 21"/>
          <p:cNvSpPr/>
          <p:nvPr/>
        </p:nvSpPr>
        <p:spPr>
          <a:xfrm>
            <a:off x="2615184" y="4261104"/>
            <a:ext cx="1792224" cy="0"/>
          </a:xfrm>
          <a:prstGeom prst="line">
            <a:avLst/>
          </a:prstGeom>
          <a:noFill/>
          <a:ln w="9525">
            <a:solidFill>
              <a:srgbClr val="D9E1EC"/>
            </a:solidFill>
            <a:prstDash val="solid"/>
          </a:ln>
        </p:spPr>
      </p:sp>
      <p:sp>
        <p:nvSpPr>
          <p:cNvPr id="24" name="Text 22"/>
          <p:cNvSpPr/>
          <p:nvPr/>
        </p:nvSpPr>
        <p:spPr>
          <a:xfrm>
            <a:off x="2615184" y="4297680"/>
            <a:ext cx="1792224" cy="475488"/>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A typed edge naming the matching attribute</a:t>
            </a:r>
            <a:endParaRPr lang="en-US" sz="950" dirty="0"/>
          </a:p>
        </p:txBody>
      </p:sp>
      <p:sp>
        <p:nvSpPr>
          <p:cNvPr id="25" name="Shape 23"/>
          <p:cNvSpPr/>
          <p:nvPr/>
        </p:nvSpPr>
        <p:spPr>
          <a:xfrm>
            <a:off x="4626864" y="3931920"/>
            <a:ext cx="2011680" cy="896112"/>
          </a:xfrm>
          <a:prstGeom prst="roundRect">
            <a:avLst>
              <a:gd name="adj" fmla="val 6122"/>
            </a:avLst>
          </a:prstGeom>
          <a:solidFill>
            <a:srgbClr val="FFFFFF"/>
          </a:solidFill>
          <a:ln w="9525">
            <a:solidFill>
              <a:srgbClr val="D9E1EC"/>
            </a:solidFill>
            <a:prstDash val="solid"/>
          </a:ln>
        </p:spPr>
      </p:sp>
      <p:sp>
        <p:nvSpPr>
          <p:cNvPr id="26" name="Text 24"/>
          <p:cNvSpPr/>
          <p:nvPr/>
        </p:nvSpPr>
        <p:spPr>
          <a:xfrm>
            <a:off x="4736592" y="3986784"/>
            <a:ext cx="1792224"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A monthly Excel extract</a:t>
            </a:r>
            <a:endParaRPr lang="en-US" sz="850" dirty="0"/>
          </a:p>
        </p:txBody>
      </p:sp>
      <p:sp>
        <p:nvSpPr>
          <p:cNvPr id="27" name="Shape 25"/>
          <p:cNvSpPr/>
          <p:nvPr/>
        </p:nvSpPr>
        <p:spPr>
          <a:xfrm>
            <a:off x="4736592" y="4261104"/>
            <a:ext cx="1792224" cy="0"/>
          </a:xfrm>
          <a:prstGeom prst="line">
            <a:avLst/>
          </a:prstGeom>
          <a:noFill/>
          <a:ln w="9525">
            <a:solidFill>
              <a:srgbClr val="D9E1EC"/>
            </a:solidFill>
            <a:prstDash val="solid"/>
          </a:ln>
        </p:spPr>
      </p:sp>
      <p:sp>
        <p:nvSpPr>
          <p:cNvPr id="28" name="Text 26"/>
          <p:cNvSpPr/>
          <p:nvPr/>
        </p:nvSpPr>
        <p:spPr>
          <a:xfrm>
            <a:off x="4736592" y="4297680"/>
            <a:ext cx="1792224" cy="475488"/>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A nightly, auditable rebuild</a:t>
            </a:r>
            <a:endParaRPr lang="en-US" sz="950" dirty="0"/>
          </a:p>
        </p:txBody>
      </p:sp>
      <p:sp>
        <p:nvSpPr>
          <p:cNvPr id="29" name="Shape 27"/>
          <p:cNvSpPr/>
          <p:nvPr/>
        </p:nvSpPr>
        <p:spPr>
          <a:xfrm>
            <a:off x="6748272" y="3931920"/>
            <a:ext cx="2011680" cy="896112"/>
          </a:xfrm>
          <a:prstGeom prst="roundRect">
            <a:avLst>
              <a:gd name="adj" fmla="val 6122"/>
            </a:avLst>
          </a:prstGeom>
          <a:solidFill>
            <a:srgbClr val="FFFFFF"/>
          </a:solidFill>
          <a:ln w="9525">
            <a:solidFill>
              <a:srgbClr val="D9E1EC"/>
            </a:solidFill>
            <a:prstDash val="solid"/>
          </a:ln>
        </p:spPr>
      </p:sp>
      <p:sp>
        <p:nvSpPr>
          <p:cNvPr id="30" name="Text 28"/>
          <p:cNvSpPr/>
          <p:nvPr/>
        </p:nvSpPr>
        <p:spPr>
          <a:xfrm>
            <a:off x="6858000" y="3986784"/>
            <a:ext cx="1792224"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"Trust the risk score"</a:t>
            </a:r>
            <a:endParaRPr lang="en-US" sz="850" dirty="0"/>
          </a:p>
        </p:txBody>
      </p:sp>
      <p:sp>
        <p:nvSpPr>
          <p:cNvPr id="31" name="Shape 29"/>
          <p:cNvSpPr/>
          <p:nvPr/>
        </p:nvSpPr>
        <p:spPr>
          <a:xfrm>
            <a:off x="6858000" y="4261104"/>
            <a:ext cx="1792224" cy="0"/>
          </a:xfrm>
          <a:prstGeom prst="line">
            <a:avLst/>
          </a:prstGeom>
          <a:noFill/>
          <a:ln w="9525">
            <a:solidFill>
              <a:srgbClr val="D9E1EC"/>
            </a:solidFill>
            <a:prstDash val="solid"/>
          </a:ln>
        </p:spPr>
      </p:sp>
      <p:sp>
        <p:nvSpPr>
          <p:cNvPr id="32" name="Text 30"/>
          <p:cNvSpPr/>
          <p:nvPr/>
        </p:nvSpPr>
        <p:spPr>
          <a:xfrm>
            <a:off x="6858000" y="4297680"/>
            <a:ext cx="1792224" cy="475488"/>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Read the factor breakdown behind 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List of features offered by the solution</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Nine capabilities, all live in the deployed build</a:t>
            </a:r>
            <a:endParaRPr lang="en-US" sz="1200" dirty="0"/>
          </a:p>
        </p:txBody>
      </p:sp>
      <p:sp>
        <p:nvSpPr>
          <p:cNvPr id="4" name="Shape 2"/>
          <p:cNvSpPr/>
          <p:nvPr/>
        </p:nvSpPr>
        <p:spPr>
          <a:xfrm>
            <a:off x="384048" y="1371600"/>
            <a:ext cx="2670048" cy="987552"/>
          </a:xfrm>
          <a:prstGeom prst="roundRect">
            <a:avLst>
              <a:gd name="adj" fmla="val 5556"/>
            </a:avLst>
          </a:prstGeom>
          <a:solidFill>
            <a:srgbClr val="FFFFFF"/>
          </a:solidFill>
          <a:ln w="9525">
            <a:solidFill>
              <a:srgbClr val="D9E1EC"/>
            </a:solidFill>
            <a:prstDash val="solid"/>
          </a:ln>
        </p:spPr>
      </p:sp>
      <p:sp>
        <p:nvSpPr>
          <p:cNvPr id="5" name="Shape 3"/>
          <p:cNvSpPr/>
          <p:nvPr/>
        </p:nvSpPr>
        <p:spPr>
          <a:xfrm>
            <a:off x="384048" y="1371600"/>
            <a:ext cx="2670048" cy="329184"/>
          </a:xfrm>
          <a:prstGeom prst="roundRect">
            <a:avLst>
              <a:gd name="adj" fmla="val 16667"/>
            </a:avLst>
          </a:prstGeom>
          <a:solidFill>
            <a:srgbClr val="1A6FC4"/>
          </a:solidFill>
          <a:ln w="12700">
            <a:solidFill>
              <a:srgbClr val="1A6FC4"/>
            </a:solidFill>
            <a:prstDash val="solid"/>
          </a:ln>
        </p:spPr>
      </p:sp>
      <p:sp>
        <p:nvSpPr>
          <p:cNvPr id="6" name="Text 4"/>
          <p:cNvSpPr/>
          <p:nvPr/>
        </p:nvSpPr>
        <p:spPr>
          <a:xfrm>
            <a:off x="512064" y="1371600"/>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Case-Linkage Graph</a:t>
            </a:r>
            <a:endParaRPr lang="en-US" sz="1050" dirty="0"/>
          </a:p>
        </p:txBody>
      </p:sp>
      <p:sp>
        <p:nvSpPr>
          <p:cNvPr id="7" name="Text 5"/>
          <p:cNvSpPr/>
          <p:nvPr/>
        </p:nvSpPr>
        <p:spPr>
          <a:xfrm>
            <a:off x="521208" y="1773936"/>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Ego-network per FIR across six typed link kinds, with a click-through evidence trail on every edge.</a:t>
            </a:r>
            <a:endParaRPr lang="en-US" sz="900" dirty="0"/>
          </a:p>
        </p:txBody>
      </p:sp>
      <p:sp>
        <p:nvSpPr>
          <p:cNvPr id="8" name="Shape 6"/>
          <p:cNvSpPr/>
          <p:nvPr/>
        </p:nvSpPr>
        <p:spPr>
          <a:xfrm>
            <a:off x="3218688" y="1371600"/>
            <a:ext cx="2670048" cy="987552"/>
          </a:xfrm>
          <a:prstGeom prst="roundRect">
            <a:avLst>
              <a:gd name="adj" fmla="val 5556"/>
            </a:avLst>
          </a:prstGeom>
          <a:solidFill>
            <a:srgbClr val="FFFFFF"/>
          </a:solidFill>
          <a:ln w="9525">
            <a:solidFill>
              <a:srgbClr val="D9E1EC"/>
            </a:solidFill>
            <a:prstDash val="solid"/>
          </a:ln>
        </p:spPr>
      </p:sp>
      <p:sp>
        <p:nvSpPr>
          <p:cNvPr id="9" name="Shape 7"/>
          <p:cNvSpPr/>
          <p:nvPr/>
        </p:nvSpPr>
        <p:spPr>
          <a:xfrm>
            <a:off x="3218688" y="1371600"/>
            <a:ext cx="2670048" cy="329184"/>
          </a:xfrm>
          <a:prstGeom prst="roundRect">
            <a:avLst>
              <a:gd name="adj" fmla="val 16667"/>
            </a:avLst>
          </a:prstGeom>
          <a:solidFill>
            <a:srgbClr val="2FA8A0"/>
          </a:solidFill>
          <a:ln w="12700">
            <a:solidFill>
              <a:srgbClr val="2FA8A0"/>
            </a:solidFill>
            <a:prstDash val="solid"/>
          </a:ln>
        </p:spPr>
      </p:sp>
      <p:sp>
        <p:nvSpPr>
          <p:cNvPr id="10" name="Text 8"/>
          <p:cNvSpPr/>
          <p:nvPr/>
        </p:nvSpPr>
        <p:spPr>
          <a:xfrm>
            <a:off x="3346704" y="1371600"/>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Entity Resolution</a:t>
            </a:r>
            <a:endParaRPr lang="en-US" sz="1050" dirty="0"/>
          </a:p>
        </p:txBody>
      </p:sp>
      <p:sp>
        <p:nvSpPr>
          <p:cNvPr id="11" name="Text 9"/>
          <p:cNvSpPr/>
          <p:nvPr/>
        </p:nvSpPr>
        <p:spPr>
          <a:xfrm>
            <a:off x="3355848" y="1773936"/>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Rarity-aware fuzzy matching folds 36,890 accused records into 300 real people.</a:t>
            </a:r>
            <a:endParaRPr lang="en-US" sz="900" dirty="0"/>
          </a:p>
        </p:txBody>
      </p:sp>
      <p:sp>
        <p:nvSpPr>
          <p:cNvPr id="12" name="Shape 10"/>
          <p:cNvSpPr/>
          <p:nvPr/>
        </p:nvSpPr>
        <p:spPr>
          <a:xfrm>
            <a:off x="6053328" y="1371600"/>
            <a:ext cx="2670048" cy="987552"/>
          </a:xfrm>
          <a:prstGeom prst="roundRect">
            <a:avLst>
              <a:gd name="adj" fmla="val 5556"/>
            </a:avLst>
          </a:prstGeom>
          <a:solidFill>
            <a:srgbClr val="FFFFFF"/>
          </a:solidFill>
          <a:ln w="9525">
            <a:solidFill>
              <a:srgbClr val="D9E1EC"/>
            </a:solidFill>
            <a:prstDash val="solid"/>
          </a:ln>
        </p:spPr>
      </p:sp>
      <p:sp>
        <p:nvSpPr>
          <p:cNvPr id="13" name="Shape 11"/>
          <p:cNvSpPr/>
          <p:nvPr/>
        </p:nvSpPr>
        <p:spPr>
          <a:xfrm>
            <a:off x="6053328" y="1371600"/>
            <a:ext cx="2670048" cy="329184"/>
          </a:xfrm>
          <a:prstGeom prst="roundRect">
            <a:avLst>
              <a:gd name="adj" fmla="val 16667"/>
            </a:avLst>
          </a:prstGeom>
          <a:solidFill>
            <a:srgbClr val="E8871E"/>
          </a:solidFill>
          <a:ln w="12700">
            <a:solidFill>
              <a:srgbClr val="E8871E"/>
            </a:solidFill>
            <a:prstDash val="solid"/>
          </a:ln>
        </p:spPr>
      </p:sp>
      <p:sp>
        <p:nvSpPr>
          <p:cNvPr id="14" name="Text 12"/>
          <p:cNvSpPr/>
          <p:nvPr/>
        </p:nvSpPr>
        <p:spPr>
          <a:xfrm>
            <a:off x="6181344" y="1371600"/>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Offender Risk</a:t>
            </a:r>
            <a:endParaRPr lang="en-US" sz="1050" dirty="0"/>
          </a:p>
        </p:txBody>
      </p:sp>
      <p:sp>
        <p:nvSpPr>
          <p:cNvPr id="15" name="Text 13"/>
          <p:cNvSpPr/>
          <p:nvPr/>
        </p:nvSpPr>
        <p:spPr>
          <a:xfrm>
            <a:off x="6190488" y="1773936"/>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Glass-box score with a full factor breakdown; protected attributes excluded by construction.</a:t>
            </a:r>
            <a:endParaRPr lang="en-US" sz="900" dirty="0"/>
          </a:p>
        </p:txBody>
      </p:sp>
      <p:sp>
        <p:nvSpPr>
          <p:cNvPr id="16" name="Shape 14"/>
          <p:cNvSpPr/>
          <p:nvPr/>
        </p:nvSpPr>
        <p:spPr>
          <a:xfrm>
            <a:off x="384048" y="2450592"/>
            <a:ext cx="2670048" cy="987552"/>
          </a:xfrm>
          <a:prstGeom prst="roundRect">
            <a:avLst>
              <a:gd name="adj" fmla="val 5556"/>
            </a:avLst>
          </a:prstGeom>
          <a:solidFill>
            <a:srgbClr val="FFFFFF"/>
          </a:solidFill>
          <a:ln w="9525">
            <a:solidFill>
              <a:srgbClr val="D9E1EC"/>
            </a:solidFill>
            <a:prstDash val="solid"/>
          </a:ln>
        </p:spPr>
      </p:sp>
      <p:sp>
        <p:nvSpPr>
          <p:cNvPr id="17" name="Shape 15"/>
          <p:cNvSpPr/>
          <p:nvPr/>
        </p:nvSpPr>
        <p:spPr>
          <a:xfrm>
            <a:off x="384048" y="2450592"/>
            <a:ext cx="2670048" cy="329184"/>
          </a:xfrm>
          <a:prstGeom prst="roundRect">
            <a:avLst>
              <a:gd name="adj" fmla="val 16667"/>
            </a:avLst>
          </a:prstGeom>
          <a:solidFill>
            <a:srgbClr val="C0392B"/>
          </a:solidFill>
          <a:ln w="12700">
            <a:solidFill>
              <a:srgbClr val="C0392B"/>
            </a:solidFill>
            <a:prstDash val="solid"/>
          </a:ln>
        </p:spPr>
      </p:sp>
      <p:sp>
        <p:nvSpPr>
          <p:cNvPr id="18" name="Text 16"/>
          <p:cNvSpPr/>
          <p:nvPr/>
        </p:nvSpPr>
        <p:spPr>
          <a:xfrm>
            <a:off x="512064" y="2450592"/>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Investigation Health</a:t>
            </a:r>
            <a:endParaRPr lang="en-US" sz="1050" dirty="0"/>
          </a:p>
        </p:txBody>
      </p:sp>
      <p:sp>
        <p:nvSpPr>
          <p:cNvPr id="19" name="Text 17"/>
          <p:cNvSpPr/>
          <p:nvPr/>
        </p:nvSpPr>
        <p:spPr>
          <a:xfrm>
            <a:off x="521208" y="2852928"/>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Flags ageing, pendency, undetected-risk and false-case patterns against peer medians.</a:t>
            </a:r>
            <a:endParaRPr lang="en-US" sz="900" dirty="0"/>
          </a:p>
        </p:txBody>
      </p:sp>
      <p:sp>
        <p:nvSpPr>
          <p:cNvPr id="20" name="Shape 18"/>
          <p:cNvSpPr/>
          <p:nvPr/>
        </p:nvSpPr>
        <p:spPr>
          <a:xfrm>
            <a:off x="3218688" y="2450592"/>
            <a:ext cx="2670048" cy="987552"/>
          </a:xfrm>
          <a:prstGeom prst="roundRect">
            <a:avLst>
              <a:gd name="adj" fmla="val 5556"/>
            </a:avLst>
          </a:prstGeom>
          <a:solidFill>
            <a:srgbClr val="FFFFFF"/>
          </a:solidFill>
          <a:ln w="9525">
            <a:solidFill>
              <a:srgbClr val="D9E1EC"/>
            </a:solidFill>
            <a:prstDash val="solid"/>
          </a:ln>
        </p:spPr>
      </p:sp>
      <p:sp>
        <p:nvSpPr>
          <p:cNvPr id="21" name="Shape 19"/>
          <p:cNvSpPr/>
          <p:nvPr/>
        </p:nvSpPr>
        <p:spPr>
          <a:xfrm>
            <a:off x="3218688" y="2450592"/>
            <a:ext cx="2670048" cy="329184"/>
          </a:xfrm>
          <a:prstGeom prst="roundRect">
            <a:avLst>
              <a:gd name="adj" fmla="val 16667"/>
            </a:avLst>
          </a:prstGeom>
          <a:solidFill>
            <a:srgbClr val="0F2F44"/>
          </a:solidFill>
          <a:ln w="12700">
            <a:solidFill>
              <a:srgbClr val="0F2F44"/>
            </a:solidFill>
            <a:prstDash val="solid"/>
          </a:ln>
        </p:spPr>
      </p:sp>
      <p:sp>
        <p:nvSpPr>
          <p:cNvPr id="22" name="Text 20"/>
          <p:cNvSpPr/>
          <p:nvPr/>
        </p:nvSpPr>
        <p:spPr>
          <a:xfrm>
            <a:off x="3346704" y="2450592"/>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Spatiotemporal Map</a:t>
            </a:r>
            <a:endParaRPr lang="en-US" sz="1050" dirty="0"/>
          </a:p>
        </p:txBody>
      </p:sp>
      <p:sp>
        <p:nvSpPr>
          <p:cNvPr id="23" name="Text 21"/>
          <p:cNvSpPr/>
          <p:nvPr/>
        </p:nvSpPr>
        <p:spPr>
          <a:xfrm>
            <a:off x="3355848" y="2852928"/>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Satellite basemap, district choropleth, DBSCAN hotspots, hour x weekday layering.</a:t>
            </a:r>
            <a:endParaRPr lang="en-US" sz="900" dirty="0"/>
          </a:p>
        </p:txBody>
      </p:sp>
      <p:sp>
        <p:nvSpPr>
          <p:cNvPr id="24" name="Shape 22"/>
          <p:cNvSpPr/>
          <p:nvPr/>
        </p:nvSpPr>
        <p:spPr>
          <a:xfrm>
            <a:off x="6053328" y="2450592"/>
            <a:ext cx="2670048" cy="987552"/>
          </a:xfrm>
          <a:prstGeom prst="roundRect">
            <a:avLst>
              <a:gd name="adj" fmla="val 5556"/>
            </a:avLst>
          </a:prstGeom>
          <a:solidFill>
            <a:srgbClr val="FFFFFF"/>
          </a:solidFill>
          <a:ln w="9525">
            <a:solidFill>
              <a:srgbClr val="D9E1EC"/>
            </a:solidFill>
            <a:prstDash val="solid"/>
          </a:ln>
        </p:spPr>
      </p:sp>
      <p:sp>
        <p:nvSpPr>
          <p:cNvPr id="25" name="Shape 23"/>
          <p:cNvSpPr/>
          <p:nvPr/>
        </p:nvSpPr>
        <p:spPr>
          <a:xfrm>
            <a:off x="6053328" y="2450592"/>
            <a:ext cx="2670048" cy="329184"/>
          </a:xfrm>
          <a:prstGeom prst="roundRect">
            <a:avLst>
              <a:gd name="adj" fmla="val 16667"/>
            </a:avLst>
          </a:prstGeom>
          <a:solidFill>
            <a:srgbClr val="1A6FC4"/>
          </a:solidFill>
          <a:ln w="12700">
            <a:solidFill>
              <a:srgbClr val="1A6FC4"/>
            </a:solidFill>
            <a:prstDash val="solid"/>
          </a:ln>
        </p:spPr>
      </p:sp>
      <p:sp>
        <p:nvSpPr>
          <p:cNvPr id="26" name="Text 24"/>
          <p:cNvSpPr/>
          <p:nvPr/>
        </p:nvSpPr>
        <p:spPr>
          <a:xfrm>
            <a:off x="6181344" y="2450592"/>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Socio-economic Analytics</a:t>
            </a:r>
            <a:endParaRPr lang="en-US" sz="1050" dirty="0"/>
          </a:p>
        </p:txBody>
      </p:sp>
      <p:sp>
        <p:nvSpPr>
          <p:cNvPr id="27" name="Text 25"/>
          <p:cNvSpPr/>
          <p:nvPr/>
        </p:nvSpPr>
        <p:spPr>
          <a:xfrm>
            <a:off x="6190488" y="2852928"/>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Per-capita rates correlated with urbanisation, literacy and density, with p-values.</a:t>
            </a:r>
            <a:endParaRPr lang="en-US" sz="900" dirty="0"/>
          </a:p>
        </p:txBody>
      </p:sp>
      <p:sp>
        <p:nvSpPr>
          <p:cNvPr id="28" name="Shape 26"/>
          <p:cNvSpPr/>
          <p:nvPr/>
        </p:nvSpPr>
        <p:spPr>
          <a:xfrm>
            <a:off x="384048" y="3529584"/>
            <a:ext cx="2670048" cy="987552"/>
          </a:xfrm>
          <a:prstGeom prst="roundRect">
            <a:avLst>
              <a:gd name="adj" fmla="val 5556"/>
            </a:avLst>
          </a:prstGeom>
          <a:solidFill>
            <a:srgbClr val="FFFFFF"/>
          </a:solidFill>
          <a:ln w="9525">
            <a:solidFill>
              <a:srgbClr val="D9E1EC"/>
            </a:solidFill>
            <a:prstDash val="solid"/>
          </a:ln>
        </p:spPr>
      </p:sp>
      <p:sp>
        <p:nvSpPr>
          <p:cNvPr id="29" name="Shape 27"/>
          <p:cNvSpPr/>
          <p:nvPr/>
        </p:nvSpPr>
        <p:spPr>
          <a:xfrm>
            <a:off x="384048" y="3529584"/>
            <a:ext cx="2670048" cy="329184"/>
          </a:xfrm>
          <a:prstGeom prst="roundRect">
            <a:avLst>
              <a:gd name="adj" fmla="val 16667"/>
            </a:avLst>
          </a:prstGeom>
          <a:solidFill>
            <a:srgbClr val="2FA8A0"/>
          </a:solidFill>
          <a:ln w="12700">
            <a:solidFill>
              <a:srgbClr val="2FA8A0"/>
            </a:solidFill>
            <a:prstDash val="solid"/>
          </a:ln>
        </p:spPr>
      </p:sp>
      <p:sp>
        <p:nvSpPr>
          <p:cNvPr id="30" name="Text 28"/>
          <p:cNvSpPr/>
          <p:nvPr/>
        </p:nvSpPr>
        <p:spPr>
          <a:xfrm>
            <a:off x="512064" y="3529584"/>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Crime Forecasting</a:t>
            </a:r>
            <a:endParaRPr lang="en-US" sz="1050" dirty="0"/>
          </a:p>
        </p:txBody>
      </p:sp>
      <p:sp>
        <p:nvSpPr>
          <p:cNvPr id="31" name="Text 29"/>
          <p:cNvSpPr/>
          <p:nvPr/>
        </p:nvSpPr>
        <p:spPr>
          <a:xfrm>
            <a:off x="521208" y="3931920"/>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Three-month district projections with a 95% interval and a measured backtest.</a:t>
            </a:r>
            <a:endParaRPr lang="en-US" sz="900" dirty="0"/>
          </a:p>
        </p:txBody>
      </p:sp>
      <p:sp>
        <p:nvSpPr>
          <p:cNvPr id="32" name="Shape 30"/>
          <p:cNvSpPr/>
          <p:nvPr/>
        </p:nvSpPr>
        <p:spPr>
          <a:xfrm>
            <a:off x="3218688" y="3529584"/>
            <a:ext cx="2670048" cy="987552"/>
          </a:xfrm>
          <a:prstGeom prst="roundRect">
            <a:avLst>
              <a:gd name="adj" fmla="val 5556"/>
            </a:avLst>
          </a:prstGeom>
          <a:solidFill>
            <a:srgbClr val="FFFFFF"/>
          </a:solidFill>
          <a:ln w="9525">
            <a:solidFill>
              <a:srgbClr val="D9E1EC"/>
            </a:solidFill>
            <a:prstDash val="solid"/>
          </a:ln>
        </p:spPr>
      </p:sp>
      <p:sp>
        <p:nvSpPr>
          <p:cNvPr id="33" name="Shape 31"/>
          <p:cNvSpPr/>
          <p:nvPr/>
        </p:nvSpPr>
        <p:spPr>
          <a:xfrm>
            <a:off x="3218688" y="3529584"/>
            <a:ext cx="2670048" cy="329184"/>
          </a:xfrm>
          <a:prstGeom prst="roundRect">
            <a:avLst>
              <a:gd name="adj" fmla="val 16667"/>
            </a:avLst>
          </a:prstGeom>
          <a:solidFill>
            <a:srgbClr val="E8871E"/>
          </a:solidFill>
          <a:ln w="12700">
            <a:solidFill>
              <a:srgbClr val="E8871E"/>
            </a:solidFill>
            <a:prstDash val="solid"/>
          </a:ln>
        </p:spPr>
      </p:sp>
      <p:sp>
        <p:nvSpPr>
          <p:cNvPr id="34" name="Text 32"/>
          <p:cNvSpPr/>
          <p:nvPr/>
        </p:nvSpPr>
        <p:spPr>
          <a:xfrm>
            <a:off x="3346704" y="3529584"/>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Bilingual Assistant</a:t>
            </a:r>
            <a:endParaRPr lang="en-US" sz="1050" dirty="0"/>
          </a:p>
        </p:txBody>
      </p:sp>
      <p:sp>
        <p:nvSpPr>
          <p:cNvPr id="35" name="Text 33"/>
          <p:cNvSpPr/>
          <p:nvPr/>
        </p:nvSpPr>
        <p:spPr>
          <a:xfrm>
            <a:off x="3355848" y="3931920"/>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Grounded EN / ಕನ್ನಡ Q&amp;A over the records, by text or voice; always cites FIRs.</a:t>
            </a:r>
            <a:endParaRPr lang="en-US" sz="900" dirty="0"/>
          </a:p>
        </p:txBody>
      </p:sp>
      <p:sp>
        <p:nvSpPr>
          <p:cNvPr id="36" name="Shape 34"/>
          <p:cNvSpPr/>
          <p:nvPr/>
        </p:nvSpPr>
        <p:spPr>
          <a:xfrm>
            <a:off x="6053328" y="3529584"/>
            <a:ext cx="2670048" cy="987552"/>
          </a:xfrm>
          <a:prstGeom prst="roundRect">
            <a:avLst>
              <a:gd name="adj" fmla="val 5556"/>
            </a:avLst>
          </a:prstGeom>
          <a:solidFill>
            <a:srgbClr val="FFFFFF"/>
          </a:solidFill>
          <a:ln w="9525">
            <a:solidFill>
              <a:srgbClr val="D9E1EC"/>
            </a:solidFill>
            <a:prstDash val="solid"/>
          </a:ln>
        </p:spPr>
      </p:sp>
      <p:sp>
        <p:nvSpPr>
          <p:cNvPr id="37" name="Shape 35"/>
          <p:cNvSpPr/>
          <p:nvPr/>
        </p:nvSpPr>
        <p:spPr>
          <a:xfrm>
            <a:off x="6053328" y="3529584"/>
            <a:ext cx="2670048" cy="329184"/>
          </a:xfrm>
          <a:prstGeom prst="roundRect">
            <a:avLst>
              <a:gd name="adj" fmla="val 16667"/>
            </a:avLst>
          </a:prstGeom>
          <a:solidFill>
            <a:srgbClr val="C0392B"/>
          </a:solidFill>
          <a:ln w="12700">
            <a:solidFill>
              <a:srgbClr val="C0392B"/>
            </a:solidFill>
            <a:prstDash val="solid"/>
          </a:ln>
        </p:spPr>
      </p:sp>
      <p:sp>
        <p:nvSpPr>
          <p:cNvPr id="38" name="Text 36"/>
          <p:cNvSpPr/>
          <p:nvPr/>
        </p:nvSpPr>
        <p:spPr>
          <a:xfrm>
            <a:off x="6181344" y="3529584"/>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Fairness &amp; Audit</a:t>
            </a:r>
            <a:endParaRPr lang="en-US" sz="1050" dirty="0"/>
          </a:p>
        </p:txBody>
      </p:sp>
      <p:sp>
        <p:nvSpPr>
          <p:cNvPr id="39" name="Text 37"/>
          <p:cNvSpPr/>
          <p:nvPr/>
        </p:nvSpPr>
        <p:spPr>
          <a:xfrm>
            <a:off x="6190488" y="3931920"/>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Caste, religion and occupation excluded — asserted in tests; sensitive reads audited.</a:t>
            </a:r>
            <a:endParaRPr lang="en-US" sz="900" dirty="0"/>
          </a:p>
        </p:txBody>
      </p:sp>
      <p:sp>
        <p:nvSpPr>
          <p:cNvPr id="40" name="Text 38"/>
          <p:cNvSpPr/>
          <p:nvPr/>
        </p:nvSpPr>
        <p:spPr>
          <a:xfrm>
            <a:off x="384048" y="4572000"/>
            <a:ext cx="8375904" cy="237744"/>
          </a:xfrm>
          <a:prstGeom prst="rect">
            <a:avLst/>
          </a:prstGeom>
          <a:noFill/>
          <a:ln/>
        </p:spPr>
        <p:txBody>
          <a:bodyPr wrap="square" lIns="0" tIns="0" rIns="0" bIns="0" rtlCol="0" anchor="ctr"/>
          <a:lstStyle/>
          <a:p>
            <a:pPr indent="0" marL="0">
              <a:buNone/>
            </a:pPr>
            <a:r>
              <a:rPr lang="en-US" sz="900" i="1" dirty="0">
                <a:solidFill>
                  <a:srgbClr val="5B6B7E"/>
                </a:solidFill>
                <a:latin typeface="Arial" pitchFamily="34" charset="0"/>
                <a:ea typeface="Arial" pitchFamily="34" charset="-122"/>
                <a:cs typeface="Arial" pitchFamily="34" charset="-120"/>
              </a:rPr>
              <a:t>All nine ship in the deployed build — none of them is a mockup or a roadmap item.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Process flow</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From a raw FIR register to an investigator acting on a lead</a:t>
            </a:r>
            <a:endParaRPr lang="en-US" sz="1200" dirty="0"/>
          </a:p>
        </p:txBody>
      </p:sp>
      <p:sp>
        <p:nvSpPr>
          <p:cNvPr id="4" name="Shape 2"/>
          <p:cNvSpPr/>
          <p:nvPr/>
        </p:nvSpPr>
        <p:spPr>
          <a:xfrm>
            <a:off x="384048" y="1371600"/>
            <a:ext cx="1591056" cy="1280160"/>
          </a:xfrm>
          <a:prstGeom prst="roundRect">
            <a:avLst>
              <a:gd name="adj" fmla="val 4286"/>
            </a:avLst>
          </a:prstGeom>
          <a:solidFill>
            <a:srgbClr val="FFFFFF"/>
          </a:solidFill>
          <a:ln w="9525">
            <a:solidFill>
              <a:srgbClr val="D9E1EC"/>
            </a:solidFill>
            <a:prstDash val="solid"/>
          </a:ln>
        </p:spPr>
      </p:sp>
      <p:sp>
        <p:nvSpPr>
          <p:cNvPr id="5" name="Shape 3"/>
          <p:cNvSpPr/>
          <p:nvPr/>
        </p:nvSpPr>
        <p:spPr>
          <a:xfrm>
            <a:off x="384048" y="1371600"/>
            <a:ext cx="1591056" cy="310896"/>
          </a:xfrm>
          <a:prstGeom prst="roundRect">
            <a:avLst>
              <a:gd name="adj" fmla="val 17647"/>
            </a:avLst>
          </a:prstGeom>
          <a:solidFill>
            <a:srgbClr val="1A6FC4"/>
          </a:solidFill>
          <a:ln w="12700">
            <a:solidFill>
              <a:srgbClr val="1A6FC4"/>
            </a:solidFill>
            <a:prstDash val="solid"/>
          </a:ln>
        </p:spPr>
      </p:sp>
      <p:sp>
        <p:nvSpPr>
          <p:cNvPr id="6" name="Text 4"/>
          <p:cNvSpPr/>
          <p:nvPr/>
        </p:nvSpPr>
        <p:spPr>
          <a:xfrm>
            <a:off x="493776" y="1371600"/>
            <a:ext cx="1371600" cy="310896"/>
          </a:xfrm>
          <a:prstGeom prst="rect">
            <a:avLst/>
          </a:prstGeom>
          <a:noFill/>
          <a:ln/>
        </p:spPr>
        <p:txBody>
          <a:bodyPr wrap="square" lIns="0" tIns="0" rIns="0" bIns="0"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STEP 1</a:t>
            </a:r>
            <a:endParaRPr lang="en-US" sz="850" dirty="0"/>
          </a:p>
        </p:txBody>
      </p:sp>
      <p:sp>
        <p:nvSpPr>
          <p:cNvPr id="7" name="Text 5"/>
          <p:cNvSpPr/>
          <p:nvPr/>
        </p:nvSpPr>
        <p:spPr>
          <a:xfrm>
            <a:off x="502920" y="1737360"/>
            <a:ext cx="1353312" cy="274320"/>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FIR intake</a:t>
            </a:r>
            <a:endParaRPr lang="en-US" sz="1100" dirty="0"/>
          </a:p>
        </p:txBody>
      </p:sp>
      <p:sp>
        <p:nvSpPr>
          <p:cNvPr id="8" name="Text 6"/>
          <p:cNvSpPr/>
          <p:nvPr/>
        </p:nvSpPr>
        <p:spPr>
          <a:xfrm>
            <a:off x="502920" y="2029968"/>
            <a:ext cx="1353312" cy="566928"/>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29 KSP tables — FIRs, parties, acts &amp; sections, arrests, chargesheets</a:t>
            </a:r>
            <a:endParaRPr lang="en-US" sz="900" dirty="0"/>
          </a:p>
        </p:txBody>
      </p:sp>
      <p:sp>
        <p:nvSpPr>
          <p:cNvPr id="9" name="Shape 7"/>
          <p:cNvSpPr/>
          <p:nvPr/>
        </p:nvSpPr>
        <p:spPr>
          <a:xfrm>
            <a:off x="1979676" y="1947672"/>
            <a:ext cx="100584" cy="137160"/>
          </a:xfrm>
          <a:prstGeom prst="rightArrow">
            <a:avLst/>
          </a:prstGeom>
          <a:solidFill>
            <a:srgbClr val="B7C6D6"/>
          </a:solidFill>
          <a:ln w="12700">
            <a:solidFill>
              <a:srgbClr val="B7C6D6"/>
            </a:solidFill>
            <a:prstDash val="solid"/>
          </a:ln>
        </p:spPr>
      </p:sp>
      <p:sp>
        <p:nvSpPr>
          <p:cNvPr id="10" name="Shape 8"/>
          <p:cNvSpPr/>
          <p:nvPr/>
        </p:nvSpPr>
        <p:spPr>
          <a:xfrm>
            <a:off x="2080260" y="1371600"/>
            <a:ext cx="1591056" cy="1280160"/>
          </a:xfrm>
          <a:prstGeom prst="roundRect">
            <a:avLst>
              <a:gd name="adj" fmla="val 4286"/>
            </a:avLst>
          </a:prstGeom>
          <a:solidFill>
            <a:srgbClr val="FFFFFF"/>
          </a:solidFill>
          <a:ln w="9525">
            <a:solidFill>
              <a:srgbClr val="D9E1EC"/>
            </a:solidFill>
            <a:prstDash val="solid"/>
          </a:ln>
        </p:spPr>
      </p:sp>
      <p:sp>
        <p:nvSpPr>
          <p:cNvPr id="11" name="Shape 9"/>
          <p:cNvSpPr/>
          <p:nvPr/>
        </p:nvSpPr>
        <p:spPr>
          <a:xfrm>
            <a:off x="2080260" y="1371600"/>
            <a:ext cx="1591056" cy="310896"/>
          </a:xfrm>
          <a:prstGeom prst="roundRect">
            <a:avLst>
              <a:gd name="adj" fmla="val 17647"/>
            </a:avLst>
          </a:prstGeom>
          <a:solidFill>
            <a:srgbClr val="2FA8A0"/>
          </a:solidFill>
          <a:ln w="12700">
            <a:solidFill>
              <a:srgbClr val="2FA8A0"/>
            </a:solidFill>
            <a:prstDash val="solid"/>
          </a:ln>
        </p:spPr>
      </p:sp>
      <p:sp>
        <p:nvSpPr>
          <p:cNvPr id="12" name="Text 10"/>
          <p:cNvSpPr/>
          <p:nvPr/>
        </p:nvSpPr>
        <p:spPr>
          <a:xfrm>
            <a:off x="2189988" y="1371600"/>
            <a:ext cx="1371600" cy="310896"/>
          </a:xfrm>
          <a:prstGeom prst="rect">
            <a:avLst/>
          </a:prstGeom>
          <a:noFill/>
          <a:ln/>
        </p:spPr>
        <p:txBody>
          <a:bodyPr wrap="square" lIns="0" tIns="0" rIns="0" bIns="0"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STEP 2</a:t>
            </a:r>
            <a:endParaRPr lang="en-US" sz="850" dirty="0"/>
          </a:p>
        </p:txBody>
      </p:sp>
      <p:sp>
        <p:nvSpPr>
          <p:cNvPr id="13" name="Text 11"/>
          <p:cNvSpPr/>
          <p:nvPr/>
        </p:nvSpPr>
        <p:spPr>
          <a:xfrm>
            <a:off x="2199132" y="1737360"/>
            <a:ext cx="1353312" cy="274320"/>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Entity resolution</a:t>
            </a:r>
            <a:endParaRPr lang="en-US" sz="1100" dirty="0"/>
          </a:p>
        </p:txBody>
      </p:sp>
      <p:sp>
        <p:nvSpPr>
          <p:cNvPr id="14" name="Text 12"/>
          <p:cNvSpPr/>
          <p:nvPr/>
        </p:nvSpPr>
        <p:spPr>
          <a:xfrm>
            <a:off x="2199132" y="2029968"/>
            <a:ext cx="1353312" cy="566928"/>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Blocking + rarity-aware fuzzy match; 36,890 records to 300 identities</a:t>
            </a:r>
            <a:endParaRPr lang="en-US" sz="900" dirty="0"/>
          </a:p>
        </p:txBody>
      </p:sp>
      <p:sp>
        <p:nvSpPr>
          <p:cNvPr id="15" name="Shape 13"/>
          <p:cNvSpPr/>
          <p:nvPr/>
        </p:nvSpPr>
        <p:spPr>
          <a:xfrm>
            <a:off x="3675888" y="1947672"/>
            <a:ext cx="100584" cy="137160"/>
          </a:xfrm>
          <a:prstGeom prst="rightArrow">
            <a:avLst/>
          </a:prstGeom>
          <a:solidFill>
            <a:srgbClr val="B7C6D6"/>
          </a:solidFill>
          <a:ln w="12700">
            <a:solidFill>
              <a:srgbClr val="B7C6D6"/>
            </a:solidFill>
            <a:prstDash val="solid"/>
          </a:ln>
        </p:spPr>
      </p:sp>
      <p:sp>
        <p:nvSpPr>
          <p:cNvPr id="16" name="Shape 14"/>
          <p:cNvSpPr/>
          <p:nvPr/>
        </p:nvSpPr>
        <p:spPr>
          <a:xfrm>
            <a:off x="3776472" y="1371600"/>
            <a:ext cx="1591056" cy="1280160"/>
          </a:xfrm>
          <a:prstGeom prst="roundRect">
            <a:avLst>
              <a:gd name="adj" fmla="val 4286"/>
            </a:avLst>
          </a:prstGeom>
          <a:solidFill>
            <a:srgbClr val="FFFFFF"/>
          </a:solidFill>
          <a:ln w="9525">
            <a:solidFill>
              <a:srgbClr val="D9E1EC"/>
            </a:solidFill>
            <a:prstDash val="solid"/>
          </a:ln>
        </p:spPr>
      </p:sp>
      <p:sp>
        <p:nvSpPr>
          <p:cNvPr id="17" name="Shape 15"/>
          <p:cNvSpPr/>
          <p:nvPr/>
        </p:nvSpPr>
        <p:spPr>
          <a:xfrm>
            <a:off x="3776472" y="1371600"/>
            <a:ext cx="1591056" cy="310896"/>
          </a:xfrm>
          <a:prstGeom prst="roundRect">
            <a:avLst>
              <a:gd name="adj" fmla="val 17647"/>
            </a:avLst>
          </a:prstGeom>
          <a:solidFill>
            <a:srgbClr val="E8871E"/>
          </a:solidFill>
          <a:ln w="12700">
            <a:solidFill>
              <a:srgbClr val="E8871E"/>
            </a:solidFill>
            <a:prstDash val="solid"/>
          </a:ln>
        </p:spPr>
      </p:sp>
      <p:sp>
        <p:nvSpPr>
          <p:cNvPr id="18" name="Text 16"/>
          <p:cNvSpPr/>
          <p:nvPr/>
        </p:nvSpPr>
        <p:spPr>
          <a:xfrm>
            <a:off x="3886200" y="1371600"/>
            <a:ext cx="1371600" cy="310896"/>
          </a:xfrm>
          <a:prstGeom prst="rect">
            <a:avLst/>
          </a:prstGeom>
          <a:noFill/>
          <a:ln/>
        </p:spPr>
        <p:txBody>
          <a:bodyPr wrap="square" lIns="0" tIns="0" rIns="0" bIns="0"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STEP 3</a:t>
            </a:r>
            <a:endParaRPr lang="en-US" sz="850" dirty="0"/>
          </a:p>
        </p:txBody>
      </p:sp>
      <p:sp>
        <p:nvSpPr>
          <p:cNvPr id="19" name="Text 17"/>
          <p:cNvSpPr/>
          <p:nvPr/>
        </p:nvSpPr>
        <p:spPr>
          <a:xfrm>
            <a:off x="3895344" y="1737360"/>
            <a:ext cx="1353312" cy="274320"/>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Link building</a:t>
            </a:r>
            <a:endParaRPr lang="en-US" sz="1100" dirty="0"/>
          </a:p>
        </p:txBody>
      </p:sp>
      <p:sp>
        <p:nvSpPr>
          <p:cNvPr id="20" name="Text 18"/>
          <p:cNvSpPr/>
          <p:nvPr/>
        </p:nvSpPr>
        <p:spPr>
          <a:xfrm>
            <a:off x="3895344" y="2029968"/>
            <a:ext cx="1353312" cy="566928"/>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Six typed edges: offender, co-accused, MO, location, time, section</a:t>
            </a:r>
            <a:endParaRPr lang="en-US" sz="900" dirty="0"/>
          </a:p>
        </p:txBody>
      </p:sp>
      <p:sp>
        <p:nvSpPr>
          <p:cNvPr id="21" name="Shape 19"/>
          <p:cNvSpPr/>
          <p:nvPr/>
        </p:nvSpPr>
        <p:spPr>
          <a:xfrm>
            <a:off x="5372100" y="1947672"/>
            <a:ext cx="100584" cy="137160"/>
          </a:xfrm>
          <a:prstGeom prst="rightArrow">
            <a:avLst/>
          </a:prstGeom>
          <a:solidFill>
            <a:srgbClr val="B7C6D6"/>
          </a:solidFill>
          <a:ln w="12700">
            <a:solidFill>
              <a:srgbClr val="B7C6D6"/>
            </a:solidFill>
            <a:prstDash val="solid"/>
          </a:ln>
        </p:spPr>
      </p:sp>
      <p:sp>
        <p:nvSpPr>
          <p:cNvPr id="22" name="Shape 20"/>
          <p:cNvSpPr/>
          <p:nvPr/>
        </p:nvSpPr>
        <p:spPr>
          <a:xfrm>
            <a:off x="5472684" y="1371600"/>
            <a:ext cx="1591056" cy="1280160"/>
          </a:xfrm>
          <a:prstGeom prst="roundRect">
            <a:avLst>
              <a:gd name="adj" fmla="val 4286"/>
            </a:avLst>
          </a:prstGeom>
          <a:solidFill>
            <a:srgbClr val="FFFFFF"/>
          </a:solidFill>
          <a:ln w="9525">
            <a:solidFill>
              <a:srgbClr val="D9E1EC"/>
            </a:solidFill>
            <a:prstDash val="solid"/>
          </a:ln>
        </p:spPr>
      </p:sp>
      <p:sp>
        <p:nvSpPr>
          <p:cNvPr id="23" name="Shape 21"/>
          <p:cNvSpPr/>
          <p:nvPr/>
        </p:nvSpPr>
        <p:spPr>
          <a:xfrm>
            <a:off x="5472684" y="1371600"/>
            <a:ext cx="1591056" cy="310896"/>
          </a:xfrm>
          <a:prstGeom prst="roundRect">
            <a:avLst>
              <a:gd name="adj" fmla="val 17647"/>
            </a:avLst>
          </a:prstGeom>
          <a:solidFill>
            <a:srgbClr val="C0392B"/>
          </a:solidFill>
          <a:ln w="12700">
            <a:solidFill>
              <a:srgbClr val="C0392B"/>
            </a:solidFill>
            <a:prstDash val="solid"/>
          </a:ln>
        </p:spPr>
      </p:sp>
      <p:sp>
        <p:nvSpPr>
          <p:cNvPr id="24" name="Text 22"/>
          <p:cNvSpPr/>
          <p:nvPr/>
        </p:nvSpPr>
        <p:spPr>
          <a:xfrm>
            <a:off x="5582412" y="1371600"/>
            <a:ext cx="1371600" cy="310896"/>
          </a:xfrm>
          <a:prstGeom prst="rect">
            <a:avLst/>
          </a:prstGeom>
          <a:noFill/>
          <a:ln/>
        </p:spPr>
        <p:txBody>
          <a:bodyPr wrap="square" lIns="0" tIns="0" rIns="0" bIns="0"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STEP 4</a:t>
            </a:r>
            <a:endParaRPr lang="en-US" sz="850" dirty="0"/>
          </a:p>
        </p:txBody>
      </p:sp>
      <p:sp>
        <p:nvSpPr>
          <p:cNvPr id="25" name="Text 23"/>
          <p:cNvSpPr/>
          <p:nvPr/>
        </p:nvSpPr>
        <p:spPr>
          <a:xfrm>
            <a:off x="5591556" y="1737360"/>
            <a:ext cx="1353312" cy="274320"/>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Analytics</a:t>
            </a:r>
            <a:endParaRPr lang="en-US" sz="1100" dirty="0"/>
          </a:p>
        </p:txBody>
      </p:sp>
      <p:sp>
        <p:nvSpPr>
          <p:cNvPr id="26" name="Text 24"/>
          <p:cNvSpPr/>
          <p:nvPr/>
        </p:nvSpPr>
        <p:spPr>
          <a:xfrm>
            <a:off x="5591556" y="2029968"/>
            <a:ext cx="1353312" cy="566928"/>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Louvain communities, risk, health, DBSCAN hotspots, per-capita, forecast</a:t>
            </a:r>
            <a:endParaRPr lang="en-US" sz="900" dirty="0"/>
          </a:p>
        </p:txBody>
      </p:sp>
      <p:sp>
        <p:nvSpPr>
          <p:cNvPr id="27" name="Shape 25"/>
          <p:cNvSpPr/>
          <p:nvPr/>
        </p:nvSpPr>
        <p:spPr>
          <a:xfrm>
            <a:off x="7068312" y="1947672"/>
            <a:ext cx="100584" cy="137160"/>
          </a:xfrm>
          <a:prstGeom prst="rightArrow">
            <a:avLst/>
          </a:prstGeom>
          <a:solidFill>
            <a:srgbClr val="B7C6D6"/>
          </a:solidFill>
          <a:ln w="12700">
            <a:solidFill>
              <a:srgbClr val="B7C6D6"/>
            </a:solidFill>
            <a:prstDash val="solid"/>
          </a:ln>
        </p:spPr>
      </p:sp>
      <p:sp>
        <p:nvSpPr>
          <p:cNvPr id="28" name="Shape 26"/>
          <p:cNvSpPr/>
          <p:nvPr/>
        </p:nvSpPr>
        <p:spPr>
          <a:xfrm>
            <a:off x="7168896" y="1371600"/>
            <a:ext cx="1591056" cy="1280160"/>
          </a:xfrm>
          <a:prstGeom prst="roundRect">
            <a:avLst>
              <a:gd name="adj" fmla="val 4286"/>
            </a:avLst>
          </a:prstGeom>
          <a:solidFill>
            <a:srgbClr val="FFFFFF"/>
          </a:solidFill>
          <a:ln w="9525">
            <a:solidFill>
              <a:srgbClr val="D9E1EC"/>
            </a:solidFill>
            <a:prstDash val="solid"/>
          </a:ln>
        </p:spPr>
      </p:sp>
      <p:sp>
        <p:nvSpPr>
          <p:cNvPr id="29" name="Shape 27"/>
          <p:cNvSpPr/>
          <p:nvPr/>
        </p:nvSpPr>
        <p:spPr>
          <a:xfrm>
            <a:off x="7168896" y="1371600"/>
            <a:ext cx="1591056" cy="310896"/>
          </a:xfrm>
          <a:prstGeom prst="roundRect">
            <a:avLst>
              <a:gd name="adj" fmla="val 17647"/>
            </a:avLst>
          </a:prstGeom>
          <a:solidFill>
            <a:srgbClr val="0F2F44"/>
          </a:solidFill>
          <a:ln w="12700">
            <a:solidFill>
              <a:srgbClr val="0F2F44"/>
            </a:solidFill>
            <a:prstDash val="solid"/>
          </a:ln>
        </p:spPr>
      </p:sp>
      <p:sp>
        <p:nvSpPr>
          <p:cNvPr id="30" name="Text 28"/>
          <p:cNvSpPr/>
          <p:nvPr/>
        </p:nvSpPr>
        <p:spPr>
          <a:xfrm>
            <a:off x="7278624" y="1371600"/>
            <a:ext cx="1371600" cy="310896"/>
          </a:xfrm>
          <a:prstGeom prst="rect">
            <a:avLst/>
          </a:prstGeom>
          <a:noFill/>
          <a:ln/>
        </p:spPr>
        <p:txBody>
          <a:bodyPr wrap="square" lIns="0" tIns="0" rIns="0" bIns="0"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STEP 5</a:t>
            </a:r>
            <a:endParaRPr lang="en-US" sz="850" dirty="0"/>
          </a:p>
        </p:txBody>
      </p:sp>
      <p:sp>
        <p:nvSpPr>
          <p:cNvPr id="31" name="Text 29"/>
          <p:cNvSpPr/>
          <p:nvPr/>
        </p:nvSpPr>
        <p:spPr>
          <a:xfrm>
            <a:off x="7287768" y="1737360"/>
            <a:ext cx="1353312" cy="274320"/>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Delivery</a:t>
            </a:r>
            <a:endParaRPr lang="en-US" sz="1100" dirty="0"/>
          </a:p>
        </p:txBody>
      </p:sp>
      <p:sp>
        <p:nvSpPr>
          <p:cNvPr id="32" name="Text 30"/>
          <p:cNvSpPr/>
          <p:nvPr/>
        </p:nvSpPr>
        <p:spPr>
          <a:xfrm>
            <a:off x="7287768" y="2029968"/>
            <a:ext cx="1353312" cy="566928"/>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Precomputed read-model served to the SPA in under 100 ms</a:t>
            </a:r>
            <a:endParaRPr lang="en-US" sz="900" dirty="0"/>
          </a:p>
        </p:txBody>
      </p:sp>
      <p:sp>
        <p:nvSpPr>
          <p:cNvPr id="33" name="Text 31"/>
          <p:cNvSpPr/>
          <p:nvPr/>
        </p:nvSpPr>
        <p:spPr>
          <a:xfrm>
            <a:off x="384048" y="2907792"/>
            <a:ext cx="8375904" cy="256032"/>
          </a:xfrm>
          <a:prstGeom prst="rect">
            <a:avLst/>
          </a:prstGeom>
          <a:noFill/>
          <a:ln/>
        </p:spPr>
        <p:txBody>
          <a:bodyPr wrap="square" lIns="0" tIns="0" rIns="0" bIns="0" rtlCol="0" anchor="ctr"/>
          <a:lstStyle/>
          <a:p>
            <a:pPr indent="0" marL="0">
              <a:buNone/>
            </a:pPr>
            <a:r>
              <a:rPr lang="en-US" sz="1250" b="1" dirty="0">
                <a:solidFill>
                  <a:srgbClr val="0F2F44"/>
                </a:solidFill>
                <a:latin typeface="Arial" pitchFamily="34" charset="0"/>
                <a:ea typeface="Arial" pitchFamily="34" charset="-122"/>
                <a:cs typeface="Arial" pitchFamily="34" charset="-120"/>
              </a:rPr>
              <a:t>Where each stage runs — and why the platform forces that split</a:t>
            </a:r>
            <a:endParaRPr lang="en-US" sz="1250" dirty="0"/>
          </a:p>
        </p:txBody>
      </p:sp>
      <p:sp>
        <p:nvSpPr>
          <p:cNvPr id="34" name="Shape 32"/>
          <p:cNvSpPr/>
          <p:nvPr/>
        </p:nvSpPr>
        <p:spPr>
          <a:xfrm>
            <a:off x="384048" y="3218688"/>
            <a:ext cx="2670048" cy="1481328"/>
          </a:xfrm>
          <a:prstGeom prst="roundRect">
            <a:avLst>
              <a:gd name="adj" fmla="val 3704"/>
            </a:avLst>
          </a:prstGeom>
          <a:solidFill>
            <a:srgbClr val="FFFFFF"/>
          </a:solidFill>
          <a:ln w="9525">
            <a:solidFill>
              <a:srgbClr val="D9E1EC"/>
            </a:solidFill>
            <a:prstDash val="solid"/>
          </a:ln>
        </p:spPr>
      </p:sp>
      <p:sp>
        <p:nvSpPr>
          <p:cNvPr id="35" name="Shape 33"/>
          <p:cNvSpPr/>
          <p:nvPr/>
        </p:nvSpPr>
        <p:spPr>
          <a:xfrm>
            <a:off x="384048" y="3218688"/>
            <a:ext cx="2670048" cy="347472"/>
          </a:xfrm>
          <a:prstGeom prst="roundRect">
            <a:avLst>
              <a:gd name="adj" fmla="val 15789"/>
            </a:avLst>
          </a:prstGeom>
          <a:solidFill>
            <a:srgbClr val="2FA8A0"/>
          </a:solidFill>
          <a:ln w="12700">
            <a:solidFill>
              <a:srgbClr val="2FA8A0"/>
            </a:solidFill>
            <a:prstDash val="solid"/>
          </a:ln>
        </p:spPr>
      </p:sp>
      <p:sp>
        <p:nvSpPr>
          <p:cNvPr id="36" name="Text 34"/>
          <p:cNvSpPr/>
          <p:nvPr/>
        </p:nvSpPr>
        <p:spPr>
          <a:xfrm>
            <a:off x="512064" y="3218688"/>
            <a:ext cx="241401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Catalyst Job — 15 minutes</a:t>
            </a:r>
            <a:endParaRPr lang="en-US" sz="1050" dirty="0"/>
          </a:p>
        </p:txBody>
      </p:sp>
      <p:sp>
        <p:nvSpPr>
          <p:cNvPr id="37" name="Text 35"/>
          <p:cNvSpPr/>
          <p:nvPr/>
        </p:nvSpPr>
        <p:spPr>
          <a:xfrm>
            <a:off x="521208" y="3639312"/>
            <a:ext cx="2395728" cy="9875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Entity resolution, MO similarity, graph build, communities, DBSCAN and the forecast all run here. Peaks at 738 MB and 24.6 s. Triggered nightly by Cron at 02:00 IST. A 15-minute budget is the only place on the platform where this legally fits.</a:t>
            </a:r>
            <a:endParaRPr lang="en-US" sz="900" dirty="0"/>
          </a:p>
        </p:txBody>
      </p:sp>
      <p:sp>
        <p:nvSpPr>
          <p:cNvPr id="38" name="Shape 36"/>
          <p:cNvSpPr/>
          <p:nvPr/>
        </p:nvSpPr>
        <p:spPr>
          <a:xfrm>
            <a:off x="3218688" y="3218688"/>
            <a:ext cx="2670048" cy="1481328"/>
          </a:xfrm>
          <a:prstGeom prst="roundRect">
            <a:avLst>
              <a:gd name="adj" fmla="val 3704"/>
            </a:avLst>
          </a:prstGeom>
          <a:solidFill>
            <a:srgbClr val="FFFFFF"/>
          </a:solidFill>
          <a:ln w="9525">
            <a:solidFill>
              <a:srgbClr val="D9E1EC"/>
            </a:solidFill>
            <a:prstDash val="solid"/>
          </a:ln>
        </p:spPr>
      </p:sp>
      <p:sp>
        <p:nvSpPr>
          <p:cNvPr id="39" name="Shape 37"/>
          <p:cNvSpPr/>
          <p:nvPr/>
        </p:nvSpPr>
        <p:spPr>
          <a:xfrm>
            <a:off x="3218688" y="3218688"/>
            <a:ext cx="2670048" cy="347472"/>
          </a:xfrm>
          <a:prstGeom prst="roundRect">
            <a:avLst>
              <a:gd name="adj" fmla="val 15789"/>
            </a:avLst>
          </a:prstGeom>
          <a:solidFill>
            <a:srgbClr val="E8871E"/>
          </a:solidFill>
          <a:ln w="12700">
            <a:solidFill>
              <a:srgbClr val="E8871E"/>
            </a:solidFill>
            <a:prstDash val="solid"/>
          </a:ln>
        </p:spPr>
      </p:sp>
      <p:sp>
        <p:nvSpPr>
          <p:cNvPr id="40" name="Text 38"/>
          <p:cNvSpPr/>
          <p:nvPr/>
        </p:nvSpPr>
        <p:spPr>
          <a:xfrm>
            <a:off x="3346704" y="3218688"/>
            <a:ext cx="241401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Function / AppSail — 30 s cap</a:t>
            </a:r>
            <a:endParaRPr lang="en-US" sz="1050" dirty="0"/>
          </a:p>
        </p:txBody>
      </p:sp>
      <p:sp>
        <p:nvSpPr>
          <p:cNvPr id="41" name="Text 39"/>
          <p:cNvSpPr/>
          <p:nvPr/>
        </p:nvSpPr>
        <p:spPr>
          <a:xfrm>
            <a:off x="3355848" y="3639312"/>
            <a:ext cx="2395728" cy="9875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Confirmed by the Zoho team in the workshop Q&amp;A, and not raisable. Neither runtime may host the pipeline, so the web tier only ever reads what the Job has already written. That one cap shaped every other decision in the architecture.</a:t>
            </a:r>
            <a:endParaRPr lang="en-US" sz="900" dirty="0"/>
          </a:p>
        </p:txBody>
      </p:sp>
      <p:sp>
        <p:nvSpPr>
          <p:cNvPr id="42" name="Shape 40"/>
          <p:cNvSpPr/>
          <p:nvPr/>
        </p:nvSpPr>
        <p:spPr>
          <a:xfrm>
            <a:off x="6053328" y="3218688"/>
            <a:ext cx="2670048" cy="1481328"/>
          </a:xfrm>
          <a:prstGeom prst="roundRect">
            <a:avLst>
              <a:gd name="adj" fmla="val 3704"/>
            </a:avLst>
          </a:prstGeom>
          <a:solidFill>
            <a:srgbClr val="FFFFFF"/>
          </a:solidFill>
          <a:ln w="9525">
            <a:solidFill>
              <a:srgbClr val="D9E1EC"/>
            </a:solidFill>
            <a:prstDash val="solid"/>
          </a:ln>
        </p:spPr>
      </p:sp>
      <p:sp>
        <p:nvSpPr>
          <p:cNvPr id="43" name="Shape 41"/>
          <p:cNvSpPr/>
          <p:nvPr/>
        </p:nvSpPr>
        <p:spPr>
          <a:xfrm>
            <a:off x="6053328" y="3218688"/>
            <a:ext cx="2670048" cy="347472"/>
          </a:xfrm>
          <a:prstGeom prst="roundRect">
            <a:avLst>
              <a:gd name="adj" fmla="val 15789"/>
            </a:avLst>
          </a:prstGeom>
          <a:solidFill>
            <a:srgbClr val="1A6FC4"/>
          </a:solidFill>
          <a:ln w="12700">
            <a:solidFill>
              <a:srgbClr val="1A6FC4"/>
            </a:solidFill>
            <a:prstDash val="solid"/>
          </a:ln>
        </p:spPr>
      </p:sp>
      <p:sp>
        <p:nvSpPr>
          <p:cNvPr id="44" name="Text 42"/>
          <p:cNvSpPr/>
          <p:nvPr/>
        </p:nvSpPr>
        <p:spPr>
          <a:xfrm>
            <a:off x="6181344" y="3218688"/>
            <a:ext cx="241401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Browser — instant</a:t>
            </a:r>
            <a:endParaRPr lang="en-US" sz="1050" dirty="0"/>
          </a:p>
        </p:txBody>
      </p:sp>
      <p:sp>
        <p:nvSpPr>
          <p:cNvPr id="45" name="Text 43"/>
          <p:cNvSpPr/>
          <p:nvPr/>
        </p:nvSpPr>
        <p:spPr>
          <a:xfrm>
            <a:off x="6190488" y="3639312"/>
            <a:ext cx="2395728" cy="9875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Every screen reads a precomputed read-model. No officer ever waits on a model to finish, and no request can time out mid-analysis. The payload is interned to 12.1 MB so the first paint stays under 100 ms.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Use-case view</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Five ranks, one dataset, and exactly what each is entitled to see</a:t>
            </a:r>
            <a:endParaRPr lang="en-US" sz="1200" dirty="0"/>
          </a:p>
        </p:txBody>
      </p:sp>
      <p:sp>
        <p:nvSpPr>
          <p:cNvPr id="4" name="Shape 2"/>
          <p:cNvSpPr/>
          <p:nvPr/>
        </p:nvSpPr>
        <p:spPr>
          <a:xfrm>
            <a:off x="384048" y="1371600"/>
            <a:ext cx="1591056" cy="950976"/>
          </a:xfrm>
          <a:prstGeom prst="roundRect">
            <a:avLst>
              <a:gd name="adj" fmla="val 5769"/>
            </a:avLst>
          </a:prstGeom>
          <a:solidFill>
            <a:srgbClr val="FFFFFF"/>
          </a:solidFill>
          <a:ln w="9525">
            <a:solidFill>
              <a:srgbClr val="D9E1EC"/>
            </a:solidFill>
            <a:prstDash val="solid"/>
          </a:ln>
        </p:spPr>
      </p:sp>
      <p:sp>
        <p:nvSpPr>
          <p:cNvPr id="5" name="Shape 3"/>
          <p:cNvSpPr/>
          <p:nvPr/>
        </p:nvSpPr>
        <p:spPr>
          <a:xfrm>
            <a:off x="384048" y="1371600"/>
            <a:ext cx="1591056" cy="292608"/>
          </a:xfrm>
          <a:prstGeom prst="roundRect">
            <a:avLst>
              <a:gd name="adj" fmla="val 18750"/>
            </a:avLst>
          </a:prstGeom>
          <a:solidFill>
            <a:srgbClr val="2FA8A0"/>
          </a:solidFill>
          <a:ln w="12700">
            <a:solidFill>
              <a:srgbClr val="2FA8A0"/>
            </a:solidFill>
            <a:prstDash val="solid"/>
          </a:ln>
        </p:spPr>
      </p:sp>
      <p:sp>
        <p:nvSpPr>
          <p:cNvPr id="6" name="Text 4"/>
          <p:cNvSpPr/>
          <p:nvPr/>
        </p:nvSpPr>
        <p:spPr>
          <a:xfrm>
            <a:off x="493776" y="1371600"/>
            <a:ext cx="1371600"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Sub-Inspector</a:t>
            </a:r>
            <a:endParaRPr lang="en-US" sz="1000" dirty="0"/>
          </a:p>
        </p:txBody>
      </p:sp>
      <p:sp>
        <p:nvSpPr>
          <p:cNvPr id="7" name="Text 5"/>
          <p:cNvSpPr/>
          <p:nvPr/>
        </p:nvSpPr>
        <p:spPr>
          <a:xfrm>
            <a:off x="493776" y="1700784"/>
            <a:ext cx="1371600" cy="20116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Own station</a:t>
            </a:r>
            <a:endParaRPr lang="en-US" sz="900" dirty="0"/>
          </a:p>
        </p:txBody>
      </p:sp>
      <p:sp>
        <p:nvSpPr>
          <p:cNvPr id="8" name="Text 6"/>
          <p:cNvSpPr/>
          <p:nvPr/>
        </p:nvSpPr>
        <p:spPr>
          <a:xfrm>
            <a:off x="493776" y="1901952"/>
            <a:ext cx="1371600" cy="384048"/>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Their unit's FIRs and worklist</a:t>
            </a:r>
            <a:endParaRPr lang="en-US" sz="800" dirty="0"/>
          </a:p>
        </p:txBody>
      </p:sp>
      <p:sp>
        <p:nvSpPr>
          <p:cNvPr id="9" name="Shape 7"/>
          <p:cNvSpPr/>
          <p:nvPr/>
        </p:nvSpPr>
        <p:spPr>
          <a:xfrm>
            <a:off x="2080260" y="1371600"/>
            <a:ext cx="1591056" cy="950976"/>
          </a:xfrm>
          <a:prstGeom prst="roundRect">
            <a:avLst>
              <a:gd name="adj" fmla="val 5769"/>
            </a:avLst>
          </a:prstGeom>
          <a:solidFill>
            <a:srgbClr val="FFFFFF"/>
          </a:solidFill>
          <a:ln w="9525">
            <a:solidFill>
              <a:srgbClr val="D9E1EC"/>
            </a:solidFill>
            <a:prstDash val="solid"/>
          </a:ln>
        </p:spPr>
      </p:sp>
      <p:sp>
        <p:nvSpPr>
          <p:cNvPr id="10" name="Shape 8"/>
          <p:cNvSpPr/>
          <p:nvPr/>
        </p:nvSpPr>
        <p:spPr>
          <a:xfrm>
            <a:off x="2080260" y="1371600"/>
            <a:ext cx="1591056" cy="292608"/>
          </a:xfrm>
          <a:prstGeom prst="roundRect">
            <a:avLst>
              <a:gd name="adj" fmla="val 18750"/>
            </a:avLst>
          </a:prstGeom>
          <a:solidFill>
            <a:srgbClr val="2FA8A0"/>
          </a:solidFill>
          <a:ln w="12700">
            <a:solidFill>
              <a:srgbClr val="2FA8A0"/>
            </a:solidFill>
            <a:prstDash val="solid"/>
          </a:ln>
        </p:spPr>
      </p:sp>
      <p:sp>
        <p:nvSpPr>
          <p:cNvPr id="11" name="Text 9"/>
          <p:cNvSpPr/>
          <p:nvPr/>
        </p:nvSpPr>
        <p:spPr>
          <a:xfrm>
            <a:off x="2189988" y="1371600"/>
            <a:ext cx="1371600"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Inspector</a:t>
            </a:r>
            <a:endParaRPr lang="en-US" sz="1000" dirty="0"/>
          </a:p>
        </p:txBody>
      </p:sp>
      <p:sp>
        <p:nvSpPr>
          <p:cNvPr id="12" name="Text 10"/>
          <p:cNvSpPr/>
          <p:nvPr/>
        </p:nvSpPr>
        <p:spPr>
          <a:xfrm>
            <a:off x="2189988" y="1700784"/>
            <a:ext cx="1371600" cy="20116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Own station</a:t>
            </a:r>
            <a:endParaRPr lang="en-US" sz="900" dirty="0"/>
          </a:p>
        </p:txBody>
      </p:sp>
      <p:sp>
        <p:nvSpPr>
          <p:cNvPr id="13" name="Text 11"/>
          <p:cNvSpPr/>
          <p:nvPr/>
        </p:nvSpPr>
        <p:spPr>
          <a:xfrm>
            <a:off x="2189988" y="1901952"/>
            <a:ext cx="1371600" cy="384048"/>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Plus arrest &amp; chargesheet detail</a:t>
            </a:r>
            <a:endParaRPr lang="en-US" sz="800" dirty="0"/>
          </a:p>
        </p:txBody>
      </p:sp>
      <p:sp>
        <p:nvSpPr>
          <p:cNvPr id="14" name="Shape 12"/>
          <p:cNvSpPr/>
          <p:nvPr/>
        </p:nvSpPr>
        <p:spPr>
          <a:xfrm>
            <a:off x="3776472" y="1371600"/>
            <a:ext cx="1591056" cy="950976"/>
          </a:xfrm>
          <a:prstGeom prst="roundRect">
            <a:avLst>
              <a:gd name="adj" fmla="val 5769"/>
            </a:avLst>
          </a:prstGeom>
          <a:solidFill>
            <a:srgbClr val="FFFFFF"/>
          </a:solidFill>
          <a:ln w="9525">
            <a:solidFill>
              <a:srgbClr val="D9E1EC"/>
            </a:solidFill>
            <a:prstDash val="solid"/>
          </a:ln>
        </p:spPr>
      </p:sp>
      <p:sp>
        <p:nvSpPr>
          <p:cNvPr id="15" name="Shape 13"/>
          <p:cNvSpPr/>
          <p:nvPr/>
        </p:nvSpPr>
        <p:spPr>
          <a:xfrm>
            <a:off x="3776472" y="1371600"/>
            <a:ext cx="1591056" cy="292608"/>
          </a:xfrm>
          <a:prstGeom prst="roundRect">
            <a:avLst>
              <a:gd name="adj" fmla="val 18750"/>
            </a:avLst>
          </a:prstGeom>
          <a:solidFill>
            <a:srgbClr val="E8871E"/>
          </a:solidFill>
          <a:ln w="12700">
            <a:solidFill>
              <a:srgbClr val="E8871E"/>
            </a:solidFill>
            <a:prstDash val="solid"/>
          </a:ln>
        </p:spPr>
      </p:sp>
      <p:sp>
        <p:nvSpPr>
          <p:cNvPr id="16" name="Text 14"/>
          <p:cNvSpPr/>
          <p:nvPr/>
        </p:nvSpPr>
        <p:spPr>
          <a:xfrm>
            <a:off x="3886200" y="1371600"/>
            <a:ext cx="1371600"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ACP / DySP</a:t>
            </a:r>
            <a:endParaRPr lang="en-US" sz="1000" dirty="0"/>
          </a:p>
        </p:txBody>
      </p:sp>
      <p:sp>
        <p:nvSpPr>
          <p:cNvPr id="17" name="Text 15"/>
          <p:cNvSpPr/>
          <p:nvPr/>
        </p:nvSpPr>
        <p:spPr>
          <a:xfrm>
            <a:off x="3886200" y="1700784"/>
            <a:ext cx="1371600" cy="201168"/>
          </a:xfrm>
          <a:prstGeom prst="rect">
            <a:avLst/>
          </a:prstGeom>
          <a:noFill/>
          <a:ln/>
        </p:spPr>
        <p:txBody>
          <a:bodyPr wrap="square" lIns="0" tIns="0" rIns="0" bIns="0" rtlCol="0" anchor="ctr"/>
          <a:lstStyle/>
          <a:p>
            <a:pPr indent="0" marL="0">
              <a:buNone/>
            </a:pPr>
            <a:r>
              <a:rPr lang="en-US" sz="900" b="1" dirty="0">
                <a:solidFill>
                  <a:srgbClr val="E8871E"/>
                </a:solidFill>
                <a:latin typeface="Arial" pitchFamily="34" charset="0"/>
                <a:ea typeface="Arial" pitchFamily="34" charset="-122"/>
                <a:cs typeface="Arial" pitchFamily="34" charset="-120"/>
              </a:rPr>
              <a:t>Whole district</a:t>
            </a:r>
            <a:endParaRPr lang="en-US" sz="900" dirty="0"/>
          </a:p>
        </p:txBody>
      </p:sp>
      <p:sp>
        <p:nvSpPr>
          <p:cNvPr id="18" name="Text 16"/>
          <p:cNvSpPr/>
          <p:nvPr/>
        </p:nvSpPr>
        <p:spPr>
          <a:xfrm>
            <a:off x="3886200" y="1901952"/>
            <a:ext cx="1371600" cy="384048"/>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Cross-station networks, audit log</a:t>
            </a:r>
            <a:endParaRPr lang="en-US" sz="800" dirty="0"/>
          </a:p>
        </p:txBody>
      </p:sp>
      <p:sp>
        <p:nvSpPr>
          <p:cNvPr id="19" name="Shape 17"/>
          <p:cNvSpPr/>
          <p:nvPr/>
        </p:nvSpPr>
        <p:spPr>
          <a:xfrm>
            <a:off x="5472684" y="1371600"/>
            <a:ext cx="1591056" cy="950976"/>
          </a:xfrm>
          <a:prstGeom prst="roundRect">
            <a:avLst>
              <a:gd name="adj" fmla="val 5769"/>
            </a:avLst>
          </a:prstGeom>
          <a:solidFill>
            <a:srgbClr val="FFFFFF"/>
          </a:solidFill>
          <a:ln w="9525">
            <a:solidFill>
              <a:srgbClr val="D9E1EC"/>
            </a:solidFill>
            <a:prstDash val="solid"/>
          </a:ln>
        </p:spPr>
      </p:sp>
      <p:sp>
        <p:nvSpPr>
          <p:cNvPr id="20" name="Shape 18"/>
          <p:cNvSpPr/>
          <p:nvPr/>
        </p:nvSpPr>
        <p:spPr>
          <a:xfrm>
            <a:off x="5472684" y="1371600"/>
            <a:ext cx="1591056" cy="292608"/>
          </a:xfrm>
          <a:prstGeom prst="roundRect">
            <a:avLst>
              <a:gd name="adj" fmla="val 18750"/>
            </a:avLst>
          </a:prstGeom>
          <a:solidFill>
            <a:srgbClr val="0F2F44"/>
          </a:solidFill>
          <a:ln w="12700">
            <a:solidFill>
              <a:srgbClr val="0F2F44"/>
            </a:solidFill>
            <a:prstDash val="solid"/>
          </a:ln>
        </p:spPr>
      </p:sp>
      <p:sp>
        <p:nvSpPr>
          <p:cNvPr id="21" name="Text 19"/>
          <p:cNvSpPr/>
          <p:nvPr/>
        </p:nvSpPr>
        <p:spPr>
          <a:xfrm>
            <a:off x="5582412" y="1371600"/>
            <a:ext cx="1371600"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SCRB Analyst</a:t>
            </a:r>
            <a:endParaRPr lang="en-US" sz="1000" dirty="0"/>
          </a:p>
        </p:txBody>
      </p:sp>
      <p:sp>
        <p:nvSpPr>
          <p:cNvPr id="22" name="Text 20"/>
          <p:cNvSpPr/>
          <p:nvPr/>
        </p:nvSpPr>
        <p:spPr>
          <a:xfrm>
            <a:off x="5582412" y="1700784"/>
            <a:ext cx="1371600" cy="201168"/>
          </a:xfrm>
          <a:prstGeom prst="rect">
            <a:avLst/>
          </a:prstGeom>
          <a:noFill/>
          <a:ln/>
        </p:spPr>
        <p:txBody>
          <a:bodyPr wrap="square" lIns="0" tIns="0" rIns="0" bIns="0" rtlCol="0" anchor="ctr"/>
          <a:lstStyle/>
          <a:p>
            <a:pPr indent="0" marL="0">
              <a:buNone/>
            </a:pPr>
            <a:r>
              <a:rPr lang="en-US" sz="900" b="1" dirty="0">
                <a:solidFill>
                  <a:srgbClr val="0F2F44"/>
                </a:solidFill>
                <a:latin typeface="Arial" pitchFamily="34" charset="0"/>
                <a:ea typeface="Arial" pitchFamily="34" charset="-122"/>
                <a:cs typeface="Arial" pitchFamily="34" charset="-120"/>
              </a:rPr>
              <a:t>Entire state</a:t>
            </a:r>
            <a:endParaRPr lang="en-US" sz="900" dirty="0"/>
          </a:p>
        </p:txBody>
      </p:sp>
      <p:sp>
        <p:nvSpPr>
          <p:cNvPr id="23" name="Text 21"/>
          <p:cNvSpPr/>
          <p:nvPr/>
        </p:nvSpPr>
        <p:spPr>
          <a:xfrm>
            <a:off x="5582412" y="1901952"/>
            <a:ext cx="1371600" cy="384048"/>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All 40,836 FIRs, forecasting</a:t>
            </a:r>
            <a:endParaRPr lang="en-US" sz="800" dirty="0"/>
          </a:p>
        </p:txBody>
      </p:sp>
      <p:sp>
        <p:nvSpPr>
          <p:cNvPr id="24" name="Shape 22"/>
          <p:cNvSpPr/>
          <p:nvPr/>
        </p:nvSpPr>
        <p:spPr>
          <a:xfrm>
            <a:off x="7168896" y="1371600"/>
            <a:ext cx="1591056" cy="950976"/>
          </a:xfrm>
          <a:prstGeom prst="roundRect">
            <a:avLst>
              <a:gd name="adj" fmla="val 5769"/>
            </a:avLst>
          </a:prstGeom>
          <a:solidFill>
            <a:srgbClr val="FFFFFF"/>
          </a:solidFill>
          <a:ln w="9525">
            <a:solidFill>
              <a:srgbClr val="D9E1EC"/>
            </a:solidFill>
            <a:prstDash val="solid"/>
          </a:ln>
        </p:spPr>
      </p:sp>
      <p:sp>
        <p:nvSpPr>
          <p:cNvPr id="25" name="Shape 23"/>
          <p:cNvSpPr/>
          <p:nvPr/>
        </p:nvSpPr>
        <p:spPr>
          <a:xfrm>
            <a:off x="7168896" y="1371600"/>
            <a:ext cx="1591056" cy="292608"/>
          </a:xfrm>
          <a:prstGeom prst="roundRect">
            <a:avLst>
              <a:gd name="adj" fmla="val 18750"/>
            </a:avLst>
          </a:prstGeom>
          <a:solidFill>
            <a:srgbClr val="1A6FC4"/>
          </a:solidFill>
          <a:ln w="12700">
            <a:solidFill>
              <a:srgbClr val="1A6FC4"/>
            </a:solidFill>
            <a:prstDash val="solid"/>
          </a:ln>
        </p:spPr>
      </p:sp>
      <p:sp>
        <p:nvSpPr>
          <p:cNvPr id="26" name="Text 24"/>
          <p:cNvSpPr/>
          <p:nvPr/>
        </p:nvSpPr>
        <p:spPr>
          <a:xfrm>
            <a:off x="7278624" y="1371600"/>
            <a:ext cx="1371600"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Administrator</a:t>
            </a:r>
            <a:endParaRPr lang="en-US" sz="1000" dirty="0"/>
          </a:p>
        </p:txBody>
      </p:sp>
      <p:sp>
        <p:nvSpPr>
          <p:cNvPr id="27" name="Text 25"/>
          <p:cNvSpPr/>
          <p:nvPr/>
        </p:nvSpPr>
        <p:spPr>
          <a:xfrm>
            <a:off x="7278624" y="1700784"/>
            <a:ext cx="1371600" cy="201168"/>
          </a:xfrm>
          <a:prstGeom prst="rect">
            <a:avLst/>
          </a:prstGeom>
          <a:noFill/>
          <a:ln/>
        </p:spPr>
        <p:txBody>
          <a:bodyPr wrap="square" lIns="0" tIns="0" rIns="0" bIns="0" rtlCol="0" anchor="ctr"/>
          <a:lstStyle/>
          <a:p>
            <a:pPr indent="0" marL="0">
              <a:buNone/>
            </a:pPr>
            <a:r>
              <a:rPr lang="en-US" sz="900" b="1" dirty="0">
                <a:solidFill>
                  <a:srgbClr val="1A6FC4"/>
                </a:solidFill>
                <a:latin typeface="Arial" pitchFamily="34" charset="0"/>
                <a:ea typeface="Arial" pitchFamily="34" charset="-122"/>
                <a:cs typeface="Arial" pitchFamily="34" charset="-120"/>
              </a:rPr>
              <a:t>State + governance</a:t>
            </a:r>
            <a:endParaRPr lang="en-US" sz="900" dirty="0"/>
          </a:p>
        </p:txBody>
      </p:sp>
      <p:sp>
        <p:nvSpPr>
          <p:cNvPr id="28" name="Text 26"/>
          <p:cNvSpPr/>
          <p:nvPr/>
        </p:nvSpPr>
        <p:spPr>
          <a:xfrm>
            <a:off x="7278624" y="1901952"/>
            <a:ext cx="1371600" cy="384048"/>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Fairness report, pipeline status</a:t>
            </a:r>
            <a:endParaRPr lang="en-US" sz="800" dirty="0"/>
          </a:p>
        </p:txBody>
      </p:sp>
      <p:sp>
        <p:nvSpPr>
          <p:cNvPr id="29" name="Shape 27"/>
          <p:cNvSpPr/>
          <p:nvPr/>
        </p:nvSpPr>
        <p:spPr>
          <a:xfrm>
            <a:off x="384048" y="2432304"/>
            <a:ext cx="8375904" cy="274320"/>
          </a:xfrm>
          <a:prstGeom prst="roundRect">
            <a:avLst>
              <a:gd name="adj" fmla="val 13333"/>
            </a:avLst>
          </a:prstGeom>
          <a:solidFill>
            <a:srgbClr val="0F2F44"/>
          </a:solidFill>
          <a:ln w="12700">
            <a:solidFill>
              <a:srgbClr val="0F2F44"/>
            </a:solidFill>
            <a:prstDash val="solid"/>
          </a:ln>
        </p:spPr>
      </p:sp>
      <p:sp>
        <p:nvSpPr>
          <p:cNvPr id="30" name="Text 28"/>
          <p:cNvSpPr/>
          <p:nvPr/>
        </p:nvSpPr>
        <p:spPr>
          <a:xfrm>
            <a:off x="512064" y="2432304"/>
            <a:ext cx="374904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What the rank can actually query</a:t>
            </a:r>
            <a:endParaRPr lang="en-US" sz="900" dirty="0"/>
          </a:p>
        </p:txBody>
      </p:sp>
      <p:sp>
        <p:nvSpPr>
          <p:cNvPr id="31" name="Text 29"/>
          <p:cNvSpPr/>
          <p:nvPr/>
        </p:nvSpPr>
        <p:spPr>
          <a:xfrm>
            <a:off x="4407408" y="2432304"/>
            <a:ext cx="85953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SI</a:t>
            </a:r>
            <a:endParaRPr lang="en-US" sz="900" dirty="0"/>
          </a:p>
        </p:txBody>
      </p:sp>
      <p:sp>
        <p:nvSpPr>
          <p:cNvPr id="32" name="Text 30"/>
          <p:cNvSpPr/>
          <p:nvPr/>
        </p:nvSpPr>
        <p:spPr>
          <a:xfrm>
            <a:off x="5276088" y="2432304"/>
            <a:ext cx="85953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Insp</a:t>
            </a:r>
            <a:endParaRPr lang="en-US" sz="900" dirty="0"/>
          </a:p>
        </p:txBody>
      </p:sp>
      <p:sp>
        <p:nvSpPr>
          <p:cNvPr id="33" name="Text 31"/>
          <p:cNvSpPr/>
          <p:nvPr/>
        </p:nvSpPr>
        <p:spPr>
          <a:xfrm>
            <a:off x="6144768" y="2432304"/>
            <a:ext cx="85953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ACP</a:t>
            </a:r>
            <a:endParaRPr lang="en-US" sz="900" dirty="0"/>
          </a:p>
        </p:txBody>
      </p:sp>
      <p:sp>
        <p:nvSpPr>
          <p:cNvPr id="34" name="Text 32"/>
          <p:cNvSpPr/>
          <p:nvPr/>
        </p:nvSpPr>
        <p:spPr>
          <a:xfrm>
            <a:off x="7013448" y="2432304"/>
            <a:ext cx="85953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Analyst</a:t>
            </a:r>
            <a:endParaRPr lang="en-US" sz="900" dirty="0"/>
          </a:p>
        </p:txBody>
      </p:sp>
      <p:sp>
        <p:nvSpPr>
          <p:cNvPr id="35" name="Text 33"/>
          <p:cNvSpPr/>
          <p:nvPr/>
        </p:nvSpPr>
        <p:spPr>
          <a:xfrm>
            <a:off x="7882128" y="2432304"/>
            <a:ext cx="85953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Admin</a:t>
            </a:r>
            <a:endParaRPr lang="en-US" sz="900" dirty="0"/>
          </a:p>
        </p:txBody>
      </p:sp>
      <p:sp>
        <p:nvSpPr>
          <p:cNvPr id="36" name="Shape 34"/>
          <p:cNvSpPr/>
          <p:nvPr/>
        </p:nvSpPr>
        <p:spPr>
          <a:xfrm>
            <a:off x="384048" y="2706624"/>
            <a:ext cx="8375904" cy="274320"/>
          </a:xfrm>
          <a:prstGeom prst="rect">
            <a:avLst/>
          </a:prstGeom>
          <a:solidFill>
            <a:srgbClr val="F5F8FB"/>
          </a:solidFill>
          <a:ln w="12700">
            <a:solidFill>
              <a:srgbClr val="F5F8FB"/>
            </a:solidFill>
            <a:prstDash val="solid"/>
          </a:ln>
        </p:spPr>
      </p:sp>
      <p:sp>
        <p:nvSpPr>
          <p:cNvPr id="37" name="Text 35"/>
          <p:cNvSpPr/>
          <p:nvPr/>
        </p:nvSpPr>
        <p:spPr>
          <a:xfrm>
            <a:off x="512064" y="2706624"/>
            <a:ext cx="3749040" cy="274320"/>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FIRs registered at their own station</a:t>
            </a:r>
            <a:endParaRPr lang="en-US" sz="900" dirty="0"/>
          </a:p>
        </p:txBody>
      </p:sp>
      <p:sp>
        <p:nvSpPr>
          <p:cNvPr id="38" name="Text 36"/>
          <p:cNvSpPr/>
          <p:nvPr/>
        </p:nvSpPr>
        <p:spPr>
          <a:xfrm>
            <a:off x="4407408" y="270662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39" name="Text 37"/>
          <p:cNvSpPr/>
          <p:nvPr/>
        </p:nvSpPr>
        <p:spPr>
          <a:xfrm>
            <a:off x="5276088" y="270662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40" name="Text 38"/>
          <p:cNvSpPr/>
          <p:nvPr/>
        </p:nvSpPr>
        <p:spPr>
          <a:xfrm>
            <a:off x="6144768" y="270662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41" name="Text 39"/>
          <p:cNvSpPr/>
          <p:nvPr/>
        </p:nvSpPr>
        <p:spPr>
          <a:xfrm>
            <a:off x="7013448" y="270662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42" name="Text 40"/>
          <p:cNvSpPr/>
          <p:nvPr/>
        </p:nvSpPr>
        <p:spPr>
          <a:xfrm>
            <a:off x="7882128" y="270662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43" name="Text 41"/>
          <p:cNvSpPr/>
          <p:nvPr/>
        </p:nvSpPr>
        <p:spPr>
          <a:xfrm>
            <a:off x="512064" y="2980944"/>
            <a:ext cx="3749040" cy="274320"/>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Every FIR in the district</a:t>
            </a:r>
            <a:endParaRPr lang="en-US" sz="900" dirty="0"/>
          </a:p>
        </p:txBody>
      </p:sp>
      <p:sp>
        <p:nvSpPr>
          <p:cNvPr id="44" name="Text 42"/>
          <p:cNvSpPr/>
          <p:nvPr/>
        </p:nvSpPr>
        <p:spPr>
          <a:xfrm>
            <a:off x="4407408" y="298094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45" name="Text 43"/>
          <p:cNvSpPr/>
          <p:nvPr/>
        </p:nvSpPr>
        <p:spPr>
          <a:xfrm>
            <a:off x="5276088" y="298094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46" name="Text 44"/>
          <p:cNvSpPr/>
          <p:nvPr/>
        </p:nvSpPr>
        <p:spPr>
          <a:xfrm>
            <a:off x="6144768" y="298094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7013448" y="298094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48" name="Text 46"/>
          <p:cNvSpPr/>
          <p:nvPr/>
        </p:nvSpPr>
        <p:spPr>
          <a:xfrm>
            <a:off x="7882128" y="298094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49" name="Shape 47"/>
          <p:cNvSpPr/>
          <p:nvPr/>
        </p:nvSpPr>
        <p:spPr>
          <a:xfrm>
            <a:off x="384048" y="3255264"/>
            <a:ext cx="8375904" cy="274320"/>
          </a:xfrm>
          <a:prstGeom prst="rect">
            <a:avLst/>
          </a:prstGeom>
          <a:solidFill>
            <a:srgbClr val="F5F8FB"/>
          </a:solidFill>
          <a:ln w="12700">
            <a:solidFill>
              <a:srgbClr val="F5F8FB"/>
            </a:solidFill>
            <a:prstDash val="solid"/>
          </a:ln>
        </p:spPr>
      </p:sp>
      <p:sp>
        <p:nvSpPr>
          <p:cNvPr id="50" name="Text 48"/>
          <p:cNvSpPr/>
          <p:nvPr/>
        </p:nvSpPr>
        <p:spPr>
          <a:xfrm>
            <a:off x="512064" y="3255264"/>
            <a:ext cx="3749040" cy="274320"/>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All 40,836 FIRs, state-wide</a:t>
            </a:r>
            <a:endParaRPr lang="en-US" sz="900" dirty="0"/>
          </a:p>
        </p:txBody>
      </p:sp>
      <p:sp>
        <p:nvSpPr>
          <p:cNvPr id="51" name="Text 49"/>
          <p:cNvSpPr/>
          <p:nvPr/>
        </p:nvSpPr>
        <p:spPr>
          <a:xfrm>
            <a:off x="4407408" y="325526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52" name="Text 50"/>
          <p:cNvSpPr/>
          <p:nvPr/>
        </p:nvSpPr>
        <p:spPr>
          <a:xfrm>
            <a:off x="5276088" y="325526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53" name="Text 51"/>
          <p:cNvSpPr/>
          <p:nvPr/>
        </p:nvSpPr>
        <p:spPr>
          <a:xfrm>
            <a:off x="6144768" y="325526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54" name="Text 52"/>
          <p:cNvSpPr/>
          <p:nvPr/>
        </p:nvSpPr>
        <p:spPr>
          <a:xfrm>
            <a:off x="7013448" y="325526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55" name="Text 53"/>
          <p:cNvSpPr/>
          <p:nvPr/>
        </p:nvSpPr>
        <p:spPr>
          <a:xfrm>
            <a:off x="7882128" y="325526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56" name="Text 54"/>
          <p:cNvSpPr/>
          <p:nvPr/>
        </p:nvSpPr>
        <p:spPr>
          <a:xfrm>
            <a:off x="512064" y="3529584"/>
            <a:ext cx="3749040" cy="274320"/>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Case-linkage graph + why-linked evidence</a:t>
            </a:r>
            <a:endParaRPr lang="en-US" sz="900" dirty="0"/>
          </a:p>
        </p:txBody>
      </p:sp>
      <p:sp>
        <p:nvSpPr>
          <p:cNvPr id="57" name="Text 55"/>
          <p:cNvSpPr/>
          <p:nvPr/>
        </p:nvSpPr>
        <p:spPr>
          <a:xfrm>
            <a:off x="4407408" y="352958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58" name="Text 56"/>
          <p:cNvSpPr/>
          <p:nvPr/>
        </p:nvSpPr>
        <p:spPr>
          <a:xfrm>
            <a:off x="5276088" y="352958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6144768" y="352958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60" name="Text 58"/>
          <p:cNvSpPr/>
          <p:nvPr/>
        </p:nvSpPr>
        <p:spPr>
          <a:xfrm>
            <a:off x="7013448" y="352958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61" name="Text 59"/>
          <p:cNvSpPr/>
          <p:nvPr/>
        </p:nvSpPr>
        <p:spPr>
          <a:xfrm>
            <a:off x="7882128" y="352958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62" name="Shape 60"/>
          <p:cNvSpPr/>
          <p:nvPr/>
        </p:nvSpPr>
        <p:spPr>
          <a:xfrm>
            <a:off x="384048" y="3803904"/>
            <a:ext cx="8375904" cy="274320"/>
          </a:xfrm>
          <a:prstGeom prst="rect">
            <a:avLst/>
          </a:prstGeom>
          <a:solidFill>
            <a:srgbClr val="F5F8FB"/>
          </a:solidFill>
          <a:ln w="12700">
            <a:solidFill>
              <a:srgbClr val="F5F8FB"/>
            </a:solidFill>
            <a:prstDash val="solid"/>
          </a:ln>
        </p:spPr>
      </p:sp>
      <p:sp>
        <p:nvSpPr>
          <p:cNvPr id="63" name="Text 61"/>
          <p:cNvSpPr/>
          <p:nvPr/>
        </p:nvSpPr>
        <p:spPr>
          <a:xfrm>
            <a:off x="512064" y="3803904"/>
            <a:ext cx="3749040" cy="274320"/>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Arrest and chargesheet detail</a:t>
            </a:r>
            <a:endParaRPr lang="en-US" sz="900" dirty="0"/>
          </a:p>
        </p:txBody>
      </p:sp>
      <p:sp>
        <p:nvSpPr>
          <p:cNvPr id="64" name="Text 62"/>
          <p:cNvSpPr/>
          <p:nvPr/>
        </p:nvSpPr>
        <p:spPr>
          <a:xfrm>
            <a:off x="4407408" y="380390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65" name="Text 63"/>
          <p:cNvSpPr/>
          <p:nvPr/>
        </p:nvSpPr>
        <p:spPr>
          <a:xfrm>
            <a:off x="5276088" y="380390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66" name="Text 64"/>
          <p:cNvSpPr/>
          <p:nvPr/>
        </p:nvSpPr>
        <p:spPr>
          <a:xfrm>
            <a:off x="6144768" y="380390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67" name="Text 65"/>
          <p:cNvSpPr/>
          <p:nvPr/>
        </p:nvSpPr>
        <p:spPr>
          <a:xfrm>
            <a:off x="7013448" y="380390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68" name="Text 66"/>
          <p:cNvSpPr/>
          <p:nvPr/>
        </p:nvSpPr>
        <p:spPr>
          <a:xfrm>
            <a:off x="7882128" y="380390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69" name="Text 67"/>
          <p:cNvSpPr/>
          <p:nvPr/>
        </p:nvSpPr>
        <p:spPr>
          <a:xfrm>
            <a:off x="512064" y="4078224"/>
            <a:ext cx="3749040" cy="274320"/>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Per-capita analytics, forecasting, anomalies</a:t>
            </a:r>
            <a:endParaRPr lang="en-US" sz="900" dirty="0"/>
          </a:p>
        </p:txBody>
      </p:sp>
      <p:sp>
        <p:nvSpPr>
          <p:cNvPr id="70" name="Text 68"/>
          <p:cNvSpPr/>
          <p:nvPr/>
        </p:nvSpPr>
        <p:spPr>
          <a:xfrm>
            <a:off x="4407408" y="407822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71" name="Text 69"/>
          <p:cNvSpPr/>
          <p:nvPr/>
        </p:nvSpPr>
        <p:spPr>
          <a:xfrm>
            <a:off x="5276088" y="407822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72" name="Text 70"/>
          <p:cNvSpPr/>
          <p:nvPr/>
        </p:nvSpPr>
        <p:spPr>
          <a:xfrm>
            <a:off x="6144768" y="407822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73" name="Text 71"/>
          <p:cNvSpPr/>
          <p:nvPr/>
        </p:nvSpPr>
        <p:spPr>
          <a:xfrm>
            <a:off x="7013448" y="407822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74" name="Text 72"/>
          <p:cNvSpPr/>
          <p:nvPr/>
        </p:nvSpPr>
        <p:spPr>
          <a:xfrm>
            <a:off x="7882128" y="407822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75" name="Shape 73"/>
          <p:cNvSpPr/>
          <p:nvPr/>
        </p:nvSpPr>
        <p:spPr>
          <a:xfrm>
            <a:off x="384048" y="4352544"/>
            <a:ext cx="8375904" cy="274320"/>
          </a:xfrm>
          <a:prstGeom prst="rect">
            <a:avLst/>
          </a:prstGeom>
          <a:solidFill>
            <a:srgbClr val="F5F8FB"/>
          </a:solidFill>
          <a:ln w="12700">
            <a:solidFill>
              <a:srgbClr val="F5F8FB"/>
            </a:solidFill>
            <a:prstDash val="solid"/>
          </a:ln>
        </p:spPr>
      </p:sp>
      <p:sp>
        <p:nvSpPr>
          <p:cNvPr id="76" name="Text 74"/>
          <p:cNvSpPr/>
          <p:nvPr/>
        </p:nvSpPr>
        <p:spPr>
          <a:xfrm>
            <a:off x="512064" y="4352544"/>
            <a:ext cx="3749040" cy="274320"/>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Audit log and fairness report</a:t>
            </a:r>
            <a:endParaRPr lang="en-US" sz="900" dirty="0"/>
          </a:p>
        </p:txBody>
      </p:sp>
      <p:sp>
        <p:nvSpPr>
          <p:cNvPr id="77" name="Text 75"/>
          <p:cNvSpPr/>
          <p:nvPr/>
        </p:nvSpPr>
        <p:spPr>
          <a:xfrm>
            <a:off x="4407408" y="435254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78" name="Text 76"/>
          <p:cNvSpPr/>
          <p:nvPr/>
        </p:nvSpPr>
        <p:spPr>
          <a:xfrm>
            <a:off x="5276088" y="4352544"/>
            <a:ext cx="859536" cy="274320"/>
          </a:xfrm>
          <a:prstGeom prst="rect">
            <a:avLst/>
          </a:prstGeom>
          <a:noFill/>
          <a:ln/>
        </p:spPr>
        <p:txBody>
          <a:bodyPr wrap="square" lIns="0" tIns="0" rIns="0" bIns="0" rtlCol="0" anchor="ctr"/>
          <a:lstStyle/>
          <a:p>
            <a:pPr algn="ctr" indent="0" marL="0">
              <a:buNone/>
            </a:pPr>
            <a:r>
              <a:rPr lang="en-US" sz="900" dirty="0">
                <a:solidFill>
                  <a:srgbClr val="B7C6D6"/>
                </a:solidFill>
                <a:latin typeface="Arial" pitchFamily="34" charset="0"/>
                <a:ea typeface="Arial" pitchFamily="34" charset="-122"/>
                <a:cs typeface="Arial" pitchFamily="34" charset="-120"/>
              </a:rPr>
              <a:t>—</a:t>
            </a:r>
            <a:endParaRPr lang="en-US" sz="900" dirty="0"/>
          </a:p>
        </p:txBody>
      </p:sp>
      <p:sp>
        <p:nvSpPr>
          <p:cNvPr id="79" name="Text 77"/>
          <p:cNvSpPr/>
          <p:nvPr/>
        </p:nvSpPr>
        <p:spPr>
          <a:xfrm>
            <a:off x="6144768" y="435254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80" name="Text 78"/>
          <p:cNvSpPr/>
          <p:nvPr/>
        </p:nvSpPr>
        <p:spPr>
          <a:xfrm>
            <a:off x="7013448" y="435254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81" name="Text 79"/>
          <p:cNvSpPr/>
          <p:nvPr/>
        </p:nvSpPr>
        <p:spPr>
          <a:xfrm>
            <a:off x="7882128" y="4352544"/>
            <a:ext cx="859536" cy="274320"/>
          </a:xfrm>
          <a:prstGeom prst="rect">
            <a:avLst/>
          </a:prstGeom>
          <a:noFill/>
          <a:ln/>
        </p:spPr>
        <p:txBody>
          <a:bodyPr wrap="square" lIns="0" tIns="0" rIns="0" bIns="0" rtlCol="0" anchor="ctr"/>
          <a:lstStyle/>
          <a:p>
            <a:pPr algn="ctr" indent="0" marL="0">
              <a:buNone/>
            </a:pPr>
            <a:r>
              <a:rPr lang="en-US" sz="1100" b="1" dirty="0">
                <a:solidFill>
                  <a:srgbClr val="2FA8A0"/>
                </a:solidFill>
                <a:latin typeface="Arial" pitchFamily="34" charset="0"/>
                <a:ea typeface="Arial" pitchFamily="34" charset="-122"/>
                <a:cs typeface="Arial" pitchFamily="34" charset="-120"/>
              </a:rPr>
              <a:t>✓</a:t>
            </a:r>
            <a:endParaRPr lang="en-US" sz="1100" dirty="0"/>
          </a:p>
        </p:txBody>
      </p:sp>
      <p:sp>
        <p:nvSpPr>
          <p:cNvPr id="82" name="Text 80"/>
          <p:cNvSpPr/>
          <p:nvPr/>
        </p:nvSpPr>
        <p:spPr>
          <a:xfrm>
            <a:off x="384048" y="4645152"/>
            <a:ext cx="8375904" cy="219456"/>
          </a:xfrm>
          <a:prstGeom prst="rect">
            <a:avLst/>
          </a:prstGeom>
          <a:noFill/>
          <a:ln/>
        </p:spPr>
        <p:txBody>
          <a:bodyPr wrap="square" lIns="0" tIns="0" rIns="0" bIns="0" rtlCol="0" anchor="ctr"/>
          <a:lstStyle/>
          <a:p>
            <a:pPr indent="0" marL="0">
              <a:buNone/>
            </a:pPr>
            <a:r>
              <a:rPr lang="en-US" sz="800" i="1" dirty="0">
                <a:solidFill>
                  <a:srgbClr val="5B6B7E"/>
                </a:solidFill>
                <a:latin typeface="Arial" pitchFamily="34" charset="0"/>
                <a:ea typeface="Arial" pitchFamily="34" charset="-122"/>
                <a:cs typeface="Arial" pitchFamily="34" charset="-120"/>
              </a:rPr>
              <a:t>Scoping is enforced server-side on every query — an out-of-scope read is refused, not merely hidden in the UI. Catalyst Authentication is provisioned; the demo build presents a role chooser so an evaluator can exercise all five scopes without five accounts.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Architecture</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Five layers, every runtime component a Catalyst service</a:t>
            </a:r>
            <a:endParaRPr lang="en-US" sz="1200" dirty="0"/>
          </a:p>
        </p:txBody>
      </p:sp>
      <p:sp>
        <p:nvSpPr>
          <p:cNvPr id="4" name="Shape 2"/>
          <p:cNvSpPr/>
          <p:nvPr/>
        </p:nvSpPr>
        <p:spPr>
          <a:xfrm>
            <a:off x="384048" y="1316736"/>
            <a:ext cx="8375904" cy="3291840"/>
          </a:xfrm>
          <a:prstGeom prst="rect">
            <a:avLst/>
          </a:prstGeom>
          <a:solidFill>
            <a:srgbClr val="FBFDFF"/>
          </a:solidFill>
          <a:ln w="15875">
            <a:solidFill>
              <a:srgbClr val="1A6FC4"/>
            </a:solidFill>
            <a:prstDash val="dash"/>
          </a:ln>
        </p:spPr>
      </p:sp>
      <p:sp>
        <p:nvSpPr>
          <p:cNvPr id="5" name="Shape 3"/>
          <p:cNvSpPr/>
          <p:nvPr/>
        </p:nvSpPr>
        <p:spPr>
          <a:xfrm>
            <a:off x="5394960" y="1216152"/>
            <a:ext cx="3364992" cy="201168"/>
          </a:xfrm>
          <a:prstGeom prst="roundRect">
            <a:avLst>
              <a:gd name="adj" fmla="val 22727"/>
            </a:avLst>
          </a:prstGeom>
          <a:solidFill>
            <a:srgbClr val="FFFFFF"/>
          </a:solidFill>
          <a:ln w="9525">
            <a:solidFill>
              <a:srgbClr val="1A6FC4"/>
            </a:solidFill>
            <a:prstDash val="solid"/>
          </a:ln>
        </p:spPr>
      </p:sp>
      <p:sp>
        <p:nvSpPr>
          <p:cNvPr id="6" name="Text 4"/>
          <p:cNvSpPr/>
          <p:nvPr/>
        </p:nvSpPr>
        <p:spPr>
          <a:xfrm>
            <a:off x="5394960" y="1216152"/>
            <a:ext cx="3364992" cy="201168"/>
          </a:xfrm>
          <a:prstGeom prst="rect">
            <a:avLst/>
          </a:prstGeom>
          <a:noFill/>
          <a:ln/>
        </p:spPr>
        <p:txBody>
          <a:bodyPr wrap="square" lIns="0" tIns="0" rIns="0" bIns="0" rtlCol="0" anchor="ctr"/>
          <a:lstStyle/>
          <a:p>
            <a:pPr algn="ctr" indent="0" marL="0">
              <a:buNone/>
            </a:pPr>
            <a:r>
              <a:rPr lang="en-US" sz="650" b="1" dirty="0">
                <a:solidFill>
                  <a:srgbClr val="1A6FC4"/>
                </a:solidFill>
                <a:latin typeface="Arial" pitchFamily="34" charset="0"/>
                <a:ea typeface="Arial" pitchFamily="34" charset="-122"/>
                <a:cs typeface="Arial" pitchFamily="34" charset="-120"/>
              </a:rPr>
              <a:t>ZOHO CATALYST — ONE PROJECT, ONE ORIGIN, NO THIRD-PARTY RUNTIME</a:t>
            </a:r>
            <a:endParaRPr lang="en-US" sz="650" dirty="0"/>
          </a:p>
        </p:txBody>
      </p:sp>
      <p:sp>
        <p:nvSpPr>
          <p:cNvPr id="7" name="Shape 5"/>
          <p:cNvSpPr/>
          <p:nvPr/>
        </p:nvSpPr>
        <p:spPr>
          <a:xfrm>
            <a:off x="502920" y="1444752"/>
            <a:ext cx="1097280" cy="502920"/>
          </a:xfrm>
          <a:prstGeom prst="roundRect">
            <a:avLst>
              <a:gd name="adj" fmla="val 9091"/>
            </a:avLst>
          </a:prstGeom>
          <a:solidFill>
            <a:srgbClr val="1A6FC4"/>
          </a:solidFill>
          <a:ln w="12700">
            <a:solidFill>
              <a:srgbClr val="1A6FC4"/>
            </a:solidFill>
            <a:prstDash val="solid"/>
          </a:ln>
        </p:spPr>
      </p:sp>
      <p:sp>
        <p:nvSpPr>
          <p:cNvPr id="8" name="Text 6"/>
          <p:cNvSpPr/>
          <p:nvPr/>
        </p:nvSpPr>
        <p:spPr>
          <a:xfrm>
            <a:off x="566928" y="1490472"/>
            <a:ext cx="969264" cy="20116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PRESENTATION</a:t>
            </a:r>
            <a:endParaRPr lang="en-US" sz="850" dirty="0"/>
          </a:p>
        </p:txBody>
      </p:sp>
      <p:sp>
        <p:nvSpPr>
          <p:cNvPr id="9" name="Text 7"/>
          <p:cNvSpPr/>
          <p:nvPr/>
        </p:nvSpPr>
        <p:spPr>
          <a:xfrm>
            <a:off x="566928" y="1691640"/>
            <a:ext cx="969264" cy="219456"/>
          </a:xfrm>
          <a:prstGeom prst="rect">
            <a:avLst/>
          </a:prstGeom>
          <a:noFill/>
          <a:ln/>
        </p:spPr>
        <p:txBody>
          <a:bodyPr wrap="square" lIns="0" tIns="0" rIns="0" bIns="0" rtlCol="0" anchor="t"/>
          <a:lstStyle/>
          <a:p>
            <a:pPr indent="0" marL="0">
              <a:buNone/>
            </a:pPr>
            <a:r>
              <a:rPr lang="en-US" sz="650" dirty="0">
                <a:solidFill>
                  <a:srgbClr val="E3EDF5"/>
                </a:solidFill>
                <a:latin typeface="Arial" pitchFamily="34" charset="0"/>
                <a:ea typeface="Arial" pitchFamily="34" charset="-122"/>
                <a:cs typeface="Arial" pitchFamily="34" charset="-120"/>
              </a:rPr>
              <a:t>What the officer sees</a:t>
            </a:r>
            <a:endParaRPr lang="en-US" sz="650" dirty="0"/>
          </a:p>
        </p:txBody>
      </p:sp>
      <p:sp>
        <p:nvSpPr>
          <p:cNvPr id="10" name="Shape 8"/>
          <p:cNvSpPr/>
          <p:nvPr/>
        </p:nvSpPr>
        <p:spPr>
          <a:xfrm>
            <a:off x="1709928" y="1444752"/>
            <a:ext cx="2231136" cy="502920"/>
          </a:xfrm>
          <a:prstGeom prst="roundRect">
            <a:avLst>
              <a:gd name="adj" fmla="val 9091"/>
            </a:avLst>
          </a:prstGeom>
          <a:solidFill>
            <a:srgbClr val="FFFFFF"/>
          </a:solidFill>
          <a:ln w="12700">
            <a:solidFill>
              <a:srgbClr val="1A6FC4"/>
            </a:solidFill>
            <a:prstDash val="solid"/>
          </a:ln>
        </p:spPr>
      </p:sp>
      <p:sp>
        <p:nvSpPr>
          <p:cNvPr id="11" name="Text 9"/>
          <p:cNvSpPr/>
          <p:nvPr/>
        </p:nvSpPr>
        <p:spPr>
          <a:xfrm>
            <a:off x="1801368" y="1481328"/>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React 18 + TypeScript SPA</a:t>
            </a:r>
            <a:endParaRPr lang="en-US" sz="950" dirty="0"/>
          </a:p>
        </p:txBody>
      </p:sp>
      <p:sp>
        <p:nvSpPr>
          <p:cNvPr id="12" name="Text 10"/>
          <p:cNvSpPr/>
          <p:nvPr/>
        </p:nvSpPr>
        <p:spPr>
          <a:xfrm>
            <a:off x="1801368" y="1691640"/>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Web Client Hosting · /app</a:t>
            </a:r>
            <a:endParaRPr lang="en-US" sz="800" dirty="0"/>
          </a:p>
        </p:txBody>
      </p:sp>
      <p:sp>
        <p:nvSpPr>
          <p:cNvPr id="13" name="Shape 11"/>
          <p:cNvSpPr/>
          <p:nvPr/>
        </p:nvSpPr>
        <p:spPr>
          <a:xfrm>
            <a:off x="4059936" y="1444752"/>
            <a:ext cx="2231136" cy="502920"/>
          </a:xfrm>
          <a:prstGeom prst="roundRect">
            <a:avLst>
              <a:gd name="adj" fmla="val 9091"/>
            </a:avLst>
          </a:prstGeom>
          <a:solidFill>
            <a:srgbClr val="FFFFFF"/>
          </a:solidFill>
          <a:ln w="12700">
            <a:solidFill>
              <a:srgbClr val="1A6FC4"/>
            </a:solidFill>
            <a:prstDash val="solid"/>
          </a:ln>
        </p:spPr>
      </p:sp>
      <p:sp>
        <p:nvSpPr>
          <p:cNvPr id="14" name="Text 12"/>
          <p:cNvSpPr/>
          <p:nvPr/>
        </p:nvSpPr>
        <p:spPr>
          <a:xfrm>
            <a:off x="4151376" y="1481328"/>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Graph · Map · Charts</a:t>
            </a:r>
            <a:endParaRPr lang="en-US" sz="950" dirty="0"/>
          </a:p>
        </p:txBody>
      </p:sp>
      <p:sp>
        <p:nvSpPr>
          <p:cNvPr id="15" name="Text 13"/>
          <p:cNvSpPr/>
          <p:nvPr/>
        </p:nvSpPr>
        <p:spPr>
          <a:xfrm>
            <a:off x="4151376" y="1691640"/>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Cytoscape.js · MapLibre GL · Recharts</a:t>
            </a:r>
            <a:endParaRPr lang="en-US" sz="800" dirty="0"/>
          </a:p>
        </p:txBody>
      </p:sp>
      <p:sp>
        <p:nvSpPr>
          <p:cNvPr id="16" name="Shape 14"/>
          <p:cNvSpPr/>
          <p:nvPr/>
        </p:nvSpPr>
        <p:spPr>
          <a:xfrm>
            <a:off x="6409944" y="1444752"/>
            <a:ext cx="2231136" cy="502920"/>
          </a:xfrm>
          <a:prstGeom prst="roundRect">
            <a:avLst>
              <a:gd name="adj" fmla="val 9091"/>
            </a:avLst>
          </a:prstGeom>
          <a:solidFill>
            <a:srgbClr val="FFFFFF"/>
          </a:solidFill>
          <a:ln w="12700">
            <a:solidFill>
              <a:srgbClr val="1A6FC4"/>
            </a:solidFill>
            <a:prstDash val="solid"/>
          </a:ln>
        </p:spPr>
      </p:sp>
      <p:sp>
        <p:nvSpPr>
          <p:cNvPr id="17" name="Text 15"/>
          <p:cNvSpPr/>
          <p:nvPr/>
        </p:nvSpPr>
        <p:spPr>
          <a:xfrm>
            <a:off x="6501384" y="1481328"/>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EN / ಕನ್ನಡ + voice</a:t>
            </a:r>
            <a:endParaRPr lang="en-US" sz="950" dirty="0"/>
          </a:p>
        </p:txBody>
      </p:sp>
      <p:sp>
        <p:nvSpPr>
          <p:cNvPr id="18" name="Text 16"/>
          <p:cNvSpPr/>
          <p:nvPr/>
        </p:nvSpPr>
        <p:spPr>
          <a:xfrm>
            <a:off x="6501384" y="1691640"/>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Web Speech API, client-side</a:t>
            </a:r>
            <a:endParaRPr lang="en-US" sz="800" dirty="0"/>
          </a:p>
        </p:txBody>
      </p:sp>
      <p:sp>
        <p:nvSpPr>
          <p:cNvPr id="19" name="Shape 17"/>
          <p:cNvSpPr/>
          <p:nvPr/>
        </p:nvSpPr>
        <p:spPr>
          <a:xfrm>
            <a:off x="2756916" y="1947672"/>
            <a:ext cx="137160" cy="123444"/>
          </a:xfrm>
          <a:prstGeom prst="downArrow">
            <a:avLst/>
          </a:prstGeom>
          <a:solidFill>
            <a:srgbClr val="A9BCCF"/>
          </a:solidFill>
          <a:ln w="12700">
            <a:solidFill>
              <a:srgbClr val="A9BCCF"/>
            </a:solidFill>
            <a:prstDash val="solid"/>
          </a:ln>
        </p:spPr>
      </p:sp>
      <p:sp>
        <p:nvSpPr>
          <p:cNvPr id="20" name="Shape 18"/>
          <p:cNvSpPr/>
          <p:nvPr/>
        </p:nvSpPr>
        <p:spPr>
          <a:xfrm>
            <a:off x="5106924" y="1947672"/>
            <a:ext cx="137160" cy="123444"/>
          </a:xfrm>
          <a:prstGeom prst="downArrow">
            <a:avLst/>
          </a:prstGeom>
          <a:solidFill>
            <a:srgbClr val="A9BCCF"/>
          </a:solidFill>
          <a:ln w="12700">
            <a:solidFill>
              <a:srgbClr val="A9BCCF"/>
            </a:solidFill>
            <a:prstDash val="solid"/>
          </a:ln>
        </p:spPr>
      </p:sp>
      <p:sp>
        <p:nvSpPr>
          <p:cNvPr id="21" name="Shape 19"/>
          <p:cNvSpPr/>
          <p:nvPr/>
        </p:nvSpPr>
        <p:spPr>
          <a:xfrm>
            <a:off x="7456932" y="1947672"/>
            <a:ext cx="137160" cy="123444"/>
          </a:xfrm>
          <a:prstGeom prst="downArrow">
            <a:avLst/>
          </a:prstGeom>
          <a:solidFill>
            <a:srgbClr val="A9BCCF"/>
          </a:solidFill>
          <a:ln w="12700">
            <a:solidFill>
              <a:srgbClr val="A9BCCF"/>
            </a:solidFill>
            <a:prstDash val="solid"/>
          </a:ln>
        </p:spPr>
      </p:sp>
      <p:sp>
        <p:nvSpPr>
          <p:cNvPr id="22" name="Shape 20"/>
          <p:cNvSpPr/>
          <p:nvPr/>
        </p:nvSpPr>
        <p:spPr>
          <a:xfrm>
            <a:off x="502920" y="2071116"/>
            <a:ext cx="1097280" cy="502920"/>
          </a:xfrm>
          <a:prstGeom prst="roundRect">
            <a:avLst>
              <a:gd name="adj" fmla="val 9091"/>
            </a:avLst>
          </a:prstGeom>
          <a:solidFill>
            <a:srgbClr val="2FA8A0"/>
          </a:solidFill>
          <a:ln w="12700">
            <a:solidFill>
              <a:srgbClr val="2FA8A0"/>
            </a:solidFill>
            <a:prstDash val="solid"/>
          </a:ln>
        </p:spPr>
      </p:sp>
      <p:sp>
        <p:nvSpPr>
          <p:cNvPr id="23" name="Text 21"/>
          <p:cNvSpPr/>
          <p:nvPr/>
        </p:nvSpPr>
        <p:spPr>
          <a:xfrm>
            <a:off x="566928" y="2116836"/>
            <a:ext cx="969264" cy="20116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API</a:t>
            </a:r>
            <a:endParaRPr lang="en-US" sz="850" dirty="0"/>
          </a:p>
        </p:txBody>
      </p:sp>
      <p:sp>
        <p:nvSpPr>
          <p:cNvPr id="24" name="Text 22"/>
          <p:cNvSpPr/>
          <p:nvPr/>
        </p:nvSpPr>
        <p:spPr>
          <a:xfrm>
            <a:off x="566928" y="2318004"/>
            <a:ext cx="969264" cy="219456"/>
          </a:xfrm>
          <a:prstGeom prst="rect">
            <a:avLst/>
          </a:prstGeom>
          <a:noFill/>
          <a:ln/>
        </p:spPr>
        <p:txBody>
          <a:bodyPr wrap="square" lIns="0" tIns="0" rIns="0" bIns="0" rtlCol="0" anchor="t"/>
          <a:lstStyle/>
          <a:p>
            <a:pPr indent="0" marL="0">
              <a:buNone/>
            </a:pPr>
            <a:r>
              <a:rPr lang="en-US" sz="650" dirty="0">
                <a:solidFill>
                  <a:srgbClr val="E3EDF5"/>
                </a:solidFill>
                <a:latin typeface="Arial" pitchFamily="34" charset="0"/>
                <a:ea typeface="Arial" pitchFamily="34" charset="-122"/>
                <a:cs typeface="Arial" pitchFamily="34" charset="-120"/>
              </a:rPr>
              <a:t>Read-only, rank-scoped</a:t>
            </a:r>
            <a:endParaRPr lang="en-US" sz="650" dirty="0"/>
          </a:p>
        </p:txBody>
      </p:sp>
      <p:sp>
        <p:nvSpPr>
          <p:cNvPr id="25" name="Shape 23"/>
          <p:cNvSpPr/>
          <p:nvPr/>
        </p:nvSpPr>
        <p:spPr>
          <a:xfrm>
            <a:off x="1709928" y="2071116"/>
            <a:ext cx="2231136" cy="502920"/>
          </a:xfrm>
          <a:prstGeom prst="roundRect">
            <a:avLst>
              <a:gd name="adj" fmla="val 9091"/>
            </a:avLst>
          </a:prstGeom>
          <a:solidFill>
            <a:srgbClr val="FFFFFF"/>
          </a:solidFill>
          <a:ln w="12700">
            <a:solidFill>
              <a:srgbClr val="2FA8A0"/>
            </a:solidFill>
            <a:prstDash val="solid"/>
          </a:ln>
        </p:spPr>
      </p:sp>
      <p:sp>
        <p:nvSpPr>
          <p:cNvPr id="26" name="Text 24"/>
          <p:cNvSpPr/>
          <p:nvPr/>
        </p:nvSpPr>
        <p:spPr>
          <a:xfrm>
            <a:off x="1801368" y="2107692"/>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21 REST endpoints</a:t>
            </a:r>
            <a:endParaRPr lang="en-US" sz="950" dirty="0"/>
          </a:p>
        </p:txBody>
      </p:sp>
      <p:sp>
        <p:nvSpPr>
          <p:cNvPr id="27" name="Text 25"/>
          <p:cNvSpPr/>
          <p:nvPr/>
        </p:nvSpPr>
        <p:spPr>
          <a:xfrm>
            <a:off x="1801368" y="2318004"/>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Serverless Function · Node 20 · 512 MB</a:t>
            </a:r>
            <a:endParaRPr lang="en-US" sz="800" dirty="0"/>
          </a:p>
        </p:txBody>
      </p:sp>
      <p:sp>
        <p:nvSpPr>
          <p:cNvPr id="28" name="Shape 26"/>
          <p:cNvSpPr/>
          <p:nvPr/>
        </p:nvSpPr>
        <p:spPr>
          <a:xfrm>
            <a:off x="4059936" y="2071116"/>
            <a:ext cx="2231136" cy="502920"/>
          </a:xfrm>
          <a:prstGeom prst="roundRect">
            <a:avLst>
              <a:gd name="adj" fmla="val 9091"/>
            </a:avLst>
          </a:prstGeom>
          <a:solidFill>
            <a:srgbClr val="FFFFFF"/>
          </a:solidFill>
          <a:ln w="12700">
            <a:solidFill>
              <a:srgbClr val="2FA8A0"/>
            </a:solidFill>
            <a:prstDash val="solid"/>
          </a:ln>
        </p:spPr>
      </p:sp>
      <p:sp>
        <p:nvSpPr>
          <p:cNvPr id="29" name="Text 27"/>
          <p:cNvSpPr/>
          <p:nvPr/>
        </p:nvSpPr>
        <p:spPr>
          <a:xfrm>
            <a:off x="4151376" y="2107692"/>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RBAC on every query</a:t>
            </a:r>
            <a:endParaRPr lang="en-US" sz="950" dirty="0"/>
          </a:p>
        </p:txBody>
      </p:sp>
      <p:sp>
        <p:nvSpPr>
          <p:cNvPr id="30" name="Text 28"/>
          <p:cNvSpPr/>
          <p:nvPr/>
        </p:nvSpPr>
        <p:spPr>
          <a:xfrm>
            <a:off x="4151376" y="2318004"/>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Refuses out-of-scope reads server-side</a:t>
            </a:r>
            <a:endParaRPr lang="en-US" sz="800" dirty="0"/>
          </a:p>
        </p:txBody>
      </p:sp>
      <p:sp>
        <p:nvSpPr>
          <p:cNvPr id="31" name="Shape 29"/>
          <p:cNvSpPr/>
          <p:nvPr/>
        </p:nvSpPr>
        <p:spPr>
          <a:xfrm>
            <a:off x="6409944" y="2071116"/>
            <a:ext cx="2231136" cy="502920"/>
          </a:xfrm>
          <a:prstGeom prst="roundRect">
            <a:avLst>
              <a:gd name="adj" fmla="val 9091"/>
            </a:avLst>
          </a:prstGeom>
          <a:solidFill>
            <a:srgbClr val="FFFFFF"/>
          </a:solidFill>
          <a:ln w="12700">
            <a:solidFill>
              <a:srgbClr val="2FA8A0"/>
            </a:solidFill>
            <a:prstDash val="solid"/>
          </a:ln>
        </p:spPr>
      </p:sp>
      <p:sp>
        <p:nvSpPr>
          <p:cNvPr id="32" name="Text 30"/>
          <p:cNvSpPr/>
          <p:nvPr/>
        </p:nvSpPr>
        <p:spPr>
          <a:xfrm>
            <a:off x="6501384" y="2107692"/>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Audit + grounded assistant</a:t>
            </a:r>
            <a:endParaRPr lang="en-US" sz="950" dirty="0"/>
          </a:p>
        </p:txBody>
      </p:sp>
      <p:sp>
        <p:nvSpPr>
          <p:cNvPr id="33" name="Text 31"/>
          <p:cNvSpPr/>
          <p:nvPr/>
        </p:nvSpPr>
        <p:spPr>
          <a:xfrm>
            <a:off x="6501384" y="2318004"/>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Cites the FIR numbers it drew from</a:t>
            </a:r>
            <a:endParaRPr lang="en-US" sz="800" dirty="0"/>
          </a:p>
        </p:txBody>
      </p:sp>
      <p:sp>
        <p:nvSpPr>
          <p:cNvPr id="34" name="Shape 32"/>
          <p:cNvSpPr/>
          <p:nvPr/>
        </p:nvSpPr>
        <p:spPr>
          <a:xfrm>
            <a:off x="2756916" y="2574036"/>
            <a:ext cx="137160" cy="123444"/>
          </a:xfrm>
          <a:prstGeom prst="downArrow">
            <a:avLst/>
          </a:prstGeom>
          <a:solidFill>
            <a:srgbClr val="A9BCCF"/>
          </a:solidFill>
          <a:ln w="12700">
            <a:solidFill>
              <a:srgbClr val="A9BCCF"/>
            </a:solidFill>
            <a:prstDash val="solid"/>
          </a:ln>
        </p:spPr>
      </p:sp>
      <p:sp>
        <p:nvSpPr>
          <p:cNvPr id="35" name="Shape 33"/>
          <p:cNvSpPr/>
          <p:nvPr/>
        </p:nvSpPr>
        <p:spPr>
          <a:xfrm>
            <a:off x="5106924" y="2574036"/>
            <a:ext cx="137160" cy="123444"/>
          </a:xfrm>
          <a:prstGeom prst="downArrow">
            <a:avLst/>
          </a:prstGeom>
          <a:solidFill>
            <a:srgbClr val="A9BCCF"/>
          </a:solidFill>
          <a:ln w="12700">
            <a:solidFill>
              <a:srgbClr val="A9BCCF"/>
            </a:solidFill>
            <a:prstDash val="solid"/>
          </a:ln>
        </p:spPr>
      </p:sp>
      <p:sp>
        <p:nvSpPr>
          <p:cNvPr id="36" name="Shape 34"/>
          <p:cNvSpPr/>
          <p:nvPr/>
        </p:nvSpPr>
        <p:spPr>
          <a:xfrm>
            <a:off x="7456932" y="2574036"/>
            <a:ext cx="137160" cy="123444"/>
          </a:xfrm>
          <a:prstGeom prst="downArrow">
            <a:avLst/>
          </a:prstGeom>
          <a:solidFill>
            <a:srgbClr val="A9BCCF"/>
          </a:solidFill>
          <a:ln w="12700">
            <a:solidFill>
              <a:srgbClr val="A9BCCF"/>
            </a:solidFill>
            <a:prstDash val="solid"/>
          </a:ln>
        </p:spPr>
      </p:sp>
      <p:sp>
        <p:nvSpPr>
          <p:cNvPr id="37" name="Shape 35"/>
          <p:cNvSpPr/>
          <p:nvPr/>
        </p:nvSpPr>
        <p:spPr>
          <a:xfrm>
            <a:off x="502920" y="2697480"/>
            <a:ext cx="1097280" cy="502920"/>
          </a:xfrm>
          <a:prstGeom prst="roundRect">
            <a:avLst>
              <a:gd name="adj" fmla="val 9091"/>
            </a:avLst>
          </a:prstGeom>
          <a:solidFill>
            <a:srgbClr val="E8871E"/>
          </a:solidFill>
          <a:ln w="12700">
            <a:solidFill>
              <a:srgbClr val="E8871E"/>
            </a:solidFill>
            <a:prstDash val="solid"/>
          </a:ln>
        </p:spPr>
      </p:sp>
      <p:sp>
        <p:nvSpPr>
          <p:cNvPr id="38" name="Text 36"/>
          <p:cNvSpPr/>
          <p:nvPr/>
        </p:nvSpPr>
        <p:spPr>
          <a:xfrm>
            <a:off x="566928" y="2743200"/>
            <a:ext cx="969264" cy="20116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COMPUTE</a:t>
            </a:r>
            <a:endParaRPr lang="en-US" sz="850" dirty="0"/>
          </a:p>
        </p:txBody>
      </p:sp>
      <p:sp>
        <p:nvSpPr>
          <p:cNvPr id="39" name="Text 37"/>
          <p:cNvSpPr/>
          <p:nvPr/>
        </p:nvSpPr>
        <p:spPr>
          <a:xfrm>
            <a:off x="566928" y="2944368"/>
            <a:ext cx="969264" cy="219456"/>
          </a:xfrm>
          <a:prstGeom prst="rect">
            <a:avLst/>
          </a:prstGeom>
          <a:noFill/>
          <a:ln/>
        </p:spPr>
        <p:txBody>
          <a:bodyPr wrap="square" lIns="0" tIns="0" rIns="0" bIns="0" rtlCol="0" anchor="t"/>
          <a:lstStyle/>
          <a:p>
            <a:pPr indent="0" marL="0">
              <a:buNone/>
            </a:pPr>
            <a:r>
              <a:rPr lang="en-US" sz="650" dirty="0">
                <a:solidFill>
                  <a:srgbClr val="E3EDF5"/>
                </a:solidFill>
                <a:latin typeface="Arial" pitchFamily="34" charset="0"/>
                <a:ea typeface="Arial" pitchFamily="34" charset="-122"/>
                <a:cs typeface="Arial" pitchFamily="34" charset="-120"/>
              </a:rPr>
              <a:t>Heavy work lives here</a:t>
            </a:r>
            <a:endParaRPr lang="en-US" sz="650" dirty="0"/>
          </a:p>
        </p:txBody>
      </p:sp>
      <p:sp>
        <p:nvSpPr>
          <p:cNvPr id="40" name="Shape 38"/>
          <p:cNvSpPr/>
          <p:nvPr/>
        </p:nvSpPr>
        <p:spPr>
          <a:xfrm>
            <a:off x="1709928" y="2697480"/>
            <a:ext cx="2231136" cy="502920"/>
          </a:xfrm>
          <a:prstGeom prst="roundRect">
            <a:avLst>
              <a:gd name="adj" fmla="val 9091"/>
            </a:avLst>
          </a:prstGeom>
          <a:solidFill>
            <a:srgbClr val="FFFFFF"/>
          </a:solidFill>
          <a:ln w="12700">
            <a:solidFill>
              <a:srgbClr val="E8871E"/>
            </a:solidFill>
            <a:prstDash val="solid"/>
          </a:ln>
        </p:spPr>
      </p:sp>
      <p:sp>
        <p:nvSpPr>
          <p:cNvPr id="41" name="Text 39"/>
          <p:cNvSpPr/>
          <p:nvPr/>
        </p:nvSpPr>
        <p:spPr>
          <a:xfrm>
            <a:off x="1801368" y="2734056"/>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Analytics service</a:t>
            </a:r>
            <a:endParaRPr lang="en-US" sz="950" dirty="0"/>
          </a:p>
        </p:txBody>
      </p:sp>
      <p:sp>
        <p:nvSpPr>
          <p:cNvPr id="42" name="Text 40"/>
          <p:cNvSpPr/>
          <p:nvPr/>
        </p:nvSpPr>
        <p:spPr>
          <a:xfrm>
            <a:off x="1801368" y="2944368"/>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AppSail · Python · ~135 ms per call</a:t>
            </a:r>
            <a:endParaRPr lang="en-US" sz="800" dirty="0"/>
          </a:p>
        </p:txBody>
      </p:sp>
      <p:sp>
        <p:nvSpPr>
          <p:cNvPr id="43" name="Shape 41"/>
          <p:cNvSpPr/>
          <p:nvPr/>
        </p:nvSpPr>
        <p:spPr>
          <a:xfrm>
            <a:off x="4059936" y="2697480"/>
            <a:ext cx="2231136" cy="502920"/>
          </a:xfrm>
          <a:prstGeom prst="roundRect">
            <a:avLst>
              <a:gd name="adj" fmla="val 9091"/>
            </a:avLst>
          </a:prstGeom>
          <a:solidFill>
            <a:srgbClr val="FFFFFF"/>
          </a:solidFill>
          <a:ln w="12700">
            <a:solidFill>
              <a:srgbClr val="E8871E"/>
            </a:solidFill>
            <a:prstDash val="solid"/>
          </a:ln>
        </p:spPr>
      </p:sp>
      <p:sp>
        <p:nvSpPr>
          <p:cNvPr id="44" name="Text 42"/>
          <p:cNvSpPr/>
          <p:nvPr/>
        </p:nvSpPr>
        <p:spPr>
          <a:xfrm>
            <a:off x="4151376" y="2734056"/>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Nightly pipeline</a:t>
            </a:r>
            <a:endParaRPr lang="en-US" sz="950" dirty="0"/>
          </a:p>
        </p:txBody>
      </p:sp>
      <p:sp>
        <p:nvSpPr>
          <p:cNvPr id="45" name="Text 43"/>
          <p:cNvSpPr/>
          <p:nvPr/>
        </p:nvSpPr>
        <p:spPr>
          <a:xfrm>
            <a:off x="4151376" y="2944368"/>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Job · 15-min budget · peaks 738 MB</a:t>
            </a:r>
            <a:endParaRPr lang="en-US" sz="800" dirty="0"/>
          </a:p>
        </p:txBody>
      </p:sp>
      <p:sp>
        <p:nvSpPr>
          <p:cNvPr id="46" name="Shape 44"/>
          <p:cNvSpPr/>
          <p:nvPr/>
        </p:nvSpPr>
        <p:spPr>
          <a:xfrm>
            <a:off x="6409944" y="2697480"/>
            <a:ext cx="2231136" cy="502920"/>
          </a:xfrm>
          <a:prstGeom prst="roundRect">
            <a:avLst>
              <a:gd name="adj" fmla="val 9091"/>
            </a:avLst>
          </a:prstGeom>
          <a:solidFill>
            <a:srgbClr val="FFFFFF"/>
          </a:solidFill>
          <a:ln w="12700">
            <a:solidFill>
              <a:srgbClr val="E8871E"/>
            </a:solidFill>
            <a:prstDash val="solid"/>
          </a:ln>
        </p:spPr>
      </p:sp>
      <p:sp>
        <p:nvSpPr>
          <p:cNvPr id="47" name="Text 45"/>
          <p:cNvSpPr/>
          <p:nvPr/>
        </p:nvSpPr>
        <p:spPr>
          <a:xfrm>
            <a:off x="6501384" y="2734056"/>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Scheduler</a:t>
            </a:r>
            <a:endParaRPr lang="en-US" sz="950" dirty="0"/>
          </a:p>
        </p:txBody>
      </p:sp>
      <p:sp>
        <p:nvSpPr>
          <p:cNvPr id="48" name="Text 46"/>
          <p:cNvSpPr/>
          <p:nvPr/>
        </p:nvSpPr>
        <p:spPr>
          <a:xfrm>
            <a:off x="6501384" y="2944368"/>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Cron · 02:00 IST · full recompute</a:t>
            </a:r>
            <a:endParaRPr lang="en-US" sz="800" dirty="0"/>
          </a:p>
        </p:txBody>
      </p:sp>
      <p:sp>
        <p:nvSpPr>
          <p:cNvPr id="49" name="Shape 47"/>
          <p:cNvSpPr/>
          <p:nvPr/>
        </p:nvSpPr>
        <p:spPr>
          <a:xfrm>
            <a:off x="2756916" y="3200400"/>
            <a:ext cx="137160" cy="123444"/>
          </a:xfrm>
          <a:prstGeom prst="downArrow">
            <a:avLst/>
          </a:prstGeom>
          <a:solidFill>
            <a:srgbClr val="A9BCCF"/>
          </a:solidFill>
          <a:ln w="12700">
            <a:solidFill>
              <a:srgbClr val="A9BCCF"/>
            </a:solidFill>
            <a:prstDash val="solid"/>
          </a:ln>
        </p:spPr>
      </p:sp>
      <p:sp>
        <p:nvSpPr>
          <p:cNvPr id="50" name="Shape 48"/>
          <p:cNvSpPr/>
          <p:nvPr/>
        </p:nvSpPr>
        <p:spPr>
          <a:xfrm>
            <a:off x="5106924" y="3200400"/>
            <a:ext cx="137160" cy="123444"/>
          </a:xfrm>
          <a:prstGeom prst="downArrow">
            <a:avLst/>
          </a:prstGeom>
          <a:solidFill>
            <a:srgbClr val="A9BCCF"/>
          </a:solidFill>
          <a:ln w="12700">
            <a:solidFill>
              <a:srgbClr val="A9BCCF"/>
            </a:solidFill>
            <a:prstDash val="solid"/>
          </a:ln>
        </p:spPr>
      </p:sp>
      <p:sp>
        <p:nvSpPr>
          <p:cNvPr id="51" name="Shape 49"/>
          <p:cNvSpPr/>
          <p:nvPr/>
        </p:nvSpPr>
        <p:spPr>
          <a:xfrm>
            <a:off x="7456932" y="3200400"/>
            <a:ext cx="137160" cy="123444"/>
          </a:xfrm>
          <a:prstGeom prst="downArrow">
            <a:avLst/>
          </a:prstGeom>
          <a:solidFill>
            <a:srgbClr val="A9BCCF"/>
          </a:solidFill>
          <a:ln w="12700">
            <a:solidFill>
              <a:srgbClr val="A9BCCF"/>
            </a:solidFill>
            <a:prstDash val="solid"/>
          </a:ln>
        </p:spPr>
      </p:sp>
      <p:sp>
        <p:nvSpPr>
          <p:cNvPr id="52" name="Shape 50"/>
          <p:cNvSpPr/>
          <p:nvPr/>
        </p:nvSpPr>
        <p:spPr>
          <a:xfrm>
            <a:off x="502920" y="3323844"/>
            <a:ext cx="1097280" cy="502920"/>
          </a:xfrm>
          <a:prstGeom prst="roundRect">
            <a:avLst>
              <a:gd name="adj" fmla="val 9091"/>
            </a:avLst>
          </a:prstGeom>
          <a:solidFill>
            <a:srgbClr val="0F2F44"/>
          </a:solidFill>
          <a:ln w="12700">
            <a:solidFill>
              <a:srgbClr val="0F2F44"/>
            </a:solidFill>
            <a:prstDash val="solid"/>
          </a:ln>
        </p:spPr>
      </p:sp>
      <p:sp>
        <p:nvSpPr>
          <p:cNvPr id="53" name="Text 51"/>
          <p:cNvSpPr/>
          <p:nvPr/>
        </p:nvSpPr>
        <p:spPr>
          <a:xfrm>
            <a:off x="566928" y="3369564"/>
            <a:ext cx="969264" cy="20116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DATA</a:t>
            </a:r>
            <a:endParaRPr lang="en-US" sz="850" dirty="0"/>
          </a:p>
        </p:txBody>
      </p:sp>
      <p:sp>
        <p:nvSpPr>
          <p:cNvPr id="54" name="Text 52"/>
          <p:cNvSpPr/>
          <p:nvPr/>
        </p:nvSpPr>
        <p:spPr>
          <a:xfrm>
            <a:off x="566928" y="3570732"/>
            <a:ext cx="969264" cy="219456"/>
          </a:xfrm>
          <a:prstGeom prst="rect">
            <a:avLst/>
          </a:prstGeom>
          <a:noFill/>
          <a:ln/>
        </p:spPr>
        <p:txBody>
          <a:bodyPr wrap="square" lIns="0" tIns="0" rIns="0" bIns="0" rtlCol="0" anchor="t"/>
          <a:lstStyle/>
          <a:p>
            <a:pPr indent="0" marL="0">
              <a:buNone/>
            </a:pPr>
            <a:r>
              <a:rPr lang="en-US" sz="650" dirty="0">
                <a:solidFill>
                  <a:srgbClr val="E3EDF5"/>
                </a:solidFill>
                <a:latin typeface="Arial" pitchFamily="34" charset="0"/>
                <a:ea typeface="Arial" pitchFamily="34" charset="-122"/>
                <a:cs typeface="Arial" pitchFamily="34" charset="-120"/>
              </a:rPr>
              <a:t>One source of record</a:t>
            </a:r>
            <a:endParaRPr lang="en-US" sz="650" dirty="0"/>
          </a:p>
        </p:txBody>
      </p:sp>
      <p:sp>
        <p:nvSpPr>
          <p:cNvPr id="55" name="Shape 53"/>
          <p:cNvSpPr/>
          <p:nvPr/>
        </p:nvSpPr>
        <p:spPr>
          <a:xfrm>
            <a:off x="1709928" y="3323844"/>
            <a:ext cx="2231136" cy="502920"/>
          </a:xfrm>
          <a:prstGeom prst="roundRect">
            <a:avLst>
              <a:gd name="adj" fmla="val 9091"/>
            </a:avLst>
          </a:prstGeom>
          <a:solidFill>
            <a:srgbClr val="FFFFFF"/>
          </a:solidFill>
          <a:ln w="12700">
            <a:solidFill>
              <a:srgbClr val="0F2F44"/>
            </a:solidFill>
            <a:prstDash val="solid"/>
          </a:ln>
        </p:spPr>
      </p:sp>
      <p:sp>
        <p:nvSpPr>
          <p:cNvPr id="56" name="Text 54"/>
          <p:cNvSpPr/>
          <p:nvPr/>
        </p:nvSpPr>
        <p:spPr>
          <a:xfrm>
            <a:off x="1801368" y="3360420"/>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40,836 FIRs · 11 tables</a:t>
            </a:r>
            <a:endParaRPr lang="en-US" sz="950" dirty="0"/>
          </a:p>
        </p:txBody>
      </p:sp>
      <p:sp>
        <p:nvSpPr>
          <p:cNvPr id="57" name="Text 55"/>
          <p:cNvSpPr/>
          <p:nvPr/>
        </p:nvSpPr>
        <p:spPr>
          <a:xfrm>
            <a:off x="1801368" y="3570732"/>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Data Store · queried with ZCQL</a:t>
            </a:r>
            <a:endParaRPr lang="en-US" sz="800" dirty="0"/>
          </a:p>
        </p:txBody>
      </p:sp>
      <p:sp>
        <p:nvSpPr>
          <p:cNvPr id="58" name="Shape 56"/>
          <p:cNvSpPr/>
          <p:nvPr/>
        </p:nvSpPr>
        <p:spPr>
          <a:xfrm>
            <a:off x="4059936" y="3323844"/>
            <a:ext cx="2231136" cy="502920"/>
          </a:xfrm>
          <a:prstGeom prst="roundRect">
            <a:avLst>
              <a:gd name="adj" fmla="val 9091"/>
            </a:avLst>
          </a:prstGeom>
          <a:solidFill>
            <a:srgbClr val="FFFFFF"/>
          </a:solidFill>
          <a:ln w="12700">
            <a:solidFill>
              <a:srgbClr val="0F2F44"/>
            </a:solidFill>
            <a:prstDash val="solid"/>
          </a:ln>
        </p:spPr>
      </p:sp>
      <p:sp>
        <p:nvSpPr>
          <p:cNvPr id="59" name="Text 57"/>
          <p:cNvSpPr/>
          <p:nvPr/>
        </p:nvSpPr>
        <p:spPr>
          <a:xfrm>
            <a:off x="4151376" y="3360420"/>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Bulk-import objects</a:t>
            </a:r>
            <a:endParaRPr lang="en-US" sz="950" dirty="0"/>
          </a:p>
        </p:txBody>
      </p:sp>
      <p:sp>
        <p:nvSpPr>
          <p:cNvPr id="60" name="Text 58"/>
          <p:cNvSpPr/>
          <p:nvPr/>
        </p:nvSpPr>
        <p:spPr>
          <a:xfrm>
            <a:off x="4151376" y="3570732"/>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Stratus bucket · ~9 MB</a:t>
            </a:r>
            <a:endParaRPr lang="en-US" sz="800" dirty="0"/>
          </a:p>
        </p:txBody>
      </p:sp>
      <p:sp>
        <p:nvSpPr>
          <p:cNvPr id="61" name="Shape 59"/>
          <p:cNvSpPr/>
          <p:nvPr/>
        </p:nvSpPr>
        <p:spPr>
          <a:xfrm>
            <a:off x="6409944" y="3323844"/>
            <a:ext cx="2231136" cy="502920"/>
          </a:xfrm>
          <a:prstGeom prst="roundRect">
            <a:avLst>
              <a:gd name="adj" fmla="val 9091"/>
            </a:avLst>
          </a:prstGeom>
          <a:solidFill>
            <a:srgbClr val="FFFFFF"/>
          </a:solidFill>
          <a:ln w="12700">
            <a:solidFill>
              <a:srgbClr val="0F2F44"/>
            </a:solidFill>
            <a:prstDash val="solid"/>
          </a:ln>
        </p:spPr>
      </p:sp>
      <p:sp>
        <p:nvSpPr>
          <p:cNvPr id="62" name="Text 60"/>
          <p:cNvSpPr/>
          <p:nvPr/>
        </p:nvSpPr>
        <p:spPr>
          <a:xfrm>
            <a:off x="6501384" y="3360420"/>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KPI segment</a:t>
            </a:r>
            <a:endParaRPr lang="en-US" sz="950" dirty="0"/>
          </a:p>
        </p:txBody>
      </p:sp>
      <p:sp>
        <p:nvSpPr>
          <p:cNvPr id="63" name="Text 61"/>
          <p:cNvSpPr/>
          <p:nvPr/>
        </p:nvSpPr>
        <p:spPr>
          <a:xfrm>
            <a:off x="6501384" y="3570732"/>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Cache · adapter written, see slide 10</a:t>
            </a:r>
            <a:endParaRPr lang="en-US" sz="800" dirty="0"/>
          </a:p>
        </p:txBody>
      </p:sp>
      <p:sp>
        <p:nvSpPr>
          <p:cNvPr id="64" name="Shape 62"/>
          <p:cNvSpPr/>
          <p:nvPr/>
        </p:nvSpPr>
        <p:spPr>
          <a:xfrm>
            <a:off x="2756916" y="3826764"/>
            <a:ext cx="137160" cy="123444"/>
          </a:xfrm>
          <a:prstGeom prst="downArrow">
            <a:avLst/>
          </a:prstGeom>
          <a:solidFill>
            <a:srgbClr val="A9BCCF"/>
          </a:solidFill>
          <a:ln w="12700">
            <a:solidFill>
              <a:srgbClr val="A9BCCF"/>
            </a:solidFill>
            <a:prstDash val="solid"/>
          </a:ln>
        </p:spPr>
      </p:sp>
      <p:sp>
        <p:nvSpPr>
          <p:cNvPr id="65" name="Shape 63"/>
          <p:cNvSpPr/>
          <p:nvPr/>
        </p:nvSpPr>
        <p:spPr>
          <a:xfrm>
            <a:off x="5106924" y="3826764"/>
            <a:ext cx="137160" cy="123444"/>
          </a:xfrm>
          <a:prstGeom prst="downArrow">
            <a:avLst/>
          </a:prstGeom>
          <a:solidFill>
            <a:srgbClr val="A9BCCF"/>
          </a:solidFill>
          <a:ln w="12700">
            <a:solidFill>
              <a:srgbClr val="A9BCCF"/>
            </a:solidFill>
            <a:prstDash val="solid"/>
          </a:ln>
        </p:spPr>
      </p:sp>
      <p:sp>
        <p:nvSpPr>
          <p:cNvPr id="66" name="Shape 64"/>
          <p:cNvSpPr/>
          <p:nvPr/>
        </p:nvSpPr>
        <p:spPr>
          <a:xfrm>
            <a:off x="7456932" y="3826764"/>
            <a:ext cx="137160" cy="123444"/>
          </a:xfrm>
          <a:prstGeom prst="downArrow">
            <a:avLst/>
          </a:prstGeom>
          <a:solidFill>
            <a:srgbClr val="A9BCCF"/>
          </a:solidFill>
          <a:ln w="12700">
            <a:solidFill>
              <a:srgbClr val="A9BCCF"/>
            </a:solidFill>
            <a:prstDash val="solid"/>
          </a:ln>
        </p:spPr>
      </p:sp>
      <p:sp>
        <p:nvSpPr>
          <p:cNvPr id="67" name="Shape 65"/>
          <p:cNvSpPr/>
          <p:nvPr/>
        </p:nvSpPr>
        <p:spPr>
          <a:xfrm>
            <a:off x="502920" y="3950208"/>
            <a:ext cx="1097280" cy="502920"/>
          </a:xfrm>
          <a:prstGeom prst="roundRect">
            <a:avLst>
              <a:gd name="adj" fmla="val 9091"/>
            </a:avLst>
          </a:prstGeom>
          <a:solidFill>
            <a:srgbClr val="5B6B7E"/>
          </a:solidFill>
          <a:ln w="12700">
            <a:solidFill>
              <a:srgbClr val="5B6B7E"/>
            </a:solidFill>
            <a:prstDash val="solid"/>
          </a:ln>
        </p:spPr>
      </p:sp>
      <p:sp>
        <p:nvSpPr>
          <p:cNvPr id="68" name="Text 66"/>
          <p:cNvSpPr/>
          <p:nvPr/>
        </p:nvSpPr>
        <p:spPr>
          <a:xfrm>
            <a:off x="566928" y="3995928"/>
            <a:ext cx="969264" cy="20116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PLATFORM</a:t>
            </a:r>
            <a:endParaRPr lang="en-US" sz="850" dirty="0"/>
          </a:p>
        </p:txBody>
      </p:sp>
      <p:sp>
        <p:nvSpPr>
          <p:cNvPr id="69" name="Text 67"/>
          <p:cNvSpPr/>
          <p:nvPr/>
        </p:nvSpPr>
        <p:spPr>
          <a:xfrm>
            <a:off x="566928" y="4197096"/>
            <a:ext cx="969264" cy="219456"/>
          </a:xfrm>
          <a:prstGeom prst="rect">
            <a:avLst/>
          </a:prstGeom>
          <a:noFill/>
          <a:ln/>
        </p:spPr>
        <p:txBody>
          <a:bodyPr wrap="square" lIns="0" tIns="0" rIns="0" bIns="0" rtlCol="0" anchor="t"/>
          <a:lstStyle/>
          <a:p>
            <a:pPr indent="0" marL="0">
              <a:buNone/>
            </a:pPr>
            <a:r>
              <a:rPr lang="en-US" sz="650" dirty="0">
                <a:solidFill>
                  <a:srgbClr val="E3EDF5"/>
                </a:solidFill>
                <a:latin typeface="Arial" pitchFamily="34" charset="0"/>
                <a:ea typeface="Arial" pitchFamily="34" charset="-122"/>
                <a:cs typeface="Arial" pitchFamily="34" charset="-120"/>
              </a:rPr>
              <a:t>Identity, secrets, delivery</a:t>
            </a:r>
            <a:endParaRPr lang="en-US" sz="650" dirty="0"/>
          </a:p>
        </p:txBody>
      </p:sp>
      <p:sp>
        <p:nvSpPr>
          <p:cNvPr id="70" name="Shape 68"/>
          <p:cNvSpPr/>
          <p:nvPr/>
        </p:nvSpPr>
        <p:spPr>
          <a:xfrm>
            <a:off x="1709928" y="3950208"/>
            <a:ext cx="2231136" cy="502920"/>
          </a:xfrm>
          <a:prstGeom prst="roundRect">
            <a:avLst>
              <a:gd name="adj" fmla="val 9091"/>
            </a:avLst>
          </a:prstGeom>
          <a:solidFill>
            <a:srgbClr val="FFFFFF"/>
          </a:solidFill>
          <a:ln w="12700">
            <a:solidFill>
              <a:srgbClr val="5B6B7E"/>
            </a:solidFill>
            <a:prstDash val="solid"/>
          </a:ln>
        </p:spPr>
      </p:sp>
      <p:sp>
        <p:nvSpPr>
          <p:cNvPr id="71" name="Text 69"/>
          <p:cNvSpPr/>
          <p:nvPr/>
        </p:nvSpPr>
        <p:spPr>
          <a:xfrm>
            <a:off x="1801368" y="3986784"/>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Sign-in and role model</a:t>
            </a:r>
            <a:endParaRPr lang="en-US" sz="950" dirty="0"/>
          </a:p>
        </p:txBody>
      </p:sp>
      <p:sp>
        <p:nvSpPr>
          <p:cNvPr id="72" name="Text 70"/>
          <p:cNvSpPr/>
          <p:nvPr/>
        </p:nvSpPr>
        <p:spPr>
          <a:xfrm>
            <a:off x="1801368" y="4197096"/>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Authentication · provisioned</a:t>
            </a:r>
            <a:endParaRPr lang="en-US" sz="800" dirty="0"/>
          </a:p>
        </p:txBody>
      </p:sp>
      <p:sp>
        <p:nvSpPr>
          <p:cNvPr id="73" name="Shape 71"/>
          <p:cNvSpPr/>
          <p:nvPr/>
        </p:nvSpPr>
        <p:spPr>
          <a:xfrm>
            <a:off x="4059936" y="3950208"/>
            <a:ext cx="2231136" cy="502920"/>
          </a:xfrm>
          <a:prstGeom prst="roundRect">
            <a:avLst>
              <a:gd name="adj" fmla="val 9091"/>
            </a:avLst>
          </a:prstGeom>
          <a:solidFill>
            <a:srgbClr val="FFFFFF"/>
          </a:solidFill>
          <a:ln w="12700">
            <a:solidFill>
              <a:srgbClr val="5B6B7E"/>
            </a:solidFill>
            <a:prstDash val="solid"/>
          </a:ln>
        </p:spPr>
      </p:sp>
      <p:sp>
        <p:nvSpPr>
          <p:cNvPr id="74" name="Text 72"/>
          <p:cNvSpPr/>
          <p:nvPr/>
        </p:nvSpPr>
        <p:spPr>
          <a:xfrm>
            <a:off x="4151376" y="3986784"/>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OAuth out to QuickML</a:t>
            </a:r>
            <a:endParaRPr lang="en-US" sz="950" dirty="0"/>
          </a:p>
        </p:txBody>
      </p:sp>
      <p:sp>
        <p:nvSpPr>
          <p:cNvPr id="75" name="Text 73"/>
          <p:cNvSpPr/>
          <p:nvPr/>
        </p:nvSpPr>
        <p:spPr>
          <a:xfrm>
            <a:off x="4151376" y="4197096"/>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Connections · deployment.READ</a:t>
            </a:r>
            <a:endParaRPr lang="en-US" sz="800" dirty="0"/>
          </a:p>
        </p:txBody>
      </p:sp>
      <p:sp>
        <p:nvSpPr>
          <p:cNvPr id="76" name="Shape 74"/>
          <p:cNvSpPr/>
          <p:nvPr/>
        </p:nvSpPr>
        <p:spPr>
          <a:xfrm>
            <a:off x="6409944" y="3950208"/>
            <a:ext cx="2231136" cy="502920"/>
          </a:xfrm>
          <a:prstGeom prst="roundRect">
            <a:avLst>
              <a:gd name="adj" fmla="val 9091"/>
            </a:avLst>
          </a:prstGeom>
          <a:solidFill>
            <a:srgbClr val="FFFFFF"/>
          </a:solidFill>
          <a:ln w="12700">
            <a:solidFill>
              <a:srgbClr val="5B6B7E"/>
            </a:solidFill>
            <a:prstDash val="solid"/>
          </a:ln>
        </p:spPr>
      </p:sp>
      <p:sp>
        <p:nvSpPr>
          <p:cNvPr id="77" name="Text 75"/>
          <p:cNvSpPr/>
          <p:nvPr/>
        </p:nvSpPr>
        <p:spPr>
          <a:xfrm>
            <a:off x="6501384" y="3986784"/>
            <a:ext cx="2048256" cy="219456"/>
          </a:xfrm>
          <a:prstGeom prst="rect">
            <a:avLst/>
          </a:prstGeom>
          <a:noFill/>
          <a:ln/>
        </p:spPr>
        <p:txBody>
          <a:bodyPr wrap="square" lIns="0" tIns="0" rIns="0" bIns="0" rtlCol="0" anchor="ctr"/>
          <a:lstStyle/>
          <a:p>
            <a:pPr indent="0" marL="0">
              <a:buNone/>
            </a:pPr>
            <a:r>
              <a:rPr lang="en-US" sz="950" b="1" dirty="0">
                <a:solidFill>
                  <a:srgbClr val="1C2A3A"/>
                </a:solidFill>
                <a:latin typeface="Arial" pitchFamily="34" charset="0"/>
                <a:ea typeface="Arial" pitchFamily="34" charset="-122"/>
                <a:cs typeface="Arial" pitchFamily="34" charset="-120"/>
              </a:rPr>
              <a:t>Deploy and rollback</a:t>
            </a:r>
            <a:endParaRPr lang="en-US" sz="950" dirty="0"/>
          </a:p>
        </p:txBody>
      </p:sp>
      <p:sp>
        <p:nvSpPr>
          <p:cNvPr id="78" name="Text 76"/>
          <p:cNvSpPr/>
          <p:nvPr/>
        </p:nvSpPr>
        <p:spPr>
          <a:xfrm>
            <a:off x="6501384" y="4197096"/>
            <a:ext cx="2048256" cy="219456"/>
          </a:xfrm>
          <a:prstGeom prst="rect">
            <a:avLst/>
          </a:prstGeom>
          <a:noFill/>
          <a:ln/>
        </p:spPr>
        <p:txBody>
          <a:bodyPr wrap="square" lIns="0" tIns="0" rIns="0" bIns="0" rtlCol="0" anchor="ctr"/>
          <a:lstStyle/>
          <a:p>
            <a:pPr indent="0" marL="0">
              <a:buNone/>
            </a:pPr>
            <a:r>
              <a:rPr lang="en-US" sz="800" dirty="0">
                <a:solidFill>
                  <a:srgbClr val="1A6FC4"/>
                </a:solidFill>
                <a:latin typeface="Arial" pitchFamily="34" charset="0"/>
                <a:ea typeface="Arial" pitchFamily="34" charset="-122"/>
                <a:cs typeface="Arial" pitchFamily="34" charset="-120"/>
              </a:rPr>
              <a:t>Catalyst CLI 1.27.0</a:t>
            </a:r>
            <a:endParaRPr lang="en-US" sz="800" dirty="0"/>
          </a:p>
        </p:txBody>
      </p:sp>
      <p:sp>
        <p:nvSpPr>
          <p:cNvPr id="79" name="Text 77"/>
          <p:cNvSpPr/>
          <p:nvPr/>
        </p:nvSpPr>
        <p:spPr>
          <a:xfrm>
            <a:off x="384048" y="4645152"/>
            <a:ext cx="8375904" cy="219456"/>
          </a:xfrm>
          <a:prstGeom prst="rect">
            <a:avLst/>
          </a:prstGeom>
          <a:noFill/>
          <a:ln/>
        </p:spPr>
        <p:txBody>
          <a:bodyPr wrap="square" lIns="0" tIns="0" rIns="0" bIns="0" rtlCol="0" anchor="ctr"/>
          <a:lstStyle/>
          <a:p>
            <a:pPr indent="0" marL="0">
              <a:buNone/>
            </a:pPr>
            <a:r>
              <a:rPr lang="en-US" sz="750" dirty="0">
                <a:solidFill>
                  <a:srgbClr val="5B6B7E"/>
                </a:solidFill>
                <a:latin typeface="Arial" pitchFamily="34" charset="0"/>
                <a:ea typeface="Arial" pitchFamily="34" charset="-122"/>
                <a:cs typeface="Arial" pitchFamily="34" charset="-120"/>
              </a:rPr>
              <a:t>Design rule that shaped every box above: no heavy compute may sit behind an HTTP request. The pipeline peaks at ~740 MB and ~25 s against a hard 30 s cap, so it runs as a Job and the web tier reads only what the Job wrote. The graph payload is interned before shipping — 54.9 MB of adjacency becomes 12.1 MB with identical evidence text.</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Technologies used</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Each chosen for a constraint, not for the list</a:t>
            </a:r>
            <a:endParaRPr lang="en-US" sz="1200" dirty="0"/>
          </a:p>
        </p:txBody>
      </p:sp>
      <p:sp>
        <p:nvSpPr>
          <p:cNvPr id="4" name="Shape 2"/>
          <p:cNvSpPr/>
          <p:nvPr/>
        </p:nvSpPr>
        <p:spPr>
          <a:xfrm>
            <a:off x="384048" y="1371600"/>
            <a:ext cx="4041648" cy="1517904"/>
          </a:xfrm>
          <a:prstGeom prst="roundRect">
            <a:avLst>
              <a:gd name="adj" fmla="val 3614"/>
            </a:avLst>
          </a:prstGeom>
          <a:solidFill>
            <a:srgbClr val="FFFFFF"/>
          </a:solidFill>
          <a:ln w="9525">
            <a:solidFill>
              <a:srgbClr val="D9E1EC"/>
            </a:solidFill>
            <a:prstDash val="solid"/>
          </a:ln>
        </p:spPr>
      </p:sp>
      <p:sp>
        <p:nvSpPr>
          <p:cNvPr id="5" name="Shape 3"/>
          <p:cNvSpPr/>
          <p:nvPr/>
        </p:nvSpPr>
        <p:spPr>
          <a:xfrm>
            <a:off x="384048" y="1371600"/>
            <a:ext cx="4041648" cy="347472"/>
          </a:xfrm>
          <a:prstGeom prst="roundRect">
            <a:avLst>
              <a:gd name="adj" fmla="val 15789"/>
            </a:avLst>
          </a:prstGeom>
          <a:solidFill>
            <a:srgbClr val="1A6FC4"/>
          </a:solidFill>
          <a:ln w="12700">
            <a:solidFill>
              <a:srgbClr val="1A6FC4"/>
            </a:solidFill>
            <a:prstDash val="solid"/>
          </a:ln>
        </p:spPr>
      </p:sp>
      <p:sp>
        <p:nvSpPr>
          <p:cNvPr id="6" name="Text 4"/>
          <p:cNvSpPr/>
          <p:nvPr/>
        </p:nvSpPr>
        <p:spPr>
          <a:xfrm>
            <a:off x="512064" y="1371600"/>
            <a:ext cx="3785616"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Frontend</a:t>
            </a:r>
            <a:endParaRPr lang="en-US" sz="1150" dirty="0"/>
          </a:p>
        </p:txBody>
      </p:sp>
      <p:sp>
        <p:nvSpPr>
          <p:cNvPr id="7" name="Text 5"/>
          <p:cNvSpPr/>
          <p:nvPr/>
        </p:nvSpPr>
        <p:spPr>
          <a:xfrm>
            <a:off x="530352" y="1792224"/>
            <a:ext cx="3749040" cy="1042416"/>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React 18 · TypeScript · Vite</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Tailwind CSS on the KSP palette</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Cytoscape.js + fcose — the linkage graph</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MapLibre GL — satellite and choropleth</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Recharts — trends, mix, funnels</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Framer Motion — interaction polish</a:t>
            </a:r>
            <a:endParaRPr lang="en-US" sz="900" dirty="0"/>
          </a:p>
        </p:txBody>
      </p:sp>
      <p:sp>
        <p:nvSpPr>
          <p:cNvPr id="8" name="Shape 6"/>
          <p:cNvSpPr/>
          <p:nvPr/>
        </p:nvSpPr>
        <p:spPr>
          <a:xfrm>
            <a:off x="4718304" y="1371600"/>
            <a:ext cx="4041648" cy="1517904"/>
          </a:xfrm>
          <a:prstGeom prst="roundRect">
            <a:avLst>
              <a:gd name="adj" fmla="val 3614"/>
            </a:avLst>
          </a:prstGeom>
          <a:solidFill>
            <a:srgbClr val="FFFFFF"/>
          </a:solidFill>
          <a:ln w="9525">
            <a:solidFill>
              <a:srgbClr val="D9E1EC"/>
            </a:solidFill>
            <a:prstDash val="solid"/>
          </a:ln>
        </p:spPr>
      </p:sp>
      <p:sp>
        <p:nvSpPr>
          <p:cNvPr id="9" name="Shape 7"/>
          <p:cNvSpPr/>
          <p:nvPr/>
        </p:nvSpPr>
        <p:spPr>
          <a:xfrm>
            <a:off x="4718304" y="1371600"/>
            <a:ext cx="4041648" cy="347472"/>
          </a:xfrm>
          <a:prstGeom prst="roundRect">
            <a:avLst>
              <a:gd name="adj" fmla="val 15789"/>
            </a:avLst>
          </a:prstGeom>
          <a:solidFill>
            <a:srgbClr val="2FA8A0"/>
          </a:solidFill>
          <a:ln w="12700">
            <a:solidFill>
              <a:srgbClr val="2FA8A0"/>
            </a:solidFill>
            <a:prstDash val="solid"/>
          </a:ln>
        </p:spPr>
      </p:sp>
      <p:sp>
        <p:nvSpPr>
          <p:cNvPr id="10" name="Text 8"/>
          <p:cNvSpPr/>
          <p:nvPr/>
        </p:nvSpPr>
        <p:spPr>
          <a:xfrm>
            <a:off x="4846320" y="1371600"/>
            <a:ext cx="3785616"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Backend &amp; API</a:t>
            </a:r>
            <a:endParaRPr lang="en-US" sz="1150" dirty="0"/>
          </a:p>
        </p:txBody>
      </p:sp>
      <p:sp>
        <p:nvSpPr>
          <p:cNvPr id="11" name="Text 9"/>
          <p:cNvSpPr/>
          <p:nvPr/>
        </p:nvSpPr>
        <p:spPr>
          <a:xfrm>
            <a:off x="4864608" y="1792224"/>
            <a:ext cx="3749040" cy="1042416"/>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Node.js 20 — Advanced I/O Function</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Express-compatible routing, 21 endpoints</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Role-based access control per query</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In-request audit trail on sensitive reads</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Deterministic grounded assistant engine</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Interned read-model, lazily rehydrated</a:t>
            </a:r>
            <a:endParaRPr lang="en-US" sz="900" dirty="0"/>
          </a:p>
        </p:txBody>
      </p:sp>
      <p:sp>
        <p:nvSpPr>
          <p:cNvPr id="12" name="Shape 10"/>
          <p:cNvSpPr/>
          <p:nvPr/>
        </p:nvSpPr>
        <p:spPr>
          <a:xfrm>
            <a:off x="384048" y="2980944"/>
            <a:ext cx="4041648" cy="1517904"/>
          </a:xfrm>
          <a:prstGeom prst="roundRect">
            <a:avLst>
              <a:gd name="adj" fmla="val 3614"/>
            </a:avLst>
          </a:prstGeom>
          <a:solidFill>
            <a:srgbClr val="FFFFFF"/>
          </a:solidFill>
          <a:ln w="9525">
            <a:solidFill>
              <a:srgbClr val="D9E1EC"/>
            </a:solidFill>
            <a:prstDash val="solid"/>
          </a:ln>
        </p:spPr>
      </p:sp>
      <p:sp>
        <p:nvSpPr>
          <p:cNvPr id="13" name="Shape 11"/>
          <p:cNvSpPr/>
          <p:nvPr/>
        </p:nvSpPr>
        <p:spPr>
          <a:xfrm>
            <a:off x="384048" y="2980944"/>
            <a:ext cx="4041648" cy="347472"/>
          </a:xfrm>
          <a:prstGeom prst="roundRect">
            <a:avLst>
              <a:gd name="adj" fmla="val 15789"/>
            </a:avLst>
          </a:prstGeom>
          <a:solidFill>
            <a:srgbClr val="E8871E"/>
          </a:solidFill>
          <a:ln w="12700">
            <a:solidFill>
              <a:srgbClr val="E8871E"/>
            </a:solidFill>
            <a:prstDash val="solid"/>
          </a:ln>
        </p:spPr>
      </p:sp>
      <p:sp>
        <p:nvSpPr>
          <p:cNvPr id="14" name="Text 12"/>
          <p:cNvSpPr/>
          <p:nvPr/>
        </p:nvSpPr>
        <p:spPr>
          <a:xfrm>
            <a:off x="512064" y="2980944"/>
            <a:ext cx="3785616"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Data &amp; ML</a:t>
            </a:r>
            <a:endParaRPr lang="en-US" sz="1150" dirty="0"/>
          </a:p>
        </p:txBody>
      </p:sp>
      <p:sp>
        <p:nvSpPr>
          <p:cNvPr id="15" name="Text 13"/>
          <p:cNvSpPr/>
          <p:nvPr/>
        </p:nvSpPr>
        <p:spPr>
          <a:xfrm>
            <a:off x="530352" y="3401568"/>
            <a:ext cx="3749040" cy="1042416"/>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Python 3.11</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scikit-learn — TF-IDF, NearestNeighbors, DBSCAN</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networkx — multigraph and Louvain communities</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RapidFuzz — rarity-aware name matching</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pandas / NumPy / SciPy</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Shapely — in-polygon rejection sampling</a:t>
            </a:r>
            <a:endParaRPr lang="en-US" sz="900" dirty="0"/>
          </a:p>
        </p:txBody>
      </p:sp>
      <p:sp>
        <p:nvSpPr>
          <p:cNvPr id="16" name="Shape 14"/>
          <p:cNvSpPr/>
          <p:nvPr/>
        </p:nvSpPr>
        <p:spPr>
          <a:xfrm>
            <a:off x="4718304" y="2980944"/>
            <a:ext cx="4041648" cy="1517904"/>
          </a:xfrm>
          <a:prstGeom prst="roundRect">
            <a:avLst>
              <a:gd name="adj" fmla="val 3614"/>
            </a:avLst>
          </a:prstGeom>
          <a:solidFill>
            <a:srgbClr val="FFFFFF"/>
          </a:solidFill>
          <a:ln w="9525">
            <a:solidFill>
              <a:srgbClr val="D9E1EC"/>
            </a:solidFill>
            <a:prstDash val="solid"/>
          </a:ln>
        </p:spPr>
      </p:sp>
      <p:sp>
        <p:nvSpPr>
          <p:cNvPr id="17" name="Shape 15"/>
          <p:cNvSpPr/>
          <p:nvPr/>
        </p:nvSpPr>
        <p:spPr>
          <a:xfrm>
            <a:off x="4718304" y="2980944"/>
            <a:ext cx="4041648" cy="347472"/>
          </a:xfrm>
          <a:prstGeom prst="roundRect">
            <a:avLst>
              <a:gd name="adj" fmla="val 15789"/>
            </a:avLst>
          </a:prstGeom>
          <a:solidFill>
            <a:srgbClr val="0F2F44"/>
          </a:solidFill>
          <a:ln w="12700">
            <a:solidFill>
              <a:srgbClr val="0F2F44"/>
            </a:solidFill>
            <a:prstDash val="solid"/>
          </a:ln>
        </p:spPr>
      </p:sp>
      <p:sp>
        <p:nvSpPr>
          <p:cNvPr id="18" name="Text 16"/>
          <p:cNvSpPr/>
          <p:nvPr/>
        </p:nvSpPr>
        <p:spPr>
          <a:xfrm>
            <a:off x="4846320" y="2980944"/>
            <a:ext cx="3785616"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Platform &amp; quality</a:t>
            </a:r>
            <a:endParaRPr lang="en-US" sz="1150" dirty="0"/>
          </a:p>
        </p:txBody>
      </p:sp>
      <p:sp>
        <p:nvSpPr>
          <p:cNvPr id="19" name="Text 17"/>
          <p:cNvSpPr/>
          <p:nvPr/>
        </p:nvSpPr>
        <p:spPr>
          <a:xfrm>
            <a:off x="4864608" y="3401568"/>
            <a:ext cx="3749040" cy="1042416"/>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Zoho Catalyst — the deployment mandate</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Catalyst CLI 1.27.0</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ZCQL for Data Store queries</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Git / GitHub, Conventional Commits</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19 automated tests — 8 Node, 11 Python</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A fairness test that fails the build</a:t>
            </a:r>
            <a:endParaRPr lang="en-US" sz="900" dirty="0"/>
          </a:p>
        </p:txBody>
      </p:sp>
      <p:sp>
        <p:nvSpPr>
          <p:cNvPr id="20" name="Text 18"/>
          <p:cNvSpPr/>
          <p:nvPr/>
        </p:nvSpPr>
        <p:spPr>
          <a:xfrm>
            <a:off x="384048" y="4572000"/>
            <a:ext cx="8375904" cy="292608"/>
          </a:xfrm>
          <a:prstGeom prst="rect">
            <a:avLst/>
          </a:prstGeom>
          <a:noFill/>
          <a:ln/>
        </p:spPr>
        <p:txBody>
          <a:bodyPr wrap="square" lIns="0" tIns="0" rIns="0" bIns="0" rtlCol="0" anchor="ctr"/>
          <a:lstStyle/>
          <a:p>
            <a:pPr indent="0" marL="0">
              <a:buNone/>
            </a:pPr>
            <a:r>
              <a:rPr lang="en-US" sz="900" i="1" dirty="0">
                <a:solidFill>
                  <a:srgbClr val="5B6B7E"/>
                </a:solidFill>
                <a:latin typeface="Arial" pitchFamily="34" charset="0"/>
                <a:ea typeface="Arial" pitchFamily="34" charset="-122"/>
                <a:cs typeface="Arial" pitchFamily="34" charset="-120"/>
              </a:rPr>
              <a:t>Nothing here is exotic — every choice traces back to a Catalyst limit: the 30 s request cap, the 512 MB ceiling, the stdlib-only AppSail container.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Catalyst services in the solution</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Eight services, each answering a specific constraint</a:t>
            </a:r>
            <a:endParaRPr lang="en-US" sz="1200" dirty="0"/>
          </a:p>
        </p:txBody>
      </p:sp>
      <p:sp>
        <p:nvSpPr>
          <p:cNvPr id="4" name="Shape 2"/>
          <p:cNvSpPr/>
          <p:nvPr/>
        </p:nvSpPr>
        <p:spPr>
          <a:xfrm>
            <a:off x="384048" y="1371600"/>
            <a:ext cx="8375904" cy="292608"/>
          </a:xfrm>
          <a:prstGeom prst="roundRect">
            <a:avLst>
              <a:gd name="adj" fmla="val 12500"/>
            </a:avLst>
          </a:prstGeom>
          <a:solidFill>
            <a:srgbClr val="0F2F44"/>
          </a:solidFill>
          <a:ln w="12700">
            <a:solidFill>
              <a:srgbClr val="0F2F44"/>
            </a:solidFill>
            <a:prstDash val="solid"/>
          </a:ln>
        </p:spPr>
      </p:sp>
      <p:sp>
        <p:nvSpPr>
          <p:cNvPr id="5" name="Text 3"/>
          <p:cNvSpPr/>
          <p:nvPr/>
        </p:nvSpPr>
        <p:spPr>
          <a:xfrm>
            <a:off x="493776" y="1371600"/>
            <a:ext cx="1920240" cy="29260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Service</a:t>
            </a:r>
            <a:endParaRPr lang="en-US" sz="900" dirty="0"/>
          </a:p>
        </p:txBody>
      </p:sp>
      <p:sp>
        <p:nvSpPr>
          <p:cNvPr id="6" name="Text 4"/>
          <p:cNvSpPr/>
          <p:nvPr/>
        </p:nvSpPr>
        <p:spPr>
          <a:xfrm>
            <a:off x="2615184" y="1371600"/>
            <a:ext cx="2743200" cy="29260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Used for</a:t>
            </a:r>
            <a:endParaRPr lang="en-US" sz="900" dirty="0"/>
          </a:p>
        </p:txBody>
      </p:sp>
      <p:sp>
        <p:nvSpPr>
          <p:cNvPr id="7" name="Text 5"/>
          <p:cNvSpPr/>
          <p:nvPr/>
        </p:nvSpPr>
        <p:spPr>
          <a:xfrm>
            <a:off x="5449824" y="1371600"/>
            <a:ext cx="3291840" cy="29260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Why this service</a:t>
            </a:r>
            <a:endParaRPr lang="en-US" sz="900" dirty="0"/>
          </a:p>
        </p:txBody>
      </p:sp>
      <p:sp>
        <p:nvSpPr>
          <p:cNvPr id="8" name="Shape 6"/>
          <p:cNvSpPr/>
          <p:nvPr/>
        </p:nvSpPr>
        <p:spPr>
          <a:xfrm>
            <a:off x="384048" y="1664208"/>
            <a:ext cx="8375904" cy="324612"/>
          </a:xfrm>
          <a:prstGeom prst="rect">
            <a:avLst/>
          </a:prstGeom>
          <a:solidFill>
            <a:srgbClr val="F5F8FB"/>
          </a:solidFill>
          <a:ln w="12700">
            <a:solidFill>
              <a:srgbClr val="F5F8FB"/>
            </a:solidFill>
            <a:prstDash val="solid"/>
          </a:ln>
        </p:spPr>
      </p:sp>
      <p:sp>
        <p:nvSpPr>
          <p:cNvPr id="9" name="Text 7"/>
          <p:cNvSpPr/>
          <p:nvPr/>
        </p:nvSpPr>
        <p:spPr>
          <a:xfrm>
            <a:off x="493776" y="1664208"/>
            <a:ext cx="1920240" cy="32461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Web Client Hosting</a:t>
            </a:r>
            <a:endParaRPr lang="en-US" sz="900" dirty="0"/>
          </a:p>
        </p:txBody>
      </p:sp>
      <p:sp>
        <p:nvSpPr>
          <p:cNvPr id="10" name="Text 8"/>
          <p:cNvSpPr/>
          <p:nvPr/>
        </p:nvSpPr>
        <p:spPr>
          <a:xfrm>
            <a:off x="2615184" y="1664208"/>
            <a:ext cx="2743200" cy="32461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Serves the SPA at /app</a:t>
            </a:r>
            <a:endParaRPr lang="en-US" sz="900" dirty="0"/>
          </a:p>
        </p:txBody>
      </p:sp>
      <p:sp>
        <p:nvSpPr>
          <p:cNvPr id="11" name="Text 9"/>
          <p:cNvSpPr/>
          <p:nvPr/>
        </p:nvSpPr>
        <p:spPr>
          <a:xfrm>
            <a:off x="5449824" y="1664208"/>
            <a:ext cx="3200400" cy="32461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Same origin as the API; deep links use a 404-to-shell fallback</a:t>
            </a:r>
            <a:endParaRPr lang="en-US" sz="850" dirty="0"/>
          </a:p>
        </p:txBody>
      </p:sp>
      <p:sp>
        <p:nvSpPr>
          <p:cNvPr id="12" name="Text 10"/>
          <p:cNvSpPr/>
          <p:nvPr/>
        </p:nvSpPr>
        <p:spPr>
          <a:xfrm>
            <a:off x="493776" y="1988820"/>
            <a:ext cx="1920240" cy="32461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Serverless Functions</a:t>
            </a:r>
            <a:endParaRPr lang="en-US" sz="900" dirty="0"/>
          </a:p>
        </p:txBody>
      </p:sp>
      <p:sp>
        <p:nvSpPr>
          <p:cNvPr id="13" name="Text 11"/>
          <p:cNvSpPr/>
          <p:nvPr/>
        </p:nvSpPr>
        <p:spPr>
          <a:xfrm>
            <a:off x="2615184" y="1988820"/>
            <a:ext cx="2743200" cy="32461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21-endpoint REST API + nightly Job</a:t>
            </a:r>
            <a:endParaRPr lang="en-US" sz="900" dirty="0"/>
          </a:p>
        </p:txBody>
      </p:sp>
      <p:sp>
        <p:nvSpPr>
          <p:cNvPr id="14" name="Text 12"/>
          <p:cNvSpPr/>
          <p:nvPr/>
        </p:nvSpPr>
        <p:spPr>
          <a:xfrm>
            <a:off x="5449824" y="1988820"/>
            <a:ext cx="3200400" cy="32461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Advanced I/O accepts an Express app; raised to 512 MB</a:t>
            </a:r>
            <a:endParaRPr lang="en-US" sz="850" dirty="0"/>
          </a:p>
        </p:txBody>
      </p:sp>
      <p:sp>
        <p:nvSpPr>
          <p:cNvPr id="15" name="Shape 13"/>
          <p:cNvSpPr/>
          <p:nvPr/>
        </p:nvSpPr>
        <p:spPr>
          <a:xfrm>
            <a:off x="384048" y="2313432"/>
            <a:ext cx="8375904" cy="324612"/>
          </a:xfrm>
          <a:prstGeom prst="rect">
            <a:avLst/>
          </a:prstGeom>
          <a:solidFill>
            <a:srgbClr val="F5F8FB"/>
          </a:solidFill>
          <a:ln w="12700">
            <a:solidFill>
              <a:srgbClr val="F5F8FB"/>
            </a:solidFill>
            <a:prstDash val="solid"/>
          </a:ln>
        </p:spPr>
      </p:sp>
      <p:sp>
        <p:nvSpPr>
          <p:cNvPr id="16" name="Text 14"/>
          <p:cNvSpPr/>
          <p:nvPr/>
        </p:nvSpPr>
        <p:spPr>
          <a:xfrm>
            <a:off x="493776" y="2313432"/>
            <a:ext cx="1920240" cy="32461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AppSail</a:t>
            </a:r>
            <a:endParaRPr lang="en-US" sz="900" dirty="0"/>
          </a:p>
        </p:txBody>
      </p:sp>
      <p:sp>
        <p:nvSpPr>
          <p:cNvPr id="17" name="Text 15"/>
          <p:cNvSpPr/>
          <p:nvPr/>
        </p:nvSpPr>
        <p:spPr>
          <a:xfrm>
            <a:off x="2615184" y="2313432"/>
            <a:ext cx="2743200" cy="32461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Python analytics service</a:t>
            </a:r>
            <a:endParaRPr lang="en-US" sz="900" dirty="0"/>
          </a:p>
        </p:txBody>
      </p:sp>
      <p:sp>
        <p:nvSpPr>
          <p:cNvPr id="18" name="Text 16"/>
          <p:cNvSpPr/>
          <p:nvPr/>
        </p:nvSpPr>
        <p:spPr>
          <a:xfrm>
            <a:off x="5449824" y="2313432"/>
            <a:ext cx="3200400" cy="32461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Per-capita and forecast in ~135 ms; stdlib-only build</a:t>
            </a:r>
            <a:endParaRPr lang="en-US" sz="850" dirty="0"/>
          </a:p>
        </p:txBody>
      </p:sp>
      <p:sp>
        <p:nvSpPr>
          <p:cNvPr id="19" name="Text 17"/>
          <p:cNvSpPr/>
          <p:nvPr/>
        </p:nvSpPr>
        <p:spPr>
          <a:xfrm>
            <a:off x="493776" y="2638044"/>
            <a:ext cx="1920240" cy="32461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Data Store</a:t>
            </a:r>
            <a:endParaRPr lang="en-US" sz="900" dirty="0"/>
          </a:p>
        </p:txBody>
      </p:sp>
      <p:sp>
        <p:nvSpPr>
          <p:cNvPr id="20" name="Text 18"/>
          <p:cNvSpPr/>
          <p:nvPr/>
        </p:nvSpPr>
        <p:spPr>
          <a:xfrm>
            <a:off x="2615184" y="2638044"/>
            <a:ext cx="2743200" cy="32461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11 tables · 40,836 FIRs · live ZCQL</a:t>
            </a:r>
            <a:endParaRPr lang="en-US" sz="900" dirty="0"/>
          </a:p>
        </p:txBody>
      </p:sp>
      <p:sp>
        <p:nvSpPr>
          <p:cNvPr id="21" name="Text 19"/>
          <p:cNvSpPr/>
          <p:nvPr/>
        </p:nvSpPr>
        <p:spPr>
          <a:xfrm>
            <a:off x="5449824" y="2638044"/>
            <a:ext cx="3200400" cy="32461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The FIR schema is genuinely relational, so a relational store fits</a:t>
            </a:r>
            <a:endParaRPr lang="en-US" sz="850" dirty="0"/>
          </a:p>
        </p:txBody>
      </p:sp>
      <p:sp>
        <p:nvSpPr>
          <p:cNvPr id="22" name="Shape 20"/>
          <p:cNvSpPr/>
          <p:nvPr/>
        </p:nvSpPr>
        <p:spPr>
          <a:xfrm>
            <a:off x="384048" y="2962656"/>
            <a:ext cx="8375904" cy="324612"/>
          </a:xfrm>
          <a:prstGeom prst="rect">
            <a:avLst/>
          </a:prstGeom>
          <a:solidFill>
            <a:srgbClr val="F5F8FB"/>
          </a:solidFill>
          <a:ln w="12700">
            <a:solidFill>
              <a:srgbClr val="F5F8FB"/>
            </a:solidFill>
            <a:prstDash val="solid"/>
          </a:ln>
        </p:spPr>
      </p:sp>
      <p:sp>
        <p:nvSpPr>
          <p:cNvPr id="23" name="Text 21"/>
          <p:cNvSpPr/>
          <p:nvPr/>
        </p:nvSpPr>
        <p:spPr>
          <a:xfrm>
            <a:off x="493776" y="2962656"/>
            <a:ext cx="1920240" cy="32461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Stratus</a:t>
            </a:r>
            <a:endParaRPr lang="en-US" sz="900" dirty="0"/>
          </a:p>
        </p:txBody>
      </p:sp>
      <p:sp>
        <p:nvSpPr>
          <p:cNvPr id="24" name="Text 22"/>
          <p:cNvSpPr/>
          <p:nvPr/>
        </p:nvSpPr>
        <p:spPr>
          <a:xfrm>
            <a:off x="2615184" y="2962656"/>
            <a:ext cx="2743200" cy="32461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Object storage for bulk import</a:t>
            </a:r>
            <a:endParaRPr lang="en-US" sz="900" dirty="0"/>
          </a:p>
        </p:txBody>
      </p:sp>
      <p:sp>
        <p:nvSpPr>
          <p:cNvPr id="25" name="Text 23"/>
          <p:cNvSpPr/>
          <p:nvPr/>
        </p:nvSpPr>
        <p:spPr>
          <a:xfrm>
            <a:off x="5449824" y="2962656"/>
            <a:ext cx="3200400" cy="32461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Data Store bulk-write reads its source from a bucket</a:t>
            </a:r>
            <a:endParaRPr lang="en-US" sz="850" dirty="0"/>
          </a:p>
        </p:txBody>
      </p:sp>
      <p:sp>
        <p:nvSpPr>
          <p:cNvPr id="26" name="Text 24"/>
          <p:cNvSpPr/>
          <p:nvPr/>
        </p:nvSpPr>
        <p:spPr>
          <a:xfrm>
            <a:off x="493776" y="3287268"/>
            <a:ext cx="1920240" cy="32461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Job Scheduling + Cron</a:t>
            </a:r>
            <a:endParaRPr lang="en-US" sz="900" dirty="0"/>
          </a:p>
        </p:txBody>
      </p:sp>
      <p:sp>
        <p:nvSpPr>
          <p:cNvPr id="27" name="Text 25"/>
          <p:cNvSpPr/>
          <p:nvPr/>
        </p:nvSpPr>
        <p:spPr>
          <a:xfrm>
            <a:off x="2615184" y="3287268"/>
            <a:ext cx="2743200" cy="32461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Nightly analytics revalidation, 02:00 IST</a:t>
            </a:r>
            <a:endParaRPr lang="en-US" sz="900" dirty="0"/>
          </a:p>
        </p:txBody>
      </p:sp>
      <p:sp>
        <p:nvSpPr>
          <p:cNvPr id="28" name="Text 26"/>
          <p:cNvSpPr/>
          <p:nvPr/>
        </p:nvSpPr>
        <p:spPr>
          <a:xfrm>
            <a:off x="5449824" y="3287268"/>
            <a:ext cx="3200400" cy="32461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Only Jobs get 15 minutes; Functions and AppSail both cap at 30 s</a:t>
            </a:r>
            <a:endParaRPr lang="en-US" sz="850" dirty="0"/>
          </a:p>
        </p:txBody>
      </p:sp>
      <p:sp>
        <p:nvSpPr>
          <p:cNvPr id="29" name="Shape 27"/>
          <p:cNvSpPr/>
          <p:nvPr/>
        </p:nvSpPr>
        <p:spPr>
          <a:xfrm>
            <a:off x="384048" y="3611880"/>
            <a:ext cx="8375904" cy="324612"/>
          </a:xfrm>
          <a:prstGeom prst="rect">
            <a:avLst/>
          </a:prstGeom>
          <a:solidFill>
            <a:srgbClr val="F5F8FB"/>
          </a:solidFill>
          <a:ln w="12700">
            <a:solidFill>
              <a:srgbClr val="F5F8FB"/>
            </a:solidFill>
            <a:prstDash val="solid"/>
          </a:ln>
        </p:spPr>
      </p:sp>
      <p:sp>
        <p:nvSpPr>
          <p:cNvPr id="30" name="Text 28"/>
          <p:cNvSpPr/>
          <p:nvPr/>
        </p:nvSpPr>
        <p:spPr>
          <a:xfrm>
            <a:off x="493776" y="3611880"/>
            <a:ext cx="1920240" cy="32461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Connections</a:t>
            </a:r>
            <a:endParaRPr lang="en-US" sz="900" dirty="0"/>
          </a:p>
        </p:txBody>
      </p:sp>
      <p:sp>
        <p:nvSpPr>
          <p:cNvPr id="31" name="Text 29"/>
          <p:cNvSpPr/>
          <p:nvPr/>
        </p:nvSpPr>
        <p:spPr>
          <a:xfrm>
            <a:off x="2615184" y="3611880"/>
            <a:ext cx="2743200" cy="32461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OAuth for QuickML (deployment.READ)</a:t>
            </a:r>
            <a:endParaRPr lang="en-US" sz="900" dirty="0"/>
          </a:p>
        </p:txBody>
      </p:sp>
      <p:sp>
        <p:nvSpPr>
          <p:cNvPr id="32" name="Text 30"/>
          <p:cNvSpPr/>
          <p:nvPr/>
        </p:nvSpPr>
        <p:spPr>
          <a:xfrm>
            <a:off x="5449824" y="3611880"/>
            <a:ext cx="3200400" cy="32461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QuickML rejects anonymous calls outright</a:t>
            </a:r>
            <a:endParaRPr lang="en-US" sz="850" dirty="0"/>
          </a:p>
        </p:txBody>
      </p:sp>
      <p:sp>
        <p:nvSpPr>
          <p:cNvPr id="33" name="Text 31"/>
          <p:cNvSpPr/>
          <p:nvPr/>
        </p:nvSpPr>
        <p:spPr>
          <a:xfrm>
            <a:off x="493776" y="3936492"/>
            <a:ext cx="1920240" cy="32461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Authentication</a:t>
            </a:r>
            <a:endParaRPr lang="en-US" sz="900" dirty="0"/>
          </a:p>
        </p:txBody>
      </p:sp>
      <p:sp>
        <p:nvSpPr>
          <p:cNvPr id="34" name="Text 32"/>
          <p:cNvSpPr/>
          <p:nvPr/>
        </p:nvSpPr>
        <p:spPr>
          <a:xfrm>
            <a:off x="2615184" y="3936492"/>
            <a:ext cx="2743200" cy="32461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Provisioned; role model shown at sign-in</a:t>
            </a:r>
            <a:endParaRPr lang="en-US" sz="900" dirty="0"/>
          </a:p>
        </p:txBody>
      </p:sp>
      <p:sp>
        <p:nvSpPr>
          <p:cNvPr id="35" name="Text 33"/>
          <p:cNvSpPr/>
          <p:nvPr/>
        </p:nvSpPr>
        <p:spPr>
          <a:xfrm>
            <a:off x="5449824" y="3936492"/>
            <a:ext cx="3200400" cy="32461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RBAC scoping is enforced server-side on every query</a:t>
            </a:r>
            <a:endParaRPr lang="en-US" sz="850" dirty="0"/>
          </a:p>
        </p:txBody>
      </p:sp>
      <p:sp>
        <p:nvSpPr>
          <p:cNvPr id="36" name="Shape 34"/>
          <p:cNvSpPr/>
          <p:nvPr/>
        </p:nvSpPr>
        <p:spPr>
          <a:xfrm>
            <a:off x="384048" y="4315968"/>
            <a:ext cx="2670048" cy="530352"/>
          </a:xfrm>
          <a:prstGeom prst="roundRect">
            <a:avLst>
              <a:gd name="adj" fmla="val 10345"/>
            </a:avLst>
          </a:prstGeom>
          <a:solidFill>
            <a:srgbClr val="F5F8FB"/>
          </a:solidFill>
          <a:ln w="9525">
            <a:solidFill>
              <a:srgbClr val="D9E1EC"/>
            </a:solidFill>
            <a:prstDash val="solid"/>
          </a:ln>
        </p:spPr>
      </p:sp>
      <p:sp>
        <p:nvSpPr>
          <p:cNvPr id="37" name="Text 35"/>
          <p:cNvSpPr/>
          <p:nvPr/>
        </p:nvSpPr>
        <p:spPr>
          <a:xfrm>
            <a:off x="512064" y="4352544"/>
            <a:ext cx="822960" cy="457200"/>
          </a:xfrm>
          <a:prstGeom prst="rect">
            <a:avLst/>
          </a:prstGeom>
          <a:noFill/>
          <a:ln/>
        </p:spPr>
        <p:txBody>
          <a:bodyPr wrap="square" lIns="0" tIns="0" rIns="0" bIns="0" rtlCol="0" anchor="ctr"/>
          <a:lstStyle/>
          <a:p>
            <a:pPr indent="0" marL="0">
              <a:buNone/>
            </a:pPr>
            <a:r>
              <a:rPr lang="en-US" sz="1800" b="1" dirty="0">
                <a:solidFill>
                  <a:srgbClr val="2FA8A0"/>
                </a:solidFill>
                <a:latin typeface="Arial" pitchFamily="34" charset="0"/>
                <a:ea typeface="Arial" pitchFamily="34" charset="-122"/>
                <a:cs typeface="Arial" pitchFamily="34" charset="-120"/>
              </a:rPr>
              <a:t>8 / 8</a:t>
            </a:r>
            <a:endParaRPr lang="en-US" sz="1800" dirty="0"/>
          </a:p>
        </p:txBody>
      </p:sp>
      <p:sp>
        <p:nvSpPr>
          <p:cNvPr id="38" name="Text 36"/>
          <p:cNvSpPr/>
          <p:nvPr/>
        </p:nvSpPr>
        <p:spPr>
          <a:xfrm>
            <a:off x="1353312" y="4352544"/>
            <a:ext cx="1591056" cy="457200"/>
          </a:xfrm>
          <a:prstGeom prst="rect">
            <a:avLst/>
          </a:prstGeom>
          <a:noFill/>
          <a:ln/>
        </p:spPr>
        <p:txBody>
          <a:bodyPr wrap="square" lIns="0" tIns="0" rIns="0" bIns="0" rtlCol="0" anchor="ctr"/>
          <a:lstStyle/>
          <a:p>
            <a:pPr indent="0" marL="0">
              <a:buNone/>
            </a:pPr>
            <a:r>
              <a:rPr lang="en-US" sz="900" dirty="0">
                <a:solidFill>
                  <a:srgbClr val="5B6B7E"/>
                </a:solidFill>
                <a:latin typeface="Arial" pitchFamily="34" charset="0"/>
                <a:ea typeface="Arial" pitchFamily="34" charset="-122"/>
                <a:cs typeface="Arial" pitchFamily="34" charset="-120"/>
              </a:rPr>
              <a:t>services live in the deployed build</a:t>
            </a:r>
            <a:endParaRPr lang="en-US" sz="900" dirty="0"/>
          </a:p>
        </p:txBody>
      </p:sp>
      <p:sp>
        <p:nvSpPr>
          <p:cNvPr id="39" name="Shape 37"/>
          <p:cNvSpPr/>
          <p:nvPr/>
        </p:nvSpPr>
        <p:spPr>
          <a:xfrm>
            <a:off x="3218688" y="4315968"/>
            <a:ext cx="2670048" cy="530352"/>
          </a:xfrm>
          <a:prstGeom prst="roundRect">
            <a:avLst>
              <a:gd name="adj" fmla="val 10345"/>
            </a:avLst>
          </a:prstGeom>
          <a:solidFill>
            <a:srgbClr val="F5F8FB"/>
          </a:solidFill>
          <a:ln w="9525">
            <a:solidFill>
              <a:srgbClr val="D9E1EC"/>
            </a:solidFill>
            <a:prstDash val="solid"/>
          </a:ln>
        </p:spPr>
      </p:sp>
      <p:sp>
        <p:nvSpPr>
          <p:cNvPr id="40" name="Text 38"/>
          <p:cNvSpPr/>
          <p:nvPr/>
        </p:nvSpPr>
        <p:spPr>
          <a:xfrm>
            <a:off x="3346704" y="4352544"/>
            <a:ext cx="822960" cy="457200"/>
          </a:xfrm>
          <a:prstGeom prst="rect">
            <a:avLst/>
          </a:prstGeom>
          <a:noFill/>
          <a:ln/>
        </p:spPr>
        <p:txBody>
          <a:bodyPr wrap="square" lIns="0" tIns="0" rIns="0" bIns="0" rtlCol="0" anchor="ctr"/>
          <a:lstStyle/>
          <a:p>
            <a:pPr indent="0" marL="0">
              <a:buNone/>
            </a:pPr>
            <a:r>
              <a:rPr lang="en-US" sz="1800" b="1" dirty="0">
                <a:solidFill>
                  <a:srgbClr val="1A6FC4"/>
                </a:solidFill>
                <a:latin typeface="Arial" pitchFamily="34" charset="0"/>
                <a:ea typeface="Arial" pitchFamily="34" charset="-122"/>
                <a:cs typeface="Arial" pitchFamily="34" charset="-120"/>
              </a:rPr>
              <a:t>21</a:t>
            </a:r>
            <a:endParaRPr lang="en-US" sz="1800" dirty="0"/>
          </a:p>
        </p:txBody>
      </p:sp>
      <p:sp>
        <p:nvSpPr>
          <p:cNvPr id="41" name="Text 39"/>
          <p:cNvSpPr/>
          <p:nvPr/>
        </p:nvSpPr>
        <p:spPr>
          <a:xfrm>
            <a:off x="4187952" y="4352544"/>
            <a:ext cx="1591056" cy="457200"/>
          </a:xfrm>
          <a:prstGeom prst="rect">
            <a:avLst/>
          </a:prstGeom>
          <a:noFill/>
          <a:ln/>
        </p:spPr>
        <p:txBody>
          <a:bodyPr wrap="square" lIns="0" tIns="0" rIns="0" bIns="0" rtlCol="0" anchor="ctr"/>
          <a:lstStyle/>
          <a:p>
            <a:pPr indent="0" marL="0">
              <a:buNone/>
            </a:pPr>
            <a:r>
              <a:rPr lang="en-US" sz="900" dirty="0">
                <a:solidFill>
                  <a:srgbClr val="5B6B7E"/>
                </a:solidFill>
                <a:latin typeface="Arial" pitchFamily="34" charset="0"/>
                <a:ea typeface="Arial" pitchFamily="34" charset="-122"/>
                <a:cs typeface="Arial" pitchFamily="34" charset="-120"/>
              </a:rPr>
              <a:t>REST endpoints, all returning 200</a:t>
            </a:r>
            <a:endParaRPr lang="en-US" sz="900" dirty="0"/>
          </a:p>
        </p:txBody>
      </p:sp>
      <p:sp>
        <p:nvSpPr>
          <p:cNvPr id="42" name="Shape 40"/>
          <p:cNvSpPr/>
          <p:nvPr/>
        </p:nvSpPr>
        <p:spPr>
          <a:xfrm>
            <a:off x="6053328" y="4315968"/>
            <a:ext cx="2670048" cy="530352"/>
          </a:xfrm>
          <a:prstGeom prst="roundRect">
            <a:avLst>
              <a:gd name="adj" fmla="val 10345"/>
            </a:avLst>
          </a:prstGeom>
          <a:solidFill>
            <a:srgbClr val="F5F8FB"/>
          </a:solidFill>
          <a:ln w="9525">
            <a:solidFill>
              <a:srgbClr val="D9E1EC"/>
            </a:solidFill>
            <a:prstDash val="solid"/>
          </a:ln>
        </p:spPr>
      </p:sp>
      <p:sp>
        <p:nvSpPr>
          <p:cNvPr id="43" name="Text 41"/>
          <p:cNvSpPr/>
          <p:nvPr/>
        </p:nvSpPr>
        <p:spPr>
          <a:xfrm>
            <a:off x="6181344" y="4352544"/>
            <a:ext cx="822960" cy="457200"/>
          </a:xfrm>
          <a:prstGeom prst="rect">
            <a:avLst/>
          </a:prstGeom>
          <a:noFill/>
          <a:ln/>
        </p:spPr>
        <p:txBody>
          <a:bodyPr wrap="square" lIns="0" tIns="0" rIns="0" bIns="0" rtlCol="0" anchor="ctr"/>
          <a:lstStyle/>
          <a:p>
            <a:pPr indent="0" marL="0">
              <a:buNone/>
            </a:pPr>
            <a:r>
              <a:rPr lang="en-US" sz="1800" b="1" dirty="0">
                <a:solidFill>
                  <a:srgbClr val="0F2F44"/>
                </a:solidFill>
                <a:latin typeface="Arial" pitchFamily="34" charset="0"/>
                <a:ea typeface="Arial" pitchFamily="34" charset="-122"/>
                <a:cs typeface="Arial" pitchFamily="34" charset="-120"/>
              </a:rPr>
              <a:t>0</a:t>
            </a:r>
            <a:endParaRPr lang="en-US" sz="1800" dirty="0"/>
          </a:p>
        </p:txBody>
      </p:sp>
      <p:sp>
        <p:nvSpPr>
          <p:cNvPr id="44" name="Text 42"/>
          <p:cNvSpPr/>
          <p:nvPr/>
        </p:nvSpPr>
        <p:spPr>
          <a:xfrm>
            <a:off x="7022592" y="4352544"/>
            <a:ext cx="1591056" cy="457200"/>
          </a:xfrm>
          <a:prstGeom prst="rect">
            <a:avLst/>
          </a:prstGeom>
          <a:noFill/>
          <a:ln/>
        </p:spPr>
        <p:txBody>
          <a:bodyPr wrap="square" lIns="0" tIns="0" rIns="0" bIns="0" rtlCol="0" anchor="ctr"/>
          <a:lstStyle/>
          <a:p>
            <a:pPr indent="0" marL="0">
              <a:buNone/>
            </a:pPr>
            <a:r>
              <a:rPr lang="en-US" sz="900" dirty="0">
                <a:solidFill>
                  <a:srgbClr val="5B6B7E"/>
                </a:solidFill>
                <a:latin typeface="Arial" pitchFamily="34" charset="0"/>
                <a:ea typeface="Arial" pitchFamily="34" charset="-122"/>
                <a:cs typeface="Arial" pitchFamily="34" charset="-120"/>
              </a:rPr>
              <a:t>third-party runtimes or hosting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What we did not wire — and exactly why</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Listed deliberately: each was attempted and diagnosed</a:t>
            </a:r>
            <a:endParaRPr lang="en-US" sz="1200" dirty="0"/>
          </a:p>
        </p:txBody>
      </p:sp>
      <p:sp>
        <p:nvSpPr>
          <p:cNvPr id="4" name="Shape 2"/>
          <p:cNvSpPr/>
          <p:nvPr/>
        </p:nvSpPr>
        <p:spPr>
          <a:xfrm>
            <a:off x="384048" y="1371600"/>
            <a:ext cx="8375904" cy="621792"/>
          </a:xfrm>
          <a:prstGeom prst="roundRect">
            <a:avLst>
              <a:gd name="adj" fmla="val 8824"/>
            </a:avLst>
          </a:prstGeom>
          <a:solidFill>
            <a:srgbClr val="FFFFFF"/>
          </a:solidFill>
          <a:ln w="9525">
            <a:solidFill>
              <a:srgbClr val="D9E1EC"/>
            </a:solidFill>
            <a:prstDash val="solid"/>
          </a:ln>
        </p:spPr>
      </p:sp>
      <p:sp>
        <p:nvSpPr>
          <p:cNvPr id="5" name="Shape 3"/>
          <p:cNvSpPr/>
          <p:nvPr/>
        </p:nvSpPr>
        <p:spPr>
          <a:xfrm>
            <a:off x="512064" y="1600200"/>
            <a:ext cx="164592" cy="164592"/>
          </a:xfrm>
          <a:prstGeom prst="ellipse">
            <a:avLst/>
          </a:prstGeom>
          <a:solidFill>
            <a:srgbClr val="E8871E"/>
          </a:solidFill>
          <a:ln w="12700">
            <a:solidFill>
              <a:srgbClr val="E8871E"/>
            </a:solidFill>
            <a:prstDash val="solid"/>
          </a:ln>
        </p:spPr>
      </p:sp>
      <p:sp>
        <p:nvSpPr>
          <p:cNvPr id="6" name="Text 4"/>
          <p:cNvSpPr/>
          <p:nvPr/>
        </p:nvSpPr>
        <p:spPr>
          <a:xfrm>
            <a:off x="749808" y="1426464"/>
            <a:ext cx="1874520" cy="512064"/>
          </a:xfrm>
          <a:prstGeom prst="rect">
            <a:avLst/>
          </a:prstGeom>
          <a:noFill/>
          <a:ln/>
        </p:spPr>
        <p:txBody>
          <a:bodyPr wrap="square" lIns="0" tIns="0" rIns="0" bIns="0" rtlCol="0" anchor="ctr"/>
          <a:lstStyle/>
          <a:p>
            <a:pPr indent="0" marL="0">
              <a:buNone/>
            </a:pPr>
            <a:r>
              <a:rPr lang="en-US" sz="1000" b="1" dirty="0">
                <a:solidFill>
                  <a:srgbClr val="1C2A3A"/>
                </a:solidFill>
                <a:latin typeface="Arial" pitchFamily="34" charset="0"/>
                <a:ea typeface="Arial" pitchFamily="34" charset="-122"/>
                <a:cs typeface="Arial" pitchFamily="34" charset="-120"/>
              </a:rPr>
              <a:t>Cache</a:t>
            </a:r>
            <a:endParaRPr lang="en-US" sz="1000" dirty="0"/>
          </a:p>
        </p:txBody>
      </p:sp>
      <p:sp>
        <p:nvSpPr>
          <p:cNvPr id="7" name="Text 5"/>
          <p:cNvSpPr/>
          <p:nvPr/>
        </p:nvSpPr>
        <p:spPr>
          <a:xfrm>
            <a:off x="2670048" y="1417320"/>
            <a:ext cx="5943600" cy="53035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Adapter written, segment provisioned. Writes from inside a deployed function return 401 PERMISSION_NEEDED. Ruled out: segment id, SDK, scope API, table permissions. Zero user impact — the KPI query recomputes in ~1 ms.</a:t>
            </a:r>
            <a:endParaRPr lang="en-US" sz="850" dirty="0"/>
          </a:p>
        </p:txBody>
      </p:sp>
      <p:sp>
        <p:nvSpPr>
          <p:cNvPr id="8" name="Shape 6"/>
          <p:cNvSpPr/>
          <p:nvPr/>
        </p:nvSpPr>
        <p:spPr>
          <a:xfrm>
            <a:off x="384048" y="2057400"/>
            <a:ext cx="8375904" cy="621792"/>
          </a:xfrm>
          <a:prstGeom prst="roundRect">
            <a:avLst>
              <a:gd name="adj" fmla="val 8824"/>
            </a:avLst>
          </a:prstGeom>
          <a:solidFill>
            <a:srgbClr val="FFFFFF"/>
          </a:solidFill>
          <a:ln w="9525">
            <a:solidFill>
              <a:srgbClr val="D9E1EC"/>
            </a:solidFill>
            <a:prstDash val="solid"/>
          </a:ln>
        </p:spPr>
      </p:sp>
      <p:sp>
        <p:nvSpPr>
          <p:cNvPr id="9" name="Shape 7"/>
          <p:cNvSpPr/>
          <p:nvPr/>
        </p:nvSpPr>
        <p:spPr>
          <a:xfrm>
            <a:off x="512064" y="2286000"/>
            <a:ext cx="164592" cy="164592"/>
          </a:xfrm>
          <a:prstGeom prst="ellipse">
            <a:avLst/>
          </a:prstGeom>
          <a:solidFill>
            <a:srgbClr val="C0392B"/>
          </a:solidFill>
          <a:ln w="12700">
            <a:solidFill>
              <a:srgbClr val="C0392B"/>
            </a:solidFill>
            <a:prstDash val="solid"/>
          </a:ln>
        </p:spPr>
      </p:sp>
      <p:sp>
        <p:nvSpPr>
          <p:cNvPr id="10" name="Text 8"/>
          <p:cNvSpPr/>
          <p:nvPr/>
        </p:nvSpPr>
        <p:spPr>
          <a:xfrm>
            <a:off x="749808" y="2112264"/>
            <a:ext cx="1874520" cy="512064"/>
          </a:xfrm>
          <a:prstGeom prst="rect">
            <a:avLst/>
          </a:prstGeom>
          <a:noFill/>
          <a:ln/>
        </p:spPr>
        <p:txBody>
          <a:bodyPr wrap="square" lIns="0" tIns="0" rIns="0" bIns="0" rtlCol="0" anchor="ctr"/>
          <a:lstStyle/>
          <a:p>
            <a:pPr indent="0" marL="0">
              <a:buNone/>
            </a:pPr>
            <a:r>
              <a:rPr lang="en-US" sz="1000" b="1" dirty="0">
                <a:solidFill>
                  <a:srgbClr val="1C2A3A"/>
                </a:solidFill>
                <a:latin typeface="Arial" pitchFamily="34" charset="0"/>
                <a:ea typeface="Arial" pitchFamily="34" charset="-122"/>
                <a:cs typeface="Arial" pitchFamily="34" charset="-120"/>
              </a:rPr>
              <a:t>QuickML (GLM-4.7 + RAG)</a:t>
            </a:r>
            <a:endParaRPr lang="en-US" sz="1000" dirty="0"/>
          </a:p>
        </p:txBody>
      </p:sp>
      <p:sp>
        <p:nvSpPr>
          <p:cNvPr id="11" name="Text 9"/>
          <p:cNvSpPr/>
          <p:nvPr/>
        </p:nvSpPr>
        <p:spPr>
          <a:xfrm>
            <a:off x="2670048" y="2103120"/>
            <a:ext cx="5943600" cy="53035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Endpoint, model id, org header and a valid OAuth token all in place; the endpoint rejects our body with 400 PATTERN_NOT_MATCHED. The assistant runs a deterministic intent engine instead — which cannot hallucinate an FIR number.</a:t>
            </a:r>
            <a:endParaRPr lang="en-US" sz="850" dirty="0"/>
          </a:p>
        </p:txBody>
      </p:sp>
      <p:sp>
        <p:nvSpPr>
          <p:cNvPr id="12" name="Shape 10"/>
          <p:cNvSpPr/>
          <p:nvPr/>
        </p:nvSpPr>
        <p:spPr>
          <a:xfrm>
            <a:off x="384048" y="2743200"/>
            <a:ext cx="8375904" cy="621792"/>
          </a:xfrm>
          <a:prstGeom prst="roundRect">
            <a:avLst>
              <a:gd name="adj" fmla="val 8824"/>
            </a:avLst>
          </a:prstGeom>
          <a:solidFill>
            <a:srgbClr val="FFFFFF"/>
          </a:solidFill>
          <a:ln w="9525">
            <a:solidFill>
              <a:srgbClr val="D9E1EC"/>
            </a:solidFill>
            <a:prstDash val="solid"/>
          </a:ln>
        </p:spPr>
      </p:sp>
      <p:sp>
        <p:nvSpPr>
          <p:cNvPr id="13" name="Shape 11"/>
          <p:cNvSpPr/>
          <p:nvPr/>
        </p:nvSpPr>
        <p:spPr>
          <a:xfrm>
            <a:off x="512064" y="2971800"/>
            <a:ext cx="164592" cy="164592"/>
          </a:xfrm>
          <a:prstGeom prst="ellipse">
            <a:avLst/>
          </a:prstGeom>
          <a:solidFill>
            <a:srgbClr val="E8871E"/>
          </a:solidFill>
          <a:ln w="12700">
            <a:solidFill>
              <a:srgbClr val="E8871E"/>
            </a:solidFill>
            <a:prstDash val="solid"/>
          </a:ln>
        </p:spPr>
      </p:sp>
      <p:sp>
        <p:nvSpPr>
          <p:cNvPr id="14" name="Text 12"/>
          <p:cNvSpPr/>
          <p:nvPr/>
        </p:nvSpPr>
        <p:spPr>
          <a:xfrm>
            <a:off x="749808" y="2798064"/>
            <a:ext cx="1874520" cy="512064"/>
          </a:xfrm>
          <a:prstGeom prst="rect">
            <a:avLst/>
          </a:prstGeom>
          <a:noFill/>
          <a:ln/>
        </p:spPr>
        <p:txBody>
          <a:bodyPr wrap="square" lIns="0" tIns="0" rIns="0" bIns="0" rtlCol="0" anchor="ctr"/>
          <a:lstStyle/>
          <a:p>
            <a:pPr indent="0" marL="0">
              <a:buNone/>
            </a:pPr>
            <a:r>
              <a:rPr lang="en-US" sz="1000" b="1" dirty="0">
                <a:solidFill>
                  <a:srgbClr val="1C2A3A"/>
                </a:solidFill>
                <a:latin typeface="Arial" pitchFamily="34" charset="0"/>
                <a:ea typeface="Arial" pitchFamily="34" charset="-122"/>
                <a:cs typeface="Arial" pitchFamily="34" charset="-120"/>
              </a:rPr>
              <a:t>Zia (STT / TTS / translate)</a:t>
            </a:r>
            <a:endParaRPr lang="en-US" sz="1000" dirty="0"/>
          </a:p>
        </p:txBody>
      </p:sp>
      <p:sp>
        <p:nvSpPr>
          <p:cNvPr id="15" name="Text 13"/>
          <p:cNvSpPr/>
          <p:nvPr/>
        </p:nvSpPr>
        <p:spPr>
          <a:xfrm>
            <a:off x="2670048" y="2788920"/>
            <a:ext cx="5943600" cy="53035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Not enabled on the project. The adapter includes the recommended degradation (translate to English, then speak). Voice today runs on the browser Web Speech API, client-side.</a:t>
            </a:r>
            <a:endParaRPr lang="en-US" sz="850" dirty="0"/>
          </a:p>
        </p:txBody>
      </p:sp>
      <p:sp>
        <p:nvSpPr>
          <p:cNvPr id="16" name="Shape 14"/>
          <p:cNvSpPr/>
          <p:nvPr/>
        </p:nvSpPr>
        <p:spPr>
          <a:xfrm>
            <a:off x="384048" y="3429000"/>
            <a:ext cx="8375904" cy="621792"/>
          </a:xfrm>
          <a:prstGeom prst="roundRect">
            <a:avLst>
              <a:gd name="adj" fmla="val 8824"/>
            </a:avLst>
          </a:prstGeom>
          <a:solidFill>
            <a:srgbClr val="FFFFFF"/>
          </a:solidFill>
          <a:ln w="9525">
            <a:solidFill>
              <a:srgbClr val="D9E1EC"/>
            </a:solidFill>
            <a:prstDash val="solid"/>
          </a:ln>
        </p:spPr>
      </p:sp>
      <p:sp>
        <p:nvSpPr>
          <p:cNvPr id="17" name="Shape 15"/>
          <p:cNvSpPr/>
          <p:nvPr/>
        </p:nvSpPr>
        <p:spPr>
          <a:xfrm>
            <a:off x="512064" y="3657600"/>
            <a:ext cx="164592" cy="164592"/>
          </a:xfrm>
          <a:prstGeom prst="ellipse">
            <a:avLst/>
          </a:prstGeom>
          <a:solidFill>
            <a:srgbClr val="5B6B7E"/>
          </a:solidFill>
          <a:ln w="12700">
            <a:solidFill>
              <a:srgbClr val="5B6B7E"/>
            </a:solidFill>
            <a:prstDash val="solid"/>
          </a:ln>
        </p:spPr>
      </p:sp>
      <p:sp>
        <p:nvSpPr>
          <p:cNvPr id="18" name="Text 16"/>
          <p:cNvSpPr/>
          <p:nvPr/>
        </p:nvSpPr>
        <p:spPr>
          <a:xfrm>
            <a:off x="749808" y="3483864"/>
            <a:ext cx="1874520" cy="512064"/>
          </a:xfrm>
          <a:prstGeom prst="rect">
            <a:avLst/>
          </a:prstGeom>
          <a:noFill/>
          <a:ln/>
        </p:spPr>
        <p:txBody>
          <a:bodyPr wrap="square" lIns="0" tIns="0" rIns="0" bIns="0" rtlCol="0" anchor="ctr"/>
          <a:lstStyle/>
          <a:p>
            <a:pPr indent="0" marL="0">
              <a:buNone/>
            </a:pPr>
            <a:r>
              <a:rPr lang="en-US" sz="1000" b="1" dirty="0">
                <a:solidFill>
                  <a:srgbClr val="1C2A3A"/>
                </a:solidFill>
                <a:latin typeface="Arial" pitchFamily="34" charset="0"/>
                <a:ea typeface="Arial" pitchFamily="34" charset="-122"/>
                <a:cs typeface="Arial" pitchFamily="34" charset="-120"/>
              </a:rPr>
              <a:t>NoSQL / SmartBrowz</a:t>
            </a:r>
            <a:endParaRPr lang="en-US" sz="1000" dirty="0"/>
          </a:p>
        </p:txBody>
      </p:sp>
      <p:sp>
        <p:nvSpPr>
          <p:cNvPr id="19" name="Text 17"/>
          <p:cNvSpPr/>
          <p:nvPr/>
        </p:nvSpPr>
        <p:spPr>
          <a:xfrm>
            <a:off x="2670048" y="3474720"/>
            <a:ext cx="5943600" cy="53035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The graph read-model is served from the function bundle; briefing export returns print-ready HTML rather than claiming a PDF pipeline that does not exist.</a:t>
            </a:r>
            <a:endParaRPr lang="en-US" sz="850" dirty="0"/>
          </a:p>
        </p:txBody>
      </p:sp>
      <p:sp>
        <p:nvSpPr>
          <p:cNvPr id="20" name="Shape 18"/>
          <p:cNvSpPr/>
          <p:nvPr/>
        </p:nvSpPr>
        <p:spPr>
          <a:xfrm>
            <a:off x="384048" y="4114800"/>
            <a:ext cx="8375904" cy="621792"/>
          </a:xfrm>
          <a:prstGeom prst="roundRect">
            <a:avLst>
              <a:gd name="adj" fmla="val 8824"/>
            </a:avLst>
          </a:prstGeom>
          <a:solidFill>
            <a:srgbClr val="FFFFFF"/>
          </a:solidFill>
          <a:ln w="9525">
            <a:solidFill>
              <a:srgbClr val="D9E1EC"/>
            </a:solidFill>
            <a:prstDash val="solid"/>
          </a:ln>
        </p:spPr>
      </p:sp>
      <p:sp>
        <p:nvSpPr>
          <p:cNvPr id="21" name="Shape 19"/>
          <p:cNvSpPr/>
          <p:nvPr/>
        </p:nvSpPr>
        <p:spPr>
          <a:xfrm>
            <a:off x="512064" y="4343400"/>
            <a:ext cx="164592" cy="164592"/>
          </a:xfrm>
          <a:prstGeom prst="ellipse">
            <a:avLst/>
          </a:prstGeom>
          <a:solidFill>
            <a:srgbClr val="5B6B7E"/>
          </a:solidFill>
          <a:ln w="12700">
            <a:solidFill>
              <a:srgbClr val="5B6B7E"/>
            </a:solidFill>
            <a:prstDash val="solid"/>
          </a:ln>
        </p:spPr>
      </p:sp>
      <p:sp>
        <p:nvSpPr>
          <p:cNvPr id="22" name="Text 20"/>
          <p:cNvSpPr/>
          <p:nvPr/>
        </p:nvSpPr>
        <p:spPr>
          <a:xfrm>
            <a:off x="749808" y="4169664"/>
            <a:ext cx="1874520" cy="512064"/>
          </a:xfrm>
          <a:prstGeom prst="rect">
            <a:avLst/>
          </a:prstGeom>
          <a:noFill/>
          <a:ln/>
        </p:spPr>
        <p:txBody>
          <a:bodyPr wrap="square" lIns="0" tIns="0" rIns="0" bIns="0" rtlCol="0" anchor="ctr"/>
          <a:lstStyle/>
          <a:p>
            <a:pPr indent="0" marL="0">
              <a:buNone/>
            </a:pPr>
            <a:r>
              <a:rPr lang="en-US" sz="1000" b="1" dirty="0">
                <a:solidFill>
                  <a:srgbClr val="1C2A3A"/>
                </a:solidFill>
                <a:latin typeface="Arial" pitchFamily="34" charset="0"/>
                <a:ea typeface="Arial" pitchFamily="34" charset="-122"/>
                <a:cs typeface="Arial" pitchFamily="34" charset="-120"/>
              </a:rPr>
              <a:t>API Gateway</a:t>
            </a:r>
            <a:endParaRPr lang="en-US" sz="1000" dirty="0"/>
          </a:p>
        </p:txBody>
      </p:sp>
      <p:sp>
        <p:nvSpPr>
          <p:cNvPr id="23" name="Text 21"/>
          <p:cNvSpPr/>
          <p:nvPr/>
        </p:nvSpPr>
        <p:spPr>
          <a:xfrm>
            <a:off x="2670048" y="4160520"/>
            <a:ext cx="5943600" cy="53035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Enabled once, then disabled: with no routes configured it intercepted all traffic and the site returned INVALID_URL. Needs route config before it is safe to turn on.</a:t>
            </a:r>
            <a:endParaRPr lang="en-US" sz="850" dirty="0"/>
          </a:p>
        </p:txBody>
      </p:sp>
      <p:sp>
        <p:nvSpPr>
          <p:cNvPr id="24" name="Text 22"/>
          <p:cNvSpPr/>
          <p:nvPr/>
        </p:nvSpPr>
        <p:spPr>
          <a:xfrm>
            <a:off x="384048" y="4818888"/>
            <a:ext cx="8375904" cy="201168"/>
          </a:xfrm>
          <a:prstGeom prst="rect">
            <a:avLst/>
          </a:prstGeom>
          <a:noFill/>
          <a:ln/>
        </p:spPr>
        <p:txBody>
          <a:bodyPr wrap="square" lIns="0" tIns="0" rIns="0" bIns="0" rtlCol="0" anchor="ctr"/>
          <a:lstStyle/>
          <a:p>
            <a:pPr indent="0" marL="0">
              <a:buNone/>
            </a:pPr>
            <a:r>
              <a:rPr lang="en-US" sz="900" i="1" dirty="0">
                <a:solidFill>
                  <a:srgbClr val="5B6B7E"/>
                </a:solidFill>
                <a:latin typeface="Arial" pitchFamily="34" charset="0"/>
                <a:ea typeface="Arial" pitchFamily="34" charset="-122"/>
                <a:cs typeface="Arial" pitchFamily="34" charset="-120"/>
              </a:rPr>
              <a:t>Stating this plainly is a deliberate choice: an evaluator can verify every claim on the live URL.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The dataset</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Synthetic FIRs, generated against a real skeleton</a:t>
            </a:r>
            <a:endParaRPr lang="en-US" sz="1200" dirty="0"/>
          </a:p>
        </p:txBody>
      </p:sp>
      <p:sp>
        <p:nvSpPr>
          <p:cNvPr id="4" name="Shape 2"/>
          <p:cNvSpPr/>
          <p:nvPr/>
        </p:nvSpPr>
        <p:spPr>
          <a:xfrm>
            <a:off x="384048" y="1371600"/>
            <a:ext cx="8375904" cy="493776"/>
          </a:xfrm>
          <a:prstGeom prst="roundRect">
            <a:avLst>
              <a:gd name="adj" fmla="val 11111"/>
            </a:avLst>
          </a:prstGeom>
          <a:solidFill>
            <a:srgbClr val="FFF6EC"/>
          </a:solidFill>
          <a:ln w="9525">
            <a:solidFill>
              <a:srgbClr val="D9E1EC"/>
            </a:solidFill>
            <a:prstDash val="solid"/>
          </a:ln>
        </p:spPr>
      </p:sp>
      <p:sp>
        <p:nvSpPr>
          <p:cNvPr id="5" name="Text 3"/>
          <p:cNvSpPr/>
          <p:nvPr/>
        </p:nvSpPr>
        <p:spPr>
          <a:xfrm>
            <a:off x="530352" y="1408176"/>
            <a:ext cx="8083296" cy="420624"/>
          </a:xfrm>
          <a:prstGeom prst="rect">
            <a:avLst/>
          </a:prstGeom>
          <a:noFill/>
          <a:ln/>
        </p:spPr>
        <p:txBody>
          <a:bodyPr wrap="square" lIns="0" tIns="0" rIns="0" bIns="0" rtlCol="0" anchor="ctr"/>
          <a:lstStyle/>
          <a:p>
            <a:pPr indent="0" marL="0">
              <a:buNone/>
            </a:pPr>
            <a:r>
              <a:rPr lang="en-US" sz="1000" dirty="0">
                <a:solidFill>
                  <a:srgbClr val="1C2A3A"/>
                </a:solidFill>
                <a:latin typeface="Arial" pitchFamily="34" charset="0"/>
                <a:ea typeface="Arial" pitchFamily="34" charset="-122"/>
                <a:cs typeface="Arial" pitchFamily="34" charset="-120"/>
              </a:rPr>
              <a:t>Every FIR is synthetic — no real case, person or complainant appears anywhere. Real KSP records cannot leave KSP, so the corpus is generated against the real schema, real geography and real published statistics.</a:t>
            </a:r>
            <a:endParaRPr lang="en-US" sz="1000" dirty="0"/>
          </a:p>
        </p:txBody>
      </p:sp>
      <p:sp>
        <p:nvSpPr>
          <p:cNvPr id="6" name="Shape 4"/>
          <p:cNvSpPr/>
          <p:nvPr/>
        </p:nvSpPr>
        <p:spPr>
          <a:xfrm>
            <a:off x="384048" y="1956816"/>
            <a:ext cx="1298448" cy="841248"/>
          </a:xfrm>
          <a:prstGeom prst="roundRect">
            <a:avLst>
              <a:gd name="adj" fmla="val 6522"/>
            </a:avLst>
          </a:prstGeom>
          <a:solidFill>
            <a:srgbClr val="F5F8FB"/>
          </a:solidFill>
          <a:ln w="9525">
            <a:solidFill>
              <a:srgbClr val="D9E1EC"/>
            </a:solidFill>
            <a:prstDash val="solid"/>
          </a:ln>
        </p:spPr>
      </p:sp>
      <p:sp>
        <p:nvSpPr>
          <p:cNvPr id="7" name="Text 5"/>
          <p:cNvSpPr/>
          <p:nvPr/>
        </p:nvSpPr>
        <p:spPr>
          <a:xfrm>
            <a:off x="493776" y="2011680"/>
            <a:ext cx="1078992" cy="420624"/>
          </a:xfrm>
          <a:prstGeom prst="rect">
            <a:avLst/>
          </a:prstGeom>
          <a:noFill/>
          <a:ln/>
        </p:spPr>
        <p:txBody>
          <a:bodyPr wrap="square" lIns="0" tIns="0" rIns="0" bIns="0" rtlCol="0" anchor="ctr"/>
          <a:lstStyle/>
          <a:p>
            <a:pPr indent="0" marL="0">
              <a:buNone/>
            </a:pPr>
            <a:r>
              <a:rPr lang="en-US" sz="1900" b="1" dirty="0">
                <a:solidFill>
                  <a:srgbClr val="0F2F44"/>
                </a:solidFill>
                <a:latin typeface="Arial" pitchFamily="34" charset="0"/>
                <a:ea typeface="Arial" pitchFamily="34" charset="-122"/>
                <a:cs typeface="Arial" pitchFamily="34" charset="-120"/>
              </a:rPr>
              <a:t>40,836</a:t>
            </a:r>
            <a:endParaRPr lang="en-US" sz="1900" dirty="0"/>
          </a:p>
        </p:txBody>
      </p:sp>
      <p:sp>
        <p:nvSpPr>
          <p:cNvPr id="8" name="Text 6"/>
          <p:cNvSpPr/>
          <p:nvPr/>
        </p:nvSpPr>
        <p:spPr>
          <a:xfrm>
            <a:off x="493776" y="2394265"/>
            <a:ext cx="1078992" cy="37014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FIRs · 43 months</a:t>
            </a:r>
            <a:endParaRPr lang="en-US" sz="950" dirty="0"/>
          </a:p>
        </p:txBody>
      </p:sp>
      <p:sp>
        <p:nvSpPr>
          <p:cNvPr id="9" name="Shape 7"/>
          <p:cNvSpPr/>
          <p:nvPr/>
        </p:nvSpPr>
        <p:spPr>
          <a:xfrm>
            <a:off x="1796796" y="1956816"/>
            <a:ext cx="1298448" cy="841248"/>
          </a:xfrm>
          <a:prstGeom prst="roundRect">
            <a:avLst>
              <a:gd name="adj" fmla="val 6522"/>
            </a:avLst>
          </a:prstGeom>
          <a:solidFill>
            <a:srgbClr val="F5F8FB"/>
          </a:solidFill>
          <a:ln w="9525">
            <a:solidFill>
              <a:srgbClr val="D9E1EC"/>
            </a:solidFill>
            <a:prstDash val="solid"/>
          </a:ln>
        </p:spPr>
      </p:sp>
      <p:sp>
        <p:nvSpPr>
          <p:cNvPr id="10" name="Text 8"/>
          <p:cNvSpPr/>
          <p:nvPr/>
        </p:nvSpPr>
        <p:spPr>
          <a:xfrm>
            <a:off x="1906524" y="2011680"/>
            <a:ext cx="1078992" cy="420624"/>
          </a:xfrm>
          <a:prstGeom prst="rect">
            <a:avLst/>
          </a:prstGeom>
          <a:noFill/>
          <a:ln/>
        </p:spPr>
        <p:txBody>
          <a:bodyPr wrap="square" lIns="0" tIns="0" rIns="0" bIns="0" rtlCol="0" anchor="ctr"/>
          <a:lstStyle/>
          <a:p>
            <a:pPr indent="0" marL="0">
              <a:buNone/>
            </a:pPr>
            <a:r>
              <a:rPr lang="en-US" sz="1900" b="1" dirty="0">
                <a:solidFill>
                  <a:srgbClr val="0F2F44"/>
                </a:solidFill>
                <a:latin typeface="Arial" pitchFamily="34" charset="0"/>
                <a:ea typeface="Arial" pitchFamily="34" charset="-122"/>
                <a:cs typeface="Arial" pitchFamily="34" charset="-120"/>
              </a:rPr>
              <a:t>31</a:t>
            </a:r>
            <a:endParaRPr lang="en-US" sz="1900" dirty="0"/>
          </a:p>
        </p:txBody>
      </p:sp>
      <p:sp>
        <p:nvSpPr>
          <p:cNvPr id="11" name="Text 9"/>
          <p:cNvSpPr/>
          <p:nvPr/>
        </p:nvSpPr>
        <p:spPr>
          <a:xfrm>
            <a:off x="1906524" y="2394265"/>
            <a:ext cx="1078992" cy="37014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districts</a:t>
            </a:r>
            <a:endParaRPr lang="en-US" sz="950" dirty="0"/>
          </a:p>
        </p:txBody>
      </p:sp>
      <p:sp>
        <p:nvSpPr>
          <p:cNvPr id="12" name="Shape 10"/>
          <p:cNvSpPr/>
          <p:nvPr/>
        </p:nvSpPr>
        <p:spPr>
          <a:xfrm>
            <a:off x="3209544" y="1956816"/>
            <a:ext cx="1298448" cy="841248"/>
          </a:xfrm>
          <a:prstGeom prst="roundRect">
            <a:avLst>
              <a:gd name="adj" fmla="val 6522"/>
            </a:avLst>
          </a:prstGeom>
          <a:solidFill>
            <a:srgbClr val="F5F8FB"/>
          </a:solidFill>
          <a:ln w="9525">
            <a:solidFill>
              <a:srgbClr val="D9E1EC"/>
            </a:solidFill>
            <a:prstDash val="solid"/>
          </a:ln>
        </p:spPr>
      </p:sp>
      <p:sp>
        <p:nvSpPr>
          <p:cNvPr id="13" name="Text 11"/>
          <p:cNvSpPr/>
          <p:nvPr/>
        </p:nvSpPr>
        <p:spPr>
          <a:xfrm>
            <a:off x="3319272" y="2011680"/>
            <a:ext cx="1078992" cy="420624"/>
          </a:xfrm>
          <a:prstGeom prst="rect">
            <a:avLst/>
          </a:prstGeom>
          <a:noFill/>
          <a:ln/>
        </p:spPr>
        <p:txBody>
          <a:bodyPr wrap="square" lIns="0" tIns="0" rIns="0" bIns="0" rtlCol="0" anchor="ctr"/>
          <a:lstStyle/>
          <a:p>
            <a:pPr indent="0" marL="0">
              <a:buNone/>
            </a:pPr>
            <a:r>
              <a:rPr lang="en-US" sz="1900" b="1" dirty="0">
                <a:solidFill>
                  <a:srgbClr val="0F2F44"/>
                </a:solidFill>
                <a:latin typeface="Arial" pitchFamily="34" charset="0"/>
                <a:ea typeface="Arial" pitchFamily="34" charset="-122"/>
                <a:cs typeface="Arial" pitchFamily="34" charset="-120"/>
              </a:rPr>
              <a:t>298</a:t>
            </a:r>
            <a:endParaRPr lang="en-US" sz="1900" dirty="0"/>
          </a:p>
        </p:txBody>
      </p:sp>
      <p:sp>
        <p:nvSpPr>
          <p:cNvPr id="14" name="Text 12"/>
          <p:cNvSpPr/>
          <p:nvPr/>
        </p:nvSpPr>
        <p:spPr>
          <a:xfrm>
            <a:off x="3319272" y="2394265"/>
            <a:ext cx="1078992" cy="37014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police stations</a:t>
            </a:r>
            <a:endParaRPr lang="en-US" sz="950" dirty="0"/>
          </a:p>
        </p:txBody>
      </p:sp>
      <p:sp>
        <p:nvSpPr>
          <p:cNvPr id="15" name="Shape 13"/>
          <p:cNvSpPr/>
          <p:nvPr/>
        </p:nvSpPr>
        <p:spPr>
          <a:xfrm>
            <a:off x="4622292" y="1956816"/>
            <a:ext cx="1298448" cy="841248"/>
          </a:xfrm>
          <a:prstGeom prst="roundRect">
            <a:avLst>
              <a:gd name="adj" fmla="val 6522"/>
            </a:avLst>
          </a:prstGeom>
          <a:solidFill>
            <a:srgbClr val="F5F8FB"/>
          </a:solidFill>
          <a:ln w="9525">
            <a:solidFill>
              <a:srgbClr val="D9E1EC"/>
            </a:solidFill>
            <a:prstDash val="solid"/>
          </a:ln>
        </p:spPr>
      </p:sp>
      <p:sp>
        <p:nvSpPr>
          <p:cNvPr id="16" name="Text 14"/>
          <p:cNvSpPr/>
          <p:nvPr/>
        </p:nvSpPr>
        <p:spPr>
          <a:xfrm>
            <a:off x="4732020" y="2011680"/>
            <a:ext cx="1078992" cy="420624"/>
          </a:xfrm>
          <a:prstGeom prst="rect">
            <a:avLst/>
          </a:prstGeom>
          <a:noFill/>
          <a:ln/>
        </p:spPr>
        <p:txBody>
          <a:bodyPr wrap="square" lIns="0" tIns="0" rIns="0" bIns="0" rtlCol="0" anchor="ctr"/>
          <a:lstStyle/>
          <a:p>
            <a:pPr indent="0" marL="0">
              <a:buNone/>
            </a:pPr>
            <a:r>
              <a:rPr lang="en-US" sz="1900" b="1" dirty="0">
                <a:solidFill>
                  <a:srgbClr val="0F2F44"/>
                </a:solidFill>
                <a:latin typeface="Arial" pitchFamily="34" charset="0"/>
                <a:ea typeface="Arial" pitchFamily="34" charset="-122"/>
                <a:cs typeface="Arial" pitchFamily="34" charset="-120"/>
              </a:rPr>
              <a:t>50,656</a:t>
            </a:r>
            <a:endParaRPr lang="en-US" sz="1900" dirty="0"/>
          </a:p>
        </p:txBody>
      </p:sp>
      <p:sp>
        <p:nvSpPr>
          <p:cNvPr id="17" name="Text 15"/>
          <p:cNvSpPr/>
          <p:nvPr/>
        </p:nvSpPr>
        <p:spPr>
          <a:xfrm>
            <a:off x="4732020" y="2394265"/>
            <a:ext cx="1078992" cy="37014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victim records</a:t>
            </a:r>
            <a:endParaRPr lang="en-US" sz="950" dirty="0"/>
          </a:p>
        </p:txBody>
      </p:sp>
      <p:sp>
        <p:nvSpPr>
          <p:cNvPr id="18" name="Shape 16"/>
          <p:cNvSpPr/>
          <p:nvPr/>
        </p:nvSpPr>
        <p:spPr>
          <a:xfrm>
            <a:off x="6035040" y="1956816"/>
            <a:ext cx="1298448" cy="841248"/>
          </a:xfrm>
          <a:prstGeom prst="roundRect">
            <a:avLst>
              <a:gd name="adj" fmla="val 6522"/>
            </a:avLst>
          </a:prstGeom>
          <a:solidFill>
            <a:srgbClr val="F5F8FB"/>
          </a:solidFill>
          <a:ln w="9525">
            <a:solidFill>
              <a:srgbClr val="D9E1EC"/>
            </a:solidFill>
            <a:prstDash val="solid"/>
          </a:ln>
        </p:spPr>
      </p:sp>
      <p:sp>
        <p:nvSpPr>
          <p:cNvPr id="19" name="Text 17"/>
          <p:cNvSpPr/>
          <p:nvPr/>
        </p:nvSpPr>
        <p:spPr>
          <a:xfrm>
            <a:off x="6144768" y="2011680"/>
            <a:ext cx="1078992" cy="420624"/>
          </a:xfrm>
          <a:prstGeom prst="rect">
            <a:avLst/>
          </a:prstGeom>
          <a:noFill/>
          <a:ln/>
        </p:spPr>
        <p:txBody>
          <a:bodyPr wrap="square" lIns="0" tIns="0" rIns="0" bIns="0" rtlCol="0" anchor="ctr"/>
          <a:lstStyle/>
          <a:p>
            <a:pPr indent="0" marL="0">
              <a:buNone/>
            </a:pPr>
            <a:r>
              <a:rPr lang="en-US" sz="1900" b="1" dirty="0">
                <a:solidFill>
                  <a:srgbClr val="0F2F44"/>
                </a:solidFill>
                <a:latin typeface="Arial" pitchFamily="34" charset="0"/>
                <a:ea typeface="Arial" pitchFamily="34" charset="-122"/>
                <a:cs typeface="Arial" pitchFamily="34" charset="-120"/>
              </a:rPr>
              <a:t>300</a:t>
            </a:r>
            <a:endParaRPr lang="en-US" sz="1900" dirty="0"/>
          </a:p>
        </p:txBody>
      </p:sp>
      <p:sp>
        <p:nvSpPr>
          <p:cNvPr id="20" name="Text 18"/>
          <p:cNvSpPr/>
          <p:nvPr/>
        </p:nvSpPr>
        <p:spPr>
          <a:xfrm>
            <a:off x="6144768" y="2394265"/>
            <a:ext cx="1078992" cy="37014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resolved offenders</a:t>
            </a:r>
            <a:endParaRPr lang="en-US" sz="950" dirty="0"/>
          </a:p>
        </p:txBody>
      </p:sp>
      <p:sp>
        <p:nvSpPr>
          <p:cNvPr id="21" name="Shape 19"/>
          <p:cNvSpPr/>
          <p:nvPr/>
        </p:nvSpPr>
        <p:spPr>
          <a:xfrm>
            <a:off x="7447788" y="1956816"/>
            <a:ext cx="1298448" cy="841248"/>
          </a:xfrm>
          <a:prstGeom prst="roundRect">
            <a:avLst>
              <a:gd name="adj" fmla="val 6522"/>
            </a:avLst>
          </a:prstGeom>
          <a:solidFill>
            <a:srgbClr val="F5F8FB"/>
          </a:solidFill>
          <a:ln w="9525">
            <a:solidFill>
              <a:srgbClr val="D9E1EC"/>
            </a:solidFill>
            <a:prstDash val="solid"/>
          </a:ln>
        </p:spPr>
      </p:sp>
      <p:sp>
        <p:nvSpPr>
          <p:cNvPr id="22" name="Text 20"/>
          <p:cNvSpPr/>
          <p:nvPr/>
        </p:nvSpPr>
        <p:spPr>
          <a:xfrm>
            <a:off x="7557516" y="2011680"/>
            <a:ext cx="1078992" cy="420624"/>
          </a:xfrm>
          <a:prstGeom prst="rect">
            <a:avLst/>
          </a:prstGeom>
          <a:noFill/>
          <a:ln/>
        </p:spPr>
        <p:txBody>
          <a:bodyPr wrap="square" lIns="0" tIns="0" rIns="0" bIns="0" rtlCol="0" anchor="ctr"/>
          <a:lstStyle/>
          <a:p>
            <a:pPr indent="0" marL="0">
              <a:buNone/>
            </a:pPr>
            <a:r>
              <a:rPr lang="en-US" sz="1900" b="1" dirty="0">
                <a:solidFill>
                  <a:srgbClr val="0F2F44"/>
                </a:solidFill>
                <a:latin typeface="Arial" pitchFamily="34" charset="0"/>
                <a:ea typeface="Arial" pitchFamily="34" charset="-122"/>
                <a:cs typeface="Arial" pitchFamily="34" charset="-120"/>
              </a:rPr>
              <a:t>7</a:t>
            </a:r>
            <a:endParaRPr lang="en-US" sz="1900" dirty="0"/>
          </a:p>
        </p:txBody>
      </p:sp>
      <p:sp>
        <p:nvSpPr>
          <p:cNvPr id="23" name="Text 21"/>
          <p:cNvSpPr/>
          <p:nvPr/>
        </p:nvSpPr>
        <p:spPr>
          <a:xfrm>
            <a:off x="7557516" y="2394265"/>
            <a:ext cx="1078992" cy="370149"/>
          </a:xfrm>
          <a:prstGeom prst="rect">
            <a:avLst/>
          </a:prstGeom>
          <a:noFill/>
          <a:ln/>
        </p:spPr>
        <p:txBody>
          <a:bodyPr wrap="square" lIns="0" tIns="0" rIns="0" bIns="0" rtlCol="0" anchor="t"/>
          <a:lstStyle/>
          <a:p>
            <a:pPr indent="0" marL="0">
              <a:buNone/>
            </a:pPr>
            <a:r>
              <a:rPr lang="en-US" sz="950" dirty="0">
                <a:solidFill>
                  <a:srgbClr val="5B6B7E"/>
                </a:solidFill>
                <a:latin typeface="Arial" pitchFamily="34" charset="0"/>
                <a:ea typeface="Arial" pitchFamily="34" charset="-122"/>
                <a:cs typeface="Arial" pitchFamily="34" charset="-120"/>
              </a:rPr>
              <a:t>planted patterns</a:t>
            </a:r>
            <a:endParaRPr lang="en-US" sz="950" dirty="0"/>
          </a:p>
        </p:txBody>
      </p:sp>
      <p:sp>
        <p:nvSpPr>
          <p:cNvPr id="24" name="Shape 22"/>
          <p:cNvSpPr/>
          <p:nvPr/>
        </p:nvSpPr>
        <p:spPr>
          <a:xfrm>
            <a:off x="384048" y="2889504"/>
            <a:ext cx="4041648" cy="1956816"/>
          </a:xfrm>
          <a:prstGeom prst="roundRect">
            <a:avLst>
              <a:gd name="adj" fmla="val 2804"/>
            </a:avLst>
          </a:prstGeom>
          <a:solidFill>
            <a:srgbClr val="FFFFFF"/>
          </a:solidFill>
          <a:ln w="9525">
            <a:solidFill>
              <a:srgbClr val="D9E1EC"/>
            </a:solidFill>
            <a:prstDash val="solid"/>
          </a:ln>
        </p:spPr>
      </p:sp>
      <p:sp>
        <p:nvSpPr>
          <p:cNvPr id="25" name="Shape 23"/>
          <p:cNvSpPr/>
          <p:nvPr/>
        </p:nvSpPr>
        <p:spPr>
          <a:xfrm>
            <a:off x="384048" y="2889504"/>
            <a:ext cx="4041648" cy="329184"/>
          </a:xfrm>
          <a:prstGeom prst="roundRect">
            <a:avLst>
              <a:gd name="adj" fmla="val 16667"/>
            </a:avLst>
          </a:prstGeom>
          <a:solidFill>
            <a:srgbClr val="2FA8A0"/>
          </a:solidFill>
          <a:ln w="12700">
            <a:solidFill>
              <a:srgbClr val="2FA8A0"/>
            </a:solidFill>
            <a:prstDash val="solid"/>
          </a:ln>
        </p:spPr>
      </p:sp>
      <p:sp>
        <p:nvSpPr>
          <p:cNvPr id="26" name="Text 24"/>
          <p:cNvSpPr/>
          <p:nvPr/>
        </p:nvSpPr>
        <p:spPr>
          <a:xfrm>
            <a:off x="512064" y="2889504"/>
            <a:ext cx="3785616" cy="329184"/>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How it is generated</a:t>
            </a:r>
            <a:endParaRPr lang="en-US" sz="1100" dirty="0"/>
          </a:p>
        </p:txBody>
      </p:sp>
      <p:sp>
        <p:nvSpPr>
          <p:cNvPr id="27" name="Text 25"/>
          <p:cNvSpPr/>
          <p:nvPr/>
        </p:nvSpPr>
        <p:spPr>
          <a:xfrm>
            <a:off x="530352" y="3291840"/>
            <a:ext cx="3749040" cy="1463040"/>
          </a:xfrm>
          <a:prstGeom prst="rect">
            <a:avLst/>
          </a:prstGeom>
          <a:noFill/>
          <a:ln/>
        </p:spPr>
        <p:txBody>
          <a:bodyPr wrap="square" lIns="0" tIns="0" rIns="0" bIns="0" rtlCol="0" anchor="t"/>
          <a:lstStyle/>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Real skeleton: 31 districts, 298 stations, IPC / BNS / IT / NDPS sections, KSP taxonomy</a:t>
            </a:r>
            <a:endParaRPr lang="en-US" sz="850" dirty="0"/>
          </a:p>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Volume follows published statistics — Bengaluru City ~16,900 FIRs against a few hundred rural</a:t>
            </a:r>
            <a:endParaRPr lang="en-US" sz="850" dirty="0"/>
          </a:p>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Coordinates rejection-sampled inside real district polygons — 100% land, inside Karnataka</a:t>
            </a:r>
            <a:endParaRPr lang="en-US" sz="850" dirty="0"/>
          </a:p>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Kannada name pool carrying spelling variants, initials and transliteration drift</a:t>
            </a:r>
            <a:endParaRPr lang="en-US" sz="850" dirty="0"/>
          </a:p>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Deterministic under seed 2026 — the corpus regenerates byte-for-byte</a:t>
            </a:r>
            <a:endParaRPr lang="en-US" sz="850" dirty="0"/>
          </a:p>
        </p:txBody>
      </p:sp>
      <p:sp>
        <p:nvSpPr>
          <p:cNvPr id="28" name="Shape 26"/>
          <p:cNvSpPr/>
          <p:nvPr/>
        </p:nvSpPr>
        <p:spPr>
          <a:xfrm>
            <a:off x="4718304" y="2889504"/>
            <a:ext cx="4041648" cy="1956816"/>
          </a:xfrm>
          <a:prstGeom prst="roundRect">
            <a:avLst>
              <a:gd name="adj" fmla="val 2804"/>
            </a:avLst>
          </a:prstGeom>
          <a:solidFill>
            <a:srgbClr val="FFFFFF"/>
          </a:solidFill>
          <a:ln w="9525">
            <a:solidFill>
              <a:srgbClr val="D9E1EC"/>
            </a:solidFill>
            <a:prstDash val="solid"/>
          </a:ln>
        </p:spPr>
      </p:sp>
      <p:sp>
        <p:nvSpPr>
          <p:cNvPr id="29" name="Shape 27"/>
          <p:cNvSpPr/>
          <p:nvPr/>
        </p:nvSpPr>
        <p:spPr>
          <a:xfrm>
            <a:off x="4718304" y="2889504"/>
            <a:ext cx="4041648" cy="329184"/>
          </a:xfrm>
          <a:prstGeom prst="roundRect">
            <a:avLst>
              <a:gd name="adj" fmla="val 16667"/>
            </a:avLst>
          </a:prstGeom>
          <a:solidFill>
            <a:srgbClr val="E8871E"/>
          </a:solidFill>
          <a:ln w="12700">
            <a:solidFill>
              <a:srgbClr val="E8871E"/>
            </a:solidFill>
            <a:prstDash val="solid"/>
          </a:ln>
        </p:spPr>
      </p:sp>
      <p:sp>
        <p:nvSpPr>
          <p:cNvPr id="30" name="Text 28"/>
          <p:cNvSpPr/>
          <p:nvPr/>
        </p:nvSpPr>
        <p:spPr>
          <a:xfrm>
            <a:off x="4846320" y="2889504"/>
            <a:ext cx="3785616" cy="329184"/>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Where the synthetic origin shows</a:t>
            </a:r>
            <a:endParaRPr lang="en-US" sz="1100" dirty="0"/>
          </a:p>
        </p:txBody>
      </p:sp>
      <p:sp>
        <p:nvSpPr>
          <p:cNvPr id="31" name="Text 29"/>
          <p:cNvSpPr/>
          <p:nvPr/>
        </p:nvSpPr>
        <p:spPr>
          <a:xfrm>
            <a:off x="4864608" y="3291840"/>
            <a:ext cx="3749040" cy="1463040"/>
          </a:xfrm>
          <a:prstGeom prst="rect">
            <a:avLst/>
          </a:prstGeom>
          <a:noFill/>
          <a:ln/>
        </p:spPr>
        <p:txBody>
          <a:bodyPr wrap="square" lIns="0" tIns="0" rIns="0" bIns="0" rtlCol="0" anchor="t"/>
          <a:lstStyle/>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MO narratives are template-drawn — cleaner and more uniform than real free text</a:t>
            </a:r>
            <a:endParaRPr lang="en-US" sz="850" dirty="0"/>
          </a:p>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The urbanisation correlation is partly circular: the generator weights urban crime upward</a:t>
            </a:r>
            <a:endParaRPr lang="en-US" sz="850" dirty="0"/>
          </a:p>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Names come from a finite pool, making resolution slightly easier than reality</a:t>
            </a:r>
            <a:endParaRPr lang="en-US" sz="850" dirty="0"/>
          </a:p>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No missing fields, typos or duplicate registrations — real registers are messier</a:t>
            </a:r>
            <a:endParaRPr lang="en-US" sz="850" dirty="0"/>
          </a:p>
          <a:p>
            <a:pPr marL="342900" indent="-342900">
              <a:spcAft>
                <a:spcPts val="500"/>
              </a:spcAft>
              <a:buSzPct val="100000"/>
              <a:buChar char="•"/>
            </a:pPr>
            <a:r>
              <a:rPr lang="en-US" sz="850" dirty="0">
                <a:solidFill>
                  <a:srgbClr val="1C2A3A"/>
                </a:solidFill>
                <a:latin typeface="Arial" pitchFamily="34" charset="0"/>
                <a:ea typeface="Arial" pitchFamily="34" charset="-122"/>
                <a:cs typeface="Arial" pitchFamily="34" charset="-120"/>
              </a:rPr>
              <a:t>Census 2011 population, literacy and urbanisation are real, and used as the denominator</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Estimated implementation cost</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Free-tier today; the shape of a state-wide rollout</a:t>
            </a:r>
            <a:endParaRPr lang="en-US" sz="1200" dirty="0"/>
          </a:p>
        </p:txBody>
      </p:sp>
      <p:sp>
        <p:nvSpPr>
          <p:cNvPr id="4" name="Shape 2"/>
          <p:cNvSpPr/>
          <p:nvPr/>
        </p:nvSpPr>
        <p:spPr>
          <a:xfrm>
            <a:off x="384048" y="1371600"/>
            <a:ext cx="8375904" cy="292608"/>
          </a:xfrm>
          <a:prstGeom prst="roundRect">
            <a:avLst>
              <a:gd name="adj" fmla="val 12500"/>
            </a:avLst>
          </a:prstGeom>
          <a:solidFill>
            <a:srgbClr val="0F2F44"/>
          </a:solidFill>
          <a:ln w="12700">
            <a:solidFill>
              <a:srgbClr val="0F2F44"/>
            </a:solidFill>
            <a:prstDash val="solid"/>
          </a:ln>
        </p:spPr>
      </p:sp>
      <p:sp>
        <p:nvSpPr>
          <p:cNvPr id="5" name="Text 3"/>
          <p:cNvSpPr/>
          <p:nvPr/>
        </p:nvSpPr>
        <p:spPr>
          <a:xfrm>
            <a:off x="493776" y="1371600"/>
            <a:ext cx="1920240" cy="29260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Service</a:t>
            </a:r>
            <a:endParaRPr lang="en-US" sz="900" dirty="0"/>
          </a:p>
        </p:txBody>
      </p:sp>
      <p:sp>
        <p:nvSpPr>
          <p:cNvPr id="6" name="Text 4"/>
          <p:cNvSpPr/>
          <p:nvPr/>
        </p:nvSpPr>
        <p:spPr>
          <a:xfrm>
            <a:off x="2615184" y="1371600"/>
            <a:ext cx="2377440" cy="29260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Prototype usage</a:t>
            </a:r>
            <a:endParaRPr lang="en-US" sz="900" dirty="0"/>
          </a:p>
        </p:txBody>
      </p:sp>
      <p:sp>
        <p:nvSpPr>
          <p:cNvPr id="7" name="Text 5"/>
          <p:cNvSpPr/>
          <p:nvPr/>
        </p:nvSpPr>
        <p:spPr>
          <a:xfrm>
            <a:off x="5084064" y="1371600"/>
            <a:ext cx="1325880" cy="29260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Cost today</a:t>
            </a:r>
            <a:endParaRPr lang="en-US" sz="900" dirty="0"/>
          </a:p>
        </p:txBody>
      </p:sp>
      <p:sp>
        <p:nvSpPr>
          <p:cNvPr id="8" name="Text 6"/>
          <p:cNvSpPr/>
          <p:nvPr/>
        </p:nvSpPr>
        <p:spPr>
          <a:xfrm>
            <a:off x="6501384" y="1371600"/>
            <a:ext cx="2286000" cy="29260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At production scale</a:t>
            </a:r>
            <a:endParaRPr lang="en-US" sz="900" dirty="0"/>
          </a:p>
        </p:txBody>
      </p:sp>
      <p:sp>
        <p:nvSpPr>
          <p:cNvPr id="9" name="Shape 7"/>
          <p:cNvSpPr/>
          <p:nvPr/>
        </p:nvSpPr>
        <p:spPr>
          <a:xfrm>
            <a:off x="384048" y="1664208"/>
            <a:ext cx="8375904" cy="338328"/>
          </a:xfrm>
          <a:prstGeom prst="rect">
            <a:avLst/>
          </a:prstGeom>
          <a:solidFill>
            <a:srgbClr val="F5F8FB"/>
          </a:solidFill>
          <a:ln w="12700">
            <a:solidFill>
              <a:srgbClr val="F5F8FB"/>
            </a:solidFill>
            <a:prstDash val="solid"/>
          </a:ln>
        </p:spPr>
      </p:sp>
      <p:sp>
        <p:nvSpPr>
          <p:cNvPr id="10" name="Text 8"/>
          <p:cNvSpPr/>
          <p:nvPr/>
        </p:nvSpPr>
        <p:spPr>
          <a:xfrm>
            <a:off x="493776" y="1664208"/>
            <a:ext cx="1920240" cy="338328"/>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Web Client Hosting</a:t>
            </a:r>
            <a:endParaRPr lang="en-US" sz="900" dirty="0"/>
          </a:p>
        </p:txBody>
      </p:sp>
      <p:sp>
        <p:nvSpPr>
          <p:cNvPr id="11" name="Text 9"/>
          <p:cNvSpPr/>
          <p:nvPr/>
        </p:nvSpPr>
        <p:spPr>
          <a:xfrm>
            <a:off x="2615184" y="1664208"/>
            <a:ext cx="2331720" cy="338328"/>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SPA + assets (~2 MB)</a:t>
            </a:r>
            <a:endParaRPr lang="en-US" sz="900" dirty="0"/>
          </a:p>
        </p:txBody>
      </p:sp>
      <p:sp>
        <p:nvSpPr>
          <p:cNvPr id="12" name="Text 10"/>
          <p:cNvSpPr/>
          <p:nvPr/>
        </p:nvSpPr>
        <p:spPr>
          <a:xfrm>
            <a:off x="5084064" y="1664208"/>
            <a:ext cx="1325880" cy="33832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Free tier</a:t>
            </a:r>
            <a:endParaRPr lang="en-US" sz="900" dirty="0"/>
          </a:p>
        </p:txBody>
      </p:sp>
      <p:sp>
        <p:nvSpPr>
          <p:cNvPr id="13" name="Text 11"/>
          <p:cNvSpPr/>
          <p:nvPr/>
        </p:nvSpPr>
        <p:spPr>
          <a:xfrm>
            <a:off x="6501384" y="1664208"/>
            <a:ext cx="2194560" cy="33832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Static hosting, negligible at KSP scale</a:t>
            </a:r>
            <a:endParaRPr lang="en-US" sz="850" dirty="0"/>
          </a:p>
        </p:txBody>
      </p:sp>
      <p:sp>
        <p:nvSpPr>
          <p:cNvPr id="14" name="Text 12"/>
          <p:cNvSpPr/>
          <p:nvPr/>
        </p:nvSpPr>
        <p:spPr>
          <a:xfrm>
            <a:off x="493776" y="2002536"/>
            <a:ext cx="1920240" cy="338328"/>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Serverless Functions</a:t>
            </a:r>
            <a:endParaRPr lang="en-US" sz="900" dirty="0"/>
          </a:p>
        </p:txBody>
      </p:sp>
      <p:sp>
        <p:nvSpPr>
          <p:cNvPr id="15" name="Text 13"/>
          <p:cNvSpPr/>
          <p:nvPr/>
        </p:nvSpPr>
        <p:spPr>
          <a:xfrm>
            <a:off x="2615184" y="2002536"/>
            <a:ext cx="2331720" cy="338328"/>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2 functions · 512 MB · ~50k req/mo</a:t>
            </a:r>
            <a:endParaRPr lang="en-US" sz="900" dirty="0"/>
          </a:p>
        </p:txBody>
      </p:sp>
      <p:sp>
        <p:nvSpPr>
          <p:cNvPr id="16" name="Text 14"/>
          <p:cNvSpPr/>
          <p:nvPr/>
        </p:nvSpPr>
        <p:spPr>
          <a:xfrm>
            <a:off x="5084064" y="2002536"/>
            <a:ext cx="1325880" cy="33832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Free tier</a:t>
            </a:r>
            <a:endParaRPr lang="en-US" sz="900" dirty="0"/>
          </a:p>
        </p:txBody>
      </p:sp>
      <p:sp>
        <p:nvSpPr>
          <p:cNvPr id="17" name="Text 15"/>
          <p:cNvSpPr/>
          <p:nvPr/>
        </p:nvSpPr>
        <p:spPr>
          <a:xfrm>
            <a:off x="6501384" y="2002536"/>
            <a:ext cx="2194560" cy="33832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Scales per invocation; no idle cost</a:t>
            </a:r>
            <a:endParaRPr lang="en-US" sz="850" dirty="0"/>
          </a:p>
        </p:txBody>
      </p:sp>
      <p:sp>
        <p:nvSpPr>
          <p:cNvPr id="18" name="Shape 16"/>
          <p:cNvSpPr/>
          <p:nvPr/>
        </p:nvSpPr>
        <p:spPr>
          <a:xfrm>
            <a:off x="384048" y="2340864"/>
            <a:ext cx="8375904" cy="338328"/>
          </a:xfrm>
          <a:prstGeom prst="rect">
            <a:avLst/>
          </a:prstGeom>
          <a:solidFill>
            <a:srgbClr val="F5F8FB"/>
          </a:solidFill>
          <a:ln w="12700">
            <a:solidFill>
              <a:srgbClr val="F5F8FB"/>
            </a:solidFill>
            <a:prstDash val="solid"/>
          </a:ln>
        </p:spPr>
      </p:sp>
      <p:sp>
        <p:nvSpPr>
          <p:cNvPr id="19" name="Text 17"/>
          <p:cNvSpPr/>
          <p:nvPr/>
        </p:nvSpPr>
        <p:spPr>
          <a:xfrm>
            <a:off x="493776" y="2340864"/>
            <a:ext cx="1920240" cy="338328"/>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AppSail</a:t>
            </a:r>
            <a:endParaRPr lang="en-US" sz="900" dirty="0"/>
          </a:p>
        </p:txBody>
      </p:sp>
      <p:sp>
        <p:nvSpPr>
          <p:cNvPr id="20" name="Text 18"/>
          <p:cNvSpPr/>
          <p:nvPr/>
        </p:nvSpPr>
        <p:spPr>
          <a:xfrm>
            <a:off x="2615184" y="2340864"/>
            <a:ext cx="2331720" cy="338328"/>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1 service · stdlib runtime</a:t>
            </a:r>
            <a:endParaRPr lang="en-US" sz="900" dirty="0"/>
          </a:p>
        </p:txBody>
      </p:sp>
      <p:sp>
        <p:nvSpPr>
          <p:cNvPr id="21" name="Text 19"/>
          <p:cNvSpPr/>
          <p:nvPr/>
        </p:nvSpPr>
        <p:spPr>
          <a:xfrm>
            <a:off x="5084064" y="2340864"/>
            <a:ext cx="1325880" cy="33832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Free tier</a:t>
            </a:r>
            <a:endParaRPr lang="en-US" sz="900" dirty="0"/>
          </a:p>
        </p:txBody>
      </p:sp>
      <p:sp>
        <p:nvSpPr>
          <p:cNvPr id="22" name="Text 20"/>
          <p:cNvSpPr/>
          <p:nvPr/>
        </p:nvSpPr>
        <p:spPr>
          <a:xfrm>
            <a:off x="6501384" y="2340864"/>
            <a:ext cx="2194560" cy="33832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Analytics on demand, ~135 ms per call</a:t>
            </a:r>
            <a:endParaRPr lang="en-US" sz="850" dirty="0"/>
          </a:p>
        </p:txBody>
      </p:sp>
      <p:sp>
        <p:nvSpPr>
          <p:cNvPr id="23" name="Text 21"/>
          <p:cNvSpPr/>
          <p:nvPr/>
        </p:nvSpPr>
        <p:spPr>
          <a:xfrm>
            <a:off x="493776" y="2679192"/>
            <a:ext cx="1920240" cy="338328"/>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Data Store</a:t>
            </a:r>
            <a:endParaRPr lang="en-US" sz="900" dirty="0"/>
          </a:p>
        </p:txBody>
      </p:sp>
      <p:sp>
        <p:nvSpPr>
          <p:cNvPr id="24" name="Text 22"/>
          <p:cNvSpPr/>
          <p:nvPr/>
        </p:nvSpPr>
        <p:spPr>
          <a:xfrm>
            <a:off x="2615184" y="2679192"/>
            <a:ext cx="2331720" cy="338328"/>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40,836 FIRs across 11 tables</a:t>
            </a:r>
            <a:endParaRPr lang="en-US" sz="900" dirty="0"/>
          </a:p>
        </p:txBody>
      </p:sp>
      <p:sp>
        <p:nvSpPr>
          <p:cNvPr id="25" name="Text 23"/>
          <p:cNvSpPr/>
          <p:nvPr/>
        </p:nvSpPr>
        <p:spPr>
          <a:xfrm>
            <a:off x="5084064" y="2679192"/>
            <a:ext cx="1325880" cy="33832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Free tier</a:t>
            </a:r>
            <a:endParaRPr lang="en-US" sz="900" dirty="0"/>
          </a:p>
        </p:txBody>
      </p:sp>
      <p:sp>
        <p:nvSpPr>
          <p:cNvPr id="26" name="Text 24"/>
          <p:cNvSpPr/>
          <p:nvPr/>
        </p:nvSpPr>
        <p:spPr>
          <a:xfrm>
            <a:off x="6501384" y="2679192"/>
            <a:ext cx="2194560" cy="33832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Real KSP volume is ~20x — paid tier</a:t>
            </a:r>
            <a:endParaRPr lang="en-US" sz="850" dirty="0"/>
          </a:p>
        </p:txBody>
      </p:sp>
      <p:sp>
        <p:nvSpPr>
          <p:cNvPr id="27" name="Shape 25"/>
          <p:cNvSpPr/>
          <p:nvPr/>
        </p:nvSpPr>
        <p:spPr>
          <a:xfrm>
            <a:off x="384048" y="3017520"/>
            <a:ext cx="8375904" cy="338328"/>
          </a:xfrm>
          <a:prstGeom prst="rect">
            <a:avLst/>
          </a:prstGeom>
          <a:solidFill>
            <a:srgbClr val="F5F8FB"/>
          </a:solidFill>
          <a:ln w="12700">
            <a:solidFill>
              <a:srgbClr val="F5F8FB"/>
            </a:solidFill>
            <a:prstDash val="solid"/>
          </a:ln>
        </p:spPr>
      </p:sp>
      <p:sp>
        <p:nvSpPr>
          <p:cNvPr id="28" name="Text 26"/>
          <p:cNvSpPr/>
          <p:nvPr/>
        </p:nvSpPr>
        <p:spPr>
          <a:xfrm>
            <a:off x="493776" y="3017520"/>
            <a:ext cx="1920240" cy="338328"/>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Stratus</a:t>
            </a:r>
            <a:endParaRPr lang="en-US" sz="900" dirty="0"/>
          </a:p>
        </p:txBody>
      </p:sp>
      <p:sp>
        <p:nvSpPr>
          <p:cNvPr id="29" name="Text 27"/>
          <p:cNvSpPr/>
          <p:nvPr/>
        </p:nvSpPr>
        <p:spPr>
          <a:xfrm>
            <a:off x="2615184" y="3017520"/>
            <a:ext cx="2331720" cy="338328"/>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~9 MB of import objects</a:t>
            </a:r>
            <a:endParaRPr lang="en-US" sz="900" dirty="0"/>
          </a:p>
        </p:txBody>
      </p:sp>
      <p:sp>
        <p:nvSpPr>
          <p:cNvPr id="30" name="Text 28"/>
          <p:cNvSpPr/>
          <p:nvPr/>
        </p:nvSpPr>
        <p:spPr>
          <a:xfrm>
            <a:off x="5084064" y="3017520"/>
            <a:ext cx="1325880" cy="33832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Free tier</a:t>
            </a:r>
            <a:endParaRPr lang="en-US" sz="900" dirty="0"/>
          </a:p>
        </p:txBody>
      </p:sp>
      <p:sp>
        <p:nvSpPr>
          <p:cNvPr id="31" name="Text 29"/>
          <p:cNvSpPr/>
          <p:nvPr/>
        </p:nvSpPr>
        <p:spPr>
          <a:xfrm>
            <a:off x="6501384" y="3017520"/>
            <a:ext cx="2194560" cy="33832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Grows with exports and briefings</a:t>
            </a:r>
            <a:endParaRPr lang="en-US" sz="850" dirty="0"/>
          </a:p>
        </p:txBody>
      </p:sp>
      <p:sp>
        <p:nvSpPr>
          <p:cNvPr id="32" name="Text 30"/>
          <p:cNvSpPr/>
          <p:nvPr/>
        </p:nvSpPr>
        <p:spPr>
          <a:xfrm>
            <a:off x="493776" y="3355848"/>
            <a:ext cx="1920240" cy="338328"/>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Job + Cron</a:t>
            </a:r>
            <a:endParaRPr lang="en-US" sz="900" dirty="0"/>
          </a:p>
        </p:txBody>
      </p:sp>
      <p:sp>
        <p:nvSpPr>
          <p:cNvPr id="33" name="Text 31"/>
          <p:cNvSpPr/>
          <p:nvPr/>
        </p:nvSpPr>
        <p:spPr>
          <a:xfrm>
            <a:off x="2615184" y="3355848"/>
            <a:ext cx="2331720" cy="338328"/>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1 nightly run, under a minute</a:t>
            </a:r>
            <a:endParaRPr lang="en-US" sz="900" dirty="0"/>
          </a:p>
        </p:txBody>
      </p:sp>
      <p:sp>
        <p:nvSpPr>
          <p:cNvPr id="34" name="Text 32"/>
          <p:cNvSpPr/>
          <p:nvPr/>
        </p:nvSpPr>
        <p:spPr>
          <a:xfrm>
            <a:off x="5084064" y="3355848"/>
            <a:ext cx="1325880" cy="33832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Free tier</a:t>
            </a:r>
            <a:endParaRPr lang="en-US" sz="900" dirty="0"/>
          </a:p>
        </p:txBody>
      </p:sp>
      <p:sp>
        <p:nvSpPr>
          <p:cNvPr id="35" name="Text 33"/>
          <p:cNvSpPr/>
          <p:nvPr/>
        </p:nvSpPr>
        <p:spPr>
          <a:xfrm>
            <a:off x="6501384" y="3355848"/>
            <a:ext cx="2194560" cy="33832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One scheduled execution per day</a:t>
            </a:r>
            <a:endParaRPr lang="en-US" sz="850" dirty="0"/>
          </a:p>
        </p:txBody>
      </p:sp>
      <p:sp>
        <p:nvSpPr>
          <p:cNvPr id="36" name="Shape 34"/>
          <p:cNvSpPr/>
          <p:nvPr/>
        </p:nvSpPr>
        <p:spPr>
          <a:xfrm>
            <a:off x="384048" y="3694176"/>
            <a:ext cx="8375904" cy="338328"/>
          </a:xfrm>
          <a:prstGeom prst="rect">
            <a:avLst/>
          </a:prstGeom>
          <a:solidFill>
            <a:srgbClr val="F5F8FB"/>
          </a:solidFill>
          <a:ln w="12700">
            <a:solidFill>
              <a:srgbClr val="F5F8FB"/>
            </a:solidFill>
            <a:prstDash val="solid"/>
          </a:ln>
        </p:spPr>
      </p:sp>
      <p:sp>
        <p:nvSpPr>
          <p:cNvPr id="37" name="Text 35"/>
          <p:cNvSpPr/>
          <p:nvPr/>
        </p:nvSpPr>
        <p:spPr>
          <a:xfrm>
            <a:off x="493776" y="3694176"/>
            <a:ext cx="1920240" cy="338328"/>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QuickML / Zia</a:t>
            </a:r>
            <a:endParaRPr lang="en-US" sz="900" dirty="0"/>
          </a:p>
        </p:txBody>
      </p:sp>
      <p:sp>
        <p:nvSpPr>
          <p:cNvPr id="38" name="Text 36"/>
          <p:cNvSpPr/>
          <p:nvPr/>
        </p:nvSpPr>
        <p:spPr>
          <a:xfrm>
            <a:off x="2615184" y="3694176"/>
            <a:ext cx="2331720" cy="338328"/>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Not yet enabled</a:t>
            </a:r>
            <a:endParaRPr lang="en-US" sz="900" dirty="0"/>
          </a:p>
        </p:txBody>
      </p:sp>
      <p:sp>
        <p:nvSpPr>
          <p:cNvPr id="39" name="Text 37"/>
          <p:cNvSpPr/>
          <p:nvPr/>
        </p:nvSpPr>
        <p:spPr>
          <a:xfrm>
            <a:off x="5084064" y="3694176"/>
            <a:ext cx="1325880" cy="338328"/>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Hackathon credits</a:t>
            </a:r>
            <a:endParaRPr lang="en-US" sz="900" dirty="0"/>
          </a:p>
        </p:txBody>
      </p:sp>
      <p:sp>
        <p:nvSpPr>
          <p:cNvPr id="40" name="Text 38"/>
          <p:cNvSpPr/>
          <p:nvPr/>
        </p:nvSpPr>
        <p:spPr>
          <a:xfrm>
            <a:off x="6501384" y="3694176"/>
            <a:ext cx="2194560" cy="33832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Per-token / per-call once wired</a:t>
            </a:r>
            <a:endParaRPr lang="en-US" sz="850" dirty="0"/>
          </a:p>
        </p:txBody>
      </p:sp>
      <p:sp>
        <p:nvSpPr>
          <p:cNvPr id="41" name="Shape 39"/>
          <p:cNvSpPr/>
          <p:nvPr/>
        </p:nvSpPr>
        <p:spPr>
          <a:xfrm>
            <a:off x="384048" y="4114800"/>
            <a:ext cx="8375904" cy="731520"/>
          </a:xfrm>
          <a:prstGeom prst="roundRect">
            <a:avLst>
              <a:gd name="adj" fmla="val 7500"/>
            </a:avLst>
          </a:prstGeom>
          <a:solidFill>
            <a:srgbClr val="0F2F44"/>
          </a:solidFill>
          <a:ln w="12700">
            <a:solidFill>
              <a:srgbClr val="0F2F44"/>
            </a:solidFill>
            <a:prstDash val="solid"/>
          </a:ln>
        </p:spPr>
      </p:sp>
      <p:sp>
        <p:nvSpPr>
          <p:cNvPr id="42" name="Shape 40"/>
          <p:cNvSpPr/>
          <p:nvPr/>
        </p:nvSpPr>
        <p:spPr>
          <a:xfrm>
            <a:off x="512064" y="4187952"/>
            <a:ext cx="2615184" cy="585216"/>
          </a:xfrm>
          <a:prstGeom prst="roundRect">
            <a:avLst>
              <a:gd name="adj" fmla="val 7813"/>
            </a:avLst>
          </a:prstGeom>
          <a:solidFill>
            <a:srgbClr val="1B4A63"/>
          </a:solidFill>
          <a:ln w="12700">
            <a:solidFill>
              <a:srgbClr val="1B4A63"/>
            </a:solidFill>
            <a:prstDash val="solid"/>
          </a:ln>
        </p:spPr>
      </p:sp>
      <p:sp>
        <p:nvSpPr>
          <p:cNvPr id="43" name="Text 41"/>
          <p:cNvSpPr/>
          <p:nvPr/>
        </p:nvSpPr>
        <p:spPr>
          <a:xfrm>
            <a:off x="621792" y="4215384"/>
            <a:ext cx="2395728" cy="23774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Rs 0 / month today</a:t>
            </a:r>
            <a:endParaRPr lang="en-US" sz="1000" dirty="0"/>
          </a:p>
        </p:txBody>
      </p:sp>
      <p:sp>
        <p:nvSpPr>
          <p:cNvPr id="44" name="Text 42"/>
          <p:cNvSpPr/>
          <p:nvPr/>
        </p:nvSpPr>
        <p:spPr>
          <a:xfrm>
            <a:off x="621792" y="4453128"/>
            <a:ext cx="2395728" cy="274320"/>
          </a:xfrm>
          <a:prstGeom prst="rect">
            <a:avLst/>
          </a:prstGeom>
          <a:noFill/>
          <a:ln/>
        </p:spPr>
        <p:txBody>
          <a:bodyPr wrap="square" lIns="0" tIns="0" rIns="0" bIns="0" rtlCol="0" anchor="t"/>
          <a:lstStyle/>
          <a:p>
            <a:pPr indent="0" marL="0">
              <a:buNone/>
            </a:pPr>
            <a:r>
              <a:rPr lang="en-US" sz="800" dirty="0">
                <a:solidFill>
                  <a:srgbClr val="C9D8E4"/>
                </a:solidFill>
                <a:latin typeface="Arial" pitchFamily="34" charset="0"/>
                <a:ea typeface="Arial" pitchFamily="34" charset="-122"/>
                <a:cs typeface="Arial" pitchFamily="34" charset="-120"/>
              </a:rPr>
              <a:t>the whole prototype fits inside the free tier</a:t>
            </a:r>
            <a:endParaRPr lang="en-US" sz="800" dirty="0"/>
          </a:p>
        </p:txBody>
      </p:sp>
      <p:sp>
        <p:nvSpPr>
          <p:cNvPr id="45" name="Shape 43"/>
          <p:cNvSpPr/>
          <p:nvPr/>
        </p:nvSpPr>
        <p:spPr>
          <a:xfrm>
            <a:off x="3236976" y="4187952"/>
            <a:ext cx="2615184" cy="585216"/>
          </a:xfrm>
          <a:prstGeom prst="roundRect">
            <a:avLst>
              <a:gd name="adj" fmla="val 7813"/>
            </a:avLst>
          </a:prstGeom>
          <a:solidFill>
            <a:srgbClr val="1B4A63"/>
          </a:solidFill>
          <a:ln w="12700">
            <a:solidFill>
              <a:srgbClr val="1B4A63"/>
            </a:solidFill>
            <a:prstDash val="solid"/>
          </a:ln>
        </p:spPr>
      </p:sp>
      <p:sp>
        <p:nvSpPr>
          <p:cNvPr id="46" name="Text 44"/>
          <p:cNvSpPr/>
          <p:nvPr/>
        </p:nvSpPr>
        <p:spPr>
          <a:xfrm>
            <a:off x="3346704" y="4215384"/>
            <a:ext cx="2395728" cy="23774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~800,000 FIRs a year</a:t>
            </a:r>
            <a:endParaRPr lang="en-US" sz="1000" dirty="0"/>
          </a:p>
        </p:txBody>
      </p:sp>
      <p:sp>
        <p:nvSpPr>
          <p:cNvPr id="47" name="Text 45"/>
          <p:cNvSpPr/>
          <p:nvPr/>
        </p:nvSpPr>
        <p:spPr>
          <a:xfrm>
            <a:off x="3346704" y="4453128"/>
            <a:ext cx="2395728" cy="274320"/>
          </a:xfrm>
          <a:prstGeom prst="rect">
            <a:avLst/>
          </a:prstGeom>
          <a:noFill/>
          <a:ln/>
        </p:spPr>
        <p:txBody>
          <a:bodyPr wrap="square" lIns="0" tIns="0" rIns="0" bIns="0" rtlCol="0" anchor="t"/>
          <a:lstStyle/>
          <a:p>
            <a:pPr indent="0" marL="0">
              <a:buNone/>
            </a:pPr>
            <a:r>
              <a:rPr lang="en-US" sz="800" dirty="0">
                <a:solidFill>
                  <a:srgbClr val="C9D8E4"/>
                </a:solidFill>
                <a:latin typeface="Arial" pitchFamily="34" charset="0"/>
                <a:ea typeface="Arial" pitchFamily="34" charset="-122"/>
                <a:cs typeface="Arial" pitchFamily="34" charset="-120"/>
              </a:rPr>
              <a:t>the real KSP register the same code would carry</a:t>
            </a:r>
            <a:endParaRPr lang="en-US" sz="800" dirty="0"/>
          </a:p>
        </p:txBody>
      </p:sp>
      <p:sp>
        <p:nvSpPr>
          <p:cNvPr id="48" name="Shape 46"/>
          <p:cNvSpPr/>
          <p:nvPr/>
        </p:nvSpPr>
        <p:spPr>
          <a:xfrm>
            <a:off x="5961888" y="4187952"/>
            <a:ext cx="2615184" cy="585216"/>
          </a:xfrm>
          <a:prstGeom prst="roundRect">
            <a:avLst>
              <a:gd name="adj" fmla="val 7813"/>
            </a:avLst>
          </a:prstGeom>
          <a:solidFill>
            <a:srgbClr val="1B4A63"/>
          </a:solidFill>
          <a:ln w="12700">
            <a:solidFill>
              <a:srgbClr val="1B4A63"/>
            </a:solidFill>
            <a:prstDash val="solid"/>
          </a:ln>
        </p:spPr>
      </p:sp>
      <p:sp>
        <p:nvSpPr>
          <p:cNvPr id="49" name="Text 47"/>
          <p:cNvSpPr/>
          <p:nvPr/>
        </p:nvSpPr>
        <p:spPr>
          <a:xfrm>
            <a:off x="6071616" y="4215384"/>
            <a:ext cx="2395728" cy="23774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Only tokens are usage-priced</a:t>
            </a:r>
            <a:endParaRPr lang="en-US" sz="1000" dirty="0"/>
          </a:p>
        </p:txBody>
      </p:sp>
      <p:sp>
        <p:nvSpPr>
          <p:cNvPr id="50" name="Text 48"/>
          <p:cNvSpPr/>
          <p:nvPr/>
        </p:nvSpPr>
        <p:spPr>
          <a:xfrm>
            <a:off x="6071616" y="4453128"/>
            <a:ext cx="2395728" cy="274320"/>
          </a:xfrm>
          <a:prstGeom prst="rect">
            <a:avLst/>
          </a:prstGeom>
          <a:noFill/>
          <a:ln/>
        </p:spPr>
        <p:txBody>
          <a:bodyPr wrap="square" lIns="0" tIns="0" rIns="0" bIns="0" rtlCol="0" anchor="t"/>
          <a:lstStyle/>
          <a:p>
            <a:pPr indent="0" marL="0">
              <a:buNone/>
            </a:pPr>
            <a:r>
              <a:rPr lang="en-US" sz="800" dirty="0">
                <a:solidFill>
                  <a:srgbClr val="C9D8E4"/>
                </a:solidFill>
                <a:latin typeface="Arial" pitchFamily="34" charset="0"/>
                <a:ea typeface="Arial" pitchFamily="34" charset="-122"/>
                <a:cs typeface="Arial" pitchFamily="34" charset="-120"/>
              </a:rPr>
              <a:t>compute stays flat; QuickML is the variable line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Snapshots of the prototype</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Nine screens, all live at the deployed URL right now</a:t>
            </a:r>
            <a:endParaRPr lang="en-US" sz="1200" dirty="0"/>
          </a:p>
        </p:txBody>
      </p:sp>
      <p:sp>
        <p:nvSpPr>
          <p:cNvPr id="4" name="Shape 2"/>
          <p:cNvSpPr/>
          <p:nvPr/>
        </p:nvSpPr>
        <p:spPr>
          <a:xfrm>
            <a:off x="384048" y="1371600"/>
            <a:ext cx="2670048" cy="987552"/>
          </a:xfrm>
          <a:prstGeom prst="roundRect">
            <a:avLst>
              <a:gd name="adj" fmla="val 5556"/>
            </a:avLst>
          </a:prstGeom>
          <a:solidFill>
            <a:srgbClr val="FFFFFF"/>
          </a:solidFill>
          <a:ln w="9525">
            <a:solidFill>
              <a:srgbClr val="D9E1EC"/>
            </a:solidFill>
            <a:prstDash val="solid"/>
          </a:ln>
        </p:spPr>
      </p:sp>
      <p:sp>
        <p:nvSpPr>
          <p:cNvPr id="5" name="Shape 3"/>
          <p:cNvSpPr/>
          <p:nvPr/>
        </p:nvSpPr>
        <p:spPr>
          <a:xfrm>
            <a:off x="384048" y="1371600"/>
            <a:ext cx="2670048" cy="329184"/>
          </a:xfrm>
          <a:prstGeom prst="roundRect">
            <a:avLst>
              <a:gd name="adj" fmla="val 16667"/>
            </a:avLst>
          </a:prstGeom>
          <a:solidFill>
            <a:srgbClr val="1A6FC4"/>
          </a:solidFill>
          <a:ln w="12700">
            <a:solidFill>
              <a:srgbClr val="1A6FC4"/>
            </a:solidFill>
            <a:prstDash val="solid"/>
          </a:ln>
        </p:spPr>
      </p:sp>
      <p:sp>
        <p:nvSpPr>
          <p:cNvPr id="6" name="Text 4"/>
          <p:cNvSpPr/>
          <p:nvPr/>
        </p:nvSpPr>
        <p:spPr>
          <a:xfrm>
            <a:off x="512064" y="1371600"/>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Command Dashboard</a:t>
            </a:r>
            <a:endParaRPr lang="en-US" sz="1050" dirty="0"/>
          </a:p>
        </p:txBody>
      </p:sp>
      <p:sp>
        <p:nvSpPr>
          <p:cNvPr id="7" name="Text 5"/>
          <p:cNvSpPr/>
          <p:nvPr/>
        </p:nvSpPr>
        <p:spPr>
          <a:xfrm>
            <a:off x="521208" y="1773936"/>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KPIs, monthly trend, hour x weekday heatmap, disposal funnel and the rank-shift finding.</a:t>
            </a:r>
            <a:endParaRPr lang="en-US" sz="900" dirty="0"/>
          </a:p>
        </p:txBody>
      </p:sp>
      <p:sp>
        <p:nvSpPr>
          <p:cNvPr id="8" name="Shape 6"/>
          <p:cNvSpPr/>
          <p:nvPr/>
        </p:nvSpPr>
        <p:spPr>
          <a:xfrm>
            <a:off x="3218688" y="1371600"/>
            <a:ext cx="2670048" cy="987552"/>
          </a:xfrm>
          <a:prstGeom prst="roundRect">
            <a:avLst>
              <a:gd name="adj" fmla="val 5556"/>
            </a:avLst>
          </a:prstGeom>
          <a:solidFill>
            <a:srgbClr val="FFFFFF"/>
          </a:solidFill>
          <a:ln w="9525">
            <a:solidFill>
              <a:srgbClr val="D9E1EC"/>
            </a:solidFill>
            <a:prstDash val="solid"/>
          </a:ln>
        </p:spPr>
      </p:sp>
      <p:sp>
        <p:nvSpPr>
          <p:cNvPr id="9" name="Shape 7"/>
          <p:cNvSpPr/>
          <p:nvPr/>
        </p:nvSpPr>
        <p:spPr>
          <a:xfrm>
            <a:off x="3218688" y="1371600"/>
            <a:ext cx="2670048" cy="329184"/>
          </a:xfrm>
          <a:prstGeom prst="roundRect">
            <a:avLst>
              <a:gd name="adj" fmla="val 16667"/>
            </a:avLst>
          </a:prstGeom>
          <a:solidFill>
            <a:srgbClr val="2FA8A0"/>
          </a:solidFill>
          <a:ln w="12700">
            <a:solidFill>
              <a:srgbClr val="2FA8A0"/>
            </a:solidFill>
            <a:prstDash val="solid"/>
          </a:ln>
        </p:spPr>
      </p:sp>
      <p:sp>
        <p:nvSpPr>
          <p:cNvPr id="10" name="Text 8"/>
          <p:cNvSpPr/>
          <p:nvPr/>
        </p:nvSpPr>
        <p:spPr>
          <a:xfrm>
            <a:off x="3346704" y="1371600"/>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Case-Linkage Graph</a:t>
            </a:r>
            <a:endParaRPr lang="en-US" sz="1050" dirty="0"/>
          </a:p>
        </p:txBody>
      </p:sp>
      <p:sp>
        <p:nvSpPr>
          <p:cNvPr id="11" name="Text 9"/>
          <p:cNvSpPr/>
          <p:nvPr/>
        </p:nvSpPr>
        <p:spPr>
          <a:xfrm>
            <a:off x="3355848" y="1773936"/>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Ego-network with a layout switcher, six link-type filters and a "why linked" evidence panel.</a:t>
            </a:r>
            <a:endParaRPr lang="en-US" sz="900" dirty="0"/>
          </a:p>
        </p:txBody>
      </p:sp>
      <p:sp>
        <p:nvSpPr>
          <p:cNvPr id="12" name="Shape 10"/>
          <p:cNvSpPr/>
          <p:nvPr/>
        </p:nvSpPr>
        <p:spPr>
          <a:xfrm>
            <a:off x="6053328" y="1371600"/>
            <a:ext cx="2670048" cy="987552"/>
          </a:xfrm>
          <a:prstGeom prst="roundRect">
            <a:avLst>
              <a:gd name="adj" fmla="val 5556"/>
            </a:avLst>
          </a:prstGeom>
          <a:solidFill>
            <a:srgbClr val="FFFFFF"/>
          </a:solidFill>
          <a:ln w="9525">
            <a:solidFill>
              <a:srgbClr val="D9E1EC"/>
            </a:solidFill>
            <a:prstDash val="solid"/>
          </a:ln>
        </p:spPr>
      </p:sp>
      <p:sp>
        <p:nvSpPr>
          <p:cNvPr id="13" name="Shape 11"/>
          <p:cNvSpPr/>
          <p:nvPr/>
        </p:nvSpPr>
        <p:spPr>
          <a:xfrm>
            <a:off x="6053328" y="1371600"/>
            <a:ext cx="2670048" cy="329184"/>
          </a:xfrm>
          <a:prstGeom prst="roundRect">
            <a:avLst>
              <a:gd name="adj" fmla="val 16667"/>
            </a:avLst>
          </a:prstGeom>
          <a:solidFill>
            <a:srgbClr val="E8871E"/>
          </a:solidFill>
          <a:ln w="12700">
            <a:solidFill>
              <a:srgbClr val="E8871E"/>
            </a:solidFill>
            <a:prstDash val="solid"/>
          </a:ln>
        </p:spPr>
      </p:sp>
      <p:sp>
        <p:nvSpPr>
          <p:cNvPr id="14" name="Text 12"/>
          <p:cNvSpPr/>
          <p:nvPr/>
        </p:nvSpPr>
        <p:spPr>
          <a:xfrm>
            <a:off x="6181344" y="1371600"/>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Intelligence</a:t>
            </a:r>
            <a:endParaRPr lang="en-US" sz="1050" dirty="0"/>
          </a:p>
        </p:txBody>
      </p:sp>
      <p:sp>
        <p:nvSpPr>
          <p:cNvPr id="15" name="Text 13"/>
          <p:cNvSpPr/>
          <p:nvPr/>
        </p:nvSpPr>
        <p:spPr>
          <a:xfrm>
            <a:off x="6190488" y="1773936"/>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Per-capita ranking, correlation scatter, crime mix by band, forecast with its interval.</a:t>
            </a:r>
            <a:endParaRPr lang="en-US" sz="900" dirty="0"/>
          </a:p>
        </p:txBody>
      </p:sp>
      <p:sp>
        <p:nvSpPr>
          <p:cNvPr id="16" name="Shape 14"/>
          <p:cNvSpPr/>
          <p:nvPr/>
        </p:nvSpPr>
        <p:spPr>
          <a:xfrm>
            <a:off x="384048" y="2450592"/>
            <a:ext cx="2670048" cy="987552"/>
          </a:xfrm>
          <a:prstGeom prst="roundRect">
            <a:avLst>
              <a:gd name="adj" fmla="val 5556"/>
            </a:avLst>
          </a:prstGeom>
          <a:solidFill>
            <a:srgbClr val="FFFFFF"/>
          </a:solidFill>
          <a:ln w="9525">
            <a:solidFill>
              <a:srgbClr val="D9E1EC"/>
            </a:solidFill>
            <a:prstDash val="solid"/>
          </a:ln>
        </p:spPr>
      </p:sp>
      <p:sp>
        <p:nvSpPr>
          <p:cNvPr id="17" name="Shape 15"/>
          <p:cNvSpPr/>
          <p:nvPr/>
        </p:nvSpPr>
        <p:spPr>
          <a:xfrm>
            <a:off x="384048" y="2450592"/>
            <a:ext cx="2670048" cy="329184"/>
          </a:xfrm>
          <a:prstGeom prst="roundRect">
            <a:avLst>
              <a:gd name="adj" fmla="val 16667"/>
            </a:avLst>
          </a:prstGeom>
          <a:solidFill>
            <a:srgbClr val="0F2F44"/>
          </a:solidFill>
          <a:ln w="12700">
            <a:solidFill>
              <a:srgbClr val="0F2F44"/>
            </a:solidFill>
            <a:prstDash val="solid"/>
          </a:ln>
        </p:spPr>
      </p:sp>
      <p:sp>
        <p:nvSpPr>
          <p:cNvPr id="18" name="Text 16"/>
          <p:cNvSpPr/>
          <p:nvPr/>
        </p:nvSpPr>
        <p:spPr>
          <a:xfrm>
            <a:off x="512064" y="2450592"/>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Spatiotemporal Map</a:t>
            </a:r>
            <a:endParaRPr lang="en-US" sz="1050" dirty="0"/>
          </a:p>
        </p:txBody>
      </p:sp>
      <p:sp>
        <p:nvSpPr>
          <p:cNvPr id="19" name="Text 17"/>
          <p:cNvSpPr/>
          <p:nvPr/>
        </p:nvSpPr>
        <p:spPr>
          <a:xfrm>
            <a:off x="521208" y="2852928"/>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Satellite basemap, district choropleth, DBSCAN hotspots and a time-of-day filter.</a:t>
            </a:r>
            <a:endParaRPr lang="en-US" sz="900" dirty="0"/>
          </a:p>
        </p:txBody>
      </p:sp>
      <p:sp>
        <p:nvSpPr>
          <p:cNvPr id="20" name="Shape 18"/>
          <p:cNvSpPr/>
          <p:nvPr/>
        </p:nvSpPr>
        <p:spPr>
          <a:xfrm>
            <a:off x="3218688" y="2450592"/>
            <a:ext cx="2670048" cy="987552"/>
          </a:xfrm>
          <a:prstGeom prst="roundRect">
            <a:avLst>
              <a:gd name="adj" fmla="val 5556"/>
            </a:avLst>
          </a:prstGeom>
          <a:solidFill>
            <a:srgbClr val="FFFFFF"/>
          </a:solidFill>
          <a:ln w="9525">
            <a:solidFill>
              <a:srgbClr val="D9E1EC"/>
            </a:solidFill>
            <a:prstDash val="solid"/>
          </a:ln>
        </p:spPr>
      </p:sp>
      <p:sp>
        <p:nvSpPr>
          <p:cNvPr id="21" name="Shape 19"/>
          <p:cNvSpPr/>
          <p:nvPr/>
        </p:nvSpPr>
        <p:spPr>
          <a:xfrm>
            <a:off x="3218688" y="2450592"/>
            <a:ext cx="2670048" cy="329184"/>
          </a:xfrm>
          <a:prstGeom prst="roundRect">
            <a:avLst>
              <a:gd name="adj" fmla="val 16667"/>
            </a:avLst>
          </a:prstGeom>
          <a:solidFill>
            <a:srgbClr val="C0392B"/>
          </a:solidFill>
          <a:ln w="12700">
            <a:solidFill>
              <a:srgbClr val="C0392B"/>
            </a:solidFill>
            <a:prstDash val="solid"/>
          </a:ln>
        </p:spPr>
      </p:sp>
      <p:sp>
        <p:nvSpPr>
          <p:cNvPr id="22" name="Text 20"/>
          <p:cNvSpPr/>
          <p:nvPr/>
        </p:nvSpPr>
        <p:spPr>
          <a:xfrm>
            <a:off x="3346704" y="2450592"/>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Investigation Health</a:t>
            </a:r>
            <a:endParaRPr lang="en-US" sz="1050" dirty="0"/>
          </a:p>
        </p:txBody>
      </p:sp>
      <p:sp>
        <p:nvSpPr>
          <p:cNvPr id="23" name="Text 21"/>
          <p:cNvSpPr/>
          <p:nvPr/>
        </p:nvSpPr>
        <p:spPr>
          <a:xfrm>
            <a:off x="3355848" y="2852928"/>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Worklist of 19,006 flagged cases, each with a reason and a recommended action.</a:t>
            </a:r>
            <a:endParaRPr lang="en-US" sz="900" dirty="0"/>
          </a:p>
        </p:txBody>
      </p:sp>
      <p:sp>
        <p:nvSpPr>
          <p:cNvPr id="24" name="Shape 22"/>
          <p:cNvSpPr/>
          <p:nvPr/>
        </p:nvSpPr>
        <p:spPr>
          <a:xfrm>
            <a:off x="6053328" y="2450592"/>
            <a:ext cx="2670048" cy="987552"/>
          </a:xfrm>
          <a:prstGeom prst="roundRect">
            <a:avLst>
              <a:gd name="adj" fmla="val 5556"/>
            </a:avLst>
          </a:prstGeom>
          <a:solidFill>
            <a:srgbClr val="FFFFFF"/>
          </a:solidFill>
          <a:ln w="9525">
            <a:solidFill>
              <a:srgbClr val="D9E1EC"/>
            </a:solidFill>
            <a:prstDash val="solid"/>
          </a:ln>
        </p:spPr>
      </p:sp>
      <p:sp>
        <p:nvSpPr>
          <p:cNvPr id="25" name="Shape 23"/>
          <p:cNvSpPr/>
          <p:nvPr/>
        </p:nvSpPr>
        <p:spPr>
          <a:xfrm>
            <a:off x="6053328" y="2450592"/>
            <a:ext cx="2670048" cy="329184"/>
          </a:xfrm>
          <a:prstGeom prst="roundRect">
            <a:avLst>
              <a:gd name="adj" fmla="val 16667"/>
            </a:avLst>
          </a:prstGeom>
          <a:solidFill>
            <a:srgbClr val="1A6FC4"/>
          </a:solidFill>
          <a:ln w="12700">
            <a:solidFill>
              <a:srgbClr val="1A6FC4"/>
            </a:solidFill>
            <a:prstDash val="solid"/>
          </a:ln>
        </p:spPr>
      </p:sp>
      <p:sp>
        <p:nvSpPr>
          <p:cNvPr id="26" name="Text 24"/>
          <p:cNvSpPr/>
          <p:nvPr/>
        </p:nvSpPr>
        <p:spPr>
          <a:xfrm>
            <a:off x="6181344" y="2450592"/>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Offender Watchlist</a:t>
            </a:r>
            <a:endParaRPr lang="en-US" sz="1050" dirty="0"/>
          </a:p>
        </p:txBody>
      </p:sp>
      <p:sp>
        <p:nvSpPr>
          <p:cNvPr id="27" name="Text 25"/>
          <p:cNvSpPr/>
          <p:nvPr/>
        </p:nvSpPr>
        <p:spPr>
          <a:xfrm>
            <a:off x="6190488" y="2852928"/>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Risk gauge, glass-box factor breakdown, name variants and every linked FIR.</a:t>
            </a:r>
            <a:endParaRPr lang="en-US" sz="900" dirty="0"/>
          </a:p>
        </p:txBody>
      </p:sp>
      <p:sp>
        <p:nvSpPr>
          <p:cNvPr id="28" name="Shape 26"/>
          <p:cNvSpPr/>
          <p:nvPr/>
        </p:nvSpPr>
        <p:spPr>
          <a:xfrm>
            <a:off x="384048" y="3529584"/>
            <a:ext cx="2670048" cy="987552"/>
          </a:xfrm>
          <a:prstGeom prst="roundRect">
            <a:avLst>
              <a:gd name="adj" fmla="val 5556"/>
            </a:avLst>
          </a:prstGeom>
          <a:solidFill>
            <a:srgbClr val="FFFFFF"/>
          </a:solidFill>
          <a:ln w="9525">
            <a:solidFill>
              <a:srgbClr val="D9E1EC"/>
            </a:solidFill>
            <a:prstDash val="solid"/>
          </a:ln>
        </p:spPr>
      </p:sp>
      <p:sp>
        <p:nvSpPr>
          <p:cNvPr id="29" name="Shape 27"/>
          <p:cNvSpPr/>
          <p:nvPr/>
        </p:nvSpPr>
        <p:spPr>
          <a:xfrm>
            <a:off x="384048" y="3529584"/>
            <a:ext cx="2670048" cy="329184"/>
          </a:xfrm>
          <a:prstGeom prst="roundRect">
            <a:avLst>
              <a:gd name="adj" fmla="val 16667"/>
            </a:avLst>
          </a:prstGeom>
          <a:solidFill>
            <a:srgbClr val="2FA8A0"/>
          </a:solidFill>
          <a:ln w="12700">
            <a:solidFill>
              <a:srgbClr val="2FA8A0"/>
            </a:solidFill>
            <a:prstDash val="solid"/>
          </a:ln>
        </p:spPr>
      </p:sp>
      <p:sp>
        <p:nvSpPr>
          <p:cNvPr id="30" name="Text 28"/>
          <p:cNvSpPr/>
          <p:nvPr/>
        </p:nvSpPr>
        <p:spPr>
          <a:xfrm>
            <a:off x="512064" y="3529584"/>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Bilingual Assistant</a:t>
            </a:r>
            <a:endParaRPr lang="en-US" sz="1050" dirty="0"/>
          </a:p>
        </p:txBody>
      </p:sp>
      <p:sp>
        <p:nvSpPr>
          <p:cNvPr id="31" name="Text 29"/>
          <p:cNvSpPr/>
          <p:nvPr/>
        </p:nvSpPr>
        <p:spPr>
          <a:xfrm>
            <a:off x="521208" y="3931920"/>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EN / ಕನ್ನಡ Q&amp;A by text or voice, every answer citing real FIR numbers.</a:t>
            </a:r>
            <a:endParaRPr lang="en-US" sz="900" dirty="0"/>
          </a:p>
        </p:txBody>
      </p:sp>
      <p:sp>
        <p:nvSpPr>
          <p:cNvPr id="32" name="Shape 30"/>
          <p:cNvSpPr/>
          <p:nvPr/>
        </p:nvSpPr>
        <p:spPr>
          <a:xfrm>
            <a:off x="3218688" y="3529584"/>
            <a:ext cx="2670048" cy="987552"/>
          </a:xfrm>
          <a:prstGeom prst="roundRect">
            <a:avLst>
              <a:gd name="adj" fmla="val 5556"/>
            </a:avLst>
          </a:prstGeom>
          <a:solidFill>
            <a:srgbClr val="FFFFFF"/>
          </a:solidFill>
          <a:ln w="9525">
            <a:solidFill>
              <a:srgbClr val="D9E1EC"/>
            </a:solidFill>
            <a:prstDash val="solid"/>
          </a:ln>
        </p:spPr>
      </p:sp>
      <p:sp>
        <p:nvSpPr>
          <p:cNvPr id="33" name="Shape 31"/>
          <p:cNvSpPr/>
          <p:nvPr/>
        </p:nvSpPr>
        <p:spPr>
          <a:xfrm>
            <a:off x="3218688" y="3529584"/>
            <a:ext cx="2670048" cy="329184"/>
          </a:xfrm>
          <a:prstGeom prst="roundRect">
            <a:avLst>
              <a:gd name="adj" fmla="val 16667"/>
            </a:avLst>
          </a:prstGeom>
          <a:solidFill>
            <a:srgbClr val="E8871E"/>
          </a:solidFill>
          <a:ln w="12700">
            <a:solidFill>
              <a:srgbClr val="E8871E"/>
            </a:solidFill>
            <a:prstDash val="solid"/>
          </a:ln>
        </p:spPr>
      </p:sp>
      <p:sp>
        <p:nvSpPr>
          <p:cNvPr id="34" name="Text 32"/>
          <p:cNvSpPr/>
          <p:nvPr/>
        </p:nvSpPr>
        <p:spPr>
          <a:xfrm>
            <a:off x="3346704" y="3529584"/>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Cases Register</a:t>
            </a:r>
            <a:endParaRPr lang="en-US" sz="1050" dirty="0"/>
          </a:p>
        </p:txBody>
      </p:sp>
      <p:sp>
        <p:nvSpPr>
          <p:cNvPr id="35" name="Text 33"/>
          <p:cNvSpPr/>
          <p:nvPr/>
        </p:nvSpPr>
        <p:spPr>
          <a:xfrm>
            <a:off x="3355848" y="3931920"/>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All 40,836 FIRs, filterable by head, district, status, gravity and health flag.</a:t>
            </a:r>
            <a:endParaRPr lang="en-US" sz="900" dirty="0"/>
          </a:p>
        </p:txBody>
      </p:sp>
      <p:sp>
        <p:nvSpPr>
          <p:cNvPr id="36" name="Shape 34"/>
          <p:cNvSpPr/>
          <p:nvPr/>
        </p:nvSpPr>
        <p:spPr>
          <a:xfrm>
            <a:off x="6053328" y="3529584"/>
            <a:ext cx="2670048" cy="987552"/>
          </a:xfrm>
          <a:prstGeom prst="roundRect">
            <a:avLst>
              <a:gd name="adj" fmla="val 5556"/>
            </a:avLst>
          </a:prstGeom>
          <a:solidFill>
            <a:srgbClr val="FFFFFF"/>
          </a:solidFill>
          <a:ln w="9525">
            <a:solidFill>
              <a:srgbClr val="D9E1EC"/>
            </a:solidFill>
            <a:prstDash val="solid"/>
          </a:ln>
        </p:spPr>
      </p:sp>
      <p:sp>
        <p:nvSpPr>
          <p:cNvPr id="37" name="Shape 35"/>
          <p:cNvSpPr/>
          <p:nvPr/>
        </p:nvSpPr>
        <p:spPr>
          <a:xfrm>
            <a:off x="6053328" y="3529584"/>
            <a:ext cx="2670048" cy="329184"/>
          </a:xfrm>
          <a:prstGeom prst="roundRect">
            <a:avLst>
              <a:gd name="adj" fmla="val 16667"/>
            </a:avLst>
          </a:prstGeom>
          <a:solidFill>
            <a:srgbClr val="0F2F44"/>
          </a:solidFill>
          <a:ln w="12700">
            <a:solidFill>
              <a:srgbClr val="0F2F44"/>
            </a:solidFill>
            <a:prstDash val="solid"/>
          </a:ln>
        </p:spPr>
      </p:sp>
      <p:sp>
        <p:nvSpPr>
          <p:cNvPr id="38" name="Text 36"/>
          <p:cNvSpPr/>
          <p:nvPr/>
        </p:nvSpPr>
        <p:spPr>
          <a:xfrm>
            <a:off x="6181344" y="3529584"/>
            <a:ext cx="2414016" cy="3291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About &amp; Audit</a:t>
            </a:r>
            <a:endParaRPr lang="en-US" sz="1050" dirty="0"/>
          </a:p>
        </p:txBody>
      </p:sp>
      <p:sp>
        <p:nvSpPr>
          <p:cNvPr id="39" name="Text 37"/>
          <p:cNvSpPr/>
          <p:nvPr/>
        </p:nvSpPr>
        <p:spPr>
          <a:xfrm>
            <a:off x="6190488" y="3931920"/>
            <a:ext cx="2395728" cy="530352"/>
          </a:xfrm>
          <a:prstGeom prst="rect">
            <a:avLst/>
          </a:prstGeom>
          <a:noFill/>
          <a:ln/>
        </p:spPr>
        <p:txBody>
          <a:bodyPr wrap="square" lIns="0" tIns="0" rIns="0" bIns="0" rtlCol="0" anchor="t"/>
          <a:lstStyle/>
          <a:p>
            <a:pPr indent="0" marL="0">
              <a:buNone/>
            </a:pPr>
            <a:r>
              <a:rPr lang="en-US" sz="900" dirty="0">
                <a:solidFill>
                  <a:srgbClr val="5B6B7E"/>
                </a:solidFill>
                <a:latin typeface="Arial" pitchFamily="34" charset="0"/>
                <a:ea typeface="Arial" pitchFamily="34" charset="-122"/>
                <a:cs typeface="Arial" pitchFamily="34" charset="-120"/>
              </a:rPr>
              <a:t>Full platform, dataset and fairness documentation; audited sensitive reads.</a:t>
            </a:r>
            <a:endParaRPr lang="en-US" sz="900" dirty="0"/>
          </a:p>
        </p:txBody>
      </p:sp>
      <p:sp>
        <p:nvSpPr>
          <p:cNvPr id="40" name="Text 38"/>
          <p:cNvSpPr/>
          <p:nvPr/>
        </p:nvSpPr>
        <p:spPr>
          <a:xfrm>
            <a:off x="384048" y="4626864"/>
            <a:ext cx="8375904" cy="219456"/>
          </a:xfrm>
          <a:prstGeom prst="rect">
            <a:avLst/>
          </a:prstGeom>
          <a:noFill/>
          <a:ln/>
        </p:spPr>
        <p:txBody>
          <a:bodyPr wrap="square" lIns="0" tIns="0" rIns="0" bIns="0" rtlCol="0" anchor="ctr"/>
          <a:lstStyle/>
          <a:p>
            <a:pPr indent="0" marL="0">
              <a:buNone/>
            </a:pPr>
            <a:r>
              <a:rPr lang="en-US" sz="850" i="1" dirty="0">
                <a:solidFill>
                  <a:srgbClr val="5B6B7E"/>
                </a:solidFill>
                <a:latin typeface="Arial" pitchFamily="34" charset="0"/>
                <a:ea typeface="Arial" pitchFamily="34" charset="-122"/>
                <a:cs typeface="Arial" pitchFamily="34" charset="-120"/>
              </a:rPr>
              <a:t>Best seen live: Home  -&gt;  Intelligence (Kodagu)  -&gt;  Graph (click an edge)  -&gt;  Map  -&gt;  Assistant.   Sign-in is a role chooser — no password needed.</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Users/adarsh/Desktop/Projects/KadiLabs/deck/analytics_slide.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Performance &amp; benchmarking</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Measured on the deployed build — and here is exactly how</a:t>
            </a:r>
            <a:endParaRPr lang="en-US" sz="1200" dirty="0"/>
          </a:p>
        </p:txBody>
      </p:sp>
      <p:sp>
        <p:nvSpPr>
          <p:cNvPr id="4" name="Text 2"/>
          <p:cNvSpPr/>
          <p:nvPr/>
        </p:nvSpPr>
        <p:spPr>
          <a:xfrm>
            <a:off x="384048" y="1371600"/>
            <a:ext cx="3931920" cy="237744"/>
          </a:xfrm>
          <a:prstGeom prst="rect">
            <a:avLst/>
          </a:prstGeom>
          <a:noFill/>
          <a:ln/>
        </p:spPr>
        <p:txBody>
          <a:bodyPr wrap="square" lIns="0" tIns="0" rIns="0" bIns="0" rtlCol="0" anchor="ctr"/>
          <a:lstStyle/>
          <a:p>
            <a:pPr indent="0" marL="0">
              <a:buNone/>
            </a:pPr>
            <a:r>
              <a:rPr lang="en-US" sz="1100" b="1" dirty="0">
                <a:solidFill>
                  <a:srgbClr val="0F2F44"/>
                </a:solidFill>
                <a:latin typeface="Arial" pitchFamily="34" charset="0"/>
                <a:ea typeface="Arial" pitchFamily="34" charset="-122"/>
                <a:cs typeface="Arial" pitchFamily="34" charset="-120"/>
              </a:rPr>
              <a:t>Ground-truth recovery (%)</a:t>
            </a:r>
            <a:endParaRPr lang="en-US" sz="1100" dirty="0"/>
          </a:p>
        </p:txBody>
      </p:sp>
      <p:graphicFrame>
        <p:nvGraphicFramePr>
          <p:cNvPr id="5" name="Chart 0" descr=""/>
          <p:cNvGraphicFramePr/>
          <p:nvPr/>
        </p:nvGraphicFramePr>
        <p:xfrm>
          <a:off x="384048" y="1627632"/>
          <a:ext cx="3931920" cy="1700784"/>
        </p:xfrm>
        <a:graphic xmlns:a="http://schemas.openxmlformats.org/drawingml/2006/main">
          <a:graphicData uri="http://schemas.openxmlformats.org/drawingml/2006/chart">
            <c:chart xmlns:c="http://schemas.openxmlformats.org/drawingml/2006/chart" r:id="rId2"/>
          </a:graphicData>
        </a:graphic>
      </p:graphicFrame>
      <p:sp>
        <p:nvSpPr>
          <p:cNvPr id="6" name="Shape 3"/>
          <p:cNvSpPr/>
          <p:nvPr/>
        </p:nvSpPr>
        <p:spPr>
          <a:xfrm>
            <a:off x="4645152" y="1627632"/>
            <a:ext cx="1993392" cy="530352"/>
          </a:xfrm>
          <a:prstGeom prst="roundRect">
            <a:avLst>
              <a:gd name="adj" fmla="val 10345"/>
            </a:avLst>
          </a:prstGeom>
          <a:solidFill>
            <a:srgbClr val="F5F8FB"/>
          </a:solidFill>
          <a:ln w="9525">
            <a:solidFill>
              <a:srgbClr val="D9E1EC"/>
            </a:solidFill>
            <a:prstDash val="solid"/>
          </a:ln>
        </p:spPr>
      </p:sp>
      <p:sp>
        <p:nvSpPr>
          <p:cNvPr id="7" name="Text 4"/>
          <p:cNvSpPr/>
          <p:nvPr/>
        </p:nvSpPr>
        <p:spPr>
          <a:xfrm>
            <a:off x="4736592" y="1655064"/>
            <a:ext cx="1828800" cy="237744"/>
          </a:xfrm>
          <a:prstGeom prst="rect">
            <a:avLst/>
          </a:prstGeom>
          <a:noFill/>
          <a:ln/>
        </p:spPr>
        <p:txBody>
          <a:bodyPr wrap="square" lIns="0" tIns="0" rIns="0" bIns="0" rtlCol="0" anchor="ctr"/>
          <a:lstStyle/>
          <a:p>
            <a:pPr indent="0" marL="0">
              <a:buNone/>
            </a:pPr>
            <a:r>
              <a:rPr lang="en-US" sz="1300" b="1" dirty="0">
                <a:solidFill>
                  <a:srgbClr val="1A6FC4"/>
                </a:solidFill>
                <a:latin typeface="Arial" pitchFamily="34" charset="0"/>
                <a:ea typeface="Arial" pitchFamily="34" charset="-122"/>
                <a:cs typeface="Arial" pitchFamily="34" charset="-120"/>
              </a:rPr>
              <a:t>24.6 s</a:t>
            </a:r>
            <a:endParaRPr lang="en-US" sz="1300" dirty="0"/>
          </a:p>
        </p:txBody>
      </p:sp>
      <p:sp>
        <p:nvSpPr>
          <p:cNvPr id="8" name="Text 5"/>
          <p:cNvSpPr/>
          <p:nvPr/>
        </p:nvSpPr>
        <p:spPr>
          <a:xfrm>
            <a:off x="4736592" y="1883664"/>
            <a:ext cx="1828800" cy="137160"/>
          </a:xfrm>
          <a:prstGeom prst="rect">
            <a:avLst/>
          </a:prstGeom>
          <a:noFill/>
          <a:ln/>
        </p:spPr>
        <p:txBody>
          <a:bodyPr wrap="square" lIns="0" tIns="0" rIns="0" bIns="0" rtlCol="0" anchor="ctr"/>
          <a:lstStyle/>
          <a:p>
            <a:pPr indent="0" marL="0">
              <a:buNone/>
            </a:pPr>
            <a:r>
              <a:rPr lang="en-US" sz="850" b="1" dirty="0">
                <a:solidFill>
                  <a:srgbClr val="1C2A3A"/>
                </a:solidFill>
                <a:latin typeface="Arial" pitchFamily="34" charset="0"/>
                <a:ea typeface="Arial" pitchFamily="34" charset="-122"/>
                <a:cs typeface="Arial" pitchFamily="34" charset="-120"/>
              </a:rPr>
              <a:t>Pipeline runtime</a:t>
            </a:r>
            <a:endParaRPr lang="en-US" sz="850" dirty="0"/>
          </a:p>
        </p:txBody>
      </p:sp>
      <p:sp>
        <p:nvSpPr>
          <p:cNvPr id="9" name="Text 6"/>
          <p:cNvSpPr/>
          <p:nvPr/>
        </p:nvSpPr>
        <p:spPr>
          <a:xfrm>
            <a:off x="4736592" y="2011680"/>
            <a:ext cx="1828800" cy="128016"/>
          </a:xfrm>
          <a:prstGeom prst="rect">
            <a:avLst/>
          </a:prstGeom>
          <a:noFill/>
          <a:ln/>
        </p:spPr>
        <p:txBody>
          <a:bodyPr wrap="square" lIns="0" tIns="0" rIns="0" bIns="0" rtlCol="0" anchor="ctr"/>
          <a:lstStyle/>
          <a:p>
            <a:pPr indent="0" marL="0">
              <a:buNone/>
            </a:pPr>
            <a:r>
              <a:rPr lang="en-US" sz="750" dirty="0">
                <a:solidFill>
                  <a:srgbClr val="5B6B7E"/>
                </a:solidFill>
                <a:latin typeface="Arial" pitchFamily="34" charset="0"/>
                <a:ea typeface="Arial" pitchFamily="34" charset="-122"/>
                <a:cs typeface="Arial" pitchFamily="34" charset="-120"/>
              </a:rPr>
              <a:t>full recompute, 40,836 FIRs</a:t>
            </a:r>
            <a:endParaRPr lang="en-US" sz="750" dirty="0"/>
          </a:p>
        </p:txBody>
      </p:sp>
      <p:sp>
        <p:nvSpPr>
          <p:cNvPr id="10" name="Shape 7"/>
          <p:cNvSpPr/>
          <p:nvPr/>
        </p:nvSpPr>
        <p:spPr>
          <a:xfrm>
            <a:off x="6748272" y="1627632"/>
            <a:ext cx="1993392" cy="530352"/>
          </a:xfrm>
          <a:prstGeom prst="roundRect">
            <a:avLst>
              <a:gd name="adj" fmla="val 10345"/>
            </a:avLst>
          </a:prstGeom>
          <a:solidFill>
            <a:srgbClr val="F5F8FB"/>
          </a:solidFill>
          <a:ln w="9525">
            <a:solidFill>
              <a:srgbClr val="D9E1EC"/>
            </a:solidFill>
            <a:prstDash val="solid"/>
          </a:ln>
        </p:spPr>
      </p:sp>
      <p:sp>
        <p:nvSpPr>
          <p:cNvPr id="11" name="Text 8"/>
          <p:cNvSpPr/>
          <p:nvPr/>
        </p:nvSpPr>
        <p:spPr>
          <a:xfrm>
            <a:off x="6839712" y="1655064"/>
            <a:ext cx="1828800" cy="237744"/>
          </a:xfrm>
          <a:prstGeom prst="rect">
            <a:avLst/>
          </a:prstGeom>
          <a:noFill/>
          <a:ln/>
        </p:spPr>
        <p:txBody>
          <a:bodyPr wrap="square" lIns="0" tIns="0" rIns="0" bIns="0" rtlCol="0" anchor="ctr"/>
          <a:lstStyle/>
          <a:p>
            <a:pPr indent="0" marL="0">
              <a:buNone/>
            </a:pPr>
            <a:r>
              <a:rPr lang="en-US" sz="1300" b="1" dirty="0">
                <a:solidFill>
                  <a:srgbClr val="1A6FC4"/>
                </a:solidFill>
                <a:latin typeface="Arial" pitchFamily="34" charset="0"/>
                <a:ea typeface="Arial" pitchFamily="34" charset="-122"/>
                <a:cs typeface="Arial" pitchFamily="34" charset="-120"/>
              </a:rPr>
              <a:t>738 MB</a:t>
            </a:r>
            <a:endParaRPr lang="en-US" sz="1300" dirty="0"/>
          </a:p>
        </p:txBody>
      </p:sp>
      <p:sp>
        <p:nvSpPr>
          <p:cNvPr id="12" name="Text 9"/>
          <p:cNvSpPr/>
          <p:nvPr/>
        </p:nvSpPr>
        <p:spPr>
          <a:xfrm>
            <a:off x="6839712" y="1883664"/>
            <a:ext cx="1828800" cy="137160"/>
          </a:xfrm>
          <a:prstGeom prst="rect">
            <a:avLst/>
          </a:prstGeom>
          <a:noFill/>
          <a:ln/>
        </p:spPr>
        <p:txBody>
          <a:bodyPr wrap="square" lIns="0" tIns="0" rIns="0" bIns="0" rtlCol="0" anchor="ctr"/>
          <a:lstStyle/>
          <a:p>
            <a:pPr indent="0" marL="0">
              <a:buNone/>
            </a:pPr>
            <a:r>
              <a:rPr lang="en-US" sz="850" b="1" dirty="0">
                <a:solidFill>
                  <a:srgbClr val="1C2A3A"/>
                </a:solidFill>
                <a:latin typeface="Arial" pitchFamily="34" charset="0"/>
                <a:ea typeface="Arial" pitchFamily="34" charset="-122"/>
                <a:cs typeface="Arial" pitchFamily="34" charset="-120"/>
              </a:rPr>
              <a:t>Peak memory</a:t>
            </a:r>
            <a:endParaRPr lang="en-US" sz="850" dirty="0"/>
          </a:p>
        </p:txBody>
      </p:sp>
      <p:sp>
        <p:nvSpPr>
          <p:cNvPr id="13" name="Text 10"/>
          <p:cNvSpPr/>
          <p:nvPr/>
        </p:nvSpPr>
        <p:spPr>
          <a:xfrm>
            <a:off x="6839712" y="2011680"/>
            <a:ext cx="1828800" cy="128016"/>
          </a:xfrm>
          <a:prstGeom prst="rect">
            <a:avLst/>
          </a:prstGeom>
          <a:noFill/>
          <a:ln/>
        </p:spPr>
        <p:txBody>
          <a:bodyPr wrap="square" lIns="0" tIns="0" rIns="0" bIns="0" rtlCol="0" anchor="ctr"/>
          <a:lstStyle/>
          <a:p>
            <a:pPr indent="0" marL="0">
              <a:buNone/>
            </a:pPr>
            <a:r>
              <a:rPr lang="en-US" sz="750" dirty="0">
                <a:solidFill>
                  <a:srgbClr val="5B6B7E"/>
                </a:solidFill>
                <a:latin typeface="Arial" pitchFamily="34" charset="0"/>
                <a:ea typeface="Arial" pitchFamily="34" charset="-122"/>
                <a:cs typeface="Arial" pitchFamily="34" charset="-120"/>
              </a:rPr>
              <a:t>was 1,770 MB before tuning</a:t>
            </a:r>
            <a:endParaRPr lang="en-US" sz="750" dirty="0"/>
          </a:p>
        </p:txBody>
      </p:sp>
      <p:sp>
        <p:nvSpPr>
          <p:cNvPr id="14" name="Shape 11"/>
          <p:cNvSpPr/>
          <p:nvPr/>
        </p:nvSpPr>
        <p:spPr>
          <a:xfrm>
            <a:off x="4645152" y="2212848"/>
            <a:ext cx="1993392" cy="530352"/>
          </a:xfrm>
          <a:prstGeom prst="roundRect">
            <a:avLst>
              <a:gd name="adj" fmla="val 10345"/>
            </a:avLst>
          </a:prstGeom>
          <a:solidFill>
            <a:srgbClr val="F5F8FB"/>
          </a:solidFill>
          <a:ln w="9525">
            <a:solidFill>
              <a:srgbClr val="D9E1EC"/>
            </a:solidFill>
            <a:prstDash val="solid"/>
          </a:ln>
        </p:spPr>
      </p:sp>
      <p:sp>
        <p:nvSpPr>
          <p:cNvPr id="15" name="Text 12"/>
          <p:cNvSpPr/>
          <p:nvPr/>
        </p:nvSpPr>
        <p:spPr>
          <a:xfrm>
            <a:off x="4736592" y="2240280"/>
            <a:ext cx="1828800" cy="237744"/>
          </a:xfrm>
          <a:prstGeom prst="rect">
            <a:avLst/>
          </a:prstGeom>
          <a:noFill/>
          <a:ln/>
        </p:spPr>
        <p:txBody>
          <a:bodyPr wrap="square" lIns="0" tIns="0" rIns="0" bIns="0" rtlCol="0" anchor="ctr"/>
          <a:lstStyle/>
          <a:p>
            <a:pPr indent="0" marL="0">
              <a:buNone/>
            </a:pPr>
            <a:r>
              <a:rPr lang="en-US" sz="1300" b="1" dirty="0">
                <a:solidFill>
                  <a:srgbClr val="1A6FC4"/>
                </a:solidFill>
                <a:latin typeface="Arial" pitchFamily="34" charset="0"/>
                <a:ea typeface="Arial" pitchFamily="34" charset="-122"/>
                <a:cs typeface="Arial" pitchFamily="34" charset="-120"/>
              </a:rPr>
              <a:t>135 ms</a:t>
            </a:r>
            <a:endParaRPr lang="en-US" sz="1300" dirty="0"/>
          </a:p>
        </p:txBody>
      </p:sp>
      <p:sp>
        <p:nvSpPr>
          <p:cNvPr id="16" name="Text 13"/>
          <p:cNvSpPr/>
          <p:nvPr/>
        </p:nvSpPr>
        <p:spPr>
          <a:xfrm>
            <a:off x="4736592" y="2468880"/>
            <a:ext cx="1828800" cy="137160"/>
          </a:xfrm>
          <a:prstGeom prst="rect">
            <a:avLst/>
          </a:prstGeom>
          <a:noFill/>
          <a:ln/>
        </p:spPr>
        <p:txBody>
          <a:bodyPr wrap="square" lIns="0" tIns="0" rIns="0" bIns="0" rtlCol="0" anchor="ctr"/>
          <a:lstStyle/>
          <a:p>
            <a:pPr indent="0" marL="0">
              <a:buNone/>
            </a:pPr>
            <a:r>
              <a:rPr lang="en-US" sz="850" b="1" dirty="0">
                <a:solidFill>
                  <a:srgbClr val="1C2A3A"/>
                </a:solidFill>
                <a:latin typeface="Arial" pitchFamily="34" charset="0"/>
                <a:ea typeface="Arial" pitchFamily="34" charset="-122"/>
                <a:cs typeface="Arial" pitchFamily="34" charset="-120"/>
              </a:rPr>
              <a:t>AppSail analytics</a:t>
            </a:r>
            <a:endParaRPr lang="en-US" sz="850" dirty="0"/>
          </a:p>
        </p:txBody>
      </p:sp>
      <p:sp>
        <p:nvSpPr>
          <p:cNvPr id="17" name="Text 14"/>
          <p:cNvSpPr/>
          <p:nvPr/>
        </p:nvSpPr>
        <p:spPr>
          <a:xfrm>
            <a:off x="4736592" y="2596896"/>
            <a:ext cx="1828800" cy="128016"/>
          </a:xfrm>
          <a:prstGeom prst="rect">
            <a:avLst/>
          </a:prstGeom>
          <a:noFill/>
          <a:ln/>
        </p:spPr>
        <p:txBody>
          <a:bodyPr wrap="square" lIns="0" tIns="0" rIns="0" bIns="0" rtlCol="0" anchor="ctr"/>
          <a:lstStyle/>
          <a:p>
            <a:pPr indent="0" marL="0">
              <a:buNone/>
            </a:pPr>
            <a:r>
              <a:rPr lang="en-US" sz="750" dirty="0">
                <a:solidFill>
                  <a:srgbClr val="5B6B7E"/>
                </a:solidFill>
                <a:latin typeface="Arial" pitchFamily="34" charset="0"/>
                <a:ea typeface="Arial" pitchFamily="34" charset="-122"/>
                <a:cs typeface="Arial" pitchFamily="34" charset="-120"/>
              </a:rPr>
              <a:t>against a 30 s request cap</a:t>
            </a:r>
            <a:endParaRPr lang="en-US" sz="750" dirty="0"/>
          </a:p>
        </p:txBody>
      </p:sp>
      <p:sp>
        <p:nvSpPr>
          <p:cNvPr id="18" name="Shape 15"/>
          <p:cNvSpPr/>
          <p:nvPr/>
        </p:nvSpPr>
        <p:spPr>
          <a:xfrm>
            <a:off x="6748272" y="2212848"/>
            <a:ext cx="1993392" cy="530352"/>
          </a:xfrm>
          <a:prstGeom prst="roundRect">
            <a:avLst>
              <a:gd name="adj" fmla="val 10345"/>
            </a:avLst>
          </a:prstGeom>
          <a:solidFill>
            <a:srgbClr val="F5F8FB"/>
          </a:solidFill>
          <a:ln w="9525">
            <a:solidFill>
              <a:srgbClr val="D9E1EC"/>
            </a:solidFill>
            <a:prstDash val="solid"/>
          </a:ln>
        </p:spPr>
      </p:sp>
      <p:sp>
        <p:nvSpPr>
          <p:cNvPr id="19" name="Text 16"/>
          <p:cNvSpPr/>
          <p:nvPr/>
        </p:nvSpPr>
        <p:spPr>
          <a:xfrm>
            <a:off x="6839712" y="2240280"/>
            <a:ext cx="1828800" cy="237744"/>
          </a:xfrm>
          <a:prstGeom prst="rect">
            <a:avLst/>
          </a:prstGeom>
          <a:noFill/>
          <a:ln/>
        </p:spPr>
        <p:txBody>
          <a:bodyPr wrap="square" lIns="0" tIns="0" rIns="0" bIns="0" rtlCol="0" anchor="ctr"/>
          <a:lstStyle/>
          <a:p>
            <a:pPr indent="0" marL="0">
              <a:buNone/>
            </a:pPr>
            <a:r>
              <a:rPr lang="en-US" sz="1300" b="1" dirty="0">
                <a:solidFill>
                  <a:srgbClr val="1A6FC4"/>
                </a:solidFill>
                <a:latin typeface="Arial" pitchFamily="34" charset="0"/>
                <a:ea typeface="Arial" pitchFamily="34" charset="-122"/>
                <a:cs typeface="Arial" pitchFamily="34" charset="-120"/>
              </a:rPr>
              <a:t>12.1 MB</a:t>
            </a:r>
            <a:endParaRPr lang="en-US" sz="1300" dirty="0"/>
          </a:p>
        </p:txBody>
      </p:sp>
      <p:sp>
        <p:nvSpPr>
          <p:cNvPr id="20" name="Text 17"/>
          <p:cNvSpPr/>
          <p:nvPr/>
        </p:nvSpPr>
        <p:spPr>
          <a:xfrm>
            <a:off x="6839712" y="2468880"/>
            <a:ext cx="1828800" cy="137160"/>
          </a:xfrm>
          <a:prstGeom prst="rect">
            <a:avLst/>
          </a:prstGeom>
          <a:noFill/>
          <a:ln/>
        </p:spPr>
        <p:txBody>
          <a:bodyPr wrap="square" lIns="0" tIns="0" rIns="0" bIns="0" rtlCol="0" anchor="ctr"/>
          <a:lstStyle/>
          <a:p>
            <a:pPr indent="0" marL="0">
              <a:buNone/>
            </a:pPr>
            <a:r>
              <a:rPr lang="en-US" sz="850" b="1" dirty="0">
                <a:solidFill>
                  <a:srgbClr val="1C2A3A"/>
                </a:solidFill>
                <a:latin typeface="Arial" pitchFamily="34" charset="0"/>
                <a:ea typeface="Arial" pitchFamily="34" charset="-122"/>
                <a:cs typeface="Arial" pitchFamily="34" charset="-120"/>
              </a:rPr>
              <a:t>Graph payload</a:t>
            </a:r>
            <a:endParaRPr lang="en-US" sz="850" dirty="0"/>
          </a:p>
        </p:txBody>
      </p:sp>
      <p:sp>
        <p:nvSpPr>
          <p:cNvPr id="21" name="Text 18"/>
          <p:cNvSpPr/>
          <p:nvPr/>
        </p:nvSpPr>
        <p:spPr>
          <a:xfrm>
            <a:off x="6839712" y="2596896"/>
            <a:ext cx="1828800" cy="128016"/>
          </a:xfrm>
          <a:prstGeom prst="rect">
            <a:avLst/>
          </a:prstGeom>
          <a:noFill/>
          <a:ln/>
        </p:spPr>
        <p:txBody>
          <a:bodyPr wrap="square" lIns="0" tIns="0" rIns="0" bIns="0" rtlCol="0" anchor="ctr"/>
          <a:lstStyle/>
          <a:p>
            <a:pPr indent="0" marL="0">
              <a:buNone/>
            </a:pPr>
            <a:r>
              <a:rPr lang="en-US" sz="750" dirty="0">
                <a:solidFill>
                  <a:srgbClr val="5B6B7E"/>
                </a:solidFill>
                <a:latin typeface="Arial" pitchFamily="34" charset="0"/>
                <a:ea typeface="Arial" pitchFamily="34" charset="-122"/>
                <a:cs typeface="Arial" pitchFamily="34" charset="-120"/>
              </a:rPr>
              <a:t>interned down from 54.9 MB</a:t>
            </a:r>
            <a:endParaRPr lang="en-US" sz="750" dirty="0"/>
          </a:p>
        </p:txBody>
      </p:sp>
      <p:sp>
        <p:nvSpPr>
          <p:cNvPr id="22" name="Shape 19"/>
          <p:cNvSpPr/>
          <p:nvPr/>
        </p:nvSpPr>
        <p:spPr>
          <a:xfrm>
            <a:off x="4645152" y="2798064"/>
            <a:ext cx="1993392" cy="530352"/>
          </a:xfrm>
          <a:prstGeom prst="roundRect">
            <a:avLst>
              <a:gd name="adj" fmla="val 10345"/>
            </a:avLst>
          </a:prstGeom>
          <a:solidFill>
            <a:srgbClr val="F5F8FB"/>
          </a:solidFill>
          <a:ln w="9525">
            <a:solidFill>
              <a:srgbClr val="D9E1EC"/>
            </a:solidFill>
            <a:prstDash val="solid"/>
          </a:ln>
        </p:spPr>
      </p:sp>
      <p:sp>
        <p:nvSpPr>
          <p:cNvPr id="23" name="Text 20"/>
          <p:cNvSpPr/>
          <p:nvPr/>
        </p:nvSpPr>
        <p:spPr>
          <a:xfrm>
            <a:off x="4736592" y="2825496"/>
            <a:ext cx="1828800" cy="237744"/>
          </a:xfrm>
          <a:prstGeom prst="rect">
            <a:avLst/>
          </a:prstGeom>
          <a:noFill/>
          <a:ln/>
        </p:spPr>
        <p:txBody>
          <a:bodyPr wrap="square" lIns="0" tIns="0" rIns="0" bIns="0" rtlCol="0" anchor="ctr"/>
          <a:lstStyle/>
          <a:p>
            <a:pPr indent="0" marL="0">
              <a:buNone/>
            </a:pPr>
            <a:r>
              <a:rPr lang="en-US" sz="1300" b="1" dirty="0">
                <a:solidFill>
                  <a:srgbClr val="1A6FC4"/>
                </a:solidFill>
                <a:latin typeface="Arial" pitchFamily="34" charset="0"/>
                <a:ea typeface="Arial" pitchFamily="34" charset="-122"/>
                <a:cs typeface="Arial" pitchFamily="34" charset="-120"/>
              </a:rPr>
              <a:t>3.9%</a:t>
            </a:r>
            <a:endParaRPr lang="en-US" sz="1300" dirty="0"/>
          </a:p>
        </p:txBody>
      </p:sp>
      <p:sp>
        <p:nvSpPr>
          <p:cNvPr id="24" name="Text 21"/>
          <p:cNvSpPr/>
          <p:nvPr/>
        </p:nvSpPr>
        <p:spPr>
          <a:xfrm>
            <a:off x="4736592" y="3054096"/>
            <a:ext cx="1828800" cy="137160"/>
          </a:xfrm>
          <a:prstGeom prst="rect">
            <a:avLst/>
          </a:prstGeom>
          <a:noFill/>
          <a:ln/>
        </p:spPr>
        <p:txBody>
          <a:bodyPr wrap="square" lIns="0" tIns="0" rIns="0" bIns="0" rtlCol="0" anchor="ctr"/>
          <a:lstStyle/>
          <a:p>
            <a:pPr indent="0" marL="0">
              <a:buNone/>
            </a:pPr>
            <a:r>
              <a:rPr lang="en-US" sz="850" b="1" dirty="0">
                <a:solidFill>
                  <a:srgbClr val="1C2A3A"/>
                </a:solidFill>
                <a:latin typeface="Arial" pitchFamily="34" charset="0"/>
                <a:ea typeface="Arial" pitchFamily="34" charset="-122"/>
                <a:cs typeface="Arial" pitchFamily="34" charset="-120"/>
              </a:rPr>
              <a:t>Forecast MAPE</a:t>
            </a:r>
            <a:endParaRPr lang="en-US" sz="850" dirty="0"/>
          </a:p>
        </p:txBody>
      </p:sp>
      <p:sp>
        <p:nvSpPr>
          <p:cNvPr id="25" name="Text 22"/>
          <p:cNvSpPr/>
          <p:nvPr/>
        </p:nvSpPr>
        <p:spPr>
          <a:xfrm>
            <a:off x="4736592" y="3182112"/>
            <a:ext cx="1828800" cy="128016"/>
          </a:xfrm>
          <a:prstGeom prst="rect">
            <a:avLst/>
          </a:prstGeom>
          <a:noFill/>
          <a:ln/>
        </p:spPr>
        <p:txBody>
          <a:bodyPr wrap="square" lIns="0" tIns="0" rIns="0" bIns="0" rtlCol="0" anchor="ctr"/>
          <a:lstStyle/>
          <a:p>
            <a:pPr indent="0" marL="0">
              <a:buNone/>
            </a:pPr>
            <a:r>
              <a:rPr lang="en-US" sz="750" dirty="0">
                <a:solidFill>
                  <a:srgbClr val="5B6B7E"/>
                </a:solidFill>
                <a:latin typeface="Arial" pitchFamily="34" charset="0"/>
                <a:ea typeface="Arial" pitchFamily="34" charset="-122"/>
                <a:cs typeface="Arial" pitchFamily="34" charset="-120"/>
              </a:rPr>
              <a:t>3-month hold-out backtest</a:t>
            </a:r>
            <a:endParaRPr lang="en-US" sz="750" dirty="0"/>
          </a:p>
        </p:txBody>
      </p:sp>
      <p:sp>
        <p:nvSpPr>
          <p:cNvPr id="26" name="Shape 23"/>
          <p:cNvSpPr/>
          <p:nvPr/>
        </p:nvSpPr>
        <p:spPr>
          <a:xfrm>
            <a:off x="6748272" y="2798064"/>
            <a:ext cx="1993392" cy="530352"/>
          </a:xfrm>
          <a:prstGeom prst="roundRect">
            <a:avLst>
              <a:gd name="adj" fmla="val 10345"/>
            </a:avLst>
          </a:prstGeom>
          <a:solidFill>
            <a:srgbClr val="F5F8FB"/>
          </a:solidFill>
          <a:ln w="9525">
            <a:solidFill>
              <a:srgbClr val="D9E1EC"/>
            </a:solidFill>
            <a:prstDash val="solid"/>
          </a:ln>
        </p:spPr>
      </p:sp>
      <p:sp>
        <p:nvSpPr>
          <p:cNvPr id="27" name="Text 24"/>
          <p:cNvSpPr/>
          <p:nvPr/>
        </p:nvSpPr>
        <p:spPr>
          <a:xfrm>
            <a:off x="6839712" y="2825496"/>
            <a:ext cx="1828800" cy="237744"/>
          </a:xfrm>
          <a:prstGeom prst="rect">
            <a:avLst/>
          </a:prstGeom>
          <a:noFill/>
          <a:ln/>
        </p:spPr>
        <p:txBody>
          <a:bodyPr wrap="square" lIns="0" tIns="0" rIns="0" bIns="0" rtlCol="0" anchor="ctr"/>
          <a:lstStyle/>
          <a:p>
            <a:pPr indent="0" marL="0">
              <a:buNone/>
            </a:pPr>
            <a:r>
              <a:rPr lang="en-US" sz="1300" b="1" dirty="0">
                <a:solidFill>
                  <a:srgbClr val="1A6FC4"/>
                </a:solidFill>
                <a:latin typeface="Arial" pitchFamily="34" charset="0"/>
                <a:ea typeface="Arial" pitchFamily="34" charset="-122"/>
                <a:cs typeface="Arial" pitchFamily="34" charset="-120"/>
              </a:rPr>
              <a:t>19 / 19</a:t>
            </a:r>
            <a:endParaRPr lang="en-US" sz="1300" dirty="0"/>
          </a:p>
        </p:txBody>
      </p:sp>
      <p:sp>
        <p:nvSpPr>
          <p:cNvPr id="28" name="Text 25"/>
          <p:cNvSpPr/>
          <p:nvPr/>
        </p:nvSpPr>
        <p:spPr>
          <a:xfrm>
            <a:off x="6839712" y="3054096"/>
            <a:ext cx="1828800" cy="137160"/>
          </a:xfrm>
          <a:prstGeom prst="rect">
            <a:avLst/>
          </a:prstGeom>
          <a:noFill/>
          <a:ln/>
        </p:spPr>
        <p:txBody>
          <a:bodyPr wrap="square" lIns="0" tIns="0" rIns="0" bIns="0" rtlCol="0" anchor="ctr"/>
          <a:lstStyle/>
          <a:p>
            <a:pPr indent="0" marL="0">
              <a:buNone/>
            </a:pPr>
            <a:r>
              <a:rPr lang="en-US" sz="850" b="1" dirty="0">
                <a:solidFill>
                  <a:srgbClr val="1C2A3A"/>
                </a:solidFill>
                <a:latin typeface="Arial" pitchFamily="34" charset="0"/>
                <a:ea typeface="Arial" pitchFamily="34" charset="-122"/>
                <a:cs typeface="Arial" pitchFamily="34" charset="-120"/>
              </a:rPr>
              <a:t>Test suite</a:t>
            </a:r>
            <a:endParaRPr lang="en-US" sz="850" dirty="0"/>
          </a:p>
        </p:txBody>
      </p:sp>
      <p:sp>
        <p:nvSpPr>
          <p:cNvPr id="29" name="Text 26"/>
          <p:cNvSpPr/>
          <p:nvPr/>
        </p:nvSpPr>
        <p:spPr>
          <a:xfrm>
            <a:off x="6839712" y="3182112"/>
            <a:ext cx="1828800" cy="128016"/>
          </a:xfrm>
          <a:prstGeom prst="rect">
            <a:avLst/>
          </a:prstGeom>
          <a:noFill/>
          <a:ln/>
        </p:spPr>
        <p:txBody>
          <a:bodyPr wrap="square" lIns="0" tIns="0" rIns="0" bIns="0" rtlCol="0" anchor="ctr"/>
          <a:lstStyle/>
          <a:p>
            <a:pPr indent="0" marL="0">
              <a:buNone/>
            </a:pPr>
            <a:r>
              <a:rPr lang="en-US" sz="750" dirty="0">
                <a:solidFill>
                  <a:srgbClr val="5B6B7E"/>
                </a:solidFill>
                <a:latin typeface="Arial" pitchFamily="34" charset="0"/>
                <a:ea typeface="Arial" pitchFamily="34" charset="-122"/>
                <a:cs typeface="Arial" pitchFamily="34" charset="-120"/>
              </a:rPr>
              <a:t>8 Node + 11 Python, all green</a:t>
            </a:r>
            <a:endParaRPr lang="en-US" sz="750" dirty="0"/>
          </a:p>
        </p:txBody>
      </p:sp>
      <p:sp>
        <p:nvSpPr>
          <p:cNvPr id="30" name="Text 27"/>
          <p:cNvSpPr/>
          <p:nvPr/>
        </p:nvSpPr>
        <p:spPr>
          <a:xfrm>
            <a:off x="384048" y="3438144"/>
            <a:ext cx="8375904" cy="237744"/>
          </a:xfrm>
          <a:prstGeom prst="rect">
            <a:avLst/>
          </a:prstGeom>
          <a:noFill/>
          <a:ln/>
        </p:spPr>
        <p:txBody>
          <a:bodyPr wrap="square" lIns="0" tIns="0" rIns="0" bIns="0" rtlCol="0" anchor="ctr"/>
          <a:lstStyle/>
          <a:p>
            <a:pPr indent="0" marL="0">
              <a:buNone/>
            </a:pPr>
            <a:r>
              <a:rPr lang="en-US" sz="1250" b="1" dirty="0">
                <a:solidFill>
                  <a:srgbClr val="0F2F44"/>
                </a:solidFill>
                <a:latin typeface="Arial" pitchFamily="34" charset="0"/>
                <a:ea typeface="Arial" pitchFamily="34" charset="-122"/>
                <a:cs typeface="Arial" pitchFamily="34" charset="-120"/>
              </a:rPr>
              <a:t>How these figures were obtained</a:t>
            </a:r>
            <a:endParaRPr lang="en-US" sz="1250" dirty="0"/>
          </a:p>
        </p:txBody>
      </p:sp>
      <p:sp>
        <p:nvSpPr>
          <p:cNvPr id="31" name="Shape 28"/>
          <p:cNvSpPr/>
          <p:nvPr/>
        </p:nvSpPr>
        <p:spPr>
          <a:xfrm>
            <a:off x="384048" y="3712464"/>
            <a:ext cx="2670048" cy="1133856"/>
          </a:xfrm>
          <a:prstGeom prst="roundRect">
            <a:avLst>
              <a:gd name="adj" fmla="val 4839"/>
            </a:avLst>
          </a:prstGeom>
          <a:solidFill>
            <a:srgbClr val="FFFFFF"/>
          </a:solidFill>
          <a:ln w="9525">
            <a:solidFill>
              <a:srgbClr val="D9E1EC"/>
            </a:solidFill>
            <a:prstDash val="solid"/>
          </a:ln>
        </p:spPr>
      </p:sp>
      <p:sp>
        <p:nvSpPr>
          <p:cNvPr id="32" name="Shape 29"/>
          <p:cNvSpPr/>
          <p:nvPr/>
        </p:nvSpPr>
        <p:spPr>
          <a:xfrm>
            <a:off x="384048" y="3712464"/>
            <a:ext cx="2670048" cy="292608"/>
          </a:xfrm>
          <a:prstGeom prst="roundRect">
            <a:avLst>
              <a:gd name="adj" fmla="val 18750"/>
            </a:avLst>
          </a:prstGeom>
          <a:solidFill>
            <a:srgbClr val="2FA8A0"/>
          </a:solidFill>
          <a:ln w="12700">
            <a:solidFill>
              <a:srgbClr val="2FA8A0"/>
            </a:solidFill>
            <a:prstDash val="solid"/>
          </a:ln>
        </p:spPr>
      </p:sp>
      <p:sp>
        <p:nvSpPr>
          <p:cNvPr id="33" name="Text 30"/>
          <p:cNvSpPr/>
          <p:nvPr/>
        </p:nvSpPr>
        <p:spPr>
          <a:xfrm>
            <a:off x="512064" y="3712464"/>
            <a:ext cx="2414016"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Recovery %</a:t>
            </a:r>
            <a:endParaRPr lang="en-US" sz="1000" dirty="0"/>
          </a:p>
        </p:txBody>
      </p:sp>
      <p:sp>
        <p:nvSpPr>
          <p:cNvPr id="34" name="Text 31"/>
          <p:cNvSpPr/>
          <p:nvPr/>
        </p:nvSpPr>
        <p:spPr>
          <a:xfrm>
            <a:off x="512064" y="4078224"/>
            <a:ext cx="2414016" cy="749808"/>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The generator plants 7 known patterns and writes them to _ground_truth.json before the pipeline starts. The pipeline never reads that file. eval.py scores the recovered clusters against it after every single run.</a:t>
            </a:r>
            <a:endParaRPr lang="en-US" sz="800" dirty="0"/>
          </a:p>
        </p:txBody>
      </p:sp>
      <p:sp>
        <p:nvSpPr>
          <p:cNvPr id="35" name="Shape 32"/>
          <p:cNvSpPr/>
          <p:nvPr/>
        </p:nvSpPr>
        <p:spPr>
          <a:xfrm>
            <a:off x="3218688" y="3712464"/>
            <a:ext cx="2670048" cy="1133856"/>
          </a:xfrm>
          <a:prstGeom prst="roundRect">
            <a:avLst>
              <a:gd name="adj" fmla="val 4839"/>
            </a:avLst>
          </a:prstGeom>
          <a:solidFill>
            <a:srgbClr val="FFFFFF"/>
          </a:solidFill>
          <a:ln w="9525">
            <a:solidFill>
              <a:srgbClr val="D9E1EC"/>
            </a:solidFill>
            <a:prstDash val="solid"/>
          </a:ln>
        </p:spPr>
      </p:sp>
      <p:sp>
        <p:nvSpPr>
          <p:cNvPr id="36" name="Shape 33"/>
          <p:cNvSpPr/>
          <p:nvPr/>
        </p:nvSpPr>
        <p:spPr>
          <a:xfrm>
            <a:off x="3218688" y="3712464"/>
            <a:ext cx="2670048" cy="292608"/>
          </a:xfrm>
          <a:prstGeom prst="roundRect">
            <a:avLst>
              <a:gd name="adj" fmla="val 18750"/>
            </a:avLst>
          </a:prstGeom>
          <a:solidFill>
            <a:srgbClr val="E8871E"/>
          </a:solidFill>
          <a:ln w="12700">
            <a:solidFill>
              <a:srgbClr val="E8871E"/>
            </a:solidFill>
            <a:prstDash val="solid"/>
          </a:ln>
        </p:spPr>
      </p:sp>
      <p:sp>
        <p:nvSpPr>
          <p:cNvPr id="37" name="Text 34"/>
          <p:cNvSpPr/>
          <p:nvPr/>
        </p:nvSpPr>
        <p:spPr>
          <a:xfrm>
            <a:off x="3346704" y="3712464"/>
            <a:ext cx="2414016"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Runtime &amp; memory</a:t>
            </a:r>
            <a:endParaRPr lang="en-US" sz="1000" dirty="0"/>
          </a:p>
        </p:txBody>
      </p:sp>
      <p:sp>
        <p:nvSpPr>
          <p:cNvPr id="38" name="Text 35"/>
          <p:cNvSpPr/>
          <p:nvPr/>
        </p:nvSpPr>
        <p:spPr>
          <a:xfrm>
            <a:off x="3346704" y="4078224"/>
            <a:ext cx="2414016" cy="749808"/>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/usr/bin/time -l over the full 40,836-FIR pipeline — the same script the Catalyst Job executes. 1,770 MB before sklearn working_memory was capped at 32 MiB; 738 MB after, with byte-identical output.</a:t>
            </a:r>
            <a:endParaRPr lang="en-US" sz="800" dirty="0"/>
          </a:p>
        </p:txBody>
      </p:sp>
      <p:sp>
        <p:nvSpPr>
          <p:cNvPr id="39" name="Shape 36"/>
          <p:cNvSpPr/>
          <p:nvPr/>
        </p:nvSpPr>
        <p:spPr>
          <a:xfrm>
            <a:off x="6053328" y="3712464"/>
            <a:ext cx="2670048" cy="1133856"/>
          </a:xfrm>
          <a:prstGeom prst="roundRect">
            <a:avLst>
              <a:gd name="adj" fmla="val 4839"/>
            </a:avLst>
          </a:prstGeom>
          <a:solidFill>
            <a:srgbClr val="FFFFFF"/>
          </a:solidFill>
          <a:ln w="9525">
            <a:solidFill>
              <a:srgbClr val="D9E1EC"/>
            </a:solidFill>
            <a:prstDash val="solid"/>
          </a:ln>
        </p:spPr>
      </p:sp>
      <p:sp>
        <p:nvSpPr>
          <p:cNvPr id="40" name="Shape 37"/>
          <p:cNvSpPr/>
          <p:nvPr/>
        </p:nvSpPr>
        <p:spPr>
          <a:xfrm>
            <a:off x="6053328" y="3712464"/>
            <a:ext cx="2670048" cy="292608"/>
          </a:xfrm>
          <a:prstGeom prst="roundRect">
            <a:avLst>
              <a:gd name="adj" fmla="val 18750"/>
            </a:avLst>
          </a:prstGeom>
          <a:solidFill>
            <a:srgbClr val="1A6FC4"/>
          </a:solidFill>
          <a:ln w="12700">
            <a:solidFill>
              <a:srgbClr val="1A6FC4"/>
            </a:solidFill>
            <a:prstDash val="solid"/>
          </a:ln>
        </p:spPr>
      </p:sp>
      <p:sp>
        <p:nvSpPr>
          <p:cNvPr id="41" name="Text 38"/>
          <p:cNvSpPr/>
          <p:nvPr/>
        </p:nvSpPr>
        <p:spPr>
          <a:xfrm>
            <a:off x="6181344" y="3712464"/>
            <a:ext cx="2414016"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Latency &amp; MAPE</a:t>
            </a:r>
            <a:endParaRPr lang="en-US" sz="1000" dirty="0"/>
          </a:p>
        </p:txBody>
      </p:sp>
      <p:sp>
        <p:nvSpPr>
          <p:cNvPr id="42" name="Text 39"/>
          <p:cNvSpPr/>
          <p:nvPr/>
        </p:nvSpPr>
        <p:spPr>
          <a:xfrm>
            <a:off x="6181344" y="4078224"/>
            <a:ext cx="2414016" cy="749808"/>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The 135 ms is the median of 20 sequential calls to the deployed AppSail endpoint. MAPE is a hold-out backtest: 3 months withheld, model fitted on the rest, then scored against the withheld actuals.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The finding that changes the map</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Why counts mislead, and what per-capita analysis reveals</a:t>
            </a:r>
            <a:endParaRPr lang="en-US" sz="1200" dirty="0"/>
          </a:p>
        </p:txBody>
      </p:sp>
      <p:sp>
        <p:nvSpPr>
          <p:cNvPr id="4" name="Shape 2"/>
          <p:cNvSpPr/>
          <p:nvPr/>
        </p:nvSpPr>
        <p:spPr>
          <a:xfrm>
            <a:off x="384048" y="1371600"/>
            <a:ext cx="8375904" cy="603504"/>
          </a:xfrm>
          <a:prstGeom prst="roundRect">
            <a:avLst>
              <a:gd name="adj" fmla="val 9091"/>
            </a:avLst>
          </a:prstGeom>
          <a:solidFill>
            <a:srgbClr val="F0F7F5"/>
          </a:solidFill>
          <a:ln w="9525">
            <a:solidFill>
              <a:srgbClr val="D9E1EC"/>
            </a:solidFill>
            <a:prstDash val="solid"/>
          </a:ln>
        </p:spPr>
      </p:sp>
      <p:sp>
        <p:nvSpPr>
          <p:cNvPr id="5" name="Text 3"/>
          <p:cNvSpPr/>
          <p:nvPr/>
        </p:nvSpPr>
        <p:spPr>
          <a:xfrm>
            <a:off x="548640" y="1408176"/>
            <a:ext cx="8046720" cy="274320"/>
          </a:xfrm>
          <a:prstGeom prst="rect">
            <a:avLst/>
          </a:prstGeom>
          <a:noFill/>
          <a:ln/>
        </p:spPr>
        <p:txBody>
          <a:bodyPr wrap="square" lIns="0" tIns="0" rIns="0" bIns="0" rtlCol="0" anchor="ctr"/>
          <a:lstStyle/>
          <a:p>
            <a:pPr indent="0" marL="0">
              <a:buNone/>
            </a:pPr>
            <a:r>
              <a:rPr lang="en-US" sz="1300" b="1" dirty="0">
                <a:solidFill>
                  <a:srgbClr val="2FA8A0"/>
                </a:solidFill>
                <a:latin typeface="Arial" pitchFamily="34" charset="0"/>
                <a:ea typeface="Arial" pitchFamily="34" charset="-122"/>
                <a:cs typeface="Arial" pitchFamily="34" charset="-120"/>
              </a:rPr>
              <a:t>Kodagu is 30th in Karnataka by raw FIR count — and 6th per 100,000 residents.</a:t>
            </a:r>
            <a:endParaRPr lang="en-US" sz="1300" dirty="0"/>
          </a:p>
        </p:txBody>
      </p:sp>
      <p:sp>
        <p:nvSpPr>
          <p:cNvPr id="6" name="Text 4"/>
          <p:cNvSpPr/>
          <p:nvPr/>
        </p:nvSpPr>
        <p:spPr>
          <a:xfrm>
            <a:off x="548640" y="1682496"/>
            <a:ext cx="8046720" cy="25603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335 FIRs looks unremarkable beside Bengaluru City's 16,895 — until you divide by 648,787 residents. A count map would never surface it. Tumakuru moves the other way: 10th by count, 24th by rate. Same register, opposite conclusion.</a:t>
            </a:r>
            <a:endParaRPr lang="en-US" sz="900" dirty="0"/>
          </a:p>
        </p:txBody>
      </p:sp>
      <p:sp>
        <p:nvSpPr>
          <p:cNvPr id="7" name="Text 5"/>
          <p:cNvSpPr/>
          <p:nvPr/>
        </p:nvSpPr>
        <p:spPr>
          <a:xfrm>
            <a:off x="384048" y="2066544"/>
            <a:ext cx="3931920" cy="219456"/>
          </a:xfrm>
          <a:prstGeom prst="rect">
            <a:avLst/>
          </a:prstGeom>
          <a:noFill/>
          <a:ln/>
        </p:spPr>
        <p:txBody>
          <a:bodyPr wrap="square" lIns="0" tIns="0" rIns="0" bIns="0" rtlCol="0" anchor="ctr"/>
          <a:lstStyle/>
          <a:p>
            <a:pPr indent="0" marL="0">
              <a:buNone/>
            </a:pPr>
            <a:r>
              <a:rPr lang="en-US" sz="1050" b="1" dirty="0">
                <a:solidFill>
                  <a:srgbClr val="0F2F44"/>
                </a:solidFill>
                <a:latin typeface="Arial" pitchFamily="34" charset="0"/>
                <a:ea typeface="Arial" pitchFamily="34" charset="-122"/>
                <a:cs typeface="Arial" pitchFamily="34" charset="-120"/>
              </a:rPr>
              <a:t>Rank by raw count vs rank per 100,000 residents</a:t>
            </a:r>
            <a:endParaRPr lang="en-US" sz="1050" dirty="0"/>
          </a:p>
        </p:txBody>
      </p:sp>
      <p:graphicFrame>
        <p:nvGraphicFramePr>
          <p:cNvPr id="8" name="Chart 0" descr=""/>
          <p:cNvGraphicFramePr/>
          <p:nvPr/>
        </p:nvGraphicFramePr>
        <p:xfrm>
          <a:off x="384048" y="2304288"/>
          <a:ext cx="3931920" cy="1901952"/>
        </p:xfrm>
        <a:graphic xmlns:a="http://schemas.openxmlformats.org/drawingml/2006/main">
          <a:graphicData uri="http://schemas.openxmlformats.org/drawingml/2006/chart">
            <c:chart xmlns:c="http://schemas.openxmlformats.org/drawingml/2006/chart" r:id="rId2"/>
          </a:graphicData>
        </a:graphic>
      </p:graphicFrame>
      <p:sp>
        <p:nvSpPr>
          <p:cNvPr id="9" name="Text 6"/>
          <p:cNvSpPr/>
          <p:nvPr/>
        </p:nvSpPr>
        <p:spPr>
          <a:xfrm>
            <a:off x="4645152" y="2066544"/>
            <a:ext cx="4114800" cy="219456"/>
          </a:xfrm>
          <a:prstGeom prst="rect">
            <a:avLst/>
          </a:prstGeom>
          <a:noFill/>
          <a:ln/>
        </p:spPr>
        <p:txBody>
          <a:bodyPr wrap="square" lIns="0" tIns="0" rIns="0" bIns="0" rtlCol="0" anchor="ctr"/>
          <a:lstStyle/>
          <a:p>
            <a:pPr indent="0" marL="0">
              <a:buNone/>
            </a:pPr>
            <a:r>
              <a:rPr lang="en-US" sz="1050" b="1" dirty="0">
                <a:solidFill>
                  <a:srgbClr val="0F2F44"/>
                </a:solidFill>
                <a:latin typeface="Arial" pitchFamily="34" charset="0"/>
                <a:ea typeface="Arial" pitchFamily="34" charset="-122"/>
                <a:cs typeface="Arial" pitchFamily="34" charset="-120"/>
              </a:rPr>
              <a:t>Socio-economic correlation (n = 31 districts)</a:t>
            </a:r>
            <a:endParaRPr lang="en-US" sz="1050" dirty="0"/>
          </a:p>
        </p:txBody>
      </p:sp>
      <p:sp>
        <p:nvSpPr>
          <p:cNvPr id="10" name="Shape 7"/>
          <p:cNvSpPr/>
          <p:nvPr/>
        </p:nvSpPr>
        <p:spPr>
          <a:xfrm>
            <a:off x="4645152" y="2304288"/>
            <a:ext cx="4114800" cy="256032"/>
          </a:xfrm>
          <a:prstGeom prst="roundRect">
            <a:avLst>
              <a:gd name="adj" fmla="val 21429"/>
            </a:avLst>
          </a:prstGeom>
          <a:solidFill>
            <a:srgbClr val="FFFFFF"/>
          </a:solidFill>
          <a:ln w="9525">
            <a:solidFill>
              <a:srgbClr val="D9E1EC"/>
            </a:solidFill>
            <a:prstDash val="solid"/>
          </a:ln>
        </p:spPr>
      </p:sp>
      <p:sp>
        <p:nvSpPr>
          <p:cNvPr id="11" name="Text 8"/>
          <p:cNvSpPr/>
          <p:nvPr/>
        </p:nvSpPr>
        <p:spPr>
          <a:xfrm>
            <a:off x="4773168" y="2304288"/>
            <a:ext cx="1554480" cy="25603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Urbanisation</a:t>
            </a:r>
            <a:endParaRPr lang="en-US" sz="900" dirty="0"/>
          </a:p>
        </p:txBody>
      </p:sp>
      <p:sp>
        <p:nvSpPr>
          <p:cNvPr id="12" name="Text 9"/>
          <p:cNvSpPr/>
          <p:nvPr/>
        </p:nvSpPr>
        <p:spPr>
          <a:xfrm>
            <a:off x="6345936" y="2304288"/>
            <a:ext cx="822960" cy="256032"/>
          </a:xfrm>
          <a:prstGeom prst="rect">
            <a:avLst/>
          </a:prstGeom>
          <a:noFill/>
          <a:ln/>
        </p:spPr>
        <p:txBody>
          <a:bodyPr wrap="square" lIns="0" tIns="0" rIns="0" bIns="0" rtlCol="0" anchor="ctr"/>
          <a:lstStyle/>
          <a:p>
            <a:pPr indent="0" marL="0">
              <a:buNone/>
            </a:pPr>
            <a:r>
              <a:rPr lang="en-US" sz="900" b="1" dirty="0">
                <a:solidFill>
                  <a:srgbClr val="1A6FC4"/>
                </a:solidFill>
                <a:latin typeface="Arial" pitchFamily="34" charset="0"/>
                <a:ea typeface="Arial" pitchFamily="34" charset="-122"/>
                <a:cs typeface="Arial" pitchFamily="34" charset="-120"/>
              </a:rPr>
              <a:t>r = +0.878</a:t>
            </a:r>
            <a:endParaRPr lang="en-US" sz="900" dirty="0"/>
          </a:p>
        </p:txBody>
      </p:sp>
      <p:sp>
        <p:nvSpPr>
          <p:cNvPr id="13" name="Text 10"/>
          <p:cNvSpPr/>
          <p:nvPr/>
        </p:nvSpPr>
        <p:spPr>
          <a:xfrm>
            <a:off x="7168896" y="2304288"/>
            <a:ext cx="1463040" cy="256032"/>
          </a:xfrm>
          <a:prstGeom prst="rect">
            <a:avLst/>
          </a:prstGeom>
          <a:noFill/>
          <a:ln/>
        </p:spPr>
        <p:txBody>
          <a:bodyPr wrap="square" lIns="0" tIns="0" rIns="0" bIns="0" rtlCol="0" anchor="ctr"/>
          <a:lstStyle/>
          <a:p>
            <a:pPr indent="0" marL="0">
              <a:buNone/>
            </a:pPr>
            <a:r>
              <a:rPr lang="en-US" sz="800" dirty="0">
                <a:solidFill>
                  <a:srgbClr val="5B6B7E"/>
                </a:solidFill>
                <a:latin typeface="Arial" pitchFamily="34" charset="0"/>
                <a:ea typeface="Arial" pitchFamily="34" charset="-122"/>
                <a:cs typeface="Arial" pitchFamily="34" charset="-120"/>
              </a:rPr>
              <a:t>p &lt; 0.0001  ·  strong</a:t>
            </a:r>
            <a:endParaRPr lang="en-US" sz="800" dirty="0"/>
          </a:p>
        </p:txBody>
      </p:sp>
      <p:sp>
        <p:nvSpPr>
          <p:cNvPr id="14" name="Shape 11"/>
          <p:cNvSpPr/>
          <p:nvPr/>
        </p:nvSpPr>
        <p:spPr>
          <a:xfrm>
            <a:off x="4645152" y="2578608"/>
            <a:ext cx="4114800" cy="256032"/>
          </a:xfrm>
          <a:prstGeom prst="roundRect">
            <a:avLst>
              <a:gd name="adj" fmla="val 21429"/>
            </a:avLst>
          </a:prstGeom>
          <a:solidFill>
            <a:srgbClr val="FFFFFF"/>
          </a:solidFill>
          <a:ln w="9525">
            <a:solidFill>
              <a:srgbClr val="D9E1EC"/>
            </a:solidFill>
            <a:prstDash val="solid"/>
          </a:ln>
        </p:spPr>
      </p:sp>
      <p:sp>
        <p:nvSpPr>
          <p:cNvPr id="15" name="Text 12"/>
          <p:cNvSpPr/>
          <p:nvPr/>
        </p:nvSpPr>
        <p:spPr>
          <a:xfrm>
            <a:off x="4773168" y="2578608"/>
            <a:ext cx="1554480" cy="25603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Literacy</a:t>
            </a:r>
            <a:endParaRPr lang="en-US" sz="900" dirty="0"/>
          </a:p>
        </p:txBody>
      </p:sp>
      <p:sp>
        <p:nvSpPr>
          <p:cNvPr id="16" name="Text 13"/>
          <p:cNvSpPr/>
          <p:nvPr/>
        </p:nvSpPr>
        <p:spPr>
          <a:xfrm>
            <a:off x="6345936" y="2578608"/>
            <a:ext cx="822960" cy="256032"/>
          </a:xfrm>
          <a:prstGeom prst="rect">
            <a:avLst/>
          </a:prstGeom>
          <a:noFill/>
          <a:ln/>
        </p:spPr>
        <p:txBody>
          <a:bodyPr wrap="square" lIns="0" tIns="0" rIns="0" bIns="0" rtlCol="0" anchor="ctr"/>
          <a:lstStyle/>
          <a:p>
            <a:pPr indent="0" marL="0">
              <a:buNone/>
            </a:pPr>
            <a:r>
              <a:rPr lang="en-US" sz="900" b="1" dirty="0">
                <a:solidFill>
                  <a:srgbClr val="1A6FC4"/>
                </a:solidFill>
                <a:latin typeface="Arial" pitchFamily="34" charset="0"/>
                <a:ea typeface="Arial" pitchFamily="34" charset="-122"/>
                <a:cs typeface="Arial" pitchFamily="34" charset="-120"/>
              </a:rPr>
              <a:t>r = +0.538</a:t>
            </a:r>
            <a:endParaRPr lang="en-US" sz="900" dirty="0"/>
          </a:p>
        </p:txBody>
      </p:sp>
      <p:sp>
        <p:nvSpPr>
          <p:cNvPr id="17" name="Text 14"/>
          <p:cNvSpPr/>
          <p:nvPr/>
        </p:nvSpPr>
        <p:spPr>
          <a:xfrm>
            <a:off x="7168896" y="2578608"/>
            <a:ext cx="1463040" cy="256032"/>
          </a:xfrm>
          <a:prstGeom prst="rect">
            <a:avLst/>
          </a:prstGeom>
          <a:noFill/>
          <a:ln/>
        </p:spPr>
        <p:txBody>
          <a:bodyPr wrap="square" lIns="0" tIns="0" rIns="0" bIns="0" rtlCol="0" anchor="ctr"/>
          <a:lstStyle/>
          <a:p>
            <a:pPr indent="0" marL="0">
              <a:buNone/>
            </a:pPr>
            <a:r>
              <a:rPr lang="en-US" sz="800" dirty="0">
                <a:solidFill>
                  <a:srgbClr val="5B6B7E"/>
                </a:solidFill>
                <a:latin typeface="Arial" pitchFamily="34" charset="0"/>
                <a:ea typeface="Arial" pitchFamily="34" charset="-122"/>
                <a:cs typeface="Arial" pitchFamily="34" charset="-120"/>
              </a:rPr>
              <a:t>p = 0.0018  ·  moderate</a:t>
            </a:r>
            <a:endParaRPr lang="en-US" sz="800" dirty="0"/>
          </a:p>
        </p:txBody>
      </p:sp>
      <p:sp>
        <p:nvSpPr>
          <p:cNvPr id="18" name="Shape 15"/>
          <p:cNvSpPr/>
          <p:nvPr/>
        </p:nvSpPr>
        <p:spPr>
          <a:xfrm>
            <a:off x="4645152" y="2852928"/>
            <a:ext cx="4114800" cy="256032"/>
          </a:xfrm>
          <a:prstGeom prst="roundRect">
            <a:avLst>
              <a:gd name="adj" fmla="val 21429"/>
            </a:avLst>
          </a:prstGeom>
          <a:solidFill>
            <a:srgbClr val="FFFFFF"/>
          </a:solidFill>
          <a:ln w="9525">
            <a:solidFill>
              <a:srgbClr val="D9E1EC"/>
            </a:solidFill>
            <a:prstDash val="solid"/>
          </a:ln>
        </p:spPr>
      </p:sp>
      <p:sp>
        <p:nvSpPr>
          <p:cNvPr id="19" name="Text 16"/>
          <p:cNvSpPr/>
          <p:nvPr/>
        </p:nvSpPr>
        <p:spPr>
          <a:xfrm>
            <a:off x="4773168" y="2852928"/>
            <a:ext cx="1554480" cy="256032"/>
          </a:xfrm>
          <a:prstGeom prst="rect">
            <a:avLst/>
          </a:prstGeom>
          <a:noFill/>
          <a:ln/>
        </p:spPr>
        <p:txBody>
          <a:bodyPr wrap="square" lIns="0" tIns="0" rIns="0" bIns="0" rtlCol="0" anchor="ctr"/>
          <a:lstStyle/>
          <a:p>
            <a:pPr indent="0" marL="0">
              <a:buNone/>
            </a:pPr>
            <a:r>
              <a:rPr lang="en-US" sz="900" dirty="0">
                <a:solidFill>
                  <a:srgbClr val="1C2A3A"/>
                </a:solidFill>
                <a:latin typeface="Arial" pitchFamily="34" charset="0"/>
                <a:ea typeface="Arial" pitchFamily="34" charset="-122"/>
                <a:cs typeface="Arial" pitchFamily="34" charset="-120"/>
              </a:rPr>
              <a:t>Population density</a:t>
            </a:r>
            <a:endParaRPr lang="en-US" sz="900" dirty="0"/>
          </a:p>
        </p:txBody>
      </p:sp>
      <p:sp>
        <p:nvSpPr>
          <p:cNvPr id="20" name="Text 17"/>
          <p:cNvSpPr/>
          <p:nvPr/>
        </p:nvSpPr>
        <p:spPr>
          <a:xfrm>
            <a:off x="6345936" y="2852928"/>
            <a:ext cx="822960" cy="256032"/>
          </a:xfrm>
          <a:prstGeom prst="rect">
            <a:avLst/>
          </a:prstGeom>
          <a:noFill/>
          <a:ln/>
        </p:spPr>
        <p:txBody>
          <a:bodyPr wrap="square" lIns="0" tIns="0" rIns="0" bIns="0" rtlCol="0" anchor="ctr"/>
          <a:lstStyle/>
          <a:p>
            <a:pPr indent="0" marL="0">
              <a:buNone/>
            </a:pPr>
            <a:r>
              <a:rPr lang="en-US" sz="900" b="1" dirty="0">
                <a:solidFill>
                  <a:srgbClr val="1A6FC4"/>
                </a:solidFill>
                <a:latin typeface="Arial" pitchFamily="34" charset="0"/>
                <a:ea typeface="Arial" pitchFamily="34" charset="-122"/>
                <a:cs typeface="Arial" pitchFamily="34" charset="-120"/>
              </a:rPr>
              <a:t>r = +0.889</a:t>
            </a:r>
            <a:endParaRPr lang="en-US" sz="900" dirty="0"/>
          </a:p>
        </p:txBody>
      </p:sp>
      <p:sp>
        <p:nvSpPr>
          <p:cNvPr id="21" name="Text 18"/>
          <p:cNvSpPr/>
          <p:nvPr/>
        </p:nvSpPr>
        <p:spPr>
          <a:xfrm>
            <a:off x="7168896" y="2852928"/>
            <a:ext cx="1463040" cy="256032"/>
          </a:xfrm>
          <a:prstGeom prst="rect">
            <a:avLst/>
          </a:prstGeom>
          <a:noFill/>
          <a:ln/>
        </p:spPr>
        <p:txBody>
          <a:bodyPr wrap="square" lIns="0" tIns="0" rIns="0" bIns="0" rtlCol="0" anchor="ctr"/>
          <a:lstStyle/>
          <a:p>
            <a:pPr indent="0" marL="0">
              <a:buNone/>
            </a:pPr>
            <a:r>
              <a:rPr lang="en-US" sz="800" dirty="0">
                <a:solidFill>
                  <a:srgbClr val="5B6B7E"/>
                </a:solidFill>
                <a:latin typeface="Arial" pitchFamily="34" charset="0"/>
                <a:ea typeface="Arial" pitchFamily="34" charset="-122"/>
                <a:cs typeface="Arial" pitchFamily="34" charset="-120"/>
              </a:rPr>
              <a:t>p &lt; 0.0001  ·  strong</a:t>
            </a:r>
            <a:endParaRPr lang="en-US" sz="800" dirty="0"/>
          </a:p>
        </p:txBody>
      </p:sp>
      <p:sp>
        <p:nvSpPr>
          <p:cNvPr id="22" name="Text 19"/>
          <p:cNvSpPr/>
          <p:nvPr/>
        </p:nvSpPr>
        <p:spPr>
          <a:xfrm>
            <a:off x="4645152" y="3182112"/>
            <a:ext cx="4114800" cy="219456"/>
          </a:xfrm>
          <a:prstGeom prst="rect">
            <a:avLst/>
          </a:prstGeom>
          <a:noFill/>
          <a:ln/>
        </p:spPr>
        <p:txBody>
          <a:bodyPr wrap="square" lIns="0" tIns="0" rIns="0" bIns="0" rtlCol="0" anchor="ctr"/>
          <a:lstStyle/>
          <a:p>
            <a:pPr indent="0" marL="0">
              <a:buNone/>
            </a:pPr>
            <a:r>
              <a:rPr lang="en-US" sz="1050" b="1" dirty="0">
                <a:solidFill>
                  <a:srgbClr val="0F2F44"/>
                </a:solidFill>
                <a:latin typeface="Arial" pitchFamily="34" charset="0"/>
                <a:ea typeface="Arial" pitchFamily="34" charset="-122"/>
                <a:cs typeface="Arial" pitchFamily="34" charset="-120"/>
              </a:rPr>
              <a:t>Crime rate per 100,000 by urbanisation band</a:t>
            </a:r>
            <a:endParaRPr lang="en-US" sz="1050" dirty="0"/>
          </a:p>
        </p:txBody>
      </p:sp>
      <p:sp>
        <p:nvSpPr>
          <p:cNvPr id="23" name="Shape 20"/>
          <p:cNvSpPr/>
          <p:nvPr/>
        </p:nvSpPr>
        <p:spPr>
          <a:xfrm>
            <a:off x="4645152" y="3419856"/>
            <a:ext cx="4114800" cy="256032"/>
          </a:xfrm>
          <a:prstGeom prst="roundRect">
            <a:avLst>
              <a:gd name="adj" fmla="val 21429"/>
            </a:avLst>
          </a:prstGeom>
          <a:solidFill>
            <a:srgbClr val="FFFFFF"/>
          </a:solidFill>
          <a:ln w="9525">
            <a:solidFill>
              <a:srgbClr val="D9E1EC"/>
            </a:solidFill>
            <a:prstDash val="solid"/>
          </a:ln>
        </p:spPr>
      </p:sp>
      <p:sp>
        <p:nvSpPr>
          <p:cNvPr id="24" name="Text 21"/>
          <p:cNvSpPr/>
          <p:nvPr/>
        </p:nvSpPr>
        <p:spPr>
          <a:xfrm>
            <a:off x="4773168" y="3419856"/>
            <a:ext cx="749808" cy="25603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Urban</a:t>
            </a:r>
            <a:endParaRPr lang="en-US" sz="900" dirty="0"/>
          </a:p>
        </p:txBody>
      </p:sp>
      <p:sp>
        <p:nvSpPr>
          <p:cNvPr id="25" name="Text 22"/>
          <p:cNvSpPr/>
          <p:nvPr/>
        </p:nvSpPr>
        <p:spPr>
          <a:xfrm>
            <a:off x="5541264" y="3419856"/>
            <a:ext cx="914400"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2 districts</a:t>
            </a:r>
            <a:endParaRPr lang="en-US" sz="850" dirty="0"/>
          </a:p>
        </p:txBody>
      </p:sp>
      <p:sp>
        <p:nvSpPr>
          <p:cNvPr id="26" name="Text 23"/>
          <p:cNvSpPr/>
          <p:nvPr/>
        </p:nvSpPr>
        <p:spPr>
          <a:xfrm>
            <a:off x="6492240" y="3419856"/>
            <a:ext cx="960120" cy="256032"/>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163.6 / 100k</a:t>
            </a:r>
            <a:endParaRPr lang="en-US" sz="900" dirty="0"/>
          </a:p>
        </p:txBody>
      </p:sp>
      <p:sp>
        <p:nvSpPr>
          <p:cNvPr id="27" name="Text 24"/>
          <p:cNvSpPr/>
          <p:nvPr/>
        </p:nvSpPr>
        <p:spPr>
          <a:xfrm>
            <a:off x="7479792" y="3419856"/>
            <a:ext cx="1152144"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18,279 FIRs</a:t>
            </a:r>
            <a:endParaRPr lang="en-US" sz="850" dirty="0"/>
          </a:p>
        </p:txBody>
      </p:sp>
      <p:sp>
        <p:nvSpPr>
          <p:cNvPr id="28" name="Shape 25"/>
          <p:cNvSpPr/>
          <p:nvPr/>
        </p:nvSpPr>
        <p:spPr>
          <a:xfrm>
            <a:off x="4645152" y="3694176"/>
            <a:ext cx="4114800" cy="256032"/>
          </a:xfrm>
          <a:prstGeom prst="roundRect">
            <a:avLst>
              <a:gd name="adj" fmla="val 21429"/>
            </a:avLst>
          </a:prstGeom>
          <a:solidFill>
            <a:srgbClr val="FFFFFF"/>
          </a:solidFill>
          <a:ln w="9525">
            <a:solidFill>
              <a:srgbClr val="D9E1EC"/>
            </a:solidFill>
            <a:prstDash val="solid"/>
          </a:ln>
        </p:spPr>
      </p:sp>
      <p:sp>
        <p:nvSpPr>
          <p:cNvPr id="29" name="Text 26"/>
          <p:cNvSpPr/>
          <p:nvPr/>
        </p:nvSpPr>
        <p:spPr>
          <a:xfrm>
            <a:off x="4773168" y="3694176"/>
            <a:ext cx="749808" cy="25603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Mixed</a:t>
            </a:r>
            <a:endParaRPr lang="en-US" sz="900" dirty="0"/>
          </a:p>
        </p:txBody>
      </p:sp>
      <p:sp>
        <p:nvSpPr>
          <p:cNvPr id="30" name="Text 27"/>
          <p:cNvSpPr/>
          <p:nvPr/>
        </p:nvSpPr>
        <p:spPr>
          <a:xfrm>
            <a:off x="5541264" y="3694176"/>
            <a:ext cx="914400"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12 districts</a:t>
            </a:r>
            <a:endParaRPr lang="en-US" sz="850" dirty="0"/>
          </a:p>
        </p:txBody>
      </p:sp>
      <p:sp>
        <p:nvSpPr>
          <p:cNvPr id="31" name="Text 28"/>
          <p:cNvSpPr/>
          <p:nvPr/>
        </p:nvSpPr>
        <p:spPr>
          <a:xfrm>
            <a:off x="6492240" y="3694176"/>
            <a:ext cx="960120" cy="256032"/>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46.7 / 100k</a:t>
            </a:r>
            <a:endParaRPr lang="en-US" sz="900" dirty="0"/>
          </a:p>
        </p:txBody>
      </p:sp>
      <p:sp>
        <p:nvSpPr>
          <p:cNvPr id="32" name="Text 29"/>
          <p:cNvSpPr/>
          <p:nvPr/>
        </p:nvSpPr>
        <p:spPr>
          <a:xfrm>
            <a:off x="7479792" y="3694176"/>
            <a:ext cx="1152144"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12,368 FIRs</a:t>
            </a:r>
            <a:endParaRPr lang="en-US" sz="850" dirty="0"/>
          </a:p>
        </p:txBody>
      </p:sp>
      <p:sp>
        <p:nvSpPr>
          <p:cNvPr id="33" name="Shape 30"/>
          <p:cNvSpPr/>
          <p:nvPr/>
        </p:nvSpPr>
        <p:spPr>
          <a:xfrm>
            <a:off x="4645152" y="3968496"/>
            <a:ext cx="4114800" cy="256032"/>
          </a:xfrm>
          <a:prstGeom prst="roundRect">
            <a:avLst>
              <a:gd name="adj" fmla="val 21429"/>
            </a:avLst>
          </a:prstGeom>
          <a:solidFill>
            <a:srgbClr val="FFFFFF"/>
          </a:solidFill>
          <a:ln w="9525">
            <a:solidFill>
              <a:srgbClr val="D9E1EC"/>
            </a:solidFill>
            <a:prstDash val="solid"/>
          </a:ln>
        </p:spPr>
      </p:sp>
      <p:sp>
        <p:nvSpPr>
          <p:cNvPr id="34" name="Text 31"/>
          <p:cNvSpPr/>
          <p:nvPr/>
        </p:nvSpPr>
        <p:spPr>
          <a:xfrm>
            <a:off x="4773168" y="3968496"/>
            <a:ext cx="749808" cy="256032"/>
          </a:xfrm>
          <a:prstGeom prst="rect">
            <a:avLst/>
          </a:prstGeom>
          <a:noFill/>
          <a:ln/>
        </p:spPr>
        <p:txBody>
          <a:bodyPr wrap="square" lIns="0" tIns="0" rIns="0" bIns="0" rtlCol="0" anchor="ctr"/>
          <a:lstStyle/>
          <a:p>
            <a:pPr indent="0" marL="0">
              <a:buNone/>
            </a:pPr>
            <a:r>
              <a:rPr lang="en-US" sz="900" b="1" dirty="0">
                <a:solidFill>
                  <a:srgbClr val="1C2A3A"/>
                </a:solidFill>
                <a:latin typeface="Arial" pitchFamily="34" charset="0"/>
                <a:ea typeface="Arial" pitchFamily="34" charset="-122"/>
                <a:cs typeface="Arial" pitchFamily="34" charset="-120"/>
              </a:rPr>
              <a:t>Rural</a:t>
            </a:r>
            <a:endParaRPr lang="en-US" sz="900" dirty="0"/>
          </a:p>
        </p:txBody>
      </p:sp>
      <p:sp>
        <p:nvSpPr>
          <p:cNvPr id="35" name="Text 32"/>
          <p:cNvSpPr/>
          <p:nvPr/>
        </p:nvSpPr>
        <p:spPr>
          <a:xfrm>
            <a:off x="5541264" y="3968496"/>
            <a:ext cx="914400"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17 districts</a:t>
            </a:r>
            <a:endParaRPr lang="en-US" sz="850" dirty="0"/>
          </a:p>
        </p:txBody>
      </p:sp>
      <p:sp>
        <p:nvSpPr>
          <p:cNvPr id="36" name="Text 33"/>
          <p:cNvSpPr/>
          <p:nvPr/>
        </p:nvSpPr>
        <p:spPr>
          <a:xfrm>
            <a:off x="6492240" y="3968496"/>
            <a:ext cx="960120" cy="256032"/>
          </a:xfrm>
          <a:prstGeom prst="rect">
            <a:avLst/>
          </a:prstGeom>
          <a:noFill/>
          <a:ln/>
        </p:spPr>
        <p:txBody>
          <a:bodyPr wrap="square" lIns="0" tIns="0" rIns="0" bIns="0" rtlCol="0" anchor="ctr"/>
          <a:lstStyle/>
          <a:p>
            <a:pPr indent="0" marL="0">
              <a:buNone/>
            </a:pPr>
            <a:r>
              <a:rPr lang="en-US" sz="900" b="1" dirty="0">
                <a:solidFill>
                  <a:srgbClr val="2FA8A0"/>
                </a:solidFill>
                <a:latin typeface="Arial" pitchFamily="34" charset="0"/>
                <a:ea typeface="Arial" pitchFamily="34" charset="-122"/>
                <a:cs typeface="Arial" pitchFamily="34" charset="-120"/>
              </a:rPr>
              <a:t>30.1 / 100k</a:t>
            </a:r>
            <a:endParaRPr lang="en-US" sz="900" dirty="0"/>
          </a:p>
        </p:txBody>
      </p:sp>
      <p:sp>
        <p:nvSpPr>
          <p:cNvPr id="37" name="Text 34"/>
          <p:cNvSpPr/>
          <p:nvPr/>
        </p:nvSpPr>
        <p:spPr>
          <a:xfrm>
            <a:off x="7479792" y="3968496"/>
            <a:ext cx="1152144" cy="256032"/>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10,189 FIRs</a:t>
            </a:r>
            <a:endParaRPr lang="en-US" sz="850" dirty="0"/>
          </a:p>
        </p:txBody>
      </p:sp>
      <p:sp>
        <p:nvSpPr>
          <p:cNvPr id="38" name="Shape 35"/>
          <p:cNvSpPr/>
          <p:nvPr/>
        </p:nvSpPr>
        <p:spPr>
          <a:xfrm>
            <a:off x="384048" y="4297680"/>
            <a:ext cx="8375904" cy="548640"/>
          </a:xfrm>
          <a:prstGeom prst="roundRect">
            <a:avLst>
              <a:gd name="adj" fmla="val 10000"/>
            </a:avLst>
          </a:prstGeom>
          <a:solidFill>
            <a:srgbClr val="F5F8FB"/>
          </a:solidFill>
          <a:ln w="9525">
            <a:solidFill>
              <a:srgbClr val="D9E1EC"/>
            </a:solidFill>
            <a:prstDash val="solid"/>
          </a:ln>
        </p:spPr>
      </p:sp>
      <p:sp>
        <p:nvSpPr>
          <p:cNvPr id="39" name="Text 36"/>
          <p:cNvSpPr/>
          <p:nvPr/>
        </p:nvSpPr>
        <p:spPr>
          <a:xfrm>
            <a:off x="530352" y="4334256"/>
            <a:ext cx="8083296" cy="201168"/>
          </a:xfrm>
          <a:prstGeom prst="rect">
            <a:avLst/>
          </a:prstGeom>
          <a:noFill/>
          <a:ln/>
        </p:spPr>
        <p:txBody>
          <a:bodyPr wrap="square" lIns="0" tIns="0" rIns="0" bIns="0" rtlCol="0" anchor="ctr"/>
          <a:lstStyle/>
          <a:p>
            <a:pPr indent="0" marL="0">
              <a:buNone/>
            </a:pPr>
            <a:r>
              <a:rPr lang="en-US" sz="950" b="1" dirty="0">
                <a:solidFill>
                  <a:srgbClr val="0F2F44"/>
                </a:solidFill>
                <a:latin typeface="Arial" pitchFamily="34" charset="0"/>
                <a:ea typeface="Arial" pitchFamily="34" charset="-122"/>
                <a:cs typeface="Arial" pitchFamily="34" charset="-120"/>
              </a:rPr>
              <a:t>What this changes operationally: deployment follows rate, not volume — and the caveat is stated openly.</a:t>
            </a:r>
            <a:endParaRPr lang="en-US" sz="950" dirty="0"/>
          </a:p>
        </p:txBody>
      </p:sp>
      <p:sp>
        <p:nvSpPr>
          <p:cNvPr id="40" name="Text 37"/>
          <p:cNvSpPr/>
          <p:nvPr/>
        </p:nvSpPr>
        <p:spPr>
          <a:xfrm>
            <a:off x="530352" y="4535424"/>
            <a:ext cx="8083296" cy="274320"/>
          </a:xfrm>
          <a:prstGeom prst="rect">
            <a:avLst/>
          </a:prstGeom>
          <a:noFill/>
          <a:ln/>
        </p:spPr>
        <p:txBody>
          <a:bodyPr wrap="square" lIns="0" tIns="0" rIns="0" bIns="0" rtlCol="0" anchor="t"/>
          <a:lstStyle/>
          <a:p>
            <a:pPr indent="0" marL="0">
              <a:buNone/>
            </a:pPr>
            <a:r>
              <a:rPr lang="en-US" sz="800" dirty="0">
                <a:solidFill>
                  <a:srgbClr val="5B6B7E"/>
                </a:solidFill>
                <a:latin typeface="Arial" pitchFamily="34" charset="0"/>
                <a:ea typeface="Arial" pitchFamily="34" charset="-122"/>
                <a:cs typeface="Arial" pitchFamily="34" charset="-120"/>
              </a:rPr>
              <a:t>A district ranked 30th by count draws no extra staffing; ranked 6th by rate, it does. On this corpus the generator weights urban crime upward, so the urbanisation correlation is partly circular — the method is sound and runs unchanged on real KSP data, but here it is confirmation, not discovery.</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Fair by construction — and proven</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The hardest question a jury asks, answered with a test</a:t>
            </a:r>
            <a:endParaRPr lang="en-US" sz="1200" dirty="0"/>
          </a:p>
        </p:txBody>
      </p:sp>
      <p:sp>
        <p:nvSpPr>
          <p:cNvPr id="4" name="Shape 2"/>
          <p:cNvSpPr/>
          <p:nvPr/>
        </p:nvSpPr>
        <p:spPr>
          <a:xfrm>
            <a:off x="384048" y="1371600"/>
            <a:ext cx="4041648" cy="1298448"/>
          </a:xfrm>
          <a:prstGeom prst="roundRect">
            <a:avLst>
              <a:gd name="adj" fmla="val 4225"/>
            </a:avLst>
          </a:prstGeom>
          <a:solidFill>
            <a:srgbClr val="FFFFFF"/>
          </a:solidFill>
          <a:ln w="9525">
            <a:solidFill>
              <a:srgbClr val="D9E1EC"/>
            </a:solidFill>
            <a:prstDash val="solid"/>
          </a:ln>
        </p:spPr>
      </p:sp>
      <p:sp>
        <p:nvSpPr>
          <p:cNvPr id="5" name="Shape 3"/>
          <p:cNvSpPr/>
          <p:nvPr/>
        </p:nvSpPr>
        <p:spPr>
          <a:xfrm>
            <a:off x="384048" y="1371600"/>
            <a:ext cx="4041648" cy="347472"/>
          </a:xfrm>
          <a:prstGeom prst="roundRect">
            <a:avLst>
              <a:gd name="adj" fmla="val 15789"/>
            </a:avLst>
          </a:prstGeom>
          <a:solidFill>
            <a:srgbClr val="2FA8A0"/>
          </a:solidFill>
          <a:ln w="12700">
            <a:solidFill>
              <a:srgbClr val="2FA8A0"/>
            </a:solidFill>
            <a:prstDash val="solid"/>
          </a:ln>
        </p:spPr>
      </p:sp>
      <p:sp>
        <p:nvSpPr>
          <p:cNvPr id="6" name="Text 4"/>
          <p:cNvSpPr/>
          <p:nvPr/>
        </p:nvSpPr>
        <p:spPr>
          <a:xfrm>
            <a:off x="512064" y="1371600"/>
            <a:ext cx="3785616"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What is excluded, and how it is enforced</a:t>
            </a:r>
            <a:endParaRPr lang="en-US" sz="1100" dirty="0"/>
          </a:p>
        </p:txBody>
      </p:sp>
      <p:sp>
        <p:nvSpPr>
          <p:cNvPr id="7" name="Text 5"/>
          <p:cNvSpPr/>
          <p:nvPr/>
        </p:nvSpPr>
        <p:spPr>
          <a:xfrm>
            <a:off x="530352" y="1792224"/>
            <a:ext cx="3749040" cy="804672"/>
          </a:xfrm>
          <a:prstGeom prst="rect">
            <a:avLst/>
          </a:prstGeom>
          <a:noFill/>
          <a:ln/>
        </p:spPr>
        <p:txBody>
          <a:bodyPr wrap="square" lIns="0" tIns="0" rIns="0" bIns="0" rtlCol="0" anchor="t"/>
          <a:lstStyle/>
          <a:p>
            <a:pPr indent="0" marL="0">
              <a:buNone/>
            </a:pPr>
            <a:r>
              <a:rPr lang="en-US" sz="950" dirty="0">
                <a:solidFill>
                  <a:srgbClr val="1C2A3A"/>
                </a:solidFill>
                <a:latin typeface="Arial" pitchFamily="34" charset="0"/>
                <a:ea typeface="Arial" pitchFamily="34" charset="-122"/>
                <a:cs typeface="Arial" pitchFamily="34" charset="-120"/>
              </a:rPr>
              <a:t>Caste, religion and occupation never enter entity resolution, linkage, risk scoring or any prediction. A unit test fails the build if any protected column appears in a model feature set — the guarantee is executable, not editorial.</a:t>
            </a:r>
            <a:endParaRPr lang="en-US" sz="950" dirty="0"/>
          </a:p>
        </p:txBody>
      </p:sp>
      <p:sp>
        <p:nvSpPr>
          <p:cNvPr id="8" name="Shape 6"/>
          <p:cNvSpPr/>
          <p:nvPr/>
        </p:nvSpPr>
        <p:spPr>
          <a:xfrm>
            <a:off x="4718304" y="1371600"/>
            <a:ext cx="4041648" cy="1298448"/>
          </a:xfrm>
          <a:prstGeom prst="roundRect">
            <a:avLst>
              <a:gd name="adj" fmla="val 4225"/>
            </a:avLst>
          </a:prstGeom>
          <a:solidFill>
            <a:srgbClr val="FFFFFF"/>
          </a:solidFill>
          <a:ln w="9525">
            <a:solidFill>
              <a:srgbClr val="D9E1EC"/>
            </a:solidFill>
            <a:prstDash val="solid"/>
          </a:ln>
        </p:spPr>
      </p:sp>
      <p:sp>
        <p:nvSpPr>
          <p:cNvPr id="9" name="Shape 7"/>
          <p:cNvSpPr/>
          <p:nvPr/>
        </p:nvSpPr>
        <p:spPr>
          <a:xfrm>
            <a:off x="4718304" y="1371600"/>
            <a:ext cx="4041648" cy="347472"/>
          </a:xfrm>
          <a:prstGeom prst="roundRect">
            <a:avLst>
              <a:gd name="adj" fmla="val 15789"/>
            </a:avLst>
          </a:prstGeom>
          <a:solidFill>
            <a:srgbClr val="1A6FC4"/>
          </a:solidFill>
          <a:ln w="12700">
            <a:solidFill>
              <a:srgbClr val="1A6FC4"/>
            </a:solidFill>
            <a:prstDash val="solid"/>
          </a:ln>
        </p:spPr>
      </p:sp>
      <p:sp>
        <p:nvSpPr>
          <p:cNvPr id="10" name="Text 8"/>
          <p:cNvSpPr/>
          <p:nvPr/>
        </p:nvSpPr>
        <p:spPr>
          <a:xfrm>
            <a:off x="4846320" y="1371600"/>
            <a:ext cx="3785616"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Explainability</a:t>
            </a:r>
            <a:endParaRPr lang="en-US" sz="1100" dirty="0"/>
          </a:p>
        </p:txBody>
      </p:sp>
      <p:sp>
        <p:nvSpPr>
          <p:cNvPr id="11" name="Text 9"/>
          <p:cNvSpPr/>
          <p:nvPr/>
        </p:nvSpPr>
        <p:spPr>
          <a:xfrm>
            <a:off x="4864608" y="1792224"/>
            <a:ext cx="3749040" cy="804672"/>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Every edge names the attribute that matched, and the FIRs it matched on</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Every risk score shows its factor breakdown, not just a number</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Every assistant answer cites the FIR numbers it drew from</a:t>
            </a:r>
            <a:endParaRPr lang="en-US" sz="900" dirty="0"/>
          </a:p>
          <a:p>
            <a:pPr marL="342900" indent="-342900">
              <a:spcAft>
                <a:spcPts val="500"/>
              </a:spcAft>
              <a:buSzPct val="100000"/>
              <a:buChar char="•"/>
            </a:pPr>
            <a:r>
              <a:rPr lang="en-US" sz="900" dirty="0">
                <a:solidFill>
                  <a:srgbClr val="1C2A3A"/>
                </a:solidFill>
                <a:latin typeface="Arial" pitchFamily="34" charset="0"/>
                <a:ea typeface="Arial" pitchFamily="34" charset="-122"/>
                <a:cs typeface="Arial" pitchFamily="34" charset="-120"/>
              </a:rPr>
              <a:t>Sensitive reads are written to an audit trail</a:t>
            </a:r>
            <a:endParaRPr lang="en-US" sz="900" dirty="0"/>
          </a:p>
        </p:txBody>
      </p:sp>
      <p:sp>
        <p:nvSpPr>
          <p:cNvPr id="12" name="Text 10"/>
          <p:cNvSpPr/>
          <p:nvPr/>
        </p:nvSpPr>
        <p:spPr>
          <a:xfrm>
            <a:off x="384048" y="2761488"/>
            <a:ext cx="8375904" cy="237744"/>
          </a:xfrm>
          <a:prstGeom prst="rect">
            <a:avLst/>
          </a:prstGeom>
          <a:noFill/>
          <a:ln/>
        </p:spPr>
        <p:txBody>
          <a:bodyPr wrap="square" lIns="0" tIns="0" rIns="0" bIns="0" rtlCol="0" anchor="ctr"/>
          <a:lstStyle/>
          <a:p>
            <a:pPr indent="0" marL="0">
              <a:buNone/>
            </a:pPr>
            <a:r>
              <a:rPr lang="en-US" sz="1250" b="1" dirty="0">
                <a:solidFill>
                  <a:srgbClr val="0F2F44"/>
                </a:solidFill>
                <a:latin typeface="Arial" pitchFamily="34" charset="0"/>
                <a:ea typeface="Arial" pitchFamily="34" charset="-122"/>
                <a:cs typeface="Arial" pitchFamily="34" charset="-120"/>
              </a:rPr>
              <a:t>Ground-truth evaluation — recomputed on every pipeline run</a:t>
            </a:r>
            <a:endParaRPr lang="en-US" sz="1250" dirty="0"/>
          </a:p>
        </p:txBody>
      </p:sp>
      <p:sp>
        <p:nvSpPr>
          <p:cNvPr id="13" name="Shape 11"/>
          <p:cNvSpPr/>
          <p:nvPr/>
        </p:nvSpPr>
        <p:spPr>
          <a:xfrm>
            <a:off x="384048" y="3054096"/>
            <a:ext cx="8375904" cy="292608"/>
          </a:xfrm>
          <a:prstGeom prst="rect">
            <a:avLst/>
          </a:prstGeom>
          <a:solidFill>
            <a:srgbClr val="F5F8FB"/>
          </a:solidFill>
          <a:ln w="12700">
            <a:solidFill>
              <a:srgbClr val="F5F8FB"/>
            </a:solidFill>
            <a:prstDash val="solid"/>
          </a:ln>
        </p:spPr>
      </p:sp>
      <p:sp>
        <p:nvSpPr>
          <p:cNvPr id="14" name="Text 12"/>
          <p:cNvSpPr/>
          <p:nvPr/>
        </p:nvSpPr>
        <p:spPr>
          <a:xfrm>
            <a:off x="512064" y="3054096"/>
            <a:ext cx="4663440" cy="292608"/>
          </a:xfrm>
          <a:prstGeom prst="rect">
            <a:avLst/>
          </a:prstGeom>
          <a:noFill/>
          <a:ln/>
        </p:spPr>
        <p:txBody>
          <a:bodyPr wrap="square" lIns="0" tIns="0" rIns="0" bIns="0" rtlCol="0" anchor="ctr"/>
          <a:lstStyle/>
          <a:p>
            <a:pPr indent="0" marL="0">
              <a:buNone/>
            </a:pPr>
            <a:r>
              <a:rPr lang="en-US" sz="950" dirty="0">
                <a:solidFill>
                  <a:srgbClr val="1C2A3A"/>
                </a:solidFill>
                <a:latin typeface="Arial" pitchFamily="34" charset="0"/>
                <a:ea typeface="Arial" pitchFamily="34" charset="-122"/>
                <a:cs typeface="Arial" pitchFamily="34" charset="-120"/>
              </a:rPr>
              <a:t>Cross-district chain-snatching gang</a:t>
            </a:r>
            <a:endParaRPr lang="en-US" sz="950" dirty="0"/>
          </a:p>
        </p:txBody>
      </p:sp>
      <p:sp>
        <p:nvSpPr>
          <p:cNvPr id="15" name="Text 13"/>
          <p:cNvSpPr/>
          <p:nvPr/>
        </p:nvSpPr>
        <p:spPr>
          <a:xfrm>
            <a:off x="5230368" y="3054096"/>
            <a:ext cx="1188720"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cluster</a:t>
            </a:r>
            <a:endParaRPr lang="en-US" sz="850" dirty="0"/>
          </a:p>
        </p:txBody>
      </p:sp>
      <p:sp>
        <p:nvSpPr>
          <p:cNvPr id="16" name="Text 14"/>
          <p:cNvSpPr/>
          <p:nvPr/>
        </p:nvSpPr>
        <p:spPr>
          <a:xfrm>
            <a:off x="6473952" y="3054096"/>
            <a:ext cx="777240" cy="292608"/>
          </a:xfrm>
          <a:prstGeom prst="rect">
            <a:avLst/>
          </a:prstGeom>
          <a:noFill/>
          <a:ln/>
        </p:spPr>
        <p:txBody>
          <a:bodyPr wrap="square" lIns="0" tIns="0" rIns="0" bIns="0" rtlCol="0" anchor="ctr"/>
          <a:lstStyle/>
          <a:p>
            <a:pPr indent="0" marL="0">
              <a:buNone/>
            </a:pPr>
            <a:r>
              <a:rPr lang="en-US" sz="1100" b="1" dirty="0">
                <a:solidFill>
                  <a:srgbClr val="2FA8A0"/>
                </a:solidFill>
                <a:latin typeface="Arial" pitchFamily="34" charset="0"/>
                <a:ea typeface="Arial" pitchFamily="34" charset="-122"/>
                <a:cs typeface="Arial" pitchFamily="34" charset="-120"/>
              </a:rPr>
              <a:t>100%</a:t>
            </a:r>
            <a:endParaRPr lang="en-US" sz="1100" dirty="0"/>
          </a:p>
        </p:txBody>
      </p:sp>
      <p:sp>
        <p:nvSpPr>
          <p:cNvPr id="17" name="Text 15"/>
          <p:cNvSpPr/>
          <p:nvPr/>
        </p:nvSpPr>
        <p:spPr>
          <a:xfrm>
            <a:off x="7278624" y="3054096"/>
            <a:ext cx="1353312"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recovered</a:t>
            </a:r>
            <a:endParaRPr lang="en-US" sz="850" dirty="0"/>
          </a:p>
        </p:txBody>
      </p:sp>
      <p:sp>
        <p:nvSpPr>
          <p:cNvPr id="18" name="Text 16"/>
          <p:cNvSpPr/>
          <p:nvPr/>
        </p:nvSpPr>
        <p:spPr>
          <a:xfrm>
            <a:off x="512064" y="3364992"/>
            <a:ext cx="4663440" cy="292608"/>
          </a:xfrm>
          <a:prstGeom prst="rect">
            <a:avLst/>
          </a:prstGeom>
          <a:noFill/>
          <a:ln/>
        </p:spPr>
        <p:txBody>
          <a:bodyPr wrap="square" lIns="0" tIns="0" rIns="0" bIns="0" rtlCol="0" anchor="ctr"/>
          <a:lstStyle/>
          <a:p>
            <a:pPr indent="0" marL="0">
              <a:buNone/>
            </a:pPr>
            <a:r>
              <a:rPr lang="en-US" sz="950" dirty="0">
                <a:solidFill>
                  <a:srgbClr val="1C2A3A"/>
                </a:solidFill>
                <a:latin typeface="Arial" pitchFamily="34" charset="0"/>
                <a:ea typeface="Arial" pitchFamily="34" charset="-122"/>
                <a:cs typeface="Arial" pitchFamily="34" charset="-120"/>
              </a:rPr>
              <a:t>Serial burglary chain</a:t>
            </a:r>
            <a:endParaRPr lang="en-US" sz="950" dirty="0"/>
          </a:p>
        </p:txBody>
      </p:sp>
      <p:sp>
        <p:nvSpPr>
          <p:cNvPr id="19" name="Text 17"/>
          <p:cNvSpPr/>
          <p:nvPr/>
        </p:nvSpPr>
        <p:spPr>
          <a:xfrm>
            <a:off x="5230368" y="3364992"/>
            <a:ext cx="1188720"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cluster</a:t>
            </a:r>
            <a:endParaRPr lang="en-US" sz="850" dirty="0"/>
          </a:p>
        </p:txBody>
      </p:sp>
      <p:sp>
        <p:nvSpPr>
          <p:cNvPr id="20" name="Text 18"/>
          <p:cNvSpPr/>
          <p:nvPr/>
        </p:nvSpPr>
        <p:spPr>
          <a:xfrm>
            <a:off x="6473952" y="3364992"/>
            <a:ext cx="777240" cy="292608"/>
          </a:xfrm>
          <a:prstGeom prst="rect">
            <a:avLst/>
          </a:prstGeom>
          <a:noFill/>
          <a:ln/>
        </p:spPr>
        <p:txBody>
          <a:bodyPr wrap="square" lIns="0" tIns="0" rIns="0" bIns="0" rtlCol="0" anchor="ctr"/>
          <a:lstStyle/>
          <a:p>
            <a:pPr indent="0" marL="0">
              <a:buNone/>
            </a:pPr>
            <a:r>
              <a:rPr lang="en-US" sz="1100" b="1" dirty="0">
                <a:solidFill>
                  <a:srgbClr val="2FA8A0"/>
                </a:solidFill>
                <a:latin typeface="Arial" pitchFamily="34" charset="0"/>
                <a:ea typeface="Arial" pitchFamily="34" charset="-122"/>
                <a:cs typeface="Arial" pitchFamily="34" charset="-120"/>
              </a:rPr>
              <a:t>100%</a:t>
            </a:r>
            <a:endParaRPr lang="en-US" sz="1100" dirty="0"/>
          </a:p>
        </p:txBody>
      </p:sp>
      <p:sp>
        <p:nvSpPr>
          <p:cNvPr id="21" name="Text 19"/>
          <p:cNvSpPr/>
          <p:nvPr/>
        </p:nvSpPr>
        <p:spPr>
          <a:xfrm>
            <a:off x="7278624" y="3364992"/>
            <a:ext cx="1353312"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recovered</a:t>
            </a:r>
            <a:endParaRPr lang="en-US" sz="850" dirty="0"/>
          </a:p>
        </p:txBody>
      </p:sp>
      <p:sp>
        <p:nvSpPr>
          <p:cNvPr id="22" name="Shape 20"/>
          <p:cNvSpPr/>
          <p:nvPr/>
        </p:nvSpPr>
        <p:spPr>
          <a:xfrm>
            <a:off x="384048" y="3675888"/>
            <a:ext cx="8375904" cy="292608"/>
          </a:xfrm>
          <a:prstGeom prst="rect">
            <a:avLst/>
          </a:prstGeom>
          <a:solidFill>
            <a:srgbClr val="F5F8FB"/>
          </a:solidFill>
          <a:ln w="12700">
            <a:solidFill>
              <a:srgbClr val="F5F8FB"/>
            </a:solidFill>
            <a:prstDash val="solid"/>
          </a:ln>
        </p:spPr>
      </p:sp>
      <p:sp>
        <p:nvSpPr>
          <p:cNvPr id="23" name="Text 21"/>
          <p:cNvSpPr/>
          <p:nvPr/>
        </p:nvSpPr>
        <p:spPr>
          <a:xfrm>
            <a:off x="512064" y="3675888"/>
            <a:ext cx="4663440" cy="292608"/>
          </a:xfrm>
          <a:prstGeom prst="rect">
            <a:avLst/>
          </a:prstGeom>
          <a:noFill/>
          <a:ln/>
        </p:spPr>
        <p:txBody>
          <a:bodyPr wrap="square" lIns="0" tIns="0" rIns="0" bIns="0" rtlCol="0" anchor="ctr"/>
          <a:lstStyle/>
          <a:p>
            <a:pPr indent="0" marL="0">
              <a:buNone/>
            </a:pPr>
            <a:r>
              <a:rPr lang="en-US" sz="950" dirty="0">
                <a:solidFill>
                  <a:srgbClr val="1C2A3A"/>
                </a:solidFill>
                <a:latin typeface="Arial" pitchFamily="34" charset="0"/>
                <a:ea typeface="Arial" pitchFamily="34" charset="-122"/>
                <a:cs typeface="Arial" pitchFamily="34" charset="-120"/>
              </a:rPr>
              <a:t>Cyber-fraud ring (UPI/OTP)</a:t>
            </a:r>
            <a:endParaRPr lang="en-US" sz="950" dirty="0"/>
          </a:p>
        </p:txBody>
      </p:sp>
      <p:sp>
        <p:nvSpPr>
          <p:cNvPr id="24" name="Text 22"/>
          <p:cNvSpPr/>
          <p:nvPr/>
        </p:nvSpPr>
        <p:spPr>
          <a:xfrm>
            <a:off x="5230368" y="3675888"/>
            <a:ext cx="1188720"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cluster</a:t>
            </a:r>
            <a:endParaRPr lang="en-US" sz="850" dirty="0"/>
          </a:p>
        </p:txBody>
      </p:sp>
      <p:sp>
        <p:nvSpPr>
          <p:cNvPr id="25" name="Text 23"/>
          <p:cNvSpPr/>
          <p:nvPr/>
        </p:nvSpPr>
        <p:spPr>
          <a:xfrm>
            <a:off x="6473952" y="3675888"/>
            <a:ext cx="777240" cy="292608"/>
          </a:xfrm>
          <a:prstGeom prst="rect">
            <a:avLst/>
          </a:prstGeom>
          <a:noFill/>
          <a:ln/>
        </p:spPr>
        <p:txBody>
          <a:bodyPr wrap="square" lIns="0" tIns="0" rIns="0" bIns="0" rtlCol="0" anchor="ctr"/>
          <a:lstStyle/>
          <a:p>
            <a:pPr indent="0" marL="0">
              <a:buNone/>
            </a:pPr>
            <a:r>
              <a:rPr lang="en-US" sz="1100" b="1" dirty="0">
                <a:solidFill>
                  <a:srgbClr val="2FA8A0"/>
                </a:solidFill>
                <a:latin typeface="Arial" pitchFamily="34" charset="0"/>
                <a:ea typeface="Arial" pitchFamily="34" charset="-122"/>
                <a:cs typeface="Arial" pitchFamily="34" charset="-120"/>
              </a:rPr>
              <a:t>100%</a:t>
            </a:r>
            <a:endParaRPr lang="en-US" sz="1100" dirty="0"/>
          </a:p>
        </p:txBody>
      </p:sp>
      <p:sp>
        <p:nvSpPr>
          <p:cNvPr id="26" name="Text 24"/>
          <p:cNvSpPr/>
          <p:nvPr/>
        </p:nvSpPr>
        <p:spPr>
          <a:xfrm>
            <a:off x="7278624" y="3675888"/>
            <a:ext cx="1353312"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recovered</a:t>
            </a:r>
            <a:endParaRPr lang="en-US" sz="850" dirty="0"/>
          </a:p>
        </p:txBody>
      </p:sp>
      <p:sp>
        <p:nvSpPr>
          <p:cNvPr id="27" name="Text 25"/>
          <p:cNvSpPr/>
          <p:nvPr/>
        </p:nvSpPr>
        <p:spPr>
          <a:xfrm>
            <a:off x="512064" y="3986784"/>
            <a:ext cx="4663440" cy="292608"/>
          </a:xfrm>
          <a:prstGeom prst="rect">
            <a:avLst/>
          </a:prstGeom>
          <a:noFill/>
          <a:ln/>
        </p:spPr>
        <p:txBody>
          <a:bodyPr wrap="square" lIns="0" tIns="0" rIns="0" bIns="0" rtlCol="0" anchor="ctr"/>
          <a:lstStyle/>
          <a:p>
            <a:pPr indent="0" marL="0">
              <a:buNone/>
            </a:pPr>
            <a:r>
              <a:rPr lang="en-US" sz="950" dirty="0">
                <a:solidFill>
                  <a:srgbClr val="1C2A3A"/>
                </a:solidFill>
                <a:latin typeface="Arial" pitchFamily="34" charset="0"/>
                <a:ea typeface="Arial" pitchFamily="34" charset="-122"/>
                <a:cs typeface="Arial" pitchFamily="34" charset="-120"/>
              </a:rPr>
              <a:t>Offender entity resolution (single-person avg)</a:t>
            </a:r>
            <a:endParaRPr lang="en-US" sz="950" dirty="0"/>
          </a:p>
        </p:txBody>
      </p:sp>
      <p:sp>
        <p:nvSpPr>
          <p:cNvPr id="28" name="Text 26"/>
          <p:cNvSpPr/>
          <p:nvPr/>
        </p:nvSpPr>
        <p:spPr>
          <a:xfrm>
            <a:off x="5230368" y="3986784"/>
            <a:ext cx="1188720"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identity</a:t>
            </a:r>
            <a:endParaRPr lang="en-US" sz="850" dirty="0"/>
          </a:p>
        </p:txBody>
      </p:sp>
      <p:sp>
        <p:nvSpPr>
          <p:cNvPr id="29" name="Text 27"/>
          <p:cNvSpPr/>
          <p:nvPr/>
        </p:nvSpPr>
        <p:spPr>
          <a:xfrm>
            <a:off x="6473952" y="3986784"/>
            <a:ext cx="777240" cy="292608"/>
          </a:xfrm>
          <a:prstGeom prst="rect">
            <a:avLst/>
          </a:prstGeom>
          <a:noFill/>
          <a:ln/>
        </p:spPr>
        <p:txBody>
          <a:bodyPr wrap="square" lIns="0" tIns="0" rIns="0" bIns="0" rtlCol="0" anchor="ctr"/>
          <a:lstStyle/>
          <a:p>
            <a:pPr indent="0" marL="0">
              <a:buNone/>
            </a:pPr>
            <a:r>
              <a:rPr lang="en-US" sz="1100" b="1" dirty="0">
                <a:solidFill>
                  <a:srgbClr val="2FA8A0"/>
                </a:solidFill>
                <a:latin typeface="Arial" pitchFamily="34" charset="0"/>
                <a:ea typeface="Arial" pitchFamily="34" charset="-122"/>
                <a:cs typeface="Arial" pitchFamily="34" charset="-120"/>
              </a:rPr>
              <a:t>100%</a:t>
            </a:r>
            <a:endParaRPr lang="en-US" sz="1100" dirty="0"/>
          </a:p>
        </p:txBody>
      </p:sp>
      <p:sp>
        <p:nvSpPr>
          <p:cNvPr id="30" name="Text 28"/>
          <p:cNvSpPr/>
          <p:nvPr/>
        </p:nvSpPr>
        <p:spPr>
          <a:xfrm>
            <a:off x="7278624" y="3986784"/>
            <a:ext cx="1353312"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recovered</a:t>
            </a:r>
            <a:endParaRPr lang="en-US" sz="850" dirty="0"/>
          </a:p>
        </p:txBody>
      </p:sp>
      <p:sp>
        <p:nvSpPr>
          <p:cNvPr id="31" name="Shape 29"/>
          <p:cNvSpPr/>
          <p:nvPr/>
        </p:nvSpPr>
        <p:spPr>
          <a:xfrm>
            <a:off x="384048" y="4297680"/>
            <a:ext cx="8375904" cy="292608"/>
          </a:xfrm>
          <a:prstGeom prst="rect">
            <a:avLst/>
          </a:prstGeom>
          <a:solidFill>
            <a:srgbClr val="F5F8FB"/>
          </a:solidFill>
          <a:ln w="12700">
            <a:solidFill>
              <a:srgbClr val="F5F8FB"/>
            </a:solidFill>
            <a:prstDash val="solid"/>
          </a:ln>
        </p:spPr>
      </p:sp>
      <p:sp>
        <p:nvSpPr>
          <p:cNvPr id="32" name="Text 30"/>
          <p:cNvSpPr/>
          <p:nvPr/>
        </p:nvSpPr>
        <p:spPr>
          <a:xfrm>
            <a:off x="512064" y="4297680"/>
            <a:ext cx="4663440" cy="292608"/>
          </a:xfrm>
          <a:prstGeom prst="rect">
            <a:avLst/>
          </a:prstGeom>
          <a:noFill/>
          <a:ln/>
        </p:spPr>
        <p:txBody>
          <a:bodyPr wrap="square" lIns="0" tIns="0" rIns="0" bIns="0" rtlCol="0" anchor="ctr"/>
          <a:lstStyle/>
          <a:p>
            <a:pPr indent="0" marL="0">
              <a:buNone/>
            </a:pPr>
            <a:r>
              <a:rPr lang="en-US" sz="950" dirty="0">
                <a:solidFill>
                  <a:srgbClr val="1C2A3A"/>
                </a:solidFill>
                <a:latin typeface="Arial" pitchFamily="34" charset="0"/>
                <a:ea typeface="Arial" pitchFamily="34" charset="-122"/>
                <a:cs typeface="Arial" pitchFamily="34" charset="-120"/>
              </a:rPr>
              <a:t>Repeat offender out on bail</a:t>
            </a:r>
            <a:endParaRPr lang="en-US" sz="950" dirty="0"/>
          </a:p>
        </p:txBody>
      </p:sp>
      <p:sp>
        <p:nvSpPr>
          <p:cNvPr id="33" name="Text 31"/>
          <p:cNvSpPr/>
          <p:nvPr/>
        </p:nvSpPr>
        <p:spPr>
          <a:xfrm>
            <a:off x="5230368" y="4297680"/>
            <a:ext cx="1188720"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risk</a:t>
            </a:r>
            <a:endParaRPr lang="en-US" sz="850" dirty="0"/>
          </a:p>
        </p:txBody>
      </p:sp>
      <p:sp>
        <p:nvSpPr>
          <p:cNvPr id="34" name="Text 32"/>
          <p:cNvSpPr/>
          <p:nvPr/>
        </p:nvSpPr>
        <p:spPr>
          <a:xfrm>
            <a:off x="6473952" y="4297680"/>
            <a:ext cx="777240" cy="292608"/>
          </a:xfrm>
          <a:prstGeom prst="rect">
            <a:avLst/>
          </a:prstGeom>
          <a:noFill/>
          <a:ln/>
        </p:spPr>
        <p:txBody>
          <a:bodyPr wrap="square" lIns="0" tIns="0" rIns="0" bIns="0" rtlCol="0" anchor="ctr"/>
          <a:lstStyle/>
          <a:p>
            <a:pPr indent="0" marL="0">
              <a:buNone/>
            </a:pPr>
            <a:r>
              <a:rPr lang="en-US" sz="1100" b="1" dirty="0">
                <a:solidFill>
                  <a:srgbClr val="2FA8A0"/>
                </a:solidFill>
                <a:latin typeface="Arial" pitchFamily="34" charset="0"/>
                <a:ea typeface="Arial" pitchFamily="34" charset="-122"/>
                <a:cs typeface="Arial" pitchFamily="34" charset="-120"/>
              </a:rPr>
              <a:t>100%</a:t>
            </a:r>
            <a:endParaRPr lang="en-US" sz="1100" dirty="0"/>
          </a:p>
        </p:txBody>
      </p:sp>
      <p:sp>
        <p:nvSpPr>
          <p:cNvPr id="35" name="Text 33"/>
          <p:cNvSpPr/>
          <p:nvPr/>
        </p:nvSpPr>
        <p:spPr>
          <a:xfrm>
            <a:off x="7278624" y="4297680"/>
            <a:ext cx="1353312" cy="292608"/>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recovered</a:t>
            </a:r>
            <a:endParaRPr lang="en-US" sz="850" dirty="0"/>
          </a:p>
        </p:txBody>
      </p:sp>
      <p:sp>
        <p:nvSpPr>
          <p:cNvPr id="36" name="Text 34"/>
          <p:cNvSpPr/>
          <p:nvPr/>
        </p:nvSpPr>
        <p:spPr>
          <a:xfrm>
            <a:off x="384048" y="4626864"/>
            <a:ext cx="8375904" cy="201168"/>
          </a:xfrm>
          <a:prstGeom prst="rect">
            <a:avLst/>
          </a:prstGeom>
          <a:noFill/>
          <a:ln/>
        </p:spPr>
        <p:txBody>
          <a:bodyPr wrap="square" lIns="0" tIns="0" rIns="0" bIns="0" rtlCol="0" anchor="ctr"/>
          <a:lstStyle/>
          <a:p>
            <a:pPr indent="0" marL="0">
              <a:buNone/>
            </a:pPr>
            <a:r>
              <a:rPr lang="en-US" sz="850" i="1" dirty="0">
                <a:solidFill>
                  <a:srgbClr val="5B6B7E"/>
                </a:solidFill>
                <a:latin typeface="Arial" pitchFamily="34" charset="0"/>
                <a:ea typeface="Arial" pitchFamily="34" charset="-122"/>
                <a:cs typeface="Arial" pitchFamily="34" charset="-120"/>
              </a:rPr>
              <a:t>Overall ground-truth recovery 100% · identity resolution 100% · every figure recomputed by eval.py after each run, never hand-entered.</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Links</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Everything is publicly accessible and independently verifiable</a:t>
            </a:r>
            <a:endParaRPr lang="en-US" sz="1200" dirty="0"/>
          </a:p>
        </p:txBody>
      </p:sp>
      <p:sp>
        <p:nvSpPr>
          <p:cNvPr id="4" name="Shape 2"/>
          <p:cNvSpPr/>
          <p:nvPr/>
        </p:nvSpPr>
        <p:spPr>
          <a:xfrm>
            <a:off x="384048" y="1371600"/>
            <a:ext cx="8375904" cy="768096"/>
          </a:xfrm>
          <a:prstGeom prst="roundRect">
            <a:avLst>
              <a:gd name="adj" fmla="val 7143"/>
            </a:avLst>
          </a:prstGeom>
          <a:solidFill>
            <a:srgbClr val="FFFFFF"/>
          </a:solidFill>
          <a:ln w="9525">
            <a:solidFill>
              <a:srgbClr val="D9E1EC"/>
            </a:solidFill>
            <a:prstDash val="solid"/>
          </a:ln>
        </p:spPr>
      </p:sp>
      <p:sp>
        <p:nvSpPr>
          <p:cNvPr id="5" name="Shape 3"/>
          <p:cNvSpPr/>
          <p:nvPr/>
        </p:nvSpPr>
        <p:spPr>
          <a:xfrm>
            <a:off x="530352" y="1664208"/>
            <a:ext cx="182880" cy="182880"/>
          </a:xfrm>
          <a:prstGeom prst="ellipse">
            <a:avLst/>
          </a:prstGeom>
          <a:solidFill>
            <a:srgbClr val="1A6FC4"/>
          </a:solidFill>
          <a:ln w="12700">
            <a:solidFill>
              <a:srgbClr val="1A6FC4"/>
            </a:solidFill>
            <a:prstDash val="solid"/>
          </a:ln>
        </p:spPr>
      </p:sp>
      <p:sp>
        <p:nvSpPr>
          <p:cNvPr id="6" name="Text 4"/>
          <p:cNvSpPr/>
          <p:nvPr/>
        </p:nvSpPr>
        <p:spPr>
          <a:xfrm>
            <a:off x="804672" y="1444752"/>
            <a:ext cx="2834640" cy="292608"/>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Deployed solution (Catalyst)</a:t>
            </a:r>
            <a:endParaRPr lang="en-US" sz="1100" dirty="0"/>
          </a:p>
        </p:txBody>
      </p:sp>
      <p:sp>
        <p:nvSpPr>
          <p:cNvPr id="7" name="Text 5"/>
          <p:cNvSpPr/>
          <p:nvPr/>
        </p:nvSpPr>
        <p:spPr>
          <a:xfrm>
            <a:off x="804672" y="1737360"/>
            <a:ext cx="2834640" cy="310896"/>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Web Client Hosting · sign in by role, no password needed</a:t>
            </a:r>
            <a:endParaRPr lang="en-US" sz="850" dirty="0"/>
          </a:p>
        </p:txBody>
      </p:sp>
      <p:sp>
        <p:nvSpPr>
          <p:cNvPr id="8" name="Text 6">
            <a:hlinkClick r:id="rId2" tooltip=""/>
          </p:cNvPr>
          <p:cNvSpPr/>
          <p:nvPr/>
        </p:nvSpPr>
        <p:spPr>
          <a:xfrm>
            <a:off x="3712464" y="1426464"/>
            <a:ext cx="4901184" cy="658368"/>
          </a:xfrm>
          <a:prstGeom prst="rect">
            <a:avLst/>
          </a:prstGeom>
          <a:noFill/>
          <a:ln/>
        </p:spPr>
        <p:txBody>
          <a:bodyPr wrap="square" lIns="0" tIns="0" rIns="0" bIns="0" rtlCol="0" anchor="ctr"/>
          <a:lstStyle/>
          <a:p>
            <a:pPr indent="0" marL="0">
              <a:buNone/>
            </a:pPr>
            <a:r>
              <a:rPr lang="en-US" sz="900" u="sng" dirty="0">
                <a:solidFill>
                  <a:srgbClr val="1A6FC4"/>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https://kadilabs-60078029367.development.catalystserverless.in/app/</a:t>
            </a:r>
            <a:endParaRPr lang="en-US" sz="900" dirty="0"/>
          </a:p>
        </p:txBody>
      </p:sp>
      <p:sp>
        <p:nvSpPr>
          <p:cNvPr id="9" name="Shape 7"/>
          <p:cNvSpPr/>
          <p:nvPr/>
        </p:nvSpPr>
        <p:spPr>
          <a:xfrm>
            <a:off x="384048" y="2212848"/>
            <a:ext cx="8375904" cy="768096"/>
          </a:xfrm>
          <a:prstGeom prst="roundRect">
            <a:avLst>
              <a:gd name="adj" fmla="val 7143"/>
            </a:avLst>
          </a:prstGeom>
          <a:solidFill>
            <a:srgbClr val="FFFFFF"/>
          </a:solidFill>
          <a:ln w="9525">
            <a:solidFill>
              <a:srgbClr val="D9E1EC"/>
            </a:solidFill>
            <a:prstDash val="solid"/>
          </a:ln>
        </p:spPr>
      </p:sp>
      <p:sp>
        <p:nvSpPr>
          <p:cNvPr id="10" name="Shape 8"/>
          <p:cNvSpPr/>
          <p:nvPr/>
        </p:nvSpPr>
        <p:spPr>
          <a:xfrm>
            <a:off x="530352" y="2505456"/>
            <a:ext cx="182880" cy="182880"/>
          </a:xfrm>
          <a:prstGeom prst="ellipse">
            <a:avLst/>
          </a:prstGeom>
          <a:solidFill>
            <a:srgbClr val="E8871E"/>
          </a:solidFill>
          <a:ln w="12700">
            <a:solidFill>
              <a:srgbClr val="E8871E"/>
            </a:solidFill>
            <a:prstDash val="solid"/>
          </a:ln>
        </p:spPr>
      </p:sp>
      <p:sp>
        <p:nvSpPr>
          <p:cNvPr id="11" name="Text 9"/>
          <p:cNvSpPr/>
          <p:nvPr/>
        </p:nvSpPr>
        <p:spPr>
          <a:xfrm>
            <a:off x="804672" y="2286000"/>
            <a:ext cx="2834640" cy="292608"/>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Demo video</a:t>
            </a:r>
            <a:endParaRPr lang="en-US" sz="1100" dirty="0"/>
          </a:p>
        </p:txBody>
      </p:sp>
      <p:sp>
        <p:nvSpPr>
          <p:cNvPr id="12" name="Text 10"/>
          <p:cNvSpPr/>
          <p:nvPr/>
        </p:nvSpPr>
        <p:spPr>
          <a:xfrm>
            <a:off x="804672" y="2578608"/>
            <a:ext cx="2834640" cy="310896"/>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Problem overview · working prototype · key workflows</a:t>
            </a:r>
            <a:endParaRPr lang="en-US" sz="850" dirty="0"/>
          </a:p>
        </p:txBody>
      </p:sp>
      <p:sp>
        <p:nvSpPr>
          <p:cNvPr id="13" name="Text 11">
            <a:hlinkClick r:id="rId3" tooltip=""/>
          </p:cNvPr>
          <p:cNvSpPr/>
          <p:nvPr/>
        </p:nvSpPr>
        <p:spPr>
          <a:xfrm>
            <a:off x="3712464" y="2267712"/>
            <a:ext cx="4901184" cy="658368"/>
          </a:xfrm>
          <a:prstGeom prst="rect">
            <a:avLst/>
          </a:prstGeom>
          <a:noFill/>
          <a:ln/>
        </p:spPr>
        <p:txBody>
          <a:bodyPr wrap="square" lIns="0" tIns="0" rIns="0" bIns="0" rtlCol="0" anchor="ctr"/>
          <a:lstStyle/>
          <a:p>
            <a:pPr indent="0" marL="0">
              <a:buNone/>
            </a:pPr>
            <a:r>
              <a:rPr lang="en-US" sz="900" u="sng" dirty="0">
                <a:solidFill>
                  <a:srgbClr val="1A6FC4"/>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https://drive.google.com/drive/folders/1WY3KHg1WOEnSNTBXGmTtH2ZoJM1y4cLJ?usp=sharing</a:t>
            </a:r>
            <a:endParaRPr lang="en-US" sz="900" dirty="0"/>
          </a:p>
        </p:txBody>
      </p:sp>
      <p:sp>
        <p:nvSpPr>
          <p:cNvPr id="14" name="Shape 12"/>
          <p:cNvSpPr/>
          <p:nvPr/>
        </p:nvSpPr>
        <p:spPr>
          <a:xfrm>
            <a:off x="384048" y="3054096"/>
            <a:ext cx="8375904" cy="768096"/>
          </a:xfrm>
          <a:prstGeom prst="roundRect">
            <a:avLst>
              <a:gd name="adj" fmla="val 7143"/>
            </a:avLst>
          </a:prstGeom>
          <a:solidFill>
            <a:srgbClr val="FFFFFF"/>
          </a:solidFill>
          <a:ln w="9525">
            <a:solidFill>
              <a:srgbClr val="D9E1EC"/>
            </a:solidFill>
            <a:prstDash val="solid"/>
          </a:ln>
        </p:spPr>
      </p:sp>
      <p:sp>
        <p:nvSpPr>
          <p:cNvPr id="15" name="Shape 13"/>
          <p:cNvSpPr/>
          <p:nvPr/>
        </p:nvSpPr>
        <p:spPr>
          <a:xfrm>
            <a:off x="530352" y="3346704"/>
            <a:ext cx="182880" cy="182880"/>
          </a:xfrm>
          <a:prstGeom prst="ellipse">
            <a:avLst/>
          </a:prstGeom>
          <a:solidFill>
            <a:srgbClr val="0F2F44"/>
          </a:solidFill>
          <a:ln w="12700">
            <a:solidFill>
              <a:srgbClr val="0F2F44"/>
            </a:solidFill>
            <a:prstDash val="solid"/>
          </a:ln>
        </p:spPr>
      </p:sp>
      <p:sp>
        <p:nvSpPr>
          <p:cNvPr id="16" name="Text 14"/>
          <p:cNvSpPr/>
          <p:nvPr/>
        </p:nvSpPr>
        <p:spPr>
          <a:xfrm>
            <a:off x="804672" y="3127248"/>
            <a:ext cx="2834640" cy="292608"/>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GitHub repository</a:t>
            </a:r>
            <a:endParaRPr lang="en-US" sz="1100" dirty="0"/>
          </a:p>
        </p:txBody>
      </p:sp>
      <p:sp>
        <p:nvSpPr>
          <p:cNvPr id="17" name="Text 15"/>
          <p:cNvSpPr/>
          <p:nvPr/>
        </p:nvSpPr>
        <p:spPr>
          <a:xfrm>
            <a:off x="804672" y="3419856"/>
            <a:ext cx="2834640" cy="310896"/>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Full source, README, setup and execution instructions</a:t>
            </a:r>
            <a:endParaRPr lang="en-US" sz="850" dirty="0"/>
          </a:p>
        </p:txBody>
      </p:sp>
      <p:sp>
        <p:nvSpPr>
          <p:cNvPr id="18" name="Text 16">
            <a:hlinkClick r:id="rId4" tooltip=""/>
          </p:cNvPr>
          <p:cNvSpPr/>
          <p:nvPr/>
        </p:nvSpPr>
        <p:spPr>
          <a:xfrm>
            <a:off x="3712464" y="3108960"/>
            <a:ext cx="4901184" cy="658368"/>
          </a:xfrm>
          <a:prstGeom prst="rect">
            <a:avLst/>
          </a:prstGeom>
          <a:noFill/>
          <a:ln/>
        </p:spPr>
        <p:txBody>
          <a:bodyPr wrap="square" lIns="0" tIns="0" rIns="0" bIns="0" rtlCol="0" anchor="ctr"/>
          <a:lstStyle/>
          <a:p>
            <a:pPr indent="0" marL="0">
              <a:buNone/>
            </a:pPr>
            <a:r>
              <a:rPr lang="en-US" sz="900" u="sng" dirty="0">
                <a:solidFill>
                  <a:srgbClr val="1A6FC4"/>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https://github.com/adarshcod30/Kadi</a:t>
            </a:r>
            <a:endParaRPr lang="en-US" sz="900" dirty="0"/>
          </a:p>
        </p:txBody>
      </p:sp>
      <p:sp>
        <p:nvSpPr>
          <p:cNvPr id="19" name="Shape 17"/>
          <p:cNvSpPr/>
          <p:nvPr/>
        </p:nvSpPr>
        <p:spPr>
          <a:xfrm>
            <a:off x="384048" y="3895344"/>
            <a:ext cx="8375904" cy="768096"/>
          </a:xfrm>
          <a:prstGeom prst="roundRect">
            <a:avLst>
              <a:gd name="adj" fmla="val 7143"/>
            </a:avLst>
          </a:prstGeom>
          <a:solidFill>
            <a:srgbClr val="FFFFFF"/>
          </a:solidFill>
          <a:ln w="9525">
            <a:solidFill>
              <a:srgbClr val="D9E1EC"/>
            </a:solidFill>
            <a:prstDash val="solid"/>
          </a:ln>
        </p:spPr>
      </p:sp>
      <p:sp>
        <p:nvSpPr>
          <p:cNvPr id="20" name="Shape 18"/>
          <p:cNvSpPr/>
          <p:nvPr/>
        </p:nvSpPr>
        <p:spPr>
          <a:xfrm>
            <a:off x="530352" y="4187952"/>
            <a:ext cx="182880" cy="182880"/>
          </a:xfrm>
          <a:prstGeom prst="ellipse">
            <a:avLst/>
          </a:prstGeom>
          <a:solidFill>
            <a:srgbClr val="2FA8A0"/>
          </a:solidFill>
          <a:ln w="12700">
            <a:solidFill>
              <a:srgbClr val="2FA8A0"/>
            </a:solidFill>
            <a:prstDash val="solid"/>
          </a:ln>
        </p:spPr>
      </p:sp>
      <p:sp>
        <p:nvSpPr>
          <p:cNvPr id="21" name="Text 19"/>
          <p:cNvSpPr/>
          <p:nvPr/>
        </p:nvSpPr>
        <p:spPr>
          <a:xfrm>
            <a:off x="804672" y="3968496"/>
            <a:ext cx="2834640" cy="292608"/>
          </a:xfrm>
          <a:prstGeom prst="rect">
            <a:avLst/>
          </a:prstGeom>
          <a:noFill/>
          <a:ln/>
        </p:spPr>
        <p:txBody>
          <a:bodyPr wrap="square" lIns="0" tIns="0" rIns="0" bIns="0" rtlCol="0" anchor="ctr"/>
          <a:lstStyle/>
          <a:p>
            <a:pPr indent="0" marL="0">
              <a:buNone/>
            </a:pPr>
            <a:r>
              <a:rPr lang="en-US" sz="1100" b="1" dirty="0">
                <a:solidFill>
                  <a:srgbClr val="1C2A3A"/>
                </a:solidFill>
                <a:latin typeface="Arial" pitchFamily="34" charset="0"/>
                <a:ea typeface="Arial" pitchFamily="34" charset="-122"/>
                <a:cs typeface="Arial" pitchFamily="34" charset="-120"/>
              </a:rPr>
              <a:t>AppSail analytics service</a:t>
            </a:r>
            <a:endParaRPr lang="en-US" sz="1100" dirty="0"/>
          </a:p>
        </p:txBody>
      </p:sp>
      <p:sp>
        <p:nvSpPr>
          <p:cNvPr id="22" name="Text 20"/>
          <p:cNvSpPr/>
          <p:nvPr/>
        </p:nvSpPr>
        <p:spPr>
          <a:xfrm>
            <a:off x="804672" y="4261104"/>
            <a:ext cx="2834640" cy="310896"/>
          </a:xfrm>
          <a:prstGeom prst="rect">
            <a:avLst/>
          </a:prstGeom>
          <a:noFill/>
          <a:ln/>
        </p:spPr>
        <p:txBody>
          <a:bodyPr wrap="square" lIns="0" tIns="0" rIns="0" bIns="0" rtlCol="0" anchor="ctr"/>
          <a:lstStyle/>
          <a:p>
            <a:pPr indent="0" marL="0">
              <a:buNone/>
            </a:pPr>
            <a:r>
              <a:rPr lang="en-US" sz="850" dirty="0">
                <a:solidFill>
                  <a:srgbClr val="5B6B7E"/>
                </a:solidFill>
                <a:latin typeface="Arial" pitchFamily="34" charset="0"/>
                <a:ea typeface="Arial" pitchFamily="34" charset="-122"/>
                <a:cs typeface="Arial" pitchFamily="34" charset="-120"/>
              </a:rPr>
              <a:t>Live JSON — per-capita rates and correlations</a:t>
            </a:r>
            <a:endParaRPr lang="en-US" sz="850" dirty="0"/>
          </a:p>
        </p:txBody>
      </p:sp>
      <p:sp>
        <p:nvSpPr>
          <p:cNvPr id="23" name="Text 21">
            <a:hlinkClick r:id="rId5" tooltip=""/>
          </p:cNvPr>
          <p:cNvSpPr/>
          <p:nvPr/>
        </p:nvSpPr>
        <p:spPr>
          <a:xfrm>
            <a:off x="3712464" y="3950208"/>
            <a:ext cx="4901184" cy="658368"/>
          </a:xfrm>
          <a:prstGeom prst="rect">
            <a:avLst/>
          </a:prstGeom>
          <a:noFill/>
          <a:ln/>
        </p:spPr>
        <p:txBody>
          <a:bodyPr wrap="square" lIns="0" tIns="0" rIns="0" bIns="0" rtlCol="0" anchor="ctr"/>
          <a:lstStyle/>
          <a:p>
            <a:pPr indent="0" marL="0">
              <a:buNone/>
            </a:pPr>
            <a:r>
              <a:rPr lang="en-US" sz="900" u="sng" dirty="0">
                <a:solidFill>
                  <a:srgbClr val="1A6FC4"/>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https://kadi-appsail-50043957273.development.catalystappsail.in/analytics/socio</a:t>
            </a:r>
            <a:endParaRPr lang="en-US" sz="900" dirty="0"/>
          </a:p>
        </p:txBody>
      </p:sp>
      <p:sp>
        <p:nvSpPr>
          <p:cNvPr id="24" name="Text 22"/>
          <p:cNvSpPr/>
          <p:nvPr/>
        </p:nvSpPr>
        <p:spPr>
          <a:xfrm>
            <a:off x="384048" y="4754880"/>
            <a:ext cx="8375904" cy="219456"/>
          </a:xfrm>
          <a:prstGeom prst="rect">
            <a:avLst/>
          </a:prstGeom>
          <a:noFill/>
          <a:ln/>
        </p:spPr>
        <p:txBody>
          <a:bodyPr wrap="square" lIns="0" tIns="0" rIns="0" bIns="0" rtlCol="0" anchor="ctr"/>
          <a:lstStyle/>
          <a:p>
            <a:pPr indent="0" marL="0">
              <a:buNone/>
            </a:pPr>
            <a:r>
              <a:rPr lang="en-US" sz="900" i="1" dirty="0">
                <a:solidFill>
                  <a:srgbClr val="5B6B7E"/>
                </a:solidFill>
                <a:latin typeface="Arial" pitchFamily="34" charset="0"/>
                <a:ea typeface="Arial" pitchFamily="34" charset="-122"/>
                <a:cs typeface="Arial" pitchFamily="34" charset="-120"/>
              </a:rPr>
              <a:t>Deployment is exclusively on the Zoho Catalyst platform, as the challenge requires — no part of the running system is hosted elsewhere.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603504"/>
            <a:ext cx="8375904" cy="402336"/>
          </a:xfrm>
          <a:prstGeom prst="rect">
            <a:avLst/>
          </a:prstGeom>
          <a:noFill/>
          <a:ln/>
        </p:spPr>
        <p:txBody>
          <a:bodyPr wrap="square" lIns="0" tIns="0" rIns="0" bIns="0" rtlCol="0" anchor="ctr"/>
          <a:lstStyle/>
          <a:p>
            <a:pPr indent="0" marL="0">
              <a:buNone/>
            </a:pPr>
            <a:r>
              <a:rPr lang="en-US" sz="2400" b="1" dirty="0">
                <a:solidFill>
                  <a:srgbClr val="0F2F44"/>
                </a:solidFill>
                <a:latin typeface="Cambria" pitchFamily="34" charset="0"/>
                <a:ea typeface="Cambria" pitchFamily="34" charset="-122"/>
                <a:cs typeface="Cambria" pitchFamily="34" charset="-120"/>
              </a:rPr>
              <a:t>Additional details &amp; future development</a:t>
            </a:r>
            <a:endParaRPr lang="en-US" sz="2400" dirty="0"/>
          </a:p>
        </p:txBody>
      </p:sp>
      <p:sp>
        <p:nvSpPr>
          <p:cNvPr id="3" name="Text 1"/>
          <p:cNvSpPr/>
          <p:nvPr/>
        </p:nvSpPr>
        <p:spPr>
          <a:xfrm>
            <a:off x="384048" y="1005840"/>
            <a:ext cx="8375904" cy="274320"/>
          </a:xfrm>
          <a:prstGeom prst="rect">
            <a:avLst/>
          </a:prstGeom>
          <a:noFill/>
          <a:ln/>
        </p:spPr>
        <p:txBody>
          <a:bodyPr wrap="square" lIns="0" tIns="0" rIns="0" bIns="0" rtlCol="0" anchor="ctr"/>
          <a:lstStyle/>
          <a:p>
            <a:pPr indent="0" marL="0">
              <a:buNone/>
            </a:pPr>
            <a:r>
              <a:rPr lang="en-US" sz="1200" dirty="0">
                <a:solidFill>
                  <a:srgbClr val="5B6B7E"/>
                </a:solidFill>
                <a:latin typeface="Arial" pitchFamily="34" charset="0"/>
                <a:ea typeface="Arial" pitchFamily="34" charset="-122"/>
                <a:cs typeface="Arial" pitchFamily="34" charset="-120"/>
              </a:rPr>
              <a:t>What ships next, in priority order</a:t>
            </a:r>
            <a:endParaRPr lang="en-US" sz="1200" dirty="0"/>
          </a:p>
        </p:txBody>
      </p:sp>
      <p:sp>
        <p:nvSpPr>
          <p:cNvPr id="4" name="Shape 2"/>
          <p:cNvSpPr/>
          <p:nvPr/>
        </p:nvSpPr>
        <p:spPr>
          <a:xfrm>
            <a:off x="384048" y="1371600"/>
            <a:ext cx="2670048" cy="987552"/>
          </a:xfrm>
          <a:prstGeom prst="roundRect">
            <a:avLst>
              <a:gd name="adj" fmla="val 5556"/>
            </a:avLst>
          </a:prstGeom>
          <a:solidFill>
            <a:srgbClr val="FFFFFF"/>
          </a:solidFill>
          <a:ln w="9525">
            <a:solidFill>
              <a:srgbClr val="D9E1EC"/>
            </a:solidFill>
            <a:prstDash val="solid"/>
          </a:ln>
        </p:spPr>
      </p:sp>
      <p:sp>
        <p:nvSpPr>
          <p:cNvPr id="5" name="Shape 3"/>
          <p:cNvSpPr/>
          <p:nvPr/>
        </p:nvSpPr>
        <p:spPr>
          <a:xfrm>
            <a:off x="384048" y="1371600"/>
            <a:ext cx="2670048" cy="310896"/>
          </a:xfrm>
          <a:prstGeom prst="roundRect">
            <a:avLst>
              <a:gd name="adj" fmla="val 17647"/>
            </a:avLst>
          </a:prstGeom>
          <a:solidFill>
            <a:srgbClr val="2FA8A0"/>
          </a:solidFill>
          <a:ln w="12700">
            <a:solidFill>
              <a:srgbClr val="2FA8A0"/>
            </a:solidFill>
            <a:prstDash val="solid"/>
          </a:ln>
        </p:spPr>
      </p:sp>
      <p:sp>
        <p:nvSpPr>
          <p:cNvPr id="6" name="Text 4"/>
          <p:cNvSpPr/>
          <p:nvPr/>
        </p:nvSpPr>
        <p:spPr>
          <a:xfrm>
            <a:off x="512064" y="1371600"/>
            <a:ext cx="2414016" cy="31089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1.  Bind Catalyst Authentication</a:t>
            </a:r>
            <a:endParaRPr lang="en-US" sz="1000" dirty="0"/>
          </a:p>
        </p:txBody>
      </p:sp>
      <p:sp>
        <p:nvSpPr>
          <p:cNvPr id="7" name="Text 5"/>
          <p:cNvSpPr/>
          <p:nvPr/>
        </p:nvSpPr>
        <p:spPr>
          <a:xfrm>
            <a:off x="512064" y="1755648"/>
            <a:ext cx="2414016" cy="566928"/>
          </a:xfrm>
          <a:prstGeom prst="rect">
            <a:avLst/>
          </a:prstGeom>
          <a:noFill/>
          <a:ln/>
        </p:spPr>
        <p:txBody>
          <a:bodyPr wrap="square" lIns="0" tIns="0" rIns="0" bIns="0" rtlCol="0" anchor="t"/>
          <a:lstStyle/>
          <a:p>
            <a:pPr indent="0" marL="0">
              <a:buNone/>
            </a:pPr>
            <a:r>
              <a:rPr lang="en-US" sz="850" dirty="0">
                <a:solidFill>
                  <a:srgbClr val="5B6B7E"/>
                </a:solidFill>
                <a:latin typeface="Arial" pitchFamily="34" charset="0"/>
                <a:ea typeface="Arial" pitchFamily="34" charset="-122"/>
                <a:cs typeface="Arial" pitchFamily="34" charset="-120"/>
              </a:rPr>
              <a:t>Replace the role header with a verified JWT inside userFromRequest — one function, nothing else changes.</a:t>
            </a:r>
            <a:endParaRPr lang="en-US" sz="850" dirty="0"/>
          </a:p>
        </p:txBody>
      </p:sp>
      <p:sp>
        <p:nvSpPr>
          <p:cNvPr id="8" name="Shape 6"/>
          <p:cNvSpPr/>
          <p:nvPr/>
        </p:nvSpPr>
        <p:spPr>
          <a:xfrm>
            <a:off x="3218688" y="1371600"/>
            <a:ext cx="2670048" cy="987552"/>
          </a:xfrm>
          <a:prstGeom prst="roundRect">
            <a:avLst>
              <a:gd name="adj" fmla="val 5556"/>
            </a:avLst>
          </a:prstGeom>
          <a:solidFill>
            <a:srgbClr val="FFFFFF"/>
          </a:solidFill>
          <a:ln w="9525">
            <a:solidFill>
              <a:srgbClr val="D9E1EC"/>
            </a:solidFill>
            <a:prstDash val="solid"/>
          </a:ln>
        </p:spPr>
      </p:sp>
      <p:sp>
        <p:nvSpPr>
          <p:cNvPr id="9" name="Shape 7"/>
          <p:cNvSpPr/>
          <p:nvPr/>
        </p:nvSpPr>
        <p:spPr>
          <a:xfrm>
            <a:off x="3218688" y="1371600"/>
            <a:ext cx="2670048" cy="310896"/>
          </a:xfrm>
          <a:prstGeom prst="roundRect">
            <a:avLst>
              <a:gd name="adj" fmla="val 17647"/>
            </a:avLst>
          </a:prstGeom>
          <a:solidFill>
            <a:srgbClr val="1A6FC4"/>
          </a:solidFill>
          <a:ln w="12700">
            <a:solidFill>
              <a:srgbClr val="1A6FC4"/>
            </a:solidFill>
            <a:prstDash val="solid"/>
          </a:ln>
        </p:spPr>
      </p:sp>
      <p:sp>
        <p:nvSpPr>
          <p:cNvPr id="10" name="Text 8"/>
          <p:cNvSpPr/>
          <p:nvPr/>
        </p:nvSpPr>
        <p:spPr>
          <a:xfrm>
            <a:off x="3346704" y="1371600"/>
            <a:ext cx="2414016" cy="31089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2.  Read the API from Data Store</a:t>
            </a:r>
            <a:endParaRPr lang="en-US" sz="1000" dirty="0"/>
          </a:p>
        </p:txBody>
      </p:sp>
      <p:sp>
        <p:nvSpPr>
          <p:cNvPr id="11" name="Text 9"/>
          <p:cNvSpPr/>
          <p:nvPr/>
        </p:nvSpPr>
        <p:spPr>
          <a:xfrm>
            <a:off x="3346704" y="1755648"/>
            <a:ext cx="2414016" cy="566928"/>
          </a:xfrm>
          <a:prstGeom prst="rect">
            <a:avLst/>
          </a:prstGeom>
          <a:noFill/>
          <a:ln/>
        </p:spPr>
        <p:txBody>
          <a:bodyPr wrap="square" lIns="0" tIns="0" rIns="0" bIns="0" rtlCol="0" anchor="t"/>
          <a:lstStyle/>
          <a:p>
            <a:pPr indent="0" marL="0">
              <a:buNone/>
            </a:pPr>
            <a:r>
              <a:rPr lang="en-US" sz="850" dirty="0">
                <a:solidFill>
                  <a:srgbClr val="5B6B7E"/>
                </a:solidFill>
                <a:latin typeface="Arial" pitchFamily="34" charset="0"/>
                <a:ea typeface="Arial" pitchFamily="34" charset="-122"/>
                <a:cs typeface="Arial" pitchFamily="34" charset="-120"/>
              </a:rPr>
              <a:t>Swap the bundled read-model for ZCQL reads behind the existing store interface.</a:t>
            </a:r>
            <a:endParaRPr lang="en-US" sz="850" dirty="0"/>
          </a:p>
        </p:txBody>
      </p:sp>
      <p:sp>
        <p:nvSpPr>
          <p:cNvPr id="12" name="Shape 10"/>
          <p:cNvSpPr/>
          <p:nvPr/>
        </p:nvSpPr>
        <p:spPr>
          <a:xfrm>
            <a:off x="6053328" y="1371600"/>
            <a:ext cx="2670048" cy="987552"/>
          </a:xfrm>
          <a:prstGeom prst="roundRect">
            <a:avLst>
              <a:gd name="adj" fmla="val 5556"/>
            </a:avLst>
          </a:prstGeom>
          <a:solidFill>
            <a:srgbClr val="FFFFFF"/>
          </a:solidFill>
          <a:ln w="9525">
            <a:solidFill>
              <a:srgbClr val="D9E1EC"/>
            </a:solidFill>
            <a:prstDash val="solid"/>
          </a:ln>
        </p:spPr>
      </p:sp>
      <p:sp>
        <p:nvSpPr>
          <p:cNvPr id="13" name="Shape 11"/>
          <p:cNvSpPr/>
          <p:nvPr/>
        </p:nvSpPr>
        <p:spPr>
          <a:xfrm>
            <a:off x="6053328" y="1371600"/>
            <a:ext cx="2670048" cy="310896"/>
          </a:xfrm>
          <a:prstGeom prst="roundRect">
            <a:avLst>
              <a:gd name="adj" fmla="val 17647"/>
            </a:avLst>
          </a:prstGeom>
          <a:solidFill>
            <a:srgbClr val="E8871E"/>
          </a:solidFill>
          <a:ln w="12700">
            <a:solidFill>
              <a:srgbClr val="E8871E"/>
            </a:solidFill>
            <a:prstDash val="solid"/>
          </a:ln>
        </p:spPr>
      </p:sp>
      <p:sp>
        <p:nvSpPr>
          <p:cNvPr id="14" name="Text 12"/>
          <p:cNvSpPr/>
          <p:nvPr/>
        </p:nvSpPr>
        <p:spPr>
          <a:xfrm>
            <a:off x="6181344" y="1371600"/>
            <a:ext cx="2414016" cy="31089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3.  Complete QuickML + Zia</a:t>
            </a:r>
            <a:endParaRPr lang="en-US" sz="1000" dirty="0"/>
          </a:p>
        </p:txBody>
      </p:sp>
      <p:sp>
        <p:nvSpPr>
          <p:cNvPr id="15" name="Text 13"/>
          <p:cNvSpPr/>
          <p:nvPr/>
        </p:nvSpPr>
        <p:spPr>
          <a:xfrm>
            <a:off x="6181344" y="1755648"/>
            <a:ext cx="2414016" cy="566928"/>
          </a:xfrm>
          <a:prstGeom prst="rect">
            <a:avLst/>
          </a:prstGeom>
          <a:noFill/>
          <a:ln/>
        </p:spPr>
        <p:txBody>
          <a:bodyPr wrap="square" lIns="0" tIns="0" rIns="0" bIns="0" rtlCol="0" anchor="t"/>
          <a:lstStyle/>
          <a:p>
            <a:pPr indent="0" marL="0">
              <a:buNone/>
            </a:pPr>
            <a:r>
              <a:rPr lang="en-US" sz="850" dirty="0">
                <a:solidFill>
                  <a:srgbClr val="5B6B7E"/>
                </a:solidFill>
                <a:latin typeface="Arial" pitchFamily="34" charset="0"/>
                <a:ea typeface="Arial" pitchFamily="34" charset="-122"/>
                <a:cs typeface="Arial" pitchFamily="34" charset="-120"/>
              </a:rPr>
              <a:t>Settle the request-body contract with Zoho support, then enable Kannada STT / TTS server-side.</a:t>
            </a:r>
            <a:endParaRPr lang="en-US" sz="850" dirty="0"/>
          </a:p>
        </p:txBody>
      </p:sp>
      <p:sp>
        <p:nvSpPr>
          <p:cNvPr id="16" name="Shape 14"/>
          <p:cNvSpPr/>
          <p:nvPr/>
        </p:nvSpPr>
        <p:spPr>
          <a:xfrm>
            <a:off x="384048" y="2432304"/>
            <a:ext cx="2670048" cy="987552"/>
          </a:xfrm>
          <a:prstGeom prst="roundRect">
            <a:avLst>
              <a:gd name="adj" fmla="val 5556"/>
            </a:avLst>
          </a:prstGeom>
          <a:solidFill>
            <a:srgbClr val="FFFFFF"/>
          </a:solidFill>
          <a:ln w="9525">
            <a:solidFill>
              <a:srgbClr val="D9E1EC"/>
            </a:solidFill>
            <a:prstDash val="solid"/>
          </a:ln>
        </p:spPr>
      </p:sp>
      <p:sp>
        <p:nvSpPr>
          <p:cNvPr id="17" name="Shape 15"/>
          <p:cNvSpPr/>
          <p:nvPr/>
        </p:nvSpPr>
        <p:spPr>
          <a:xfrm>
            <a:off x="384048" y="2432304"/>
            <a:ext cx="2670048" cy="310896"/>
          </a:xfrm>
          <a:prstGeom prst="roundRect">
            <a:avLst>
              <a:gd name="adj" fmla="val 17647"/>
            </a:avLst>
          </a:prstGeom>
          <a:solidFill>
            <a:srgbClr val="0F2F44"/>
          </a:solidFill>
          <a:ln w="12700">
            <a:solidFill>
              <a:srgbClr val="0F2F44"/>
            </a:solidFill>
            <a:prstDash val="solid"/>
          </a:ln>
        </p:spPr>
      </p:sp>
      <p:sp>
        <p:nvSpPr>
          <p:cNvPr id="18" name="Text 16"/>
          <p:cNvSpPr/>
          <p:nvPr/>
        </p:nvSpPr>
        <p:spPr>
          <a:xfrm>
            <a:off x="512064" y="2432304"/>
            <a:ext cx="2414016" cy="31089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4.  Persist the audit trail</a:t>
            </a:r>
            <a:endParaRPr lang="en-US" sz="1000" dirty="0"/>
          </a:p>
        </p:txBody>
      </p:sp>
      <p:sp>
        <p:nvSpPr>
          <p:cNvPr id="19" name="Text 17"/>
          <p:cNvSpPr/>
          <p:nvPr/>
        </p:nvSpPr>
        <p:spPr>
          <a:xfrm>
            <a:off x="512064" y="2816352"/>
            <a:ext cx="2414016" cy="566928"/>
          </a:xfrm>
          <a:prstGeom prst="rect">
            <a:avLst/>
          </a:prstGeom>
          <a:noFill/>
          <a:ln/>
        </p:spPr>
        <p:txBody>
          <a:bodyPr wrap="square" lIns="0" tIns="0" rIns="0" bIns="0" rtlCol="0" anchor="t"/>
          <a:lstStyle/>
          <a:p>
            <a:pPr indent="0" marL="0">
              <a:buNone/>
            </a:pPr>
            <a:r>
              <a:rPr lang="en-US" sz="850" dirty="0">
                <a:solidFill>
                  <a:srgbClr val="5B6B7E"/>
                </a:solidFill>
                <a:latin typeface="Arial" pitchFamily="34" charset="0"/>
                <a:ea typeface="Arial" pitchFamily="34" charset="-122"/>
                <a:cs typeface="Arial" pitchFamily="34" charset="-120"/>
              </a:rPr>
              <a:t>Move the in-memory ring buffer into a Data Store table for real accountability.</a:t>
            </a:r>
            <a:endParaRPr lang="en-US" sz="850" dirty="0"/>
          </a:p>
        </p:txBody>
      </p:sp>
      <p:sp>
        <p:nvSpPr>
          <p:cNvPr id="20" name="Shape 18"/>
          <p:cNvSpPr/>
          <p:nvPr/>
        </p:nvSpPr>
        <p:spPr>
          <a:xfrm>
            <a:off x="3218688" y="2432304"/>
            <a:ext cx="2670048" cy="987552"/>
          </a:xfrm>
          <a:prstGeom prst="roundRect">
            <a:avLst>
              <a:gd name="adj" fmla="val 5556"/>
            </a:avLst>
          </a:prstGeom>
          <a:solidFill>
            <a:srgbClr val="FFFFFF"/>
          </a:solidFill>
          <a:ln w="9525">
            <a:solidFill>
              <a:srgbClr val="D9E1EC"/>
            </a:solidFill>
            <a:prstDash val="solid"/>
          </a:ln>
        </p:spPr>
      </p:sp>
      <p:sp>
        <p:nvSpPr>
          <p:cNvPr id="21" name="Shape 19"/>
          <p:cNvSpPr/>
          <p:nvPr/>
        </p:nvSpPr>
        <p:spPr>
          <a:xfrm>
            <a:off x="3218688" y="2432304"/>
            <a:ext cx="2670048" cy="310896"/>
          </a:xfrm>
          <a:prstGeom prst="roundRect">
            <a:avLst>
              <a:gd name="adj" fmla="val 17647"/>
            </a:avLst>
          </a:prstGeom>
          <a:solidFill>
            <a:srgbClr val="C0392B"/>
          </a:solidFill>
          <a:ln w="12700">
            <a:solidFill>
              <a:srgbClr val="C0392B"/>
            </a:solidFill>
            <a:prstDash val="solid"/>
          </a:ln>
        </p:spPr>
      </p:sp>
      <p:sp>
        <p:nvSpPr>
          <p:cNvPr id="22" name="Text 20"/>
          <p:cNvSpPr/>
          <p:nvPr/>
        </p:nvSpPr>
        <p:spPr>
          <a:xfrm>
            <a:off x="3346704" y="2432304"/>
            <a:ext cx="2414016" cy="31089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5.  Ingest live KSP data</a:t>
            </a:r>
            <a:endParaRPr lang="en-US" sz="1000" dirty="0"/>
          </a:p>
        </p:txBody>
      </p:sp>
      <p:sp>
        <p:nvSpPr>
          <p:cNvPr id="23" name="Text 21"/>
          <p:cNvSpPr/>
          <p:nvPr/>
        </p:nvSpPr>
        <p:spPr>
          <a:xfrm>
            <a:off x="3346704" y="2816352"/>
            <a:ext cx="2414016" cy="566928"/>
          </a:xfrm>
          <a:prstGeom prst="rect">
            <a:avLst/>
          </a:prstGeom>
          <a:noFill/>
          <a:ln/>
        </p:spPr>
        <p:txBody>
          <a:bodyPr wrap="square" lIns="0" tIns="0" rIns="0" bIns="0" rtlCol="0" anchor="t"/>
          <a:lstStyle/>
          <a:p>
            <a:pPr indent="0" marL="0">
              <a:buNone/>
            </a:pPr>
            <a:r>
              <a:rPr lang="en-US" sz="850" dirty="0">
                <a:solidFill>
                  <a:srgbClr val="5B6B7E"/>
                </a:solidFill>
                <a:latin typeface="Arial" pitchFamily="34" charset="0"/>
                <a:ea typeface="Arial" pitchFamily="34" charset="-122"/>
                <a:cs typeface="Arial" pitchFamily="34" charset="-120"/>
              </a:rPr>
              <a:t>Signals on FIR insert for incremental recompute instead of a nightly full rebuild.</a:t>
            </a:r>
            <a:endParaRPr lang="en-US" sz="850" dirty="0"/>
          </a:p>
        </p:txBody>
      </p:sp>
      <p:sp>
        <p:nvSpPr>
          <p:cNvPr id="24" name="Shape 22"/>
          <p:cNvSpPr/>
          <p:nvPr/>
        </p:nvSpPr>
        <p:spPr>
          <a:xfrm>
            <a:off x="6053328" y="2432304"/>
            <a:ext cx="2670048" cy="987552"/>
          </a:xfrm>
          <a:prstGeom prst="roundRect">
            <a:avLst>
              <a:gd name="adj" fmla="val 5556"/>
            </a:avLst>
          </a:prstGeom>
          <a:solidFill>
            <a:srgbClr val="FFFFFF"/>
          </a:solidFill>
          <a:ln w="9525">
            <a:solidFill>
              <a:srgbClr val="D9E1EC"/>
            </a:solidFill>
            <a:prstDash val="solid"/>
          </a:ln>
        </p:spPr>
      </p:sp>
      <p:sp>
        <p:nvSpPr>
          <p:cNvPr id="25" name="Shape 23"/>
          <p:cNvSpPr/>
          <p:nvPr/>
        </p:nvSpPr>
        <p:spPr>
          <a:xfrm>
            <a:off x="6053328" y="2432304"/>
            <a:ext cx="2670048" cy="310896"/>
          </a:xfrm>
          <a:prstGeom prst="roundRect">
            <a:avLst>
              <a:gd name="adj" fmla="val 17647"/>
            </a:avLst>
          </a:prstGeom>
          <a:solidFill>
            <a:srgbClr val="1A6FC4"/>
          </a:solidFill>
          <a:ln w="12700">
            <a:solidFill>
              <a:srgbClr val="1A6FC4"/>
            </a:solidFill>
            <a:prstDash val="solid"/>
          </a:ln>
        </p:spPr>
      </p:sp>
      <p:sp>
        <p:nvSpPr>
          <p:cNvPr id="26" name="Text 24"/>
          <p:cNvSpPr/>
          <p:nvPr/>
        </p:nvSpPr>
        <p:spPr>
          <a:xfrm>
            <a:off x="6181344" y="2432304"/>
            <a:ext cx="2414016" cy="31089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6.  Extend the graph</a:t>
            </a:r>
            <a:endParaRPr lang="en-US" sz="1000" dirty="0"/>
          </a:p>
        </p:txBody>
      </p:sp>
      <p:sp>
        <p:nvSpPr>
          <p:cNvPr id="27" name="Text 25"/>
          <p:cNvSpPr/>
          <p:nvPr/>
        </p:nvSpPr>
        <p:spPr>
          <a:xfrm>
            <a:off x="6181344" y="2816352"/>
            <a:ext cx="2414016" cy="566928"/>
          </a:xfrm>
          <a:prstGeom prst="rect">
            <a:avLst/>
          </a:prstGeom>
          <a:noFill/>
          <a:ln/>
        </p:spPr>
        <p:txBody>
          <a:bodyPr wrap="square" lIns="0" tIns="0" rIns="0" bIns="0" rtlCol="0" anchor="t"/>
          <a:lstStyle/>
          <a:p>
            <a:pPr indent="0" marL="0">
              <a:buNone/>
            </a:pPr>
            <a:r>
              <a:rPr lang="en-US" sz="850" dirty="0">
                <a:solidFill>
                  <a:srgbClr val="5B6B7E"/>
                </a:solidFill>
                <a:latin typeface="Arial" pitchFamily="34" charset="0"/>
                <a:ea typeface="Arial" pitchFamily="34" charset="-122"/>
                <a:cs typeface="Arial" pitchFamily="34" charset="-120"/>
              </a:rPr>
              <a:t>Vehicle numbers, phone / IMEI and bank accounts as first-class link types.</a:t>
            </a:r>
            <a:endParaRPr lang="en-US" sz="850" dirty="0"/>
          </a:p>
        </p:txBody>
      </p:sp>
      <p:sp>
        <p:nvSpPr>
          <p:cNvPr id="28" name="Shape 26"/>
          <p:cNvSpPr/>
          <p:nvPr/>
        </p:nvSpPr>
        <p:spPr>
          <a:xfrm>
            <a:off x="384048" y="3511296"/>
            <a:ext cx="8375904" cy="1335024"/>
          </a:xfrm>
          <a:prstGeom prst="roundRect">
            <a:avLst>
              <a:gd name="adj" fmla="val 4110"/>
            </a:avLst>
          </a:prstGeom>
          <a:solidFill>
            <a:srgbClr val="0F2F44"/>
          </a:solidFill>
          <a:ln w="12700">
            <a:solidFill>
              <a:srgbClr val="0F2F44"/>
            </a:solidFill>
            <a:prstDash val="solid"/>
          </a:ln>
        </p:spPr>
      </p:sp>
      <p:sp>
        <p:nvSpPr>
          <p:cNvPr id="29" name="Text 27"/>
          <p:cNvSpPr/>
          <p:nvPr/>
        </p:nvSpPr>
        <p:spPr>
          <a:xfrm>
            <a:off x="548640" y="3566160"/>
            <a:ext cx="804672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Impact at real KSP scale</a:t>
            </a:r>
            <a:endParaRPr lang="en-US" sz="1250" dirty="0"/>
          </a:p>
        </p:txBody>
      </p:sp>
      <p:sp>
        <p:nvSpPr>
          <p:cNvPr id="30" name="Shape 28"/>
          <p:cNvSpPr/>
          <p:nvPr/>
        </p:nvSpPr>
        <p:spPr>
          <a:xfrm>
            <a:off x="548640" y="3858768"/>
            <a:ext cx="2596896" cy="548640"/>
          </a:xfrm>
          <a:prstGeom prst="roundRect">
            <a:avLst>
              <a:gd name="adj" fmla="val 8333"/>
            </a:avLst>
          </a:prstGeom>
          <a:solidFill>
            <a:srgbClr val="1B4A63"/>
          </a:solidFill>
          <a:ln w="12700">
            <a:solidFill>
              <a:srgbClr val="1B4A63"/>
            </a:solidFill>
            <a:prstDash val="solid"/>
          </a:ln>
        </p:spPr>
      </p:sp>
      <p:sp>
        <p:nvSpPr>
          <p:cNvPr id="31" name="Text 29"/>
          <p:cNvSpPr/>
          <p:nvPr/>
        </p:nvSpPr>
        <p:spPr>
          <a:xfrm>
            <a:off x="658368" y="3886200"/>
            <a:ext cx="1115568" cy="49377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32" name="Text 30"/>
          <p:cNvSpPr/>
          <p:nvPr/>
        </p:nvSpPr>
        <p:spPr>
          <a:xfrm>
            <a:off x="1792224" y="3886200"/>
            <a:ext cx="1243584" cy="493776"/>
          </a:xfrm>
          <a:prstGeom prst="rect">
            <a:avLst/>
          </a:prstGeom>
          <a:noFill/>
          <a:ln/>
        </p:spPr>
        <p:txBody>
          <a:bodyPr wrap="square" lIns="0" tIns="0" rIns="0" bIns="0" rtlCol="0" anchor="ctr"/>
          <a:lstStyle/>
          <a:p>
            <a:pPr indent="0" marL="0">
              <a:buNone/>
            </a:pPr>
            <a:r>
              <a:rPr lang="en-US" sz="750" dirty="0">
                <a:solidFill>
                  <a:srgbClr val="C9D8E4"/>
                </a:solidFill>
                <a:latin typeface="Arial" pitchFamily="34" charset="0"/>
                <a:ea typeface="Arial" pitchFamily="34" charset="-122"/>
                <a:cs typeface="Arial" pitchFamily="34" charset="-120"/>
              </a:rPr>
              <a:t>cross-district networks surfaced that no single station could see</a:t>
            </a:r>
            <a:endParaRPr lang="en-US" sz="750" dirty="0"/>
          </a:p>
        </p:txBody>
      </p:sp>
      <p:sp>
        <p:nvSpPr>
          <p:cNvPr id="33" name="Shape 31"/>
          <p:cNvSpPr/>
          <p:nvPr/>
        </p:nvSpPr>
        <p:spPr>
          <a:xfrm>
            <a:off x="3255264" y="3858768"/>
            <a:ext cx="2596896" cy="548640"/>
          </a:xfrm>
          <a:prstGeom prst="roundRect">
            <a:avLst>
              <a:gd name="adj" fmla="val 8333"/>
            </a:avLst>
          </a:prstGeom>
          <a:solidFill>
            <a:srgbClr val="1B4A63"/>
          </a:solidFill>
          <a:ln w="12700">
            <a:solidFill>
              <a:srgbClr val="1B4A63"/>
            </a:solidFill>
            <a:prstDash val="solid"/>
          </a:ln>
        </p:spPr>
      </p:sp>
      <p:sp>
        <p:nvSpPr>
          <p:cNvPr id="34" name="Text 32"/>
          <p:cNvSpPr/>
          <p:nvPr/>
        </p:nvSpPr>
        <p:spPr>
          <a:xfrm>
            <a:off x="3364992" y="3886200"/>
            <a:ext cx="1115568" cy="49377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19,006</a:t>
            </a:r>
            <a:endParaRPr lang="en-US" sz="1600" dirty="0"/>
          </a:p>
        </p:txBody>
      </p:sp>
      <p:sp>
        <p:nvSpPr>
          <p:cNvPr id="35" name="Text 33"/>
          <p:cNvSpPr/>
          <p:nvPr/>
        </p:nvSpPr>
        <p:spPr>
          <a:xfrm>
            <a:off x="4498848" y="3886200"/>
            <a:ext cx="1243584" cy="493776"/>
          </a:xfrm>
          <a:prstGeom prst="rect">
            <a:avLst/>
          </a:prstGeom>
          <a:noFill/>
          <a:ln/>
        </p:spPr>
        <p:txBody>
          <a:bodyPr wrap="square" lIns="0" tIns="0" rIns="0" bIns="0" rtlCol="0" anchor="ctr"/>
          <a:lstStyle/>
          <a:p>
            <a:pPr indent="0" marL="0">
              <a:buNone/>
            </a:pPr>
            <a:r>
              <a:rPr lang="en-US" sz="750" dirty="0">
                <a:solidFill>
                  <a:srgbClr val="C9D8E4"/>
                </a:solidFill>
                <a:latin typeface="Arial" pitchFamily="34" charset="0"/>
                <a:ea typeface="Arial" pitchFamily="34" charset="-122"/>
                <a:cs typeface="Arial" pitchFamily="34" charset="-120"/>
              </a:rPr>
              <a:t>investigations flagged as drifting past their peer median</a:t>
            </a:r>
            <a:endParaRPr lang="en-US" sz="750" dirty="0"/>
          </a:p>
        </p:txBody>
      </p:sp>
      <p:sp>
        <p:nvSpPr>
          <p:cNvPr id="36" name="Shape 34"/>
          <p:cNvSpPr/>
          <p:nvPr/>
        </p:nvSpPr>
        <p:spPr>
          <a:xfrm>
            <a:off x="5961888" y="3858768"/>
            <a:ext cx="2596896" cy="548640"/>
          </a:xfrm>
          <a:prstGeom prst="roundRect">
            <a:avLst>
              <a:gd name="adj" fmla="val 8333"/>
            </a:avLst>
          </a:prstGeom>
          <a:solidFill>
            <a:srgbClr val="1B4A63"/>
          </a:solidFill>
          <a:ln w="12700">
            <a:solidFill>
              <a:srgbClr val="1B4A63"/>
            </a:solidFill>
            <a:prstDash val="solid"/>
          </a:ln>
        </p:spPr>
      </p:sp>
      <p:sp>
        <p:nvSpPr>
          <p:cNvPr id="37" name="Text 35"/>
          <p:cNvSpPr/>
          <p:nvPr/>
        </p:nvSpPr>
        <p:spPr>
          <a:xfrm>
            <a:off x="6071616" y="3886200"/>
            <a:ext cx="1115568" cy="49377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~800,000</a:t>
            </a:r>
            <a:endParaRPr lang="en-US" sz="1600" dirty="0"/>
          </a:p>
        </p:txBody>
      </p:sp>
      <p:sp>
        <p:nvSpPr>
          <p:cNvPr id="38" name="Text 36"/>
          <p:cNvSpPr/>
          <p:nvPr/>
        </p:nvSpPr>
        <p:spPr>
          <a:xfrm>
            <a:off x="7205472" y="3886200"/>
            <a:ext cx="1243584" cy="493776"/>
          </a:xfrm>
          <a:prstGeom prst="rect">
            <a:avLst/>
          </a:prstGeom>
          <a:noFill/>
          <a:ln/>
        </p:spPr>
        <p:txBody>
          <a:bodyPr wrap="square" lIns="0" tIns="0" rIns="0" bIns="0" rtlCol="0" anchor="ctr"/>
          <a:lstStyle/>
          <a:p>
            <a:pPr indent="0" marL="0">
              <a:buNone/>
            </a:pPr>
            <a:r>
              <a:rPr lang="en-US" sz="750" dirty="0">
                <a:solidFill>
                  <a:srgbClr val="C9D8E4"/>
                </a:solidFill>
                <a:latin typeface="Arial" pitchFamily="34" charset="0"/>
                <a:ea typeface="Arial" pitchFamily="34" charset="-122"/>
                <a:cs typeface="Arial" pitchFamily="34" charset="-120"/>
              </a:rPr>
              <a:t>FIRs a year in the real register the same code would carry</a:t>
            </a:r>
            <a:endParaRPr lang="en-US" sz="750" dirty="0"/>
          </a:p>
        </p:txBody>
      </p:sp>
      <p:sp>
        <p:nvSpPr>
          <p:cNvPr id="39" name="Text 37"/>
          <p:cNvSpPr/>
          <p:nvPr/>
        </p:nvSpPr>
        <p:spPr>
          <a:xfrm>
            <a:off x="548640" y="4462272"/>
            <a:ext cx="8046720" cy="329184"/>
          </a:xfrm>
          <a:prstGeom prst="rect">
            <a:avLst/>
          </a:prstGeom>
          <a:noFill/>
          <a:ln/>
        </p:spPr>
        <p:txBody>
          <a:bodyPr wrap="square" lIns="0" tIns="0" rIns="0" bIns="0" rtlCol="0" anchor="t"/>
          <a:lstStyle/>
          <a:p>
            <a:pPr indent="0" marL="0">
              <a:buNone/>
            </a:pPr>
            <a:r>
              <a:rPr lang="en-US" sz="900" dirty="0">
                <a:solidFill>
                  <a:srgbClr val="C9D8E4"/>
                </a:solidFill>
                <a:latin typeface="Arial" pitchFamily="34" charset="0"/>
                <a:ea typeface="Arial" pitchFamily="34" charset="-122"/>
                <a:cs typeface="Arial" pitchFamily="34" charset="-120"/>
              </a:rPr>
              <a:t>Applied to Karnataka's real register, the same code turns a monthly Excel exercise into a nightly, auditable intelligence picture that a Sub-Inspector and the SCRB both read from one source — with the fairness guarantee enforced by a test, not a promise.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Karnataka State Police — Datathon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KADI — AI-Driven Crime Analytics &amp; Visualization Platform</dc:title>
  <dc:subject>PptxGenJS Presentation</dc:subject>
  <dc:creator>Team KadiLabs</dc:creator>
  <cp:lastModifiedBy>Team KadiLabs</cp:lastModifiedBy>
  <cp:revision>1</cp:revision>
  <dcterms:created xsi:type="dcterms:W3CDTF">2026-07-27T11:20:26Z</dcterms:created>
  <dcterms:modified xsi:type="dcterms:W3CDTF">2026-07-27T11:20:26Z</dcterms:modified>
</cp:coreProperties>
</file>